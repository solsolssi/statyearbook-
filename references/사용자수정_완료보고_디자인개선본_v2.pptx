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Noto Sans KR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NotoSansKR-bold.fntdata"/><Relationship Id="rId12" Type="http://schemas.openxmlformats.org/officeDocument/2006/relationships/slide" Target="slides/slide7.xml"/><Relationship Id="rId23" Type="http://schemas.openxmlformats.org/officeDocument/2006/relationships/font" Target="fonts/NotoSansK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●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○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Char char="■"/>
              <a:defRPr b="0" i="0" sz="11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" name="Google Shape;50;p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KR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" name="Google Shape;4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KR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/>
          <p:nvPr>
            <p:ph type="title"/>
          </p:nvPr>
        </p:nvSpPr>
        <p:spPr>
          <a:xfrm>
            <a:off x="457110" y="205200"/>
            <a:ext cx="8229300" cy="85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" type="subTitle"/>
          </p:nvPr>
        </p:nvSpPr>
        <p:spPr>
          <a:xfrm>
            <a:off x="457110" y="1203390"/>
            <a:ext cx="82293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600"/>
              <a:buChar char="●"/>
              <a:defRPr/>
            </a:lvl1pPr>
            <a:lvl2pPr lvl="1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○"/>
              <a:defRPr/>
            </a:lvl2pPr>
            <a:lvl3pPr lvl="2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3pPr>
            <a:lvl4pPr lvl="3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000"/>
              <a:buChar char="●"/>
              <a:defRPr/>
            </a:lvl4pPr>
            <a:lvl5pPr lvl="4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○"/>
              <a:defRPr/>
            </a:lvl5pPr>
            <a:lvl6pPr lvl="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■"/>
              <a:defRPr/>
            </a:lvl6pPr>
            <a:lvl7pPr lvl="6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600"/>
              <a:buChar char="●"/>
              <a:defRPr/>
            </a:lvl7pPr>
            <a:lvl8pPr lvl="7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KR"/>
              <a:buNone/>
              <a:defRPr b="0" i="0" sz="2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Char char="●"/>
              <a:defRPr b="0" i="0" sz="18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●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○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KR"/>
              <a:buChar char="■"/>
              <a:defRPr b="0" i="0" sz="14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Noto Sans KR"/>
              <a:buNone/>
              <a:defRPr b="0" i="0" sz="1000" u="none" cap="none" strike="noStrike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2F6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image.png" id="53" name="Google Shape;5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53527" y="109728"/>
            <a:ext cx="1325880" cy="37762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5"/>
          <p:cNvSpPr/>
          <p:nvPr/>
        </p:nvSpPr>
        <p:spPr>
          <a:xfrm>
            <a:off x="658368" y="1115568"/>
            <a:ext cx="36576" cy="25603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15"/>
          <p:cNvSpPr txBox="1"/>
          <p:nvPr/>
        </p:nvSpPr>
        <p:spPr>
          <a:xfrm>
            <a:off x="786384" y="1133856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30" u="none" cap="none" strike="noStrike">
                <a:solidFill>
                  <a:srgbClr val="87B7DD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지원  |  26-1 청년인턴 완료보고</a:t>
            </a:r>
            <a:endParaRPr/>
          </a:p>
        </p:txBody>
      </p:sp>
      <p:sp>
        <p:nvSpPr>
          <p:cNvPr id="56" name="Google Shape;56;p15"/>
          <p:cNvSpPr txBox="1"/>
          <p:nvPr/>
        </p:nvSpPr>
        <p:spPr>
          <a:xfrm>
            <a:off x="658368" y="1554480"/>
            <a:ext cx="73152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검수 보조 시스템</a:t>
            </a:r>
            <a:endParaRPr/>
          </a:p>
        </p:txBody>
      </p:sp>
      <p:sp>
        <p:nvSpPr>
          <p:cNvPr id="57" name="Google Shape;57;p15"/>
          <p:cNvSpPr txBox="1"/>
          <p:nvPr/>
        </p:nvSpPr>
        <p:spPr>
          <a:xfrm>
            <a:off x="676656" y="2450592"/>
            <a:ext cx="6720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2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검수는 줄이고, 오류 확인과 수정은 한 흐름으로</a:t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58368" y="2962656"/>
            <a:ext cx="6217920" cy="13716"/>
          </a:xfrm>
          <a:prstGeom prst="rect">
            <a:avLst/>
          </a:prstGeom>
          <a:solidFill>
            <a:srgbClr val="4C75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5"/>
          <p:cNvSpPr txBox="1"/>
          <p:nvPr/>
        </p:nvSpPr>
        <p:spPr>
          <a:xfrm>
            <a:off x="676656" y="3182112"/>
            <a:ext cx="64922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8FB2D8"/>
                </a:solidFill>
                <a:latin typeface="Noto Sans KR"/>
                <a:ea typeface="Noto Sans KR"/>
                <a:cs typeface="Noto Sans KR"/>
                <a:sym typeface="Noto Sans KR"/>
              </a:rPr>
              <a:t>검수·수정·재검수·결과 공유를 하나의 플랫폼에서 지원</a:t>
            </a:r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658368" y="4590288"/>
            <a:ext cx="6126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  |  2026. 8.</a:t>
            </a:r>
            <a:endParaRPr/>
          </a:p>
        </p:txBody>
      </p:sp>
      <p:sp>
        <p:nvSpPr>
          <p:cNvPr id="61" name="Google Shape;61;p15"/>
          <p:cNvSpPr txBox="1"/>
          <p:nvPr/>
        </p:nvSpPr>
        <p:spPr>
          <a:xfrm>
            <a:off x="8439912" y="460857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7CCE6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발간과 검수</a:t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</a:t>
            </a:r>
            <a:endParaRPr/>
          </a:p>
        </p:txBody>
      </p:sp>
      <p:sp>
        <p:nvSpPr>
          <p:cNvPr id="68" name="Google Shape;68;p16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통계 정보를 제공하기 위해 발간 전 검수는 반드시 필요합니다.</a:t>
            </a:r>
            <a:endParaRPr/>
          </a:p>
        </p:txBody>
      </p:sp>
      <p:pic>
        <p:nvPicPr>
          <p:cNvPr descr="image.png" id="70" name="Google Shape;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6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38912" y="1417320"/>
            <a:ext cx="5138928" cy="3127248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438912" y="1417320"/>
            <a:ext cx="50292" cy="3127248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2798064" y="2596896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667512" y="3008375"/>
            <a:ext cx="46817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예시 이미지 삽입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667512" y="3300984"/>
            <a:ext cx="468172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표지 또는 여러 통계표가 보이는 화면 권장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5961888" y="1444752"/>
            <a:ext cx="2697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발간 과정</a:t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5961888" y="1755648"/>
            <a:ext cx="269748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5961888" y="175564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6"/>
          <p:cNvSpPr/>
          <p:nvPr/>
        </p:nvSpPr>
        <p:spPr>
          <a:xfrm flipH="1">
            <a:off x="6161303" y="1938526"/>
            <a:ext cx="10500" cy="1572900"/>
          </a:xfrm>
          <a:prstGeom prst="rect">
            <a:avLst/>
          </a:prstGeom>
          <a:solidFill>
            <a:srgbClr val="BCD2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6016752" y="1847088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016752" y="1883664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6455664" y="1837944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데이터 취합</a:t>
            </a:r>
            <a:endParaRPr/>
          </a:p>
        </p:txBody>
      </p:sp>
      <p:sp>
        <p:nvSpPr>
          <p:cNvPr id="85" name="Google Shape;85;p16"/>
          <p:cNvSpPr txBox="1"/>
          <p:nvPr/>
        </p:nvSpPr>
        <p:spPr>
          <a:xfrm>
            <a:off x="6455664" y="2093976"/>
            <a:ext cx="205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0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다양한 </a:t>
            </a: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부서·기관 자료를 한 권으로 정리</a:t>
            </a:r>
            <a:endParaRPr/>
          </a:p>
        </p:txBody>
      </p:sp>
      <p:sp>
        <p:nvSpPr>
          <p:cNvPr id="86" name="Google Shape;86;p16"/>
          <p:cNvSpPr/>
          <p:nvPr/>
        </p:nvSpPr>
        <p:spPr>
          <a:xfrm>
            <a:off x="6016752" y="2560320"/>
            <a:ext cx="274320" cy="274320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016752" y="2596896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6455664" y="2551176"/>
            <a:ext cx="2029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전 검수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6455664" y="2807208"/>
            <a:ext cx="2057400" cy="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정확한 정보 제공을 위한 확인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6016752" y="3273552"/>
            <a:ext cx="274320" cy="27432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016752" y="3310128"/>
            <a:ext cx="274320" cy="173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6469314" y="3312171"/>
            <a:ext cx="2030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발간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업무의 어려움</a:t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검수의 어려움과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개선 방향</a:t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300개 이상의 표를 반복 확인하고 오류를 공유·수정하는 과정은 시간이 많이 듭니다.</a:t>
            </a:r>
            <a:endParaRPr/>
          </a:p>
        </p:txBody>
      </p:sp>
      <p:pic>
        <p:nvPicPr>
          <p:cNvPr descr="image.png" id="101" name="Google Shape;10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4681725" y="1335025"/>
            <a:ext cx="4023300" cy="25713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75488" y="1444752"/>
            <a:ext cx="71323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AS-IS</a:t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1234440" y="1417320"/>
            <a:ext cx="2971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사람이 반복 확인</a:t>
            </a:r>
            <a:endParaRPr/>
          </a:p>
        </p:txBody>
      </p:sp>
      <p:sp>
        <p:nvSpPr>
          <p:cNvPr id="107" name="Google Shape;107;p17"/>
          <p:cNvSpPr txBox="1"/>
          <p:nvPr/>
        </p:nvSpPr>
        <p:spPr>
          <a:xfrm>
            <a:off x="4956048" y="1444752"/>
            <a:ext cx="7498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TO-BE</a:t>
            </a:r>
            <a:endParaRPr/>
          </a:p>
        </p:txBody>
      </p:sp>
      <p:sp>
        <p:nvSpPr>
          <p:cNvPr id="108" name="Google Shape;108;p17"/>
          <p:cNvSpPr txBox="1"/>
          <p:nvPr/>
        </p:nvSpPr>
        <p:spPr>
          <a:xfrm>
            <a:off x="5760720" y="1417320"/>
            <a:ext cx="2697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서비스가 반복 업무 지원</a:t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475488" y="1920239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941832" y="1874519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300개+</a:t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941832" y="2121408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표를 하나씩 반복 확인</a:t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475488" y="2395727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4956048" y="1920239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5422392" y="1874519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계산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5422392" y="2121408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합계·비율을 구성값에서 다시 계산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4956048" y="2395727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475488" y="267004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18" name="Google Shape;118;p17"/>
          <p:cNvSpPr txBox="1"/>
          <p:nvPr/>
        </p:nvSpPr>
        <p:spPr>
          <a:xfrm>
            <a:off x="941832" y="2624327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위험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941832" y="2871215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계산 오류·오탈자를 놓치기 쉬움</a:t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75488" y="3145535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4956048" y="267004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5422392" y="2624327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근거 확인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5422392" y="2871215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판정 근거를 한눈에 확인</a:t>
            </a:r>
            <a:endParaRPr/>
          </a:p>
        </p:txBody>
      </p:sp>
      <p:sp>
        <p:nvSpPr>
          <p:cNvPr id="124" name="Google Shape;124;p17"/>
          <p:cNvSpPr/>
          <p:nvPr/>
        </p:nvSpPr>
        <p:spPr>
          <a:xfrm>
            <a:off x="4956048" y="3145535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75488" y="341985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41832" y="3374135"/>
            <a:ext cx="326440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복잡한 공유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941832" y="3621023"/>
            <a:ext cx="3264407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전달·수정 반영·재확인이 분산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475488" y="3895344"/>
            <a:ext cx="3749039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4956048" y="341985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5422392" y="3374135"/>
            <a:ext cx="2971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한 곳에서 협업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422392" y="3621023"/>
            <a:ext cx="2971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수정·재검수·결과 공유까지 연결</a:t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956048" y="3895344"/>
            <a:ext cx="345643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279392" y="2770632"/>
            <a:ext cx="274320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681725" y="4198892"/>
            <a:ext cx="40233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4885700" y="4018113"/>
            <a:ext cx="3505500" cy="449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4713174" y="4155063"/>
            <a:ext cx="38505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계산은 서비스가 처리하고, 담당자는 판단·수정·공유에 집중</a:t>
            </a:r>
            <a:endParaRPr b="1" sz="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①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연보·검수 현황 한눈에</a:t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18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연보를 등록하고 검수를 실행한 뒤, 오류가 있는 통계와 전체 현황을 확인합니다.</a:t>
            </a:r>
            <a:endParaRPr/>
          </a:p>
        </p:txBody>
      </p:sp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 이미지 삽입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목록·검수 실행·상태 요약이 보이는 화면 권장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메인 페이지에서 하는 일</a:t>
            </a: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620256" y="1965960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등록·검수 시작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대상 연보 선택 후 검수 실행</a:t>
            </a: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통계 자동 분류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확인이 필요한 통계를 우선 표시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현황 요약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정상·확인 필요·오류 의심 집계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화면 ②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위치 확인부터 수정까지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화면에서 문제 위치와 근거를 확인하고 바로 수정할 수 있습니다.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438912" y="1399032"/>
            <a:ext cx="5897880" cy="3182112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38912" y="1399032"/>
            <a:ext cx="50292" cy="3182112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3177540" y="2606040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67512" y="3017520"/>
            <a:ext cx="54406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통계 상세 페이지 이미지 삽입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667512" y="3310128"/>
            <a:ext cx="54406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하이라이트 셀·검수 내역·수정 화면이 보이는 화면 권장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620256" y="1426464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상세 화면에서 확인</a:t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620256" y="1737360"/>
            <a:ext cx="205740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620256" y="1737360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6620256" y="1965960"/>
            <a:ext cx="3474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9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 b="1" sz="919">
              <a:solidFill>
                <a:srgbClr val="C946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7086600" y="1920240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 하이라이트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7086600" y="2167128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어떤 위치에 문제가 있는지 표시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6620256" y="2441448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6620256" y="2679191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086600" y="2633472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내역·근거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7086600" y="2880360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현재값·기대값·근거 셀 확인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6620256" y="3154679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620256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086600" y="3346704"/>
            <a:ext cx="15727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내용 수정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7086600" y="3593592"/>
            <a:ext cx="1572768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정보·셀 값·구조를 화면에서 편집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6620256" y="3867912"/>
            <a:ext cx="2057400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이용 흐름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등록부터 재검수까지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결과에 문제가 있으면 수정·재검수를 반복하고, 오류가 없으면 결과를 내려받습니다.</a:t>
            </a:r>
            <a:endParaRPr/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1170432" y="1947672"/>
            <a:ext cx="6144768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969264" y="1737360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969264" y="1847088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576072" y="2350008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457200" y="263347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파일·연도 선택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3017520" y="1737360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3017520" y="1847088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2624327" y="2350008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실행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2505456" y="263347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항목 선택</a:t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5065776" y="1737360"/>
            <a:ext cx="420624" cy="420624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5065776" y="1847088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672584" y="2350008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 확인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4553712" y="263347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위치·근거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7114032" y="1737360"/>
            <a:ext cx="420624" cy="420624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7114032" y="1847088"/>
            <a:ext cx="420624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720840" y="2350008"/>
            <a:ext cx="12070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완성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6601968" y="2633472"/>
            <a:ext cx="144475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없는 결과</a:t>
            </a:r>
            <a:b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3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표·검수 리포트 내려받기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6126480" y="166420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없음?  →  예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175504" y="2944368"/>
            <a:ext cx="219456" cy="310896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4617720" y="3246120"/>
            <a:ext cx="131673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아니오  ·  오류 있음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2231136" y="3538728"/>
            <a:ext cx="3703320" cy="749808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645152" y="3730752"/>
            <a:ext cx="96926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내용 수정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599432" y="3986784"/>
            <a:ext cx="1060704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셀·표 정보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4041648" y="3730752"/>
            <a:ext cx="365760" cy="237744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C58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907792" y="3730752"/>
            <a:ext cx="932688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재검수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2798064" y="3986784"/>
            <a:ext cx="1152144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7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변경된 표 다시 확인</a:t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3191256" y="2834640"/>
            <a:ext cx="329184" cy="749808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2395728" y="4370832"/>
            <a:ext cx="34015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19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실행으로 다시 돌아가 반복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1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· 연보 등록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</a:t>
            </a:r>
            <a:endParaRPr/>
          </a:p>
        </p:txBody>
      </p:sp>
      <p:sp>
        <p:nvSpPr>
          <p:cNvPr id="244" name="Google Shape;244;p21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파일을 읽어 통계별 제목·번호·내용을 저장하고 플랫폼 화면으로 재구성합니다.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1"/>
          <p:cNvSpPr txBox="1"/>
          <p:nvPr/>
        </p:nvSpPr>
        <p:spPr>
          <a:xfrm>
            <a:off x="438912" y="4873752"/>
            <a:ext cx="3246000" cy="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438912" y="1417320"/>
            <a:ext cx="2980800" cy="2331600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438912" y="1417320"/>
            <a:ext cx="50292" cy="233172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1719072" y="219913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667512" y="2610612"/>
            <a:ext cx="2523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실제 연보의 통계 예시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667512" y="2903220"/>
            <a:ext cx="252374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안의 통계표 이미지</a:t>
            </a:r>
            <a:endParaRPr/>
          </a:p>
        </p:txBody>
      </p:sp>
      <p:sp>
        <p:nvSpPr>
          <p:cNvPr id="254" name="Google Shape;254;p21"/>
          <p:cNvSpPr/>
          <p:nvPr/>
        </p:nvSpPr>
        <p:spPr>
          <a:xfrm>
            <a:off x="5724144" y="1417320"/>
            <a:ext cx="2980800" cy="2331600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5724144" y="1417320"/>
            <a:ext cx="50400" cy="233160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7004303" y="219913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5952744" y="2610612"/>
            <a:ext cx="2523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플랫폼에 등록된 통계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5952744" y="2903220"/>
            <a:ext cx="252374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제목·번호·표 내용이 재구성된 화면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3566160" y="2395728"/>
            <a:ext cx="310896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3968500" y="1847095"/>
            <a:ext cx="1206900" cy="8271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142232" y="2084831"/>
            <a:ext cx="859536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2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업로드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4087362" y="2337208"/>
            <a:ext cx="987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HWPX   ·   MD</a:t>
            </a:r>
            <a:endParaRPr/>
          </a:p>
        </p:txBody>
      </p:sp>
      <p:sp>
        <p:nvSpPr>
          <p:cNvPr id="263" name="Google Shape;263;p21"/>
          <p:cNvSpPr/>
          <p:nvPr/>
        </p:nvSpPr>
        <p:spPr>
          <a:xfrm>
            <a:off x="5285232" y="2395728"/>
            <a:ext cx="310896" cy="31089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658368" y="40142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1124712" y="3968496"/>
            <a:ext cx="2039111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파일 읽기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1124712" y="4215383"/>
            <a:ext cx="203911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내용을 파싱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658368" y="4489704"/>
            <a:ext cx="2523744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3438144" y="40142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3904487" y="3968496"/>
            <a:ext cx="2039111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정보 저장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3904487" y="4215383"/>
            <a:ext cx="2039111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제목·번호·표·기본 정보를 데이터베이스에 저장</a:t>
            </a:r>
            <a:endParaRPr/>
          </a:p>
        </p:txBody>
      </p:sp>
      <p:sp>
        <p:nvSpPr>
          <p:cNvPr id="271" name="Google Shape;271;p21"/>
          <p:cNvSpPr/>
          <p:nvPr/>
        </p:nvSpPr>
        <p:spPr>
          <a:xfrm>
            <a:off x="3438144" y="4489704"/>
            <a:ext cx="2523744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6217920" y="40142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6684264" y="3968496"/>
            <a:ext cx="2039111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등록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684264" y="4215383"/>
            <a:ext cx="2039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연보는 독립된 게시물이며 수정 및 삭제 가능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6217920" y="4489704"/>
            <a:ext cx="2523744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· 검수 실행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지원 검수 6종과 처리 방식</a:t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3" name="Google Shape;283;p22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6가지 검수를 지원하며, 처리 방식과 결과 상태가 항목마다 다릅니다.</a:t>
            </a:r>
            <a:endParaRPr/>
          </a:p>
        </p:txBody>
      </p:sp>
      <p:pic>
        <p:nvPicPr>
          <p:cNvPr descr="image.png" id="284" name="Google Shape;2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438912" y="1417320"/>
            <a:ext cx="5074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4종  규칙·통계 기반 검수</a:t>
            </a:r>
            <a:endParaRPr/>
          </a:p>
        </p:txBody>
      </p:sp>
      <p:sp>
        <p:nvSpPr>
          <p:cNvPr id="288" name="Google Shape;288;p22"/>
          <p:cNvSpPr/>
          <p:nvPr/>
        </p:nvSpPr>
        <p:spPr>
          <a:xfrm>
            <a:off x="438912" y="1728216"/>
            <a:ext cx="5074920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22"/>
          <p:cNvSpPr/>
          <p:nvPr/>
        </p:nvSpPr>
        <p:spPr>
          <a:xfrm>
            <a:off x="43891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438912" y="1810512"/>
            <a:ext cx="4892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구조와 계산 관계를 미리 구성한 기준으로 확인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530352" y="2339040"/>
            <a:ext cx="141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530352" y="2649936"/>
            <a:ext cx="1792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계·합계·소계를 다시 합산</a:t>
            </a:r>
            <a:endParaRPr/>
          </a:p>
        </p:txBody>
      </p:sp>
      <p:sp>
        <p:nvSpPr>
          <p:cNvPr id="293" name="Google Shape;293;p22"/>
          <p:cNvSpPr/>
          <p:nvPr/>
        </p:nvSpPr>
        <p:spPr>
          <a:xfrm>
            <a:off x="1764792" y="2320752"/>
            <a:ext cx="822900" cy="23760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1764792" y="2320752"/>
            <a:ext cx="8229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295" name="Google Shape;295;p22"/>
          <p:cNvSpPr/>
          <p:nvPr/>
        </p:nvSpPr>
        <p:spPr>
          <a:xfrm>
            <a:off x="530352" y="3088848"/>
            <a:ext cx="1810500" cy="129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2761488" y="2339040"/>
            <a:ext cx="141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2761488" y="2649936"/>
            <a:ext cx="1792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비율·구성비·증감 값을 재계산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3995928" y="2320752"/>
            <a:ext cx="822900" cy="237600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3995928" y="2320752"/>
            <a:ext cx="8229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300" name="Google Shape;300;p22"/>
          <p:cNvSpPr/>
          <p:nvPr/>
        </p:nvSpPr>
        <p:spPr>
          <a:xfrm>
            <a:off x="2761488" y="3088848"/>
            <a:ext cx="1810500" cy="129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1" name="Google Shape;301;p22"/>
          <p:cNvSpPr txBox="1"/>
          <p:nvPr/>
        </p:nvSpPr>
        <p:spPr>
          <a:xfrm>
            <a:off x="530352" y="3436320"/>
            <a:ext cx="141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530352" y="3747215"/>
            <a:ext cx="1792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단위·기준일·출처 확인</a:t>
            </a:r>
            <a:endParaRPr/>
          </a:p>
        </p:txBody>
      </p:sp>
      <p:sp>
        <p:nvSpPr>
          <p:cNvPr id="303" name="Google Shape;303;p22"/>
          <p:cNvSpPr/>
          <p:nvPr/>
        </p:nvSpPr>
        <p:spPr>
          <a:xfrm>
            <a:off x="1764792" y="3418032"/>
            <a:ext cx="859500" cy="237600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4" name="Google Shape;304;p22"/>
          <p:cNvSpPr txBox="1"/>
          <p:nvPr/>
        </p:nvSpPr>
        <p:spPr>
          <a:xfrm>
            <a:off x="1764792" y="3418032"/>
            <a:ext cx="8595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05" name="Google Shape;305;p22"/>
          <p:cNvSpPr/>
          <p:nvPr/>
        </p:nvSpPr>
        <p:spPr>
          <a:xfrm>
            <a:off x="530352" y="4186128"/>
            <a:ext cx="1810500" cy="129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6" name="Google Shape;306;p22"/>
          <p:cNvSpPr txBox="1"/>
          <p:nvPr/>
        </p:nvSpPr>
        <p:spPr>
          <a:xfrm>
            <a:off x="2761488" y="3436320"/>
            <a:ext cx="14172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2761488" y="3747215"/>
            <a:ext cx="1792200" cy="1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값과 차이가 큰 수치 후보</a:t>
            </a:r>
            <a:endParaRPr/>
          </a:p>
        </p:txBody>
      </p:sp>
      <p:sp>
        <p:nvSpPr>
          <p:cNvPr id="308" name="Google Shape;308;p22"/>
          <p:cNvSpPr/>
          <p:nvPr/>
        </p:nvSpPr>
        <p:spPr>
          <a:xfrm>
            <a:off x="3995928" y="3418032"/>
            <a:ext cx="859500" cy="237600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p22"/>
          <p:cNvSpPr txBox="1"/>
          <p:nvPr/>
        </p:nvSpPr>
        <p:spPr>
          <a:xfrm>
            <a:off x="3995928" y="3418032"/>
            <a:ext cx="8595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2761488" y="4186128"/>
            <a:ext cx="1810500" cy="129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1" name="Google Shape;311;p22"/>
          <p:cNvSpPr txBox="1"/>
          <p:nvPr/>
        </p:nvSpPr>
        <p:spPr>
          <a:xfrm>
            <a:off x="6016752" y="1417320"/>
            <a:ext cx="23957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2종  LLM 기반 검수</a:t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6016752" y="1728216"/>
            <a:ext cx="239572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3" name="Google Shape;313;p22"/>
          <p:cNvSpPr/>
          <p:nvPr/>
        </p:nvSpPr>
        <p:spPr>
          <a:xfrm>
            <a:off x="6016752" y="1728216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4" name="Google Shape;314;p22"/>
          <p:cNvSpPr txBox="1"/>
          <p:nvPr/>
        </p:nvSpPr>
        <p:spPr>
          <a:xfrm>
            <a:off x="6016752" y="1819656"/>
            <a:ext cx="234086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용어·이전 결과를 먼저 적용하고</a:t>
            </a:r>
            <a:b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남은 후보만 확인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6035040" y="249631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6035040" y="2807208"/>
            <a:ext cx="22128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철자·문자 깨짐·표기 불일치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7498079" y="2478024"/>
            <a:ext cx="822960" cy="237744"/>
          </a:xfrm>
          <a:prstGeom prst="rect">
            <a:avLst/>
          </a:prstGeom>
          <a:solidFill>
            <a:srgbClr val="FDEC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7498079" y="2478024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</a:t>
            </a:r>
            <a:endParaRPr/>
          </a:p>
        </p:txBody>
      </p:sp>
      <p:sp>
        <p:nvSpPr>
          <p:cNvPr id="319" name="Google Shape;319;p22"/>
          <p:cNvSpPr/>
          <p:nvPr/>
        </p:nvSpPr>
        <p:spPr>
          <a:xfrm>
            <a:off x="6035040" y="3154680"/>
            <a:ext cx="2212848" cy="12801"/>
          </a:xfrm>
          <a:prstGeom prst="rect">
            <a:avLst/>
          </a:prstGeom>
          <a:solidFill>
            <a:srgbClr val="C9DC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6035040" y="3456432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번역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035040" y="3767328"/>
            <a:ext cx="22128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한글·영문 의미 대응 확인</a:t>
            </a:r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7498079" y="3438144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3" name="Google Shape;323;p22"/>
          <p:cNvSpPr txBox="1"/>
          <p:nvPr/>
        </p:nvSpPr>
        <p:spPr>
          <a:xfrm>
            <a:off x="7498079" y="3438144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324" name="Google Shape;324;p22"/>
          <p:cNvSpPr/>
          <p:nvPr/>
        </p:nvSpPr>
        <p:spPr>
          <a:xfrm>
            <a:off x="6035040" y="4114800"/>
            <a:ext cx="2212848" cy="12801"/>
          </a:xfrm>
          <a:prstGeom prst="rect">
            <a:avLst/>
          </a:prstGeom>
          <a:solidFill>
            <a:srgbClr val="C9DC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3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기준 생성 방식</a:t>
            </a:r>
            <a:endParaRPr/>
          </a:p>
        </p:txBody>
      </p:sp>
      <p:sp>
        <p:nvSpPr>
          <p:cNvPr id="330" name="Google Shape;330;p23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표마다 달라지는 검수 기준</a:t>
            </a:r>
            <a:endParaRPr/>
          </a:p>
        </p:txBody>
      </p:sp>
      <p:sp>
        <p:nvSpPr>
          <p:cNvPr id="331" name="Google Shape;331;p23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23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구조와 통계 특성을 단계적으로 분석해 각 표에 적용할 검수를 결정합니다.</a:t>
            </a:r>
            <a:endParaRPr/>
          </a:p>
        </p:txBody>
      </p:sp>
      <p:pic>
        <p:nvPicPr>
          <p:cNvPr descr="image.png" id="333" name="Google Shape;3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676656" y="1737360"/>
            <a:ext cx="7260336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7" name="Google Shape;337;p23"/>
          <p:cNvSpPr/>
          <p:nvPr/>
        </p:nvSpPr>
        <p:spPr>
          <a:xfrm>
            <a:off x="457200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p23"/>
          <p:cNvSpPr txBox="1"/>
          <p:nvPr/>
        </p:nvSpPr>
        <p:spPr>
          <a:xfrm>
            <a:off x="457200" y="16367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438912" y="2066543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공통 기준</a:t>
            </a:r>
            <a:endParaRPr/>
          </a:p>
        </p:txBody>
      </p:sp>
      <p:sp>
        <p:nvSpPr>
          <p:cNvPr id="340" name="Google Shape;340;p23"/>
          <p:cNvSpPr txBox="1"/>
          <p:nvPr/>
        </p:nvSpPr>
        <p:spPr>
          <a:xfrm>
            <a:off x="438912" y="2423160"/>
            <a:ext cx="1810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표의 필수 정보 확인</a:t>
            </a:r>
            <a:b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숫자 열의 특이값 후보 생성</a:t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43891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2" name="Google Shape;342;p23"/>
          <p:cNvSpPr txBox="1"/>
          <p:nvPr/>
        </p:nvSpPr>
        <p:spPr>
          <a:xfrm>
            <a:off x="43891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메타</a:t>
            </a:r>
            <a:endParaRPr/>
          </a:p>
        </p:txBody>
      </p:sp>
      <p:sp>
        <p:nvSpPr>
          <p:cNvPr id="343" name="Google Shape;343;p23"/>
          <p:cNvSpPr/>
          <p:nvPr/>
        </p:nvSpPr>
        <p:spPr>
          <a:xfrm>
            <a:off x="112471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4" name="Google Shape;344;p23"/>
          <p:cNvSpPr txBox="1"/>
          <p:nvPr/>
        </p:nvSpPr>
        <p:spPr>
          <a:xfrm>
            <a:off x="112471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</a:t>
            </a:r>
            <a:endParaRPr/>
          </a:p>
        </p:txBody>
      </p:sp>
      <p:sp>
        <p:nvSpPr>
          <p:cNvPr id="345" name="Google Shape;345;p23"/>
          <p:cNvSpPr/>
          <p:nvPr/>
        </p:nvSpPr>
        <p:spPr>
          <a:xfrm>
            <a:off x="2560320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6" name="Google Shape;346;p23"/>
          <p:cNvSpPr txBox="1"/>
          <p:nvPr/>
        </p:nvSpPr>
        <p:spPr>
          <a:xfrm>
            <a:off x="2560320" y="16367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2542032" y="2066543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유형별 기준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2542032" y="2423160"/>
            <a:ext cx="1810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지역별·연도별 등 구조 파악</a:t>
            </a:r>
            <a:b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전국계와 지역 값 관계 적용</a:t>
            </a:r>
            <a:endParaRPr/>
          </a:p>
        </p:txBody>
      </p:sp>
      <p:sp>
        <p:nvSpPr>
          <p:cNvPr id="349" name="Google Shape;349;p23"/>
          <p:cNvSpPr/>
          <p:nvPr/>
        </p:nvSpPr>
        <p:spPr>
          <a:xfrm>
            <a:off x="254203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0" name="Google Shape;350;p23"/>
          <p:cNvSpPr txBox="1"/>
          <p:nvPr/>
        </p:nvSpPr>
        <p:spPr>
          <a:xfrm>
            <a:off x="254203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51" name="Google Shape;351;p23"/>
          <p:cNvSpPr/>
          <p:nvPr/>
        </p:nvSpPr>
        <p:spPr>
          <a:xfrm>
            <a:off x="4663440" y="1536192"/>
            <a:ext cx="411480" cy="411480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2" name="Google Shape;352;p23"/>
          <p:cNvSpPr txBox="1"/>
          <p:nvPr/>
        </p:nvSpPr>
        <p:spPr>
          <a:xfrm>
            <a:off x="4663440" y="16367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353" name="Google Shape;353;p23"/>
          <p:cNvSpPr txBox="1"/>
          <p:nvPr/>
        </p:nvSpPr>
        <p:spPr>
          <a:xfrm>
            <a:off x="4645152" y="2066543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표별 자동 분석</a:t>
            </a:r>
            <a:endParaRPr/>
          </a:p>
        </p:txBody>
      </p:sp>
      <p:sp>
        <p:nvSpPr>
          <p:cNvPr id="354" name="Google Shape;354;p23"/>
          <p:cNvSpPr txBox="1"/>
          <p:nvPr/>
        </p:nvSpPr>
        <p:spPr>
          <a:xfrm>
            <a:off x="4645152" y="2423160"/>
            <a:ext cx="1810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 항목 탐색</a:t>
            </a:r>
            <a:b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분자·분모·증감 관계 탐색</a:t>
            </a:r>
            <a:endParaRPr/>
          </a:p>
        </p:txBody>
      </p:sp>
      <p:sp>
        <p:nvSpPr>
          <p:cNvPr id="355" name="Google Shape;355;p23"/>
          <p:cNvSpPr/>
          <p:nvPr/>
        </p:nvSpPr>
        <p:spPr>
          <a:xfrm>
            <a:off x="464515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6" name="Google Shape;356;p23"/>
          <p:cNvSpPr txBox="1"/>
          <p:nvPr/>
        </p:nvSpPr>
        <p:spPr>
          <a:xfrm>
            <a:off x="464515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57" name="Google Shape;357;p23"/>
          <p:cNvSpPr/>
          <p:nvPr/>
        </p:nvSpPr>
        <p:spPr>
          <a:xfrm>
            <a:off x="5330952" y="3145536"/>
            <a:ext cx="640080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8" name="Google Shape;358;p23"/>
          <p:cNvSpPr txBox="1"/>
          <p:nvPr/>
        </p:nvSpPr>
        <p:spPr>
          <a:xfrm>
            <a:off x="5330952" y="3209544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9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  <p:sp>
        <p:nvSpPr>
          <p:cNvPr id="359" name="Google Shape;359;p23"/>
          <p:cNvSpPr/>
          <p:nvPr/>
        </p:nvSpPr>
        <p:spPr>
          <a:xfrm>
            <a:off x="6766559" y="1536192"/>
            <a:ext cx="411480" cy="411480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0" name="Google Shape;360;p23"/>
          <p:cNvSpPr txBox="1"/>
          <p:nvPr/>
        </p:nvSpPr>
        <p:spPr>
          <a:xfrm>
            <a:off x="6766559" y="1636776"/>
            <a:ext cx="411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6748272" y="2066543"/>
            <a:ext cx="18105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예외 기준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6748272" y="2423160"/>
            <a:ext cx="1810512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담당자가 확인한 규칙 반영</a:t>
            </a:r>
            <a:b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고정 셀·분할표 예외 처리</a:t>
            </a:r>
            <a:endParaRPr/>
          </a:p>
        </p:txBody>
      </p:sp>
      <p:sp>
        <p:nvSpPr>
          <p:cNvPr id="363" name="Google Shape;363;p23"/>
          <p:cNvSpPr/>
          <p:nvPr/>
        </p:nvSpPr>
        <p:spPr>
          <a:xfrm>
            <a:off x="6748272" y="3145536"/>
            <a:ext cx="420624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4" name="Google Shape;364;p23"/>
          <p:cNvSpPr txBox="1"/>
          <p:nvPr/>
        </p:nvSpPr>
        <p:spPr>
          <a:xfrm>
            <a:off x="6748272" y="3209544"/>
            <a:ext cx="420624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</a:t>
            </a:r>
            <a:endParaRPr/>
          </a:p>
        </p:txBody>
      </p:sp>
      <p:sp>
        <p:nvSpPr>
          <p:cNvPr id="365" name="Google Shape;365;p23"/>
          <p:cNvSpPr/>
          <p:nvPr/>
        </p:nvSpPr>
        <p:spPr>
          <a:xfrm>
            <a:off x="7214616" y="3145536"/>
            <a:ext cx="420624" cy="25603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7214616" y="3209544"/>
            <a:ext cx="420624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번역</a:t>
            </a:r>
            <a:endParaRPr/>
          </a:p>
        </p:txBody>
      </p:sp>
      <p:sp>
        <p:nvSpPr>
          <p:cNvPr id="367" name="Google Shape;367;p23"/>
          <p:cNvSpPr/>
          <p:nvPr/>
        </p:nvSpPr>
        <p:spPr>
          <a:xfrm>
            <a:off x="6766560" y="3486011"/>
            <a:ext cx="420600" cy="2559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8" name="Google Shape;368;p23"/>
          <p:cNvSpPr txBox="1"/>
          <p:nvPr/>
        </p:nvSpPr>
        <p:spPr>
          <a:xfrm>
            <a:off x="6766560" y="3550019"/>
            <a:ext cx="420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/>
          </a:p>
        </p:txBody>
      </p:sp>
      <p:sp>
        <p:nvSpPr>
          <p:cNvPr id="369" name="Google Shape;369;p23"/>
          <p:cNvSpPr/>
          <p:nvPr/>
        </p:nvSpPr>
        <p:spPr>
          <a:xfrm>
            <a:off x="7232904" y="3486011"/>
            <a:ext cx="420600" cy="2559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7232904" y="3550019"/>
            <a:ext cx="420600" cy="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4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</a:t>
            </a:r>
            <a:endParaRPr/>
          </a:p>
        </p:txBody>
      </p:sp>
      <p:sp>
        <p:nvSpPr>
          <p:cNvPr id="376" name="Google Shape;376;p24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구성값으로 합계 재계산</a:t>
            </a:r>
            <a:endParaRPr/>
          </a:p>
        </p:txBody>
      </p:sp>
      <p:sp>
        <p:nvSpPr>
          <p:cNvPr id="377" name="Google Shape;377;p24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24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계·합계·소계와 표에 표시된 산식을 구성값에서 다시 계산합니다.</a:t>
            </a:r>
            <a:endParaRPr/>
          </a:p>
        </p:txBody>
      </p:sp>
      <p:pic>
        <p:nvPicPr>
          <p:cNvPr descr="image.png" id="379" name="Google Shape;3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4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381" name="Google Shape;381;p24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383" name="Google Shape;383;p24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5" name="Google Shape;385;p24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세부 지역 값을 더해 전국계 확인</a:t>
            </a:r>
            <a:endParaRPr/>
          </a:p>
        </p:txBody>
      </p:sp>
      <p:sp>
        <p:nvSpPr>
          <p:cNvPr id="388" name="Google Shape;388;p24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전국 = 시·도 합</a:t>
            </a:r>
            <a:endParaRPr/>
          </a:p>
        </p:txBody>
      </p:sp>
      <p:sp>
        <p:nvSpPr>
          <p:cNvPr id="389" name="Google Shape;389;p24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0" name="Google Shape;390;p24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행·열 합계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행의 열 또는 세부 행 합산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계 = 남 + 여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5" name="Google Shape;395;p24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396" name="Google Shape;396;p24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명시 산식·분할표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a+b·a-b와 연결된 표 관계 계산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c = a + b</a:t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2" name="Google Shape;402;p24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03" name="Google Shape;403;p24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합계 검수 예시 이미지 삽입</a:t>
            </a:r>
            <a:endParaRPr/>
          </a:p>
        </p:txBody>
      </p:sp>
      <p:sp>
        <p:nvSpPr>
          <p:cNvPr id="404" name="Google Shape;404;p24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합계 또는 산식 오류가 보이는 화면 권장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화면  ·  오류 위치  ·  현재값  ·  재계산값  ·  판정 근거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</a:t>
            </a:r>
            <a:endParaRPr/>
          </a:p>
        </p:txBody>
      </p:sp>
      <p:sp>
        <p:nvSpPr>
          <p:cNvPr id="411" name="Google Shape;411;p25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분자·분모와 전년값 재계산</a:t>
            </a:r>
            <a:endParaRPr/>
          </a:p>
        </p:txBody>
      </p:sp>
      <p:sp>
        <p:nvSpPr>
          <p:cNvPr id="412" name="Google Shape;412;p25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3" name="Google Shape;413;p25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비율·구성비·건당 값과 증감액·증감률을 다시 계산합니다.</a:t>
            </a:r>
            <a:endParaRPr/>
          </a:p>
        </p:txBody>
      </p:sp>
      <p:pic>
        <p:nvPicPr>
          <p:cNvPr descr="image.png" id="414" name="Google Shape;4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25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16" name="Google Shape;416;p25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417" name="Google Shape;417;p25"/>
          <p:cNvSpPr txBox="1"/>
          <p:nvPr/>
        </p:nvSpPr>
        <p:spPr>
          <a:xfrm>
            <a:off x="438912" y="1399032"/>
            <a:ext cx="30906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대상과 계산 방식</a:t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438912" y="1709928"/>
            <a:ext cx="3090672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0" name="Google Shape;420;p25"/>
          <p:cNvSpPr txBox="1"/>
          <p:nvPr/>
        </p:nvSpPr>
        <p:spPr>
          <a:xfrm>
            <a:off x="438912" y="1892807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21" name="Google Shape;421;p25"/>
          <p:cNvSpPr txBox="1"/>
          <p:nvPr/>
        </p:nvSpPr>
        <p:spPr>
          <a:xfrm>
            <a:off x="905256" y="1847088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비율·구성비</a:t>
            </a:r>
            <a:endParaRPr/>
          </a:p>
        </p:txBody>
      </p:sp>
      <p:sp>
        <p:nvSpPr>
          <p:cNvPr id="422" name="Google Shape;422;p25"/>
          <p:cNvSpPr txBox="1"/>
          <p:nvPr/>
        </p:nvSpPr>
        <p:spPr>
          <a:xfrm>
            <a:off x="905256" y="2093976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항목 값과 전체 값을 분자·분모로 연결</a:t>
            </a:r>
            <a:endParaRPr/>
          </a:p>
        </p:txBody>
      </p:sp>
      <p:sp>
        <p:nvSpPr>
          <p:cNvPr id="423" name="Google Shape;423;p25"/>
          <p:cNvSpPr txBox="1"/>
          <p:nvPr/>
        </p:nvSpPr>
        <p:spPr>
          <a:xfrm>
            <a:off x="2267712" y="1920240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지역 ÷ 전체 × 100</a:t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438912" y="2368296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25" name="Google Shape;425;p25"/>
          <p:cNvSpPr txBox="1"/>
          <p:nvPr/>
        </p:nvSpPr>
        <p:spPr>
          <a:xfrm>
            <a:off x="438912" y="264261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26" name="Google Shape;426;p25"/>
          <p:cNvSpPr txBox="1"/>
          <p:nvPr/>
        </p:nvSpPr>
        <p:spPr>
          <a:xfrm>
            <a:off x="905256" y="2596896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건당·인당 값</a:t>
            </a:r>
            <a:endParaRPr/>
          </a:p>
        </p:txBody>
      </p:sp>
      <p:sp>
        <p:nvSpPr>
          <p:cNvPr id="427" name="Google Shape;427;p25"/>
          <p:cNvSpPr txBox="1"/>
          <p:nvPr/>
        </p:nvSpPr>
        <p:spPr>
          <a:xfrm>
            <a:off x="905256" y="2843784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건수·인원을 기준으로 원단위 계산</a:t>
            </a:r>
            <a:endParaRPr/>
          </a:p>
        </p:txBody>
      </p:sp>
      <p:sp>
        <p:nvSpPr>
          <p:cNvPr id="428" name="Google Shape;428;p25"/>
          <p:cNvSpPr txBox="1"/>
          <p:nvPr/>
        </p:nvSpPr>
        <p:spPr>
          <a:xfrm>
            <a:off x="2267712" y="2670048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건수 ÷ 인원</a:t>
            </a:r>
            <a:endParaRPr/>
          </a:p>
        </p:txBody>
      </p:sp>
      <p:sp>
        <p:nvSpPr>
          <p:cNvPr id="429" name="Google Shape;429;p25"/>
          <p:cNvSpPr/>
          <p:nvPr/>
        </p:nvSpPr>
        <p:spPr>
          <a:xfrm>
            <a:off x="438912" y="3118103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0" name="Google Shape;430;p25"/>
          <p:cNvSpPr txBox="1"/>
          <p:nvPr/>
        </p:nvSpPr>
        <p:spPr>
          <a:xfrm>
            <a:off x="438912" y="339242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31" name="Google Shape;431;p25"/>
          <p:cNvSpPr txBox="1"/>
          <p:nvPr/>
        </p:nvSpPr>
        <p:spPr>
          <a:xfrm>
            <a:off x="905256" y="3346704"/>
            <a:ext cx="1234439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증감액·증감률</a:t>
            </a:r>
            <a:endParaRPr/>
          </a:p>
        </p:txBody>
      </p:sp>
      <p:sp>
        <p:nvSpPr>
          <p:cNvPr id="432" name="Google Shape;432;p25"/>
          <p:cNvSpPr txBox="1"/>
          <p:nvPr/>
        </p:nvSpPr>
        <p:spPr>
          <a:xfrm>
            <a:off x="905256" y="3593592"/>
            <a:ext cx="1234439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전년과 당해 값을 비교해 변화 계산</a:t>
            </a:r>
            <a:endParaRPr/>
          </a:p>
        </p:txBody>
      </p:sp>
      <p:sp>
        <p:nvSpPr>
          <p:cNvPr id="433" name="Google Shape;433;p25"/>
          <p:cNvSpPr txBox="1"/>
          <p:nvPr/>
        </p:nvSpPr>
        <p:spPr>
          <a:xfrm>
            <a:off x="2267712" y="3419856"/>
            <a:ext cx="1261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(당해-전년)÷전년</a:t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438912" y="3867912"/>
            <a:ext cx="3090672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3803904" y="1399032"/>
            <a:ext cx="4901184" cy="3145536"/>
          </a:xfrm>
          <a:prstGeom prst="rect">
            <a:avLst/>
          </a:prstGeom>
          <a:solidFill>
            <a:srgbClr val="FBFCFD"/>
          </a:solidFill>
          <a:ln cap="flat" cmpd="sng" w="11425">
            <a:solidFill>
              <a:srgbClr val="C9D5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3803904" y="1399032"/>
            <a:ext cx="50292" cy="3145536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7" name="Google Shape;437;p25"/>
          <p:cNvSpPr txBox="1"/>
          <p:nvPr/>
        </p:nvSpPr>
        <p:spPr>
          <a:xfrm>
            <a:off x="6044183" y="2587752"/>
            <a:ext cx="42062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+</a:t>
            </a:r>
            <a:endParaRPr/>
          </a:p>
        </p:txBody>
      </p:sp>
      <p:sp>
        <p:nvSpPr>
          <p:cNvPr id="438" name="Google Shape;438;p25"/>
          <p:cNvSpPr txBox="1"/>
          <p:nvPr/>
        </p:nvSpPr>
        <p:spPr>
          <a:xfrm>
            <a:off x="4032504" y="2999232"/>
            <a:ext cx="44439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비율·증감 검수 예시 이미지 삽입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4032504" y="3291840"/>
            <a:ext cx="4443984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지역별 비율 또는 증감 산식 오류가 보이는 화면 권장</a:t>
            </a:r>
            <a:endParaRPr/>
          </a:p>
        </p:txBody>
      </p:sp>
      <p:sp>
        <p:nvSpPr>
          <p:cNvPr id="440" name="Google Shape;440;p25"/>
          <p:cNvSpPr txBox="1"/>
          <p:nvPr/>
        </p:nvSpPr>
        <p:spPr>
          <a:xfrm>
            <a:off x="4206240" y="4343400"/>
            <a:ext cx="407822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4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화면  ·  오류 위치  ·  현재값  ·  재계산값  ·  판정 근거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오탈자·번역 검수</a:t>
            </a:r>
            <a:endParaRPr/>
          </a:p>
        </p:txBody>
      </p:sp>
      <p:sp>
        <p:nvSpPr>
          <p:cNvPr id="446" name="Google Shape;446;p26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후보를 줄인 뒤 LLM 검토</a:t>
            </a:r>
            <a:endParaRPr/>
          </a:p>
        </p:txBody>
      </p:sp>
      <p:sp>
        <p:nvSpPr>
          <p:cNvPr id="447" name="Google Shape;447;p26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8" name="Google Shape;448;p26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텍스트를 바로 LLM에 보내지 않고, 후보를 줄인 뒤 남은 항목만 검토합니다.</a:t>
            </a:r>
            <a:endParaRPr/>
          </a:p>
        </p:txBody>
      </p:sp>
      <p:pic>
        <p:nvPicPr>
          <p:cNvPr descr="image.png" id="449" name="Google Shape;4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6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51" name="Google Shape;451;p26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12</a:t>
            </a:r>
            <a:endParaRPr/>
          </a:p>
        </p:txBody>
      </p:sp>
      <p:sp>
        <p:nvSpPr>
          <p:cNvPr id="452" name="Google Shape;452;p26"/>
          <p:cNvSpPr/>
          <p:nvPr/>
        </p:nvSpPr>
        <p:spPr>
          <a:xfrm>
            <a:off x="566928" y="1353312"/>
            <a:ext cx="8010144" cy="393192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3" name="Google Shape;453;p26"/>
          <p:cNvSpPr txBox="1"/>
          <p:nvPr/>
        </p:nvSpPr>
        <p:spPr>
          <a:xfrm>
            <a:off x="804672" y="1463040"/>
            <a:ext cx="98755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후보 수집</a:t>
            </a:r>
            <a:endParaRPr/>
          </a:p>
        </p:txBody>
      </p:sp>
      <p:sp>
        <p:nvSpPr>
          <p:cNvPr id="454" name="Google Shape;454;p26"/>
          <p:cNvSpPr txBox="1"/>
          <p:nvPr/>
        </p:nvSpPr>
        <p:spPr>
          <a:xfrm>
            <a:off x="1901952" y="1444752"/>
            <a:ext cx="6272784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 제목 · 헤더 · 한글/영문 셀에서 검수할 문구를 수집</a:t>
            </a:r>
            <a:endParaRPr/>
          </a:p>
        </p:txBody>
      </p:sp>
      <p:sp>
        <p:nvSpPr>
          <p:cNvPr id="455" name="Google Shape;455;p26"/>
          <p:cNvSpPr/>
          <p:nvPr/>
        </p:nvSpPr>
        <p:spPr>
          <a:xfrm>
            <a:off x="4425696" y="1819656"/>
            <a:ext cx="274320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6" name="Google Shape;456;p26"/>
          <p:cNvSpPr txBox="1"/>
          <p:nvPr/>
        </p:nvSpPr>
        <p:spPr>
          <a:xfrm>
            <a:off x="1952253" y="2199123"/>
            <a:ext cx="38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2391165" y="2153403"/>
            <a:ext cx="1993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용어·번역 DB</a:t>
            </a:r>
            <a:endParaRPr/>
          </a:p>
        </p:txBody>
      </p:sp>
      <p:sp>
        <p:nvSpPr>
          <p:cNvPr id="458" name="Google Shape;458;p26"/>
          <p:cNvSpPr/>
          <p:nvPr/>
        </p:nvSpPr>
        <p:spPr>
          <a:xfrm>
            <a:off x="1952253" y="2537451"/>
            <a:ext cx="2432400" cy="1470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9" name="Google Shape;459;p26"/>
          <p:cNvSpPr txBox="1"/>
          <p:nvPr/>
        </p:nvSpPr>
        <p:spPr>
          <a:xfrm>
            <a:off x="2007117" y="2729475"/>
            <a:ext cx="232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기관명  행정안전부</a:t>
            </a:r>
            <a:b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지역명  세종특별자치시·연기면</a:t>
            </a:r>
            <a:endParaRPr/>
          </a:p>
        </p:txBody>
      </p:sp>
      <p:sp>
        <p:nvSpPr>
          <p:cNvPr id="460" name="Google Shape;460;p26"/>
          <p:cNvSpPr/>
          <p:nvPr/>
        </p:nvSpPr>
        <p:spPr>
          <a:xfrm>
            <a:off x="4453132" y="3246120"/>
            <a:ext cx="237600" cy="255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1" name="Google Shape;461;p26"/>
          <p:cNvSpPr txBox="1"/>
          <p:nvPr/>
        </p:nvSpPr>
        <p:spPr>
          <a:xfrm>
            <a:off x="4741173" y="2199123"/>
            <a:ext cx="3840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62" name="Google Shape;462;p26"/>
          <p:cNvSpPr txBox="1"/>
          <p:nvPr/>
        </p:nvSpPr>
        <p:spPr>
          <a:xfrm>
            <a:off x="5180085" y="2153403"/>
            <a:ext cx="19935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표현 DB</a:t>
            </a:r>
            <a:endParaRPr/>
          </a:p>
        </p:txBody>
      </p:sp>
      <p:sp>
        <p:nvSpPr>
          <p:cNvPr id="463" name="Google Shape;463;p26"/>
          <p:cNvSpPr/>
          <p:nvPr/>
        </p:nvSpPr>
        <p:spPr>
          <a:xfrm>
            <a:off x="4741173" y="2537451"/>
            <a:ext cx="2432400" cy="14700"/>
          </a:xfrm>
          <a:prstGeom prst="rect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4" name="Google Shape;464;p26"/>
          <p:cNvSpPr txBox="1"/>
          <p:nvPr/>
        </p:nvSpPr>
        <p:spPr>
          <a:xfrm>
            <a:off x="4796037" y="2729475"/>
            <a:ext cx="23226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계 · 합계 · 소계</a:t>
            </a:r>
            <a:b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5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연보 전체에서 자주 쓰는 표현</a:t>
            </a:r>
            <a:endParaRPr/>
          </a:p>
        </p:txBody>
      </p:sp>
      <p:sp>
        <p:nvSpPr>
          <p:cNvPr id="465" name="Google Shape;465;p26"/>
          <p:cNvSpPr/>
          <p:nvPr/>
        </p:nvSpPr>
        <p:spPr>
          <a:xfrm>
            <a:off x="2340864" y="3575304"/>
            <a:ext cx="4462272" cy="475488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6" name="Google Shape;466;p26"/>
          <p:cNvSpPr txBox="1"/>
          <p:nvPr/>
        </p:nvSpPr>
        <p:spPr>
          <a:xfrm>
            <a:off x="2633472" y="3712463"/>
            <a:ext cx="38770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남은 후보만 LLM 검수</a:t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3280184" y="4200750"/>
            <a:ext cx="1206900" cy="255900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68" name="Google Shape;468;p26"/>
          <p:cNvSpPr txBox="1"/>
          <p:nvPr/>
        </p:nvSpPr>
        <p:spPr>
          <a:xfrm>
            <a:off x="3280184" y="4200750"/>
            <a:ext cx="12069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토큰 사용량 감소</a:t>
            </a:r>
            <a:endParaRPr/>
          </a:p>
        </p:txBody>
      </p:sp>
      <p:sp>
        <p:nvSpPr>
          <p:cNvPr id="469" name="Google Shape;469;p26"/>
          <p:cNvSpPr/>
          <p:nvPr/>
        </p:nvSpPr>
        <p:spPr>
          <a:xfrm>
            <a:off x="4690875" y="4200750"/>
            <a:ext cx="1758300" cy="274200"/>
          </a:xfrm>
          <a:prstGeom prst="rect">
            <a:avLst/>
          </a:prstGeom>
          <a:solidFill>
            <a:srgbClr val="EEF5FA"/>
          </a:solidFill>
          <a:ln>
            <a:noFill/>
          </a:ln>
        </p:spPr>
        <p:txBody>
          <a:bodyPr anchorCtr="0" anchor="ctr" bIns="49000" lIns="98000" spcFirstLastPara="1" rIns="98000" wrap="square" tIns="4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1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0" name="Google Shape;470;p26"/>
          <p:cNvSpPr txBox="1"/>
          <p:nvPr/>
        </p:nvSpPr>
        <p:spPr>
          <a:xfrm>
            <a:off x="4690875" y="4200750"/>
            <a:ext cx="1758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600" lIns="19600" spcFirstLastPara="1" rIns="19600" wrap="square" tIns="196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8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공식 표현 일관성 </a:t>
            </a:r>
            <a:r>
              <a:rPr b="1" lang="en-US" sz="858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확보</a:t>
            </a:r>
            <a:endParaRPr sz="150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메타데이터·이상치 검수</a:t>
            </a:r>
            <a:endParaRPr/>
          </a:p>
        </p:txBody>
      </p:sp>
      <p:sp>
        <p:nvSpPr>
          <p:cNvPr id="476" name="Google Shape;476;p27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정보와 이상값 후보 확인</a:t>
            </a:r>
            <a:endParaRPr/>
          </a:p>
        </p:txBody>
      </p:sp>
      <p:sp>
        <p:nvSpPr>
          <p:cNvPr id="477" name="Google Shape;477;p27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8" name="Google Shape;478;p27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필수 정보의 누락과 통계적으로 차이가 큰 값을 ‘확인 필요’로 제시합니다.</a:t>
            </a:r>
            <a:endParaRPr/>
          </a:p>
        </p:txBody>
      </p:sp>
      <p:pic>
        <p:nvPicPr>
          <p:cNvPr descr="image.png" id="479" name="Google Shape;4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27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481" name="Google Shape;481;p27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438912" y="1399032"/>
            <a:ext cx="36758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 검수</a:t>
            </a:r>
            <a:endParaRPr/>
          </a:p>
        </p:txBody>
      </p:sp>
      <p:sp>
        <p:nvSpPr>
          <p:cNvPr id="483" name="Google Shape;483;p27"/>
          <p:cNvSpPr/>
          <p:nvPr/>
        </p:nvSpPr>
        <p:spPr>
          <a:xfrm>
            <a:off x="438912" y="1709928"/>
            <a:ext cx="3675887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4" name="Google Shape;484;p27"/>
          <p:cNvSpPr/>
          <p:nvPr/>
        </p:nvSpPr>
        <p:spPr>
          <a:xfrm>
            <a:off x="438912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5" name="Google Shape;485;p27"/>
          <p:cNvSpPr txBox="1"/>
          <p:nvPr/>
        </p:nvSpPr>
        <p:spPr>
          <a:xfrm>
            <a:off x="438912" y="1947672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486" name="Google Shape;486;p27"/>
          <p:cNvSpPr txBox="1"/>
          <p:nvPr/>
        </p:nvSpPr>
        <p:spPr>
          <a:xfrm>
            <a:off x="905256" y="1901952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</a:t>
            </a:r>
            <a:endParaRPr/>
          </a:p>
        </p:txBody>
      </p:sp>
      <p:sp>
        <p:nvSpPr>
          <p:cNvPr id="487" name="Google Shape;487;p27"/>
          <p:cNvSpPr txBox="1"/>
          <p:nvPr/>
        </p:nvSpPr>
        <p:spPr>
          <a:xfrm>
            <a:off x="905256" y="2148840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누락 여부 + 기존 기준 단위와 일치</a:t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438912" y="2423160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89" name="Google Shape;489;p27"/>
          <p:cNvSpPr txBox="1"/>
          <p:nvPr/>
        </p:nvSpPr>
        <p:spPr>
          <a:xfrm>
            <a:off x="438912" y="2660904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490" name="Google Shape;490;p27"/>
          <p:cNvSpPr txBox="1"/>
          <p:nvPr/>
        </p:nvSpPr>
        <p:spPr>
          <a:xfrm>
            <a:off x="905256" y="2615184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기준일</a:t>
            </a:r>
            <a:endParaRPr/>
          </a:p>
        </p:txBody>
      </p:sp>
      <p:sp>
        <p:nvSpPr>
          <p:cNvPr id="491" name="Google Shape;491;p27"/>
          <p:cNvSpPr txBox="1"/>
          <p:nvPr/>
        </p:nvSpPr>
        <p:spPr>
          <a:xfrm>
            <a:off x="905256" y="2862072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492" name="Google Shape;492;p27"/>
          <p:cNvSpPr/>
          <p:nvPr/>
        </p:nvSpPr>
        <p:spPr>
          <a:xfrm>
            <a:off x="438912" y="3136392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3" name="Google Shape;493;p27"/>
          <p:cNvSpPr txBox="1"/>
          <p:nvPr/>
        </p:nvSpPr>
        <p:spPr>
          <a:xfrm>
            <a:off x="438912" y="337413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494" name="Google Shape;494;p27"/>
          <p:cNvSpPr txBox="1"/>
          <p:nvPr/>
        </p:nvSpPr>
        <p:spPr>
          <a:xfrm>
            <a:off x="905256" y="3328416"/>
            <a:ext cx="319125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</a:t>
            </a:r>
            <a:endParaRPr/>
          </a:p>
        </p:txBody>
      </p:sp>
      <p:sp>
        <p:nvSpPr>
          <p:cNvPr id="495" name="Google Shape;495;p27"/>
          <p:cNvSpPr txBox="1"/>
          <p:nvPr/>
        </p:nvSpPr>
        <p:spPr>
          <a:xfrm>
            <a:off x="905256" y="3575304"/>
            <a:ext cx="319125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여부 확인</a:t>
            </a:r>
            <a:endParaRPr/>
          </a:p>
        </p:txBody>
      </p:sp>
      <p:sp>
        <p:nvSpPr>
          <p:cNvPr id="496" name="Google Shape;496;p27"/>
          <p:cNvSpPr/>
          <p:nvPr/>
        </p:nvSpPr>
        <p:spPr>
          <a:xfrm>
            <a:off x="438912" y="3849624"/>
            <a:ext cx="3675887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7" name="Google Shape;497;p27"/>
          <p:cNvSpPr txBox="1"/>
          <p:nvPr/>
        </p:nvSpPr>
        <p:spPr>
          <a:xfrm>
            <a:off x="4617720" y="1399032"/>
            <a:ext cx="4087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이상치 검수</a:t>
            </a:r>
            <a:endParaRPr/>
          </a:p>
        </p:txBody>
      </p:sp>
      <p:sp>
        <p:nvSpPr>
          <p:cNvPr id="498" name="Google Shape;498;p27"/>
          <p:cNvSpPr/>
          <p:nvPr/>
        </p:nvSpPr>
        <p:spPr>
          <a:xfrm>
            <a:off x="4617720" y="1709928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4617720" y="1709928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0" name="Google Shape;500;p27"/>
          <p:cNvSpPr txBox="1"/>
          <p:nvPr/>
        </p:nvSpPr>
        <p:spPr>
          <a:xfrm>
            <a:off x="4736592" y="1901952"/>
            <a:ext cx="3675887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숫자 열에서 값이 크게 벗어난 후보</a:t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4956048" y="2889504"/>
            <a:ext cx="3429000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5102352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3" name="Google Shape;503;p27"/>
          <p:cNvSpPr txBox="1"/>
          <p:nvPr/>
        </p:nvSpPr>
        <p:spPr>
          <a:xfrm>
            <a:off x="5029200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9</a:t>
            </a:r>
            <a:endParaRPr/>
          </a:p>
        </p:txBody>
      </p:sp>
      <p:sp>
        <p:nvSpPr>
          <p:cNvPr id="504" name="Google Shape;504;p27"/>
          <p:cNvSpPr/>
          <p:nvPr/>
        </p:nvSpPr>
        <p:spPr>
          <a:xfrm>
            <a:off x="5687568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5" name="Google Shape;505;p27"/>
          <p:cNvSpPr txBox="1"/>
          <p:nvPr/>
        </p:nvSpPr>
        <p:spPr>
          <a:xfrm>
            <a:off x="5614416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272784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7" name="Google Shape;507;p27"/>
          <p:cNvSpPr txBox="1"/>
          <p:nvPr/>
        </p:nvSpPr>
        <p:spPr>
          <a:xfrm>
            <a:off x="6199632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/>
          </a:p>
        </p:txBody>
      </p:sp>
      <p:sp>
        <p:nvSpPr>
          <p:cNvPr id="508" name="Google Shape;508;p27"/>
          <p:cNvSpPr/>
          <p:nvPr/>
        </p:nvSpPr>
        <p:spPr>
          <a:xfrm>
            <a:off x="6858000" y="2770632"/>
            <a:ext cx="201168" cy="201168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09" name="Google Shape;509;p27"/>
          <p:cNvSpPr txBox="1"/>
          <p:nvPr/>
        </p:nvSpPr>
        <p:spPr>
          <a:xfrm>
            <a:off x="6784848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/>
          </a:p>
        </p:txBody>
      </p:sp>
      <p:sp>
        <p:nvSpPr>
          <p:cNvPr id="510" name="Google Shape;510;p27"/>
          <p:cNvSpPr/>
          <p:nvPr/>
        </p:nvSpPr>
        <p:spPr>
          <a:xfrm>
            <a:off x="7882127" y="2468880"/>
            <a:ext cx="201168" cy="201168"/>
          </a:xfrm>
          <a:prstGeom prst="ellipse">
            <a:avLst/>
          </a:prstGeom>
          <a:solidFill>
            <a:srgbClr val="C946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1" name="Google Shape;511;p27"/>
          <p:cNvSpPr txBox="1"/>
          <p:nvPr/>
        </p:nvSpPr>
        <p:spPr>
          <a:xfrm>
            <a:off x="7808975" y="3090672"/>
            <a:ext cx="3474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C94655"/>
                </a:solidFill>
                <a:latin typeface="Noto Sans KR"/>
                <a:ea typeface="Noto Sans KR"/>
                <a:cs typeface="Noto Sans KR"/>
                <a:sym typeface="Noto Sans KR"/>
              </a:rPr>
              <a:t>43</a:t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solidFill>
            <a:srgbClr val="FFF4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3" name="Google Shape;513;p27"/>
          <p:cNvSpPr txBox="1"/>
          <p:nvPr/>
        </p:nvSpPr>
        <p:spPr>
          <a:xfrm>
            <a:off x="7543800" y="2112264"/>
            <a:ext cx="859536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필요</a:t>
            </a:r>
            <a:endParaRPr/>
          </a:p>
        </p:txBody>
      </p:sp>
      <p:sp>
        <p:nvSpPr>
          <p:cNvPr id="514" name="Google Shape;514;p27"/>
          <p:cNvSpPr txBox="1"/>
          <p:nvPr/>
        </p:nvSpPr>
        <p:spPr>
          <a:xfrm>
            <a:off x="4937760" y="3410712"/>
            <a:ext cx="33834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값이 5개 이상인 숫자 열</a:t>
            </a:r>
            <a:b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84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• 합계·소계 제외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수정·재검수</a:t>
            </a:r>
            <a:endParaRPr/>
          </a:p>
        </p:txBody>
      </p:sp>
      <p:sp>
        <p:nvSpPr>
          <p:cNvPr id="520" name="Google Shape;520;p28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보호된 수정과 선택적 재검수</a:t>
            </a:r>
            <a:endParaRPr/>
          </a:p>
        </p:txBody>
      </p:sp>
      <p:sp>
        <p:nvSpPr>
          <p:cNvPr id="521" name="Google Shape;521;p28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2" name="Google Shape;522;p28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수정 권한을 확인한 뒤 내용을 고치고, 변경 범위에 맞춰 다시 검수합니다.</a:t>
            </a:r>
            <a:endParaRPr/>
          </a:p>
        </p:txBody>
      </p:sp>
      <p:pic>
        <p:nvPicPr>
          <p:cNvPr descr="image.png" id="523" name="Google Shape;52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8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25" name="Google Shape;525;p28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14</a:t>
            </a:r>
            <a:endParaRPr/>
          </a:p>
        </p:txBody>
      </p:sp>
      <p:sp>
        <p:nvSpPr>
          <p:cNvPr id="526" name="Google Shape;526;p28"/>
          <p:cNvSpPr txBox="1"/>
          <p:nvPr/>
        </p:nvSpPr>
        <p:spPr>
          <a:xfrm>
            <a:off x="438912" y="1389888"/>
            <a:ext cx="3712463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보호</a:t>
            </a:r>
            <a:endParaRPr/>
          </a:p>
        </p:txBody>
      </p:sp>
      <p:sp>
        <p:nvSpPr>
          <p:cNvPr id="527" name="Google Shape;527;p28"/>
          <p:cNvSpPr/>
          <p:nvPr/>
        </p:nvSpPr>
        <p:spPr>
          <a:xfrm>
            <a:off x="438912" y="1700784"/>
            <a:ext cx="3712463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8" name="Google Shape;528;p28"/>
          <p:cNvSpPr/>
          <p:nvPr/>
        </p:nvSpPr>
        <p:spPr>
          <a:xfrm>
            <a:off x="438912" y="1700784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29" name="Google Shape;529;p28"/>
          <p:cNvSpPr/>
          <p:nvPr/>
        </p:nvSpPr>
        <p:spPr>
          <a:xfrm>
            <a:off x="786384" y="2212848"/>
            <a:ext cx="2880360" cy="18288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0" name="Google Shape;530;p28"/>
          <p:cNvSpPr/>
          <p:nvPr/>
        </p:nvSpPr>
        <p:spPr>
          <a:xfrm>
            <a:off x="548640" y="2011680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1" name="Google Shape;531;p28"/>
          <p:cNvSpPr txBox="1"/>
          <p:nvPr/>
        </p:nvSpPr>
        <p:spPr>
          <a:xfrm>
            <a:off x="548640" y="2112264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32" name="Google Shape;532;p28"/>
          <p:cNvSpPr txBox="1"/>
          <p:nvPr/>
        </p:nvSpPr>
        <p:spPr>
          <a:xfrm>
            <a:off x="329184" y="257860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비밀번호 확인</a:t>
            </a:r>
            <a:endParaRPr/>
          </a:p>
        </p:txBody>
      </p:sp>
      <p:sp>
        <p:nvSpPr>
          <p:cNvPr id="533" name="Google Shape;533;p28"/>
          <p:cNvSpPr txBox="1"/>
          <p:nvPr/>
        </p:nvSpPr>
        <p:spPr>
          <a:xfrm>
            <a:off x="219456" y="2871216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통계별 수정 권한 확인</a:t>
            </a:r>
            <a:endParaRPr/>
          </a:p>
        </p:txBody>
      </p:sp>
      <p:sp>
        <p:nvSpPr>
          <p:cNvPr id="534" name="Google Shape;534;p28"/>
          <p:cNvSpPr/>
          <p:nvPr/>
        </p:nvSpPr>
        <p:spPr>
          <a:xfrm>
            <a:off x="1773936" y="2011680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5" name="Google Shape;535;p28"/>
          <p:cNvSpPr txBox="1"/>
          <p:nvPr/>
        </p:nvSpPr>
        <p:spPr>
          <a:xfrm>
            <a:off x="1773936" y="2112264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36" name="Google Shape;536;p28"/>
          <p:cNvSpPr txBox="1"/>
          <p:nvPr/>
        </p:nvSpPr>
        <p:spPr>
          <a:xfrm>
            <a:off x="1554480" y="257860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편집 화면</a:t>
            </a:r>
            <a:endParaRPr/>
          </a:p>
        </p:txBody>
      </p:sp>
      <p:sp>
        <p:nvSpPr>
          <p:cNvPr id="537" name="Google Shape;537;p28"/>
          <p:cNvSpPr txBox="1"/>
          <p:nvPr/>
        </p:nvSpPr>
        <p:spPr>
          <a:xfrm>
            <a:off x="1444752" y="2871216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표 정보·셀 값·행/열 수정</a:t>
            </a:r>
            <a:endParaRPr/>
          </a:p>
        </p:txBody>
      </p:sp>
      <p:sp>
        <p:nvSpPr>
          <p:cNvPr id="538" name="Google Shape;538;p28"/>
          <p:cNvSpPr/>
          <p:nvPr/>
        </p:nvSpPr>
        <p:spPr>
          <a:xfrm>
            <a:off x="2999232" y="2011680"/>
            <a:ext cx="402336" cy="402336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39" name="Google Shape;539;p28"/>
          <p:cNvSpPr txBox="1"/>
          <p:nvPr/>
        </p:nvSpPr>
        <p:spPr>
          <a:xfrm>
            <a:off x="2999232" y="2112264"/>
            <a:ext cx="4023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8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540" name="Google Shape;540;p28"/>
          <p:cNvSpPr txBox="1"/>
          <p:nvPr/>
        </p:nvSpPr>
        <p:spPr>
          <a:xfrm>
            <a:off x="2779776" y="2578608"/>
            <a:ext cx="859536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저장</a:t>
            </a:r>
            <a:endParaRPr/>
          </a:p>
        </p:txBody>
      </p:sp>
      <p:sp>
        <p:nvSpPr>
          <p:cNvPr id="541" name="Google Shape;541;p28"/>
          <p:cNvSpPr txBox="1"/>
          <p:nvPr/>
        </p:nvSpPr>
        <p:spPr>
          <a:xfrm>
            <a:off x="2670048" y="2871216"/>
            <a:ext cx="10789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9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내용 반영</a:t>
            </a:r>
            <a:endParaRPr/>
          </a:p>
        </p:txBody>
      </p:sp>
      <p:sp>
        <p:nvSpPr>
          <p:cNvPr id="542" name="Google Shape;542;p28"/>
          <p:cNvSpPr txBox="1"/>
          <p:nvPr/>
        </p:nvSpPr>
        <p:spPr>
          <a:xfrm>
            <a:off x="585216" y="3346704"/>
            <a:ext cx="33832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3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저장 즉시 검수 자동 실행 X  ·  담당자가 재검수 실행</a:t>
            </a:r>
            <a:endParaRPr/>
          </a:p>
        </p:txBody>
      </p:sp>
      <p:sp>
        <p:nvSpPr>
          <p:cNvPr id="543" name="Google Shape;543;p28"/>
          <p:cNvSpPr txBox="1"/>
          <p:nvPr/>
        </p:nvSpPr>
        <p:spPr>
          <a:xfrm>
            <a:off x="4617720" y="1389888"/>
            <a:ext cx="4087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재검수 원칙</a:t>
            </a:r>
            <a:endParaRPr/>
          </a:p>
        </p:txBody>
      </p:sp>
      <p:sp>
        <p:nvSpPr>
          <p:cNvPr id="544" name="Google Shape;544;p28"/>
          <p:cNvSpPr/>
          <p:nvPr/>
        </p:nvSpPr>
        <p:spPr>
          <a:xfrm>
            <a:off x="4617720" y="1700784"/>
            <a:ext cx="4087368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5" name="Google Shape;545;p28"/>
          <p:cNvSpPr/>
          <p:nvPr/>
        </p:nvSpPr>
        <p:spPr>
          <a:xfrm>
            <a:off x="4617720" y="1700784"/>
            <a:ext cx="658368" cy="22860"/>
          </a:xfrm>
          <a:prstGeom prst="rect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46" name="Google Shape;546;p28"/>
          <p:cNvSpPr txBox="1"/>
          <p:nvPr/>
        </p:nvSpPr>
        <p:spPr>
          <a:xfrm>
            <a:off x="4617720" y="1911095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47" name="Google Shape;547;p28"/>
          <p:cNvSpPr txBox="1"/>
          <p:nvPr/>
        </p:nvSpPr>
        <p:spPr>
          <a:xfrm>
            <a:off x="5084064" y="1865376"/>
            <a:ext cx="36027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값 변경</a:t>
            </a:r>
            <a:endParaRPr/>
          </a:p>
        </p:txBody>
      </p:sp>
      <p:sp>
        <p:nvSpPr>
          <p:cNvPr id="548" name="Google Shape;548;p28"/>
          <p:cNvSpPr txBox="1"/>
          <p:nvPr/>
        </p:nvSpPr>
        <p:spPr>
          <a:xfrm>
            <a:off x="5084064" y="2112264"/>
            <a:ext cx="36027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계산 기준으로 현재 값 재검수</a:t>
            </a:r>
            <a:endParaRPr/>
          </a:p>
        </p:txBody>
      </p:sp>
      <p:sp>
        <p:nvSpPr>
          <p:cNvPr id="549" name="Google Shape;549;p28"/>
          <p:cNvSpPr/>
          <p:nvPr/>
        </p:nvSpPr>
        <p:spPr>
          <a:xfrm>
            <a:off x="4617720" y="2386584"/>
            <a:ext cx="4087368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0" name="Google Shape;550;p28"/>
          <p:cNvSpPr txBox="1"/>
          <p:nvPr/>
        </p:nvSpPr>
        <p:spPr>
          <a:xfrm>
            <a:off x="4617720" y="255117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51" name="Google Shape;551;p28"/>
          <p:cNvSpPr txBox="1"/>
          <p:nvPr/>
        </p:nvSpPr>
        <p:spPr>
          <a:xfrm>
            <a:off x="5084064" y="2505456"/>
            <a:ext cx="36027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구조 변경</a:t>
            </a:r>
            <a:endParaRPr/>
          </a:p>
        </p:txBody>
      </p:sp>
      <p:sp>
        <p:nvSpPr>
          <p:cNvPr id="552" name="Google Shape;552;p28"/>
          <p:cNvSpPr txBox="1"/>
          <p:nvPr/>
        </p:nvSpPr>
        <p:spPr>
          <a:xfrm>
            <a:off x="5084064" y="2752344"/>
            <a:ext cx="36027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새로운 표 구조에 맞춰 기준 재생성</a:t>
            </a:r>
            <a:endParaRPr/>
          </a:p>
        </p:txBody>
      </p:sp>
      <p:sp>
        <p:nvSpPr>
          <p:cNvPr id="553" name="Google Shape;553;p28"/>
          <p:cNvSpPr/>
          <p:nvPr/>
        </p:nvSpPr>
        <p:spPr>
          <a:xfrm>
            <a:off x="4617720" y="3026664"/>
            <a:ext cx="4087368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4" name="Google Shape;554;p28"/>
          <p:cNvSpPr txBox="1"/>
          <p:nvPr/>
        </p:nvSpPr>
        <p:spPr>
          <a:xfrm>
            <a:off x="4617720" y="3191256"/>
            <a:ext cx="34747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1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555" name="Google Shape;555;p28"/>
          <p:cNvSpPr txBox="1"/>
          <p:nvPr/>
        </p:nvSpPr>
        <p:spPr>
          <a:xfrm>
            <a:off x="5084064" y="3145536"/>
            <a:ext cx="3602735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 없음</a:t>
            </a:r>
            <a:endParaRPr/>
          </a:p>
        </p:txBody>
      </p:sp>
      <p:sp>
        <p:nvSpPr>
          <p:cNvPr id="556" name="Google Shape;556;p28"/>
          <p:cNvSpPr txBox="1"/>
          <p:nvPr/>
        </p:nvSpPr>
        <p:spPr>
          <a:xfrm>
            <a:off x="5084064" y="3392424"/>
            <a:ext cx="3602735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6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이전 검수 결과 재사용</a:t>
            </a:r>
            <a:endParaRPr/>
          </a:p>
        </p:txBody>
      </p:sp>
      <p:sp>
        <p:nvSpPr>
          <p:cNvPr id="557" name="Google Shape;557;p28"/>
          <p:cNvSpPr/>
          <p:nvPr/>
        </p:nvSpPr>
        <p:spPr>
          <a:xfrm>
            <a:off x="4617720" y="3666744"/>
            <a:ext cx="4087368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566928" y="3986784"/>
            <a:ext cx="8010144" cy="530352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9" name="Google Shape;559;p28"/>
          <p:cNvSpPr txBox="1"/>
          <p:nvPr/>
        </p:nvSpPr>
        <p:spPr>
          <a:xfrm>
            <a:off x="841248" y="415137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저장</a:t>
            </a:r>
            <a:endParaRPr/>
          </a:p>
        </p:txBody>
      </p:sp>
      <p:sp>
        <p:nvSpPr>
          <p:cNvPr id="560" name="Google Shape;560;p28"/>
          <p:cNvSpPr/>
          <p:nvPr/>
        </p:nvSpPr>
        <p:spPr>
          <a:xfrm>
            <a:off x="2231136" y="4123944"/>
            <a:ext cx="237744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586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1" name="Google Shape;561;p28"/>
          <p:cNvSpPr txBox="1"/>
          <p:nvPr/>
        </p:nvSpPr>
        <p:spPr>
          <a:xfrm>
            <a:off x="2779776" y="415137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C5861A"/>
                </a:solidFill>
                <a:latin typeface="Noto Sans KR"/>
                <a:ea typeface="Noto Sans KR"/>
                <a:cs typeface="Noto Sans KR"/>
                <a:sym typeface="Noto Sans KR"/>
              </a:rPr>
              <a:t>재검수 필요</a:t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4169664" y="4123944"/>
            <a:ext cx="237744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3" name="Google Shape;563;p28"/>
          <p:cNvSpPr txBox="1"/>
          <p:nvPr/>
        </p:nvSpPr>
        <p:spPr>
          <a:xfrm>
            <a:off x="4718304" y="4151376"/>
            <a:ext cx="1188600" cy="1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실행</a:t>
            </a:r>
            <a:endParaRPr/>
          </a:p>
        </p:txBody>
      </p:sp>
      <p:sp>
        <p:nvSpPr>
          <p:cNvPr id="564" name="Google Shape;564;p28"/>
          <p:cNvSpPr/>
          <p:nvPr/>
        </p:nvSpPr>
        <p:spPr>
          <a:xfrm>
            <a:off x="6108192" y="4123944"/>
            <a:ext cx="237744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5" name="Google Shape;565;p28"/>
          <p:cNvSpPr txBox="1"/>
          <p:nvPr/>
        </p:nvSpPr>
        <p:spPr>
          <a:xfrm>
            <a:off x="6656832" y="415137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" u="none" cap="none" strike="noStrike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새 결과 갱신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9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결과 활용</a:t>
            </a:r>
            <a:endParaRPr/>
          </a:p>
        </p:txBody>
      </p:sp>
      <p:sp>
        <p:nvSpPr>
          <p:cNvPr id="571" name="Google Shape;571;p29"/>
          <p:cNvSpPr txBox="1"/>
          <p:nvPr/>
        </p:nvSpPr>
        <p:spPr>
          <a:xfrm>
            <a:off x="438912" y="466344"/>
            <a:ext cx="7041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표와 검수 리포트 내려받기</a:t>
            </a:r>
            <a:endParaRPr/>
          </a:p>
        </p:txBody>
      </p:sp>
      <p:sp>
        <p:nvSpPr>
          <p:cNvPr id="572" name="Google Shape;572;p29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3" name="Google Shape;573;p29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필요한 통계표와 검수 결과를 업무 목적에 맞춰 내려받습니다.</a:t>
            </a:r>
            <a:endParaRPr/>
          </a:p>
        </p:txBody>
      </p:sp>
      <p:pic>
        <p:nvPicPr>
          <p:cNvPr descr="image.png" id="574" name="Google Shape;57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29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76" name="Google Shape;576;p29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15</a:t>
            </a:r>
            <a:endParaRPr/>
          </a:p>
        </p:txBody>
      </p:sp>
      <p:sp>
        <p:nvSpPr>
          <p:cNvPr id="577" name="Google Shape;577;p29"/>
          <p:cNvSpPr/>
          <p:nvPr/>
        </p:nvSpPr>
        <p:spPr>
          <a:xfrm>
            <a:off x="4572000" y="1389898"/>
            <a:ext cx="13800" cy="255330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78" name="Google Shape;578;p29"/>
          <p:cNvSpPr txBox="1"/>
          <p:nvPr/>
        </p:nvSpPr>
        <p:spPr>
          <a:xfrm>
            <a:off x="566928" y="1508760"/>
            <a:ext cx="493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579" name="Google Shape;579;p29"/>
          <p:cNvSpPr txBox="1"/>
          <p:nvPr/>
        </p:nvSpPr>
        <p:spPr>
          <a:xfrm>
            <a:off x="1097280" y="1426464"/>
            <a:ext cx="1097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</a:t>
            </a: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표</a:t>
            </a:r>
            <a:endParaRPr/>
          </a:p>
        </p:txBody>
      </p:sp>
      <p:sp>
        <p:nvSpPr>
          <p:cNvPr id="580" name="Google Shape;580;p29"/>
          <p:cNvSpPr txBox="1"/>
          <p:nvPr/>
        </p:nvSpPr>
        <p:spPr>
          <a:xfrm>
            <a:off x="566928" y="1920240"/>
            <a:ext cx="356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통계표를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·공유</a:t>
            </a:r>
            <a:endParaRPr/>
          </a:p>
        </p:txBody>
      </p:sp>
      <p:sp>
        <p:nvSpPr>
          <p:cNvPr id="581" name="Google Shape;581;p29"/>
          <p:cNvSpPr/>
          <p:nvPr/>
        </p:nvSpPr>
        <p:spPr>
          <a:xfrm>
            <a:off x="566928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2" name="Google Shape;582;p29"/>
          <p:cNvSpPr txBox="1"/>
          <p:nvPr/>
        </p:nvSpPr>
        <p:spPr>
          <a:xfrm>
            <a:off x="626993" y="2587752"/>
            <a:ext cx="3337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선택한 통계표</a:t>
            </a:r>
            <a:r>
              <a:rPr lang="en-US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의 모든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 하위 표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헤더와 셀 내용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단위·기준일·출처 등 표 정보</a:t>
            </a:r>
            <a:endParaRPr/>
          </a:p>
          <a:p>
            <a:pPr indent="0" lvl="0" marL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90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-&gt; </a:t>
            </a:r>
            <a:r>
              <a:rPr b="1" lang="en-US" sz="880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표 활용</a:t>
            </a:r>
            <a:endParaRPr/>
          </a:p>
        </p:txBody>
      </p:sp>
      <p:sp>
        <p:nvSpPr>
          <p:cNvPr id="583" name="Google Shape;583;p29"/>
          <p:cNvSpPr txBox="1"/>
          <p:nvPr/>
        </p:nvSpPr>
        <p:spPr>
          <a:xfrm>
            <a:off x="4992624" y="1508760"/>
            <a:ext cx="4937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584" name="Google Shape;584;p29"/>
          <p:cNvSpPr txBox="1"/>
          <p:nvPr/>
        </p:nvSpPr>
        <p:spPr>
          <a:xfrm>
            <a:off x="5522976" y="1426464"/>
            <a:ext cx="2103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리포트</a:t>
            </a:r>
            <a:endParaRPr/>
          </a:p>
        </p:txBody>
      </p:sp>
      <p:sp>
        <p:nvSpPr>
          <p:cNvPr id="585" name="Google Shape;585;p29"/>
          <p:cNvSpPr txBox="1"/>
          <p:nvPr/>
        </p:nvSpPr>
        <p:spPr>
          <a:xfrm>
            <a:off x="4992624" y="1920240"/>
            <a:ext cx="3566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내역과 </a:t>
            </a:r>
            <a:r>
              <a:rPr b="1" i="0" lang="en-US" sz="105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판정 근거 </a:t>
            </a:r>
            <a:r>
              <a:rPr b="1" lang="en-US" sz="105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/>
          </a:p>
        </p:txBody>
      </p:sp>
      <p:sp>
        <p:nvSpPr>
          <p:cNvPr id="586" name="Google Shape;586;p29"/>
          <p:cNvSpPr/>
          <p:nvPr/>
        </p:nvSpPr>
        <p:spPr>
          <a:xfrm>
            <a:off x="4992624" y="2286000"/>
            <a:ext cx="3547872" cy="16459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7" name="Google Shape;587;p29"/>
          <p:cNvSpPr txBox="1"/>
          <p:nvPr/>
        </p:nvSpPr>
        <p:spPr>
          <a:xfrm>
            <a:off x="5084064" y="2587752"/>
            <a:ext cx="33375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의심·확인 필요 항목 </a:t>
            </a:r>
            <a:r>
              <a:rPr lang="en-US" sz="900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근거 셀 위치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9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현재값·재계산값·판정 사유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-&gt;</a:t>
            </a: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en-US" sz="880">
                <a:solidFill>
                  <a:srgbClr val="153E70"/>
                </a:solidFill>
                <a:latin typeface="Noto Sans KR"/>
                <a:ea typeface="Noto Sans KR"/>
                <a:cs typeface="Noto Sans KR"/>
                <a:sym typeface="Noto Sans KR"/>
              </a:rPr>
              <a:t>공유·수정·결과 보고에 활용</a:t>
            </a:r>
            <a:endParaRPr sz="900">
              <a:solidFill>
                <a:srgbClr val="17233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0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</a:t>
            </a:r>
            <a:endParaRPr/>
          </a:p>
        </p:txBody>
      </p:sp>
      <p:sp>
        <p:nvSpPr>
          <p:cNvPr id="593" name="Google Shape;593;p30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역할별 부담 감소, 협업 효율 향상</a:t>
            </a:r>
            <a:endParaRPr/>
          </a:p>
        </p:txBody>
      </p:sp>
      <p:sp>
        <p:nvSpPr>
          <p:cNvPr id="594" name="Google Shape;594;p30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5" name="Google Shape;595;p30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담당자·통계 담당자·검수 진행자가 같은 화면과 기준으로 협업합니다.</a:t>
            </a:r>
            <a:endParaRPr/>
          </a:p>
        </p:txBody>
      </p:sp>
      <p:pic>
        <p:nvPicPr>
          <p:cNvPr descr="image.png" id="596" name="Google Shape;59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30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598" name="Google Shape;598;p30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16</a:t>
            </a:r>
            <a:endParaRPr/>
          </a:p>
        </p:txBody>
      </p:sp>
      <p:sp>
        <p:nvSpPr>
          <p:cNvPr id="599" name="Google Shape;599;p30"/>
          <p:cNvSpPr txBox="1"/>
          <p:nvPr/>
        </p:nvSpPr>
        <p:spPr>
          <a:xfrm>
            <a:off x="566928" y="2066543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통계연보 담당자</a:t>
            </a:r>
            <a:endParaRPr/>
          </a:p>
        </p:txBody>
      </p:sp>
      <p:sp>
        <p:nvSpPr>
          <p:cNvPr id="600" name="Google Shape;600;p30"/>
          <p:cNvSpPr txBox="1"/>
          <p:nvPr/>
        </p:nvSpPr>
        <p:spPr>
          <a:xfrm>
            <a:off x="566928" y="2414016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진행 상황 관리</a:t>
            </a:r>
            <a:endParaRPr/>
          </a:p>
        </p:txBody>
      </p:sp>
      <p:sp>
        <p:nvSpPr>
          <p:cNvPr id="601" name="Google Shape;601;p30"/>
          <p:cNvSpPr/>
          <p:nvPr/>
        </p:nvSpPr>
        <p:spPr>
          <a:xfrm>
            <a:off x="676656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2" name="Google Shape;602;p30"/>
          <p:cNvSpPr txBox="1"/>
          <p:nvPr/>
        </p:nvSpPr>
        <p:spPr>
          <a:xfrm>
            <a:off x="676656" y="3035808"/>
            <a:ext cx="206654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연보별 검수 상태 한눈에 확인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오류 통계와 수정 현황 공유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0C2F6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발간 전 최종 결과 정리</a:t>
            </a:r>
            <a:endParaRPr/>
          </a:p>
        </p:txBody>
      </p:sp>
      <p:sp>
        <p:nvSpPr>
          <p:cNvPr id="603" name="Google Shape;603;p30"/>
          <p:cNvSpPr txBox="1"/>
          <p:nvPr/>
        </p:nvSpPr>
        <p:spPr>
          <a:xfrm>
            <a:off x="3364992" y="2066543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각 통계 담당자</a:t>
            </a:r>
            <a:endParaRPr/>
          </a:p>
        </p:txBody>
      </p:sp>
      <p:sp>
        <p:nvSpPr>
          <p:cNvPr id="604" name="Google Shape;604;p30"/>
          <p:cNvSpPr txBox="1"/>
          <p:nvPr/>
        </p:nvSpPr>
        <p:spPr>
          <a:xfrm>
            <a:off x="3364992" y="2414016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내 통계의 문제를 바로 수정</a:t>
            </a:r>
            <a:endParaRPr/>
          </a:p>
        </p:txBody>
      </p:sp>
      <p:sp>
        <p:nvSpPr>
          <p:cNvPr id="605" name="Google Shape;605;p30"/>
          <p:cNvSpPr/>
          <p:nvPr/>
        </p:nvSpPr>
        <p:spPr>
          <a:xfrm>
            <a:off x="3474720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6" name="Google Shape;606;p30"/>
          <p:cNvSpPr txBox="1"/>
          <p:nvPr/>
        </p:nvSpPr>
        <p:spPr>
          <a:xfrm>
            <a:off x="3474720" y="3035808"/>
            <a:ext cx="206654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셀과 근거를 빠르게 확인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화면에서 직접 수정·저장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변경된 표 중심으로 재검수</a:t>
            </a:r>
            <a:endParaRPr/>
          </a:p>
        </p:txBody>
      </p:sp>
      <p:sp>
        <p:nvSpPr>
          <p:cNvPr id="607" name="Google Shape;607;p30"/>
          <p:cNvSpPr txBox="1"/>
          <p:nvPr/>
        </p:nvSpPr>
        <p:spPr>
          <a:xfrm>
            <a:off x="6163056" y="2066543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진행자</a:t>
            </a:r>
            <a:endParaRPr/>
          </a:p>
        </p:txBody>
      </p:sp>
      <p:sp>
        <p:nvSpPr>
          <p:cNvPr id="608" name="Google Shape;608;p30"/>
          <p:cNvSpPr txBox="1"/>
          <p:nvPr/>
        </p:nvSpPr>
        <p:spPr>
          <a:xfrm>
            <a:off x="6163056" y="2414016"/>
            <a:ext cx="226771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반복 계산 대신 판단에 집중</a:t>
            </a:r>
            <a:endParaRPr/>
          </a:p>
        </p:txBody>
      </p:sp>
      <p:sp>
        <p:nvSpPr>
          <p:cNvPr id="609" name="Google Shape;609;p30"/>
          <p:cNvSpPr/>
          <p:nvPr/>
        </p:nvSpPr>
        <p:spPr>
          <a:xfrm>
            <a:off x="6272784" y="277063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0" name="Google Shape;610;p30"/>
          <p:cNvSpPr txBox="1"/>
          <p:nvPr/>
        </p:nvSpPr>
        <p:spPr>
          <a:xfrm>
            <a:off x="6272784" y="3035808"/>
            <a:ext cx="2066543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합계·비율 자동 재계산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우선순위와 근거 제시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60" u="none" cap="none" strike="noStrike">
                <a:solidFill>
                  <a:srgbClr val="1F5A91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리포트로 결과 공유</a:t>
            </a:r>
            <a:endParaRPr/>
          </a:p>
        </p:txBody>
      </p:sp>
      <p:sp>
        <p:nvSpPr>
          <p:cNvPr id="611" name="Google Shape;611;p30"/>
          <p:cNvSpPr/>
          <p:nvPr/>
        </p:nvSpPr>
        <p:spPr>
          <a:xfrm>
            <a:off x="2201075" y="4187950"/>
            <a:ext cx="4415100" cy="449400"/>
          </a:xfrm>
          <a:prstGeom prst="rect">
            <a:avLst/>
          </a:prstGeom>
          <a:solidFill>
            <a:srgbClr val="0C2F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2" name="Google Shape;612;p30"/>
          <p:cNvSpPr txBox="1"/>
          <p:nvPr/>
        </p:nvSpPr>
        <p:spPr>
          <a:xfrm>
            <a:off x="1005792" y="4324902"/>
            <a:ext cx="6986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검수 시간 단축  ·  오류 누락 위험 감소  ·  공유·수정·재검수 흐름 단순화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1"/>
          <p:cNvSpPr txBox="1"/>
          <p:nvPr/>
        </p:nvSpPr>
        <p:spPr>
          <a:xfrm>
            <a:off x="438912" y="219456"/>
            <a:ext cx="3575304" cy="17373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향후 보완점</a:t>
            </a:r>
            <a:endParaRPr/>
          </a:p>
        </p:txBody>
      </p:sp>
      <p:sp>
        <p:nvSpPr>
          <p:cNvPr id="618" name="Google Shape;618;p31"/>
          <p:cNvSpPr txBox="1"/>
          <p:nvPr/>
        </p:nvSpPr>
        <p:spPr>
          <a:xfrm>
            <a:off x="438912" y="466344"/>
            <a:ext cx="7040880" cy="374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안전한 기관 운영을 위한 보완</a:t>
            </a:r>
            <a:endParaRPr/>
          </a:p>
        </p:txBody>
      </p:sp>
      <p:sp>
        <p:nvSpPr>
          <p:cNvPr id="619" name="Google Shape;619;p31"/>
          <p:cNvSpPr/>
          <p:nvPr/>
        </p:nvSpPr>
        <p:spPr>
          <a:xfrm>
            <a:off x="438912" y="896112"/>
            <a:ext cx="8257031" cy="10972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0" name="Google Shape;620;p31"/>
          <p:cNvSpPr txBox="1"/>
          <p:nvPr/>
        </p:nvSpPr>
        <p:spPr>
          <a:xfrm>
            <a:off x="438912" y="1024128"/>
            <a:ext cx="80650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기관 운영을 위해 권한·이력·AI 환경을 단계적으로 보완해야 합니다.</a:t>
            </a:r>
            <a:endParaRPr/>
          </a:p>
        </p:txBody>
      </p:sp>
      <p:pic>
        <p:nvPicPr>
          <p:cNvPr descr="image.png" id="621" name="Google Shape;6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9520" y="100584"/>
            <a:ext cx="1152144" cy="328142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31"/>
          <p:cNvSpPr txBox="1"/>
          <p:nvPr/>
        </p:nvSpPr>
        <p:spPr>
          <a:xfrm>
            <a:off x="438912" y="4873752"/>
            <a:ext cx="3246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A96A3"/>
                </a:solidFill>
                <a:latin typeface="Noto Sans KR"/>
                <a:ea typeface="Noto Sans KR"/>
                <a:cs typeface="Noto Sans KR"/>
                <a:sym typeface="Noto Sans KR"/>
              </a:rPr>
              <a:t>청년인턴 완료보고  |  행정안전부 데이터정보화담당관</a:t>
            </a:r>
            <a:endParaRPr/>
          </a:p>
        </p:txBody>
      </p:sp>
      <p:sp>
        <p:nvSpPr>
          <p:cNvPr id="623" name="Google Shape;623;p31"/>
          <p:cNvSpPr txBox="1"/>
          <p:nvPr/>
        </p:nvSpPr>
        <p:spPr>
          <a:xfrm>
            <a:off x="8439912" y="4882896"/>
            <a:ext cx="25603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67085"/>
                </a:solidFill>
                <a:latin typeface="Noto Sans KR"/>
                <a:ea typeface="Noto Sans KR"/>
                <a:cs typeface="Noto Sans KR"/>
                <a:sym typeface="Noto Sans KR"/>
              </a:rPr>
              <a:t>17</a:t>
            </a:r>
            <a:endParaRPr/>
          </a:p>
        </p:txBody>
      </p:sp>
      <p:sp>
        <p:nvSpPr>
          <p:cNvPr id="624" name="Google Shape;624;p31"/>
          <p:cNvSpPr/>
          <p:nvPr/>
        </p:nvSpPr>
        <p:spPr>
          <a:xfrm>
            <a:off x="987552" y="1737360"/>
            <a:ext cx="6172200" cy="22860"/>
          </a:xfrm>
          <a:prstGeom prst="rect">
            <a:avLst/>
          </a:prstGeom>
          <a:solidFill>
            <a:srgbClr val="B9D0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5" name="Google Shape;625;p31"/>
          <p:cNvSpPr/>
          <p:nvPr/>
        </p:nvSpPr>
        <p:spPr>
          <a:xfrm>
            <a:off x="1444752" y="1527048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6" name="Google Shape;626;p31"/>
          <p:cNvSpPr txBox="1"/>
          <p:nvPr/>
        </p:nvSpPr>
        <p:spPr>
          <a:xfrm>
            <a:off x="1444752" y="163677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endParaRPr/>
          </a:p>
        </p:txBody>
      </p:sp>
      <p:sp>
        <p:nvSpPr>
          <p:cNvPr id="627" name="Google Shape;627;p31"/>
          <p:cNvSpPr txBox="1"/>
          <p:nvPr/>
        </p:nvSpPr>
        <p:spPr>
          <a:xfrm>
            <a:off x="566928" y="2194560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권한·보안</a:t>
            </a:r>
            <a:endParaRPr/>
          </a:p>
        </p:txBody>
      </p:sp>
      <p:sp>
        <p:nvSpPr>
          <p:cNvPr id="628" name="Google Shape;628;p31"/>
          <p:cNvSpPr/>
          <p:nvPr/>
        </p:nvSpPr>
        <p:spPr>
          <a:xfrm>
            <a:off x="676656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9" name="Google Shape;629;p31"/>
          <p:cNvSpPr txBox="1"/>
          <p:nvPr/>
        </p:nvSpPr>
        <p:spPr>
          <a:xfrm>
            <a:off x="676656" y="2880360"/>
            <a:ext cx="2066543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기관 계정과 통합 로그인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담당자별 역할·수정 권한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세션 만료·접속 제한</a:t>
            </a:r>
            <a:endParaRPr/>
          </a:p>
        </p:txBody>
      </p:sp>
      <p:sp>
        <p:nvSpPr>
          <p:cNvPr id="630" name="Google Shape;630;p31"/>
          <p:cNvSpPr/>
          <p:nvPr/>
        </p:nvSpPr>
        <p:spPr>
          <a:xfrm>
            <a:off x="4242816" y="1527048"/>
            <a:ext cx="438912" cy="438912"/>
          </a:xfrm>
          <a:prstGeom prst="ellipse">
            <a:avLst/>
          </a:prstGeom>
          <a:solidFill>
            <a:srgbClr val="2F78B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1" name="Google Shape;631;p31"/>
          <p:cNvSpPr txBox="1"/>
          <p:nvPr/>
        </p:nvSpPr>
        <p:spPr>
          <a:xfrm>
            <a:off x="4242816" y="163677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endParaRPr/>
          </a:p>
        </p:txBody>
      </p:sp>
      <p:sp>
        <p:nvSpPr>
          <p:cNvPr id="632" name="Google Shape;632;p31"/>
          <p:cNvSpPr txBox="1"/>
          <p:nvPr/>
        </p:nvSpPr>
        <p:spPr>
          <a:xfrm>
            <a:off x="3364992" y="2194560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 이력 기록</a:t>
            </a:r>
            <a:endParaRPr/>
          </a:p>
        </p:txBody>
      </p:sp>
      <p:sp>
        <p:nvSpPr>
          <p:cNvPr id="633" name="Google Shape;633;p31"/>
          <p:cNvSpPr/>
          <p:nvPr/>
        </p:nvSpPr>
        <p:spPr>
          <a:xfrm>
            <a:off x="3474720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4" name="Google Shape;634;p31"/>
          <p:cNvSpPr txBox="1"/>
          <p:nvPr/>
        </p:nvSpPr>
        <p:spPr>
          <a:xfrm>
            <a:off x="3474720" y="2880360"/>
            <a:ext cx="2066543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셀 단위 변경 전·후 기록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수정자·시간·사유 확인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되돌리기·변경 알림</a:t>
            </a:r>
            <a:endParaRPr/>
          </a:p>
        </p:txBody>
      </p:sp>
      <p:sp>
        <p:nvSpPr>
          <p:cNvPr id="635" name="Google Shape;635;p31"/>
          <p:cNvSpPr/>
          <p:nvPr/>
        </p:nvSpPr>
        <p:spPr>
          <a:xfrm>
            <a:off x="7040880" y="1527048"/>
            <a:ext cx="438912" cy="438912"/>
          </a:xfrm>
          <a:prstGeom prst="ellipse">
            <a:avLst/>
          </a:prstGeom>
          <a:solidFill>
            <a:srgbClr val="153E7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6" name="Google Shape;636;p31"/>
          <p:cNvSpPr txBox="1"/>
          <p:nvPr/>
        </p:nvSpPr>
        <p:spPr>
          <a:xfrm>
            <a:off x="7040880" y="1636776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/>
          </a:p>
        </p:txBody>
      </p:sp>
      <p:sp>
        <p:nvSpPr>
          <p:cNvPr id="637" name="Google Shape;637;p31"/>
          <p:cNvSpPr txBox="1"/>
          <p:nvPr/>
        </p:nvSpPr>
        <p:spPr>
          <a:xfrm>
            <a:off x="6163056" y="2194560"/>
            <a:ext cx="226771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0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내부망·내부 LLM</a:t>
            </a:r>
            <a:endParaRPr/>
          </a:p>
        </p:txBody>
      </p:sp>
      <p:sp>
        <p:nvSpPr>
          <p:cNvPr id="638" name="Google Shape;638;p31"/>
          <p:cNvSpPr/>
          <p:nvPr/>
        </p:nvSpPr>
        <p:spPr>
          <a:xfrm>
            <a:off x="6272784" y="2587752"/>
            <a:ext cx="2048256" cy="14630"/>
          </a:xfrm>
          <a:prstGeom prst="rect">
            <a:avLst/>
          </a:prstGeom>
          <a:solidFill>
            <a:srgbClr val="D8E1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9" name="Google Shape;639;p31"/>
          <p:cNvSpPr txBox="1"/>
          <p:nvPr/>
        </p:nvSpPr>
        <p:spPr>
          <a:xfrm>
            <a:off x="6272784" y="2880360"/>
            <a:ext cx="2066543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내부망 환경에 서비스 도입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LLM을 내부 모델로 전환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i="0" lang="en-US" sz="869" u="none" cap="none" strike="noStrike">
                <a:solidFill>
                  <a:srgbClr val="2F78B7"/>
                </a:solidFill>
                <a:latin typeface="Noto Sans KR"/>
                <a:ea typeface="Noto Sans KR"/>
                <a:cs typeface="Noto Sans KR"/>
                <a:sym typeface="Noto Sans KR"/>
              </a:rPr>
              <a:t>• </a:t>
            </a:r>
            <a:r>
              <a:rPr b="0" i="0" lang="en-US" sz="869" u="none" cap="none" strike="noStrike">
                <a:solidFill>
                  <a:srgbClr val="172331"/>
                </a:solidFill>
                <a:latin typeface="Noto Sans KR"/>
                <a:ea typeface="Noto Sans KR"/>
                <a:cs typeface="Noto Sans KR"/>
                <a:sym typeface="Noto Sans KR"/>
              </a:rPr>
              <a:t>민감 정보와 사용 이력 관리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
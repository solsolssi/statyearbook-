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oto Sans KR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otoSansKR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otoSansK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70669c7a_0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d770669c7a_0_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770669c7a_0_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778d317e_0_7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7778d317e_0_7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두 개의 과제를 순서대로 보고드립니다. 앞부분은 통계연보 검수 보조 시스템, 뒷부분은 행정안전통계연보 챗봇입니다.</a:t>
            </a:r>
            <a:endParaRPr/>
          </a:p>
        </p:txBody>
      </p:sp>
      <p:sp>
        <p:nvSpPr>
          <p:cNvPr id="87" name="Google Shape;87;g3f7778d317e_0_7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787140089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787140089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통계연보 검수 보조 시스템의 배경, 구현 구조, 사용자 흐름과 향후 개선 방향을 설명합니다. 이 시스템은 반복 검증을 자동화하되 최종 판단과 승인은 담당자가 수행하는 검수 보조 도구입니다.</a:t>
            </a:r>
            <a:endParaRPr/>
          </a:p>
        </p:txBody>
      </p:sp>
      <p:sp>
        <p:nvSpPr>
          <p:cNvPr id="136" name="Google Shape;136;g3f787140089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87140089_0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787140089_0_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통계연보 검수 보조 시스템의 배경, 구현 구조, 사용자 흐름과 향후 개선 방향을 설명합니다. 이 시스템은 반복 검증을 자동화하되 최종 판단과 승인은 담당자가 수행하는 검수 보조 도구입니다.</a:t>
            </a:r>
            <a:endParaRPr/>
          </a:p>
        </p:txBody>
      </p:sp>
      <p:sp>
        <p:nvSpPr>
          <p:cNvPr id="146" name="Google Shape;146;g3f787140089_0_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771aab19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7771aab19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필요한 통계를 자연어로 질의하면 통계연보와 주요통계집에서 근거를 찾아 답변하는 챗봇입니다.</a:t>
            </a:r>
            <a:endParaRPr/>
          </a:p>
        </p:txBody>
      </p:sp>
      <p:sp>
        <p:nvSpPr>
          <p:cNvPr id="156" name="Google Shape;156;g3f7771aab19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778d317e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7778d317e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업무 방식과 목표 프로세스를 항목별로 맞대어 보았습니다.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현재는 </a:t>
            </a:r>
            <a:endParaRPr/>
          </a:p>
        </p:txBody>
      </p:sp>
      <p:sp>
        <p:nvSpPr>
          <p:cNvPr id="187" name="Google Shape;187;g3f7778d317e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7778d317e_0_6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f7778d317e_0_6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내부 직원과 국민이 각각 어떤 일에 쓰고, 무엇이 달라지는지 흐름으로 보여줍니다.</a:t>
            </a:r>
            <a:endParaRPr/>
          </a:p>
        </p:txBody>
      </p:sp>
      <p:sp>
        <p:nvSpPr>
          <p:cNvPr id="238" name="Google Shape;238;g3f7778d317e_0_6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778d317e_0_10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7778d317e_0_10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질문이 프론트엔드와 백엔드를 지나 MCP 서버와 통계 DB까지 이어지는 주요 흐름입니다.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파싱 어떻게 해서 db에 넣었는지도 추가</a:t>
            </a:r>
            <a:endParaRPr/>
          </a:p>
        </p:txBody>
      </p:sp>
      <p:sp>
        <p:nvSpPr>
          <p:cNvPr id="266" name="Google Shape;266;g3f7778d317e_0_10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7778d317e_0_5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7778d317e_0_5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MCP 서버가 제공하는 다섯 가지 도구입니다. LLM이 질문에 따라 필요한 도구를 골라 호출하고, 도구가 서로 이어져 최종 답변의 근거를 만듭니다.</a:t>
            </a:r>
            <a:endParaRPr/>
          </a:p>
        </p:txBody>
      </p:sp>
      <p:sp>
        <p:nvSpPr>
          <p:cNvPr id="316" name="Google Shape;316;g3f7778d317e_0_5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7778d317e_0_38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7778d317e_0_38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질문이 프론트엔드·백엔드·LLM·MCP 서버·통계 DB를 오가며 답변이 만들어지는 과정입니다. 실선은 요청, 점선은 응답입니다.</a:t>
            </a:r>
            <a:endParaRPr/>
          </a:p>
        </p:txBody>
      </p:sp>
      <p:sp>
        <p:nvSpPr>
          <p:cNvPr id="383" name="Google Shape;383;g3f7778d317e_0_38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7778d317e_0_27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f7778d317e_0_27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가지 검색 경로의 결과에 가중치를 적용해 최종 후보를 정합니다.</a:t>
            </a:r>
            <a:endParaRPr/>
          </a:p>
        </p:txBody>
      </p:sp>
      <p:sp>
        <p:nvSpPr>
          <p:cNvPr id="491" name="Google Shape;491;g3f7778d317e_0_27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7778d317e_0_3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f7778d317e_0_3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사용자는 웹으로 접속하거나 내부망에 설치해 쓰고, 관리자는 admin 페이지에서 새 발간물을 적재합니다.</a:t>
            </a:r>
            <a:endParaRPr/>
          </a:p>
        </p:txBody>
      </p:sp>
      <p:sp>
        <p:nvSpPr>
          <p:cNvPr id="537" name="Google Shape;537;g3f7778d317e_0_3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787140089_0_4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f787140089_0_4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구조에서 남은 한계 세 가지와, 각각을 어떻게 보완할 수 있는지 원인과 함께 정리했습니다.</a:t>
            </a:r>
            <a:endParaRPr/>
          </a:p>
        </p:txBody>
      </p:sp>
      <p:sp>
        <p:nvSpPr>
          <p:cNvPr id="563" name="Google Shape;563;g3f787140089_0_4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787140089_0_8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f787140089_0_8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 소개부터 없는 통계 처리까지 여섯 가지 시나리오를 순서대로 시연합니다.</a:t>
            </a:r>
            <a:endParaRPr/>
          </a:p>
        </p:txBody>
      </p:sp>
      <p:sp>
        <p:nvSpPr>
          <p:cNvPr id="603" name="Google Shape;603;g3f787140089_0_8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6dc2734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d6dc2734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D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/>
          <p:nvPr/>
        </p:nvSpPr>
        <p:spPr>
          <a:xfrm>
            <a:off x="457200" y="1657606"/>
            <a:ext cx="45600" cy="320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1"/>
          <p:cNvSpPr/>
          <p:nvPr/>
        </p:nvSpPr>
        <p:spPr>
          <a:xfrm>
            <a:off x="640080" y="1639305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300"/>
              <a:buFont typeface="Malgun Gothic"/>
              <a:buNone/>
            </a:pPr>
            <a:r>
              <a:rPr b="1" lang="ko" sz="13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26-1 행정안전부 청년인턴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" name="Google Shape;79;p21"/>
          <p:cNvSpPr/>
          <p:nvPr/>
        </p:nvSpPr>
        <p:spPr>
          <a:xfrm>
            <a:off x="457200" y="2185319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ko" sz="5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완료 보고</a:t>
            </a:r>
            <a:endParaRPr i="0" sz="5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21"/>
          <p:cNvSpPr/>
          <p:nvPr/>
        </p:nvSpPr>
        <p:spPr>
          <a:xfrm>
            <a:off x="457200" y="3315593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3400"/>
              <a:buFont typeface="Arial"/>
              <a:buNone/>
            </a:pPr>
            <a:r>
              <a:rPr b="1" lang="ko" sz="18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통계연보검수보조 시스템 / 행정안전통계연보 챗봇</a:t>
            </a:r>
            <a:endParaRPr b="1" sz="1800">
              <a:solidFill>
                <a:srgbClr val="4A90E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1" name="Google Shape;81;p21"/>
          <p:cNvCxnSpPr/>
          <p:nvPr/>
        </p:nvCxnSpPr>
        <p:spPr>
          <a:xfrm>
            <a:off x="457200" y="3886200"/>
            <a:ext cx="6729000" cy="0"/>
          </a:xfrm>
          <a:prstGeom prst="straightConnector1">
            <a:avLst/>
          </a:prstGeom>
          <a:noFill/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21"/>
          <p:cNvSpPr/>
          <p:nvPr/>
        </p:nvSpPr>
        <p:spPr>
          <a:xfrm>
            <a:off x="457200" y="40233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행정안전부 데이터정보화담당관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Malgun Gothic"/>
              <a:buNone/>
            </a:pPr>
            <a:r>
              <a:rPr lang="ko" sz="120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조성욱</a:t>
            </a:r>
            <a:r>
              <a:rPr i="0" lang="ko" sz="1200" u="none" cap="none" strike="noStrik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ko" sz="120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송아현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>
            <a:off x="464303" y="1359130"/>
            <a:ext cx="232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68333"/>
              </a:lnSpc>
              <a:spcBef>
                <a:spcPts val="0"/>
              </a:spcBef>
              <a:spcAft>
                <a:spcPts val="0"/>
              </a:spcAft>
              <a:buClr>
                <a:srgbClr val="EAF2F8"/>
              </a:buClr>
              <a:buSzPts val="5600"/>
              <a:buFont typeface="Arial"/>
              <a:buNone/>
            </a:pPr>
            <a:r>
              <a:rPr b="1" i="0" lang="ko" sz="5600" u="none" cap="none" strike="noStrike">
                <a:solidFill>
                  <a:srgbClr val="EAF2F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2"/>
          <p:cNvSpPr/>
          <p:nvPr/>
        </p:nvSpPr>
        <p:spPr>
          <a:xfrm>
            <a:off x="820561" y="1425805"/>
            <a:ext cx="2483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1"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SECTION</a:t>
            </a:r>
            <a:r>
              <a:rPr b="1"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 I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22"/>
          <p:cNvSpPr/>
          <p:nvPr/>
        </p:nvSpPr>
        <p:spPr>
          <a:xfrm>
            <a:off x="820561" y="1599636"/>
            <a:ext cx="2483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9459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22"/>
          <p:cNvSpPr/>
          <p:nvPr/>
        </p:nvSpPr>
        <p:spPr>
          <a:xfrm>
            <a:off x="464303" y="2068743"/>
            <a:ext cx="3872100" cy="381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2"/>
          <p:cNvSpPr/>
          <p:nvPr/>
        </p:nvSpPr>
        <p:spPr>
          <a:xfrm>
            <a:off x="464303" y="21735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2"/>
          <p:cNvSpPr/>
          <p:nvPr/>
        </p:nvSpPr>
        <p:spPr>
          <a:xfrm>
            <a:off x="490457" y="23080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22"/>
          <p:cNvSpPr/>
          <p:nvPr/>
        </p:nvSpPr>
        <p:spPr>
          <a:xfrm>
            <a:off x="842882" y="22866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체제와 한계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22"/>
          <p:cNvSpPr/>
          <p:nvPr/>
        </p:nvSpPr>
        <p:spPr>
          <a:xfrm>
            <a:off x="464303" y="2592618"/>
            <a:ext cx="38721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/>
          <p:nvPr/>
        </p:nvSpPr>
        <p:spPr>
          <a:xfrm>
            <a:off x="490457" y="27271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842882" y="27057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소개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464303" y="30117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/>
          <p:nvPr/>
        </p:nvSpPr>
        <p:spPr>
          <a:xfrm>
            <a:off x="490457" y="31462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842882" y="31248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기능 소개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464303" y="3430818"/>
            <a:ext cx="38721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2"/>
          <p:cNvSpPr/>
          <p:nvPr/>
        </p:nvSpPr>
        <p:spPr>
          <a:xfrm>
            <a:off x="490457" y="35653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842882" y="35439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적용 기술 소개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464303" y="38499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490457" y="39844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842882" y="39630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결론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4807784" y="1359130"/>
            <a:ext cx="426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68333"/>
              </a:lnSpc>
              <a:spcBef>
                <a:spcPts val="0"/>
              </a:spcBef>
              <a:spcAft>
                <a:spcPts val="0"/>
              </a:spcAft>
              <a:buClr>
                <a:srgbClr val="EAF2F8"/>
              </a:buClr>
              <a:buSzPts val="5600"/>
              <a:buFont typeface="Arial"/>
              <a:buNone/>
            </a:pPr>
            <a:r>
              <a:rPr b="1" i="0" lang="ko" sz="5600" u="none" cap="none" strike="noStrike">
                <a:solidFill>
                  <a:srgbClr val="EAF2F8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5358337" y="1425805"/>
            <a:ext cx="21480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1"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SECTION </a:t>
            </a:r>
            <a:r>
              <a:rPr b="1"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II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22"/>
          <p:cNvSpPr/>
          <p:nvPr/>
        </p:nvSpPr>
        <p:spPr>
          <a:xfrm>
            <a:off x="5358337" y="1599636"/>
            <a:ext cx="21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9459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행정안전통계연보 챗봇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4807784" y="2068743"/>
            <a:ext cx="3872100" cy="381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4807784" y="21735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4833938" y="23080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5186363" y="22866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소개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4807784" y="2592618"/>
            <a:ext cx="38721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4833938" y="27271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5186363" y="27057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배경 및 한계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4807784" y="30117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4833938" y="31462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5186363" y="31248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4807784" y="3430818"/>
            <a:ext cx="38721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4833938" y="35653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5186363" y="35439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 사항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807784" y="3849918"/>
            <a:ext cx="387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4833938" y="3984458"/>
            <a:ext cx="39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5186363" y="3963027"/>
            <a:ext cx="387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시연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0" name="Google Shape;130;p22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1" name="Google Shape;131;p2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4846320" y="457200"/>
            <a:ext cx="4572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D5C"/>
              </a:buClr>
              <a:buSzPts val="18000"/>
              <a:buFont typeface="Arial"/>
              <a:buNone/>
            </a:pPr>
            <a:r>
              <a:rPr b="1" i="0" lang="ko" sz="18000" u="none" cap="none" strike="noStrike">
                <a:solidFill>
                  <a:srgbClr val="152D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40073" y="2377450"/>
            <a:ext cx="782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ko" sz="4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 i="0" sz="4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640080" y="4443984"/>
            <a:ext cx="63093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740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 |  행정안전부 데이터정보화담당관  |  2026. 8.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640080" y="21031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Malgun Gothic"/>
              <a:buNone/>
            </a:pPr>
            <a:r>
              <a:rPr b="1" i="0" lang="ko" sz="11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SECTION 0</a:t>
            </a:r>
            <a:r>
              <a:rPr b="1" lang="ko" sz="11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4846320" y="457200"/>
            <a:ext cx="4572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D5C"/>
              </a:buClr>
              <a:buSzPts val="18000"/>
              <a:buFont typeface="Arial"/>
              <a:buNone/>
            </a:pPr>
            <a:r>
              <a:rPr b="1" i="0" lang="ko" sz="18000" u="none" cap="none" strike="noStrike">
                <a:solidFill>
                  <a:srgbClr val="152D5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ko" sz="18000">
                <a:solidFill>
                  <a:srgbClr val="152D5C"/>
                </a:solidFill>
              </a:rPr>
              <a:t>2</a:t>
            </a:r>
            <a:endParaRPr b="0" i="0" sz="1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40073" y="2377450"/>
            <a:ext cx="782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ko" sz="4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행정안전통계연보 챗봇</a:t>
            </a:r>
            <a:endParaRPr i="0" sz="4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1" name="Google Shape;151;p24"/>
          <p:cNvSpPr txBox="1"/>
          <p:nvPr/>
        </p:nvSpPr>
        <p:spPr>
          <a:xfrm>
            <a:off x="640080" y="4443984"/>
            <a:ext cx="63093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740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 |  행정안전부 데이터정보화담당관  |  2026. 8.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40080" y="21031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Malgun Gothic"/>
              <a:buNone/>
            </a:pPr>
            <a:r>
              <a:rPr b="1" i="0" lang="ko" sz="11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SECTION 0</a:t>
            </a:r>
            <a:r>
              <a:rPr b="1" lang="ko" sz="11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/>
          <p:nvPr/>
        </p:nvSpPr>
        <p:spPr>
          <a:xfrm>
            <a:off x="419077" y="1102450"/>
            <a:ext cx="35715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100"/>
              <a:buFont typeface="Arial"/>
              <a:buNone/>
            </a:pPr>
            <a:r>
              <a:rPr i="0" lang="ko" sz="11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통계를 </a:t>
            </a:r>
            <a:r>
              <a:rPr lang="ko" sz="11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자연어로</a:t>
            </a:r>
            <a:r>
              <a:rPr i="0" lang="ko" sz="11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물어보면, 통계연보·주요통계집에서 </a:t>
            </a:r>
            <a:r>
              <a:rPr lang="ko" sz="11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표 원문을</a:t>
            </a:r>
            <a:r>
              <a:rPr i="0" lang="ko" sz="11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찾아 답변합니다.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438162" y="1800945"/>
            <a:ext cx="29235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438162" y="1800945"/>
            <a:ext cx="44400" cy="822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467766" y="2132646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823010" y="2026680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자연어 질의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823010" y="2248136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찾고 싶은 통계를 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자연어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로 질문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438162" y="2623890"/>
            <a:ext cx="2923500" cy="82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438162" y="2623890"/>
            <a:ext cx="44400" cy="8232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467766" y="2955591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823010" y="2849625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lang="ko" sz="12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자료 </a:t>
            </a:r>
            <a:r>
              <a:rPr b="1" i="0" lang="ko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출력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823010" y="3071082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근거가 된 원자료 표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응답 출력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38162" y="3446873"/>
            <a:ext cx="29235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438162" y="3446873"/>
            <a:ext cx="44400" cy="822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467766" y="3778573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823010" y="3672608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823010" y="3894064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 요청을 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차트로 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7357375" y="4445250"/>
            <a:ext cx="14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▲행정안전통계연보 채팅 UI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완료보고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행정안전통계연보 챗봇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8" name="Google Shape;178;p25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9" name="Google Shape;179;p2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5"/>
          <p:cNvGrpSpPr/>
          <p:nvPr/>
        </p:nvGrpSpPr>
        <p:grpSpPr>
          <a:xfrm>
            <a:off x="3472705" y="1706185"/>
            <a:ext cx="5228090" cy="2711114"/>
            <a:chOff x="1431300" y="1657050"/>
            <a:chExt cx="6130500" cy="2996700"/>
          </a:xfrm>
        </p:grpSpPr>
        <p:sp>
          <p:nvSpPr>
            <p:cNvPr id="181" name="Google Shape;181;p25"/>
            <p:cNvSpPr/>
            <p:nvPr/>
          </p:nvSpPr>
          <p:spPr>
            <a:xfrm>
              <a:off x="1431300" y="1657050"/>
              <a:ext cx="6130500" cy="2996700"/>
            </a:xfrm>
            <a:prstGeom prst="roundRect">
              <a:avLst>
                <a:gd fmla="val 5365" name="adj"/>
              </a:avLst>
            </a:prstGeom>
            <a:solidFill>
              <a:srgbClr val="FFFFFF"/>
            </a:solidFill>
            <a:ln cap="flat" cmpd="sng" w="94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0306" rotWithShape="0" algn="bl" dir="8100000" dist="25077">
                <a:srgbClr val="000000">
                  <a:alpha val="10200"/>
                </a:srgbClr>
              </a:outerShdw>
            </a:effectLst>
          </p:spPr>
          <p:txBody>
            <a:bodyPr anchorCtr="0" anchor="ctr" bIns="90250" lIns="90250" spcFirstLastPara="1" rIns="90250" wrap="square" tIns="9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2"/>
            </a:p>
          </p:txBody>
        </p:sp>
        <p:pic>
          <p:nvPicPr>
            <p:cNvPr id="182" name="Google Shape;182;p25" title="스크린샷 2026-08-20 오전 9.15.30(2).png"/>
            <p:cNvPicPr preferRelativeResize="0"/>
            <p:nvPr/>
          </p:nvPicPr>
          <p:blipFill rotWithShape="1">
            <a:blip r:embed="rId4">
              <a:alphaModFix/>
            </a:blip>
            <a:srcRect b="0" l="0" r="0" t="14596"/>
            <a:stretch/>
          </p:blipFill>
          <p:spPr>
            <a:xfrm>
              <a:off x="1481025" y="1712217"/>
              <a:ext cx="6019500" cy="2892300"/>
            </a:xfrm>
            <a:prstGeom prst="roundRect">
              <a:avLst>
                <a:gd fmla="val 3955" name="adj"/>
              </a:avLst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6"/>
          <p:cNvGrpSpPr/>
          <p:nvPr/>
        </p:nvGrpSpPr>
        <p:grpSpPr>
          <a:xfrm>
            <a:off x="471121" y="1191324"/>
            <a:ext cx="9072675" cy="520733"/>
            <a:chOff x="471121" y="4057553"/>
            <a:chExt cx="9072675" cy="520733"/>
          </a:xfrm>
        </p:grpSpPr>
        <p:sp>
          <p:nvSpPr>
            <p:cNvPr id="190" name="Google Shape;190;p26"/>
            <p:cNvSpPr/>
            <p:nvPr/>
          </p:nvSpPr>
          <p:spPr>
            <a:xfrm>
              <a:off x="471121" y="4057553"/>
              <a:ext cx="57300" cy="501600"/>
            </a:xfrm>
            <a:prstGeom prst="rect">
              <a:avLst/>
            </a:prstGeom>
            <a:solidFill>
              <a:srgbClr val="0B2E6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690196" y="4057553"/>
              <a:ext cx="8853600" cy="3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700" lIns="12700" spcFirstLastPara="1" rIns="12700" wrap="square" tIns="12700">
              <a:noAutofit/>
            </a:bodyPr>
            <a:lstStyle/>
            <a:p>
              <a:pPr indent="0" lvl="0" marL="0" marR="0" rtl="0" algn="l">
                <a:lnSpc>
                  <a:spcPct val="107748"/>
                </a:lnSpc>
                <a:spcBef>
                  <a:spcPts val="0"/>
                </a:spcBef>
                <a:spcAft>
                  <a:spcPts val="0"/>
                </a:spcAft>
                <a:buClr>
                  <a:srgbClr val="172331"/>
                </a:buClr>
                <a:buSzPts val="1700"/>
                <a:buFont typeface="Arial"/>
                <a:buNone/>
              </a:pPr>
              <a:r>
                <a:rPr b="1" lang="ko" sz="1700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행정안전</a:t>
              </a:r>
              <a:r>
                <a:rPr b="1" i="0" lang="ko" sz="1700" u="none" cap="none" strike="noStrike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통계연보</a:t>
              </a:r>
              <a:r>
                <a:rPr b="1" lang="ko" sz="2000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· </a:t>
              </a:r>
              <a:r>
                <a:rPr b="1" lang="ko" sz="1700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주요통계집을</a:t>
              </a:r>
              <a:r>
                <a:rPr b="1" i="0" lang="ko" sz="1700" u="none" cap="none" strike="noStrike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i="0" lang="ko" sz="1700" u="none" cap="none" strike="noStrike">
                  <a:solidFill>
                    <a:srgbClr val="0C2F6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챗봇</a:t>
              </a:r>
              <a:r>
                <a:rPr b="1" i="0" lang="ko" sz="1700" u="none" cap="none" strike="noStrike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으로 </a:t>
              </a:r>
              <a:r>
                <a:rPr b="1" lang="ko" sz="1700">
                  <a:solidFill>
                    <a:srgbClr val="1723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발간하자</a:t>
              </a:r>
              <a:endParaRPr i="0" sz="1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690196" y="4399485"/>
              <a:ext cx="88536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700" lIns="12700" spcFirstLastPara="1" rIns="12700" wrap="square" tIns="12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66473"/>
                </a:buClr>
                <a:buSzPts val="1100"/>
                <a:buFont typeface="Arial"/>
                <a:buNone/>
              </a:pPr>
              <a:r>
                <a:rPr lang="ko" sz="1100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자연어로 질의하면</a:t>
              </a:r>
              <a:r>
                <a:rPr i="0" lang="ko" sz="1100" u="none" cap="none" strike="noStrike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원자료를 근거로 답하는, MCP 기반 통계 질의</a:t>
              </a:r>
              <a:r>
                <a:rPr lang="ko" sz="1100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i="0" lang="ko" sz="1100" u="none" cap="none" strike="noStrike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서비스</a:t>
              </a:r>
              <a:endParaRPr i="0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93" name="Google Shape;193;p26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배경 및 한계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배경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6" name="Google Shape;196;p26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7" name="Google Shape;197;p2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26"/>
          <p:cNvGrpSpPr/>
          <p:nvPr/>
        </p:nvGrpSpPr>
        <p:grpSpPr>
          <a:xfrm>
            <a:off x="611316" y="1977018"/>
            <a:ext cx="7921435" cy="2553807"/>
            <a:chOff x="611316" y="1236005"/>
            <a:chExt cx="7921435" cy="2553807"/>
          </a:xfrm>
        </p:grpSpPr>
        <p:sp>
          <p:nvSpPr>
            <p:cNvPr id="199" name="Google Shape;199;p26"/>
            <p:cNvSpPr/>
            <p:nvPr/>
          </p:nvSpPr>
          <p:spPr>
            <a:xfrm>
              <a:off x="611316" y="1236005"/>
              <a:ext cx="3403200" cy="5457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763363" y="1334389"/>
              <a:ext cx="3409200" cy="1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1909E"/>
                </a:buClr>
                <a:buSzPts val="845"/>
                <a:buFont typeface="Arial"/>
                <a:buNone/>
              </a:pPr>
              <a:r>
                <a:rPr b="1" i="0" lang="ko" sz="845" u="none" cap="none" strike="noStrike">
                  <a:solidFill>
                    <a:srgbClr val="81909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AS-IS</a:t>
              </a:r>
              <a:endParaRPr i="0" sz="84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755623" y="1487468"/>
              <a:ext cx="34092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66473"/>
                </a:buClr>
                <a:buSzPts val="1315"/>
                <a:buFont typeface="Arial"/>
                <a:buNone/>
              </a:pPr>
              <a:r>
                <a:rPr b="1" lang="ko" sz="1315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문제점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971504" y="1236005"/>
              <a:ext cx="3403200" cy="545700"/>
            </a:xfrm>
            <a:prstGeom prst="rect">
              <a:avLst/>
            </a:prstGeom>
            <a:solidFill>
              <a:srgbClr val="0C2F61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123551" y="1334389"/>
              <a:ext cx="3409200" cy="1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E91BC"/>
                </a:buClr>
                <a:buSzPts val="845"/>
                <a:buFont typeface="Arial"/>
                <a:buNone/>
              </a:pPr>
              <a:r>
                <a:rPr b="1" i="0" lang="ko" sz="845" u="none" cap="none" strike="noStrike">
                  <a:solidFill>
                    <a:srgbClr val="4E91B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TO-BE</a:t>
              </a:r>
              <a:endParaRPr i="0" sz="84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123551" y="1479728"/>
              <a:ext cx="34092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5"/>
                <a:buFont typeface="Arial"/>
                <a:buNone/>
              </a:pPr>
              <a:r>
                <a:rPr b="1" lang="ko" sz="1315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개선 방향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611316" y="1781588"/>
              <a:ext cx="3403200" cy="666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763363" y="1915747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566473"/>
                </a:buClr>
                <a:buSzPts val="1315"/>
                <a:buFont typeface="Arial"/>
                <a:buNone/>
              </a:pPr>
              <a:r>
                <a:rPr b="1" lang="ko" sz="1315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필요한 통계를 </a:t>
              </a:r>
              <a:r>
                <a:rPr b="1" i="0" lang="ko" sz="1315" u="none" cap="none" strike="noStrike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직접 찾는다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763363" y="2172887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1909E"/>
                </a:buClr>
                <a:buSzPts val="939"/>
                <a:buFont typeface="Arial"/>
                <a:buNone/>
              </a:pPr>
              <a:r>
                <a:rPr i="0" lang="ko" sz="939" u="none" cap="none" strike="noStrike">
                  <a:solidFill>
                    <a:srgbClr val="81909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통계연보 · 주요통계집을 눈으로 대조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400137" y="2017485"/>
              <a:ext cx="221400" cy="1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5A91"/>
                </a:buClr>
                <a:buSzPts val="845"/>
                <a:buFont typeface="Arial"/>
                <a:buNone/>
              </a:pPr>
              <a:r>
                <a:rPr b="1" i="0" lang="ko" sz="845" u="none" cap="none" strike="noStrike">
                  <a:solidFill>
                    <a:srgbClr val="1F5A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탐색</a:t>
              </a:r>
              <a:endParaRPr i="0" sz="84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971504" y="1781588"/>
              <a:ext cx="3403200" cy="666600"/>
            </a:xfrm>
            <a:prstGeom prst="rect">
              <a:avLst/>
            </a:prstGeom>
            <a:solidFill>
              <a:srgbClr val="0C2F61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123551" y="1915747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5"/>
                <a:buFont typeface="Arial"/>
                <a:buNone/>
              </a:pPr>
              <a:r>
                <a:rPr b="1" i="0" lang="ko" sz="1315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물어보면 바로 찾아준다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123551" y="2172887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FC4E0"/>
                </a:buClr>
                <a:buSzPts val="939"/>
                <a:buFont typeface="Arial"/>
                <a:buNone/>
              </a:pPr>
              <a:r>
                <a:rPr i="0" lang="ko" sz="939" u="none" cap="none" strike="noStrike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 질문 한 번으로 </a:t>
              </a:r>
              <a:r>
                <a:rPr lang="ko" sz="939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원하는 결과 출력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11316" y="2447914"/>
              <a:ext cx="3403200" cy="6711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11316" y="2447914"/>
              <a:ext cx="3403200" cy="4500"/>
            </a:xfrm>
            <a:prstGeom prst="rect">
              <a:avLst/>
            </a:prstGeom>
            <a:solidFill>
              <a:srgbClr val="E3E9EE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763363" y="2586546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566473"/>
                </a:buClr>
                <a:buSzPts val="1315"/>
                <a:buFont typeface="Arial"/>
                <a:buNone/>
              </a:pPr>
              <a:r>
                <a:rPr b="1" i="0" lang="ko" sz="1315" u="none" cap="none" strike="noStrike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수치 확인에 시간이 걸린다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763363" y="2843685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1909E"/>
                </a:buClr>
                <a:buSzPts val="939"/>
                <a:buFont typeface="Arial"/>
                <a:buNone/>
              </a:pPr>
              <a:r>
                <a:rPr lang="ko" sz="939">
                  <a:solidFill>
                    <a:srgbClr val="81909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단위, 기준일 확인하고 직접 수치 계산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400137" y="2686047"/>
              <a:ext cx="221400" cy="1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5A91"/>
                </a:buClr>
                <a:buSzPts val="845"/>
                <a:buFont typeface="Arial"/>
                <a:buNone/>
              </a:pPr>
              <a:r>
                <a:rPr b="1" lang="ko" sz="845">
                  <a:solidFill>
                    <a:srgbClr val="1F5A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요약</a:t>
              </a:r>
              <a:endParaRPr i="0" sz="84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971504" y="2447914"/>
              <a:ext cx="3403200" cy="671100"/>
            </a:xfrm>
            <a:prstGeom prst="rect">
              <a:avLst/>
            </a:prstGeom>
            <a:solidFill>
              <a:srgbClr val="0C2F61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4971504" y="2447914"/>
              <a:ext cx="3403200" cy="4500"/>
            </a:xfrm>
            <a:prstGeom prst="rect">
              <a:avLst/>
            </a:prstGeom>
            <a:solidFill>
              <a:srgbClr val="FFFFFF">
                <a:alpha val="18040"/>
              </a:srgbClr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23551" y="2586546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5"/>
                <a:buFont typeface="Arial"/>
                <a:buNone/>
              </a:pPr>
              <a:r>
                <a:rPr b="1" lang="ko" sz="1315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요약, 정리, 수치 계산을 자동으로 한다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5123551" y="2843685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FC4E0"/>
                </a:buClr>
                <a:buSzPts val="939"/>
                <a:buFont typeface="Arial"/>
                <a:buNone/>
              </a:pPr>
              <a:r>
                <a:rPr lang="ko" sz="939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원자료 표를 토대로  빠르게 요약 및 계산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611316" y="3118712"/>
              <a:ext cx="3403200" cy="6711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5"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611316" y="3118712"/>
              <a:ext cx="3403200" cy="4500"/>
            </a:xfrm>
            <a:prstGeom prst="rect">
              <a:avLst/>
            </a:prstGeom>
            <a:solidFill>
              <a:srgbClr val="E3E9EE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763363" y="3257344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566473"/>
                </a:buClr>
                <a:buSzPts val="1315"/>
                <a:buFont typeface="Arial"/>
                <a:buNone/>
              </a:pPr>
              <a:r>
                <a:rPr b="1" i="0" lang="ko" sz="1315" u="none" cap="none" strike="noStrike">
                  <a:solidFill>
                    <a:srgbClr val="56647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LLM 만으로는 믿기 어렵다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763363" y="3514483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1909E"/>
                </a:buClr>
                <a:buSzPts val="939"/>
                <a:buFont typeface="Arial"/>
                <a:buNone/>
              </a:pPr>
              <a:r>
                <a:rPr lang="ko" sz="939">
                  <a:solidFill>
                    <a:srgbClr val="81909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할루시네이션, 토큰 사용량 증가, 보안 문제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4400137" y="3356845"/>
              <a:ext cx="221400" cy="1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5A91"/>
                </a:buClr>
                <a:buSzPts val="845"/>
                <a:buFont typeface="Arial"/>
                <a:buNone/>
              </a:pPr>
              <a:r>
                <a:rPr b="1" i="0" lang="ko" sz="845" u="none" cap="none" strike="noStrike">
                  <a:solidFill>
                    <a:srgbClr val="1F5A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신뢰</a:t>
              </a:r>
              <a:endParaRPr i="0" sz="84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4971504" y="3118712"/>
              <a:ext cx="3403200" cy="671100"/>
            </a:xfrm>
            <a:prstGeom prst="rect">
              <a:avLst/>
            </a:prstGeom>
            <a:solidFill>
              <a:srgbClr val="0C2F61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971504" y="3118712"/>
              <a:ext cx="3403200" cy="4500"/>
            </a:xfrm>
            <a:prstGeom prst="rect">
              <a:avLst/>
            </a:prstGeom>
            <a:solidFill>
              <a:srgbClr val="FFFFFF">
                <a:alpha val="18040"/>
              </a:srgbClr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5123551" y="3257344"/>
              <a:ext cx="3409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lnSpc>
                  <a:spcPct val="10439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5"/>
                <a:buFont typeface="Arial"/>
                <a:buNone/>
              </a:pPr>
              <a:r>
                <a:rPr b="1" i="0" lang="ko" sz="1315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원자료를 직접 조회해 </a:t>
              </a:r>
              <a:r>
                <a:rPr b="1" lang="ko" sz="1315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확인한다</a:t>
              </a:r>
              <a:endParaRPr i="0" sz="1315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5123551" y="3514483"/>
              <a:ext cx="34092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25" lIns="11925" spcFirstLastPara="1" rIns="11925" wrap="square" tIns="11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FC4E0"/>
                </a:buClr>
                <a:buSzPts val="939"/>
                <a:buFont typeface="Arial"/>
                <a:buNone/>
              </a:pPr>
              <a:r>
                <a:rPr i="0" lang="ko" sz="939" u="none" cap="none" strike="noStrike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MCP 도구로 표를 </a:t>
              </a:r>
              <a:r>
                <a:rPr lang="ko" sz="939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확인한 </a:t>
              </a:r>
              <a:r>
                <a:rPr i="0" lang="ko" sz="939" u="none" cap="none" strike="noStrike">
                  <a:solidFill>
                    <a:srgbClr val="9FC4E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뒤 답변</a:t>
              </a:r>
              <a:endParaRPr i="0" sz="939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30" name="Google Shape;230;p26"/>
            <p:cNvCxnSpPr/>
            <p:nvPr/>
          </p:nvCxnSpPr>
          <p:spPr>
            <a:xfrm>
              <a:off x="4015707" y="2196678"/>
              <a:ext cx="955800" cy="3300"/>
            </a:xfrm>
            <a:prstGeom prst="straightConnector1">
              <a:avLst/>
            </a:prstGeom>
            <a:noFill/>
            <a:ln cap="flat" cmpd="sng" w="8925">
              <a:solidFill>
                <a:srgbClr val="4E91BC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231" name="Google Shape;231;p26"/>
            <p:cNvCxnSpPr/>
            <p:nvPr/>
          </p:nvCxnSpPr>
          <p:spPr>
            <a:xfrm>
              <a:off x="4015707" y="2864235"/>
              <a:ext cx="955800" cy="3300"/>
            </a:xfrm>
            <a:prstGeom prst="straightConnector1">
              <a:avLst/>
            </a:prstGeom>
            <a:noFill/>
            <a:ln cap="flat" cmpd="sng" w="8925">
              <a:solidFill>
                <a:srgbClr val="4E91BC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4015707" y="3531137"/>
              <a:ext cx="955800" cy="3300"/>
            </a:xfrm>
            <a:prstGeom prst="straightConnector1">
              <a:avLst/>
            </a:prstGeom>
            <a:noFill/>
            <a:ln cap="flat" cmpd="sng" w="8925">
              <a:solidFill>
                <a:srgbClr val="4E91BC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611316" y="1806201"/>
              <a:ext cx="3403200" cy="4500"/>
            </a:xfrm>
            <a:prstGeom prst="rect">
              <a:avLst/>
            </a:prstGeom>
            <a:solidFill>
              <a:srgbClr val="E3E9EE"/>
            </a:solidFill>
            <a:ln>
              <a:noFill/>
            </a:ln>
          </p:spPr>
          <p:txBody>
            <a:bodyPr anchorCtr="0" anchor="ctr" bIns="42925" lIns="42925" spcFirstLastPara="1" rIns="42925" wrap="square" tIns="4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5"/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471121" y="1304690"/>
            <a:ext cx="904800" cy="359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551720" y="1364430"/>
            <a:ext cx="904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내부 직원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1471402" y="1409476"/>
            <a:ext cx="1172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행정 업무 지원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479364" y="1873809"/>
            <a:ext cx="423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이럴 때 사용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495850" y="2178609"/>
            <a:ext cx="66900" cy="66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657775" y="2119074"/>
            <a:ext cx="1380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보도자료 작성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95850" y="2476265"/>
            <a:ext cx="66900" cy="66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657775" y="2416720"/>
            <a:ext cx="1262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보고서 작성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495850" y="2773921"/>
            <a:ext cx="66900" cy="66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657775" y="2714405"/>
            <a:ext cx="1527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행정 현안 비교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495850" y="3096306"/>
            <a:ext cx="66900" cy="66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657775" y="3003798"/>
            <a:ext cx="2289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담당 부서 확인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71121" y="3485549"/>
            <a:ext cx="3848100" cy="871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471121" y="3485549"/>
            <a:ext cx="57300" cy="871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671146" y="3609374"/>
            <a:ext cx="38559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</a:rPr>
              <a:t>기대 효과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671146" y="3792730"/>
            <a:ext cx="38559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172331"/>
                </a:solidFill>
              </a:rPr>
              <a:t>행정 효율화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71146" y="4047524"/>
            <a:ext cx="3855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566473"/>
                </a:solidFill>
              </a:rPr>
              <a:t>자료 대조 시간 단축, 근거 있는 수치 인용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배경 및 한계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어디에 도움이 될까?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60" name="Google Shape;260;p27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1" name="Google Shape;261;p2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>
            <a:off x="3832622" y="1594954"/>
            <a:ext cx="1478700" cy="6906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3956447" y="1699729"/>
            <a:ext cx="135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LLM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3956447" y="1909279"/>
            <a:ext cx="1269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9FC4E0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해석 · 도구 선택 · 최종 답변 작성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3758686" y="2352192"/>
            <a:ext cx="162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1100"/>
              <a:buFont typeface="Arial"/>
              <a:buNone/>
            </a:pPr>
            <a:r>
              <a:rPr i="0" lang="ko" sz="11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↑↓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38150" y="2590317"/>
            <a:ext cx="1344300" cy="1033500"/>
          </a:xfrm>
          <a:prstGeom prst="rect">
            <a:avLst/>
          </a:prstGeom>
          <a:solidFill>
            <a:srgbClr val="F8FAFC"/>
          </a:solidFill>
          <a:ln cap="flat" cmpd="sng" w="477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557213" y="2934407"/>
            <a:ext cx="121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57213" y="3143957"/>
            <a:ext cx="1216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자연어 질문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1763353" y="2590317"/>
            <a:ext cx="324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1300"/>
              <a:buFont typeface="Arial"/>
              <a:buNone/>
            </a:pPr>
            <a:r>
              <a:rPr i="0" lang="ko" sz="13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2068153" y="2590317"/>
            <a:ext cx="1478700" cy="10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2068153" y="3619017"/>
            <a:ext cx="1478700" cy="48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2068153" y="2590317"/>
            <a:ext cx="1478700" cy="47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2068153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3542110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2187216" y="2761767"/>
            <a:ext cx="1364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프론트엔드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2187216" y="2980842"/>
            <a:ext cx="1278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입력 · 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답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변 표시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3527822" y="2590317"/>
            <a:ext cx="324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1300"/>
              <a:buFont typeface="Arial"/>
              <a:buNone/>
            </a:pPr>
            <a:r>
              <a:rPr i="0" lang="ko" sz="13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3832622" y="2590317"/>
            <a:ext cx="1478700" cy="10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3832622" y="3619017"/>
            <a:ext cx="1478700" cy="48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3832622" y="2590317"/>
            <a:ext cx="1478700" cy="47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3832622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5306579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3951685" y="2761767"/>
            <a:ext cx="1364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3951685" y="2980842"/>
            <a:ext cx="1278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API 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· LLM 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스트리밍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· MCP 클라이언트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292291" y="2590317"/>
            <a:ext cx="324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1300"/>
              <a:buFont typeface="Arial"/>
              <a:buNone/>
            </a:pPr>
            <a:r>
              <a:rPr i="0" lang="ko" sz="13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5597091" y="2590317"/>
            <a:ext cx="1478700" cy="10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5597091" y="3619017"/>
            <a:ext cx="1478700" cy="48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5597091" y="2590317"/>
            <a:ext cx="1478700" cy="477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5597091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7071048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5716154" y="2761767"/>
            <a:ext cx="1364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MCP 서버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5716154" y="2980842"/>
            <a:ext cx="1278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검색 · 자료 조회 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SQL</a:t>
            </a:r>
            <a:endParaRPr sz="900">
              <a:solidFill>
                <a:srgbClr val="56647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</a:t>
            </a:r>
            <a:endParaRPr sz="900">
              <a:solidFill>
                <a:srgbClr val="56647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7056760" y="2590317"/>
            <a:ext cx="324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1300"/>
              <a:buFont typeface="Arial"/>
              <a:buNone/>
            </a:pPr>
            <a:r>
              <a:rPr i="0" lang="ko" sz="13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7361560" y="2590317"/>
            <a:ext cx="1344300" cy="10335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7361560" y="3619017"/>
            <a:ext cx="1344300" cy="48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7361560" y="2590317"/>
            <a:ext cx="1344300" cy="47700"/>
          </a:xfrm>
          <a:prstGeom prst="re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7361560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8701088" y="2590317"/>
            <a:ext cx="4800" cy="103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7480623" y="2761767"/>
            <a:ext cx="121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7480623" y="2980842"/>
            <a:ext cx="1144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+ pgvector 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임베딩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· 원자료 표 · 검색 벡터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청년인턴 </a:t>
            </a:r>
            <a:r>
              <a:rPr lang="ko" sz="900">
                <a:solidFill>
                  <a:srgbClr val="81909E"/>
                </a:solidFill>
              </a:rPr>
              <a:t>완료</a:t>
            </a: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보고 | 행정안전부 데이터정보화담당관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구조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10" name="Google Shape;310;p28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1" name="Google Shape;311;p2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8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29"/>
          <p:cNvCxnSpPr/>
          <p:nvPr/>
        </p:nvCxnSpPr>
        <p:spPr>
          <a:xfrm>
            <a:off x="1374775" y="2838975"/>
            <a:ext cx="1962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9"/>
          <p:cNvCxnSpPr/>
          <p:nvPr/>
        </p:nvCxnSpPr>
        <p:spPr>
          <a:xfrm flipH="1" rot="10800000">
            <a:off x="3378877" y="1774788"/>
            <a:ext cx="356100" cy="150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9"/>
          <p:cNvSpPr/>
          <p:nvPr/>
        </p:nvSpPr>
        <p:spPr>
          <a:xfrm>
            <a:off x="5720075" y="1494900"/>
            <a:ext cx="1715700" cy="524100"/>
          </a:xfrm>
          <a:prstGeom prst="rect">
            <a:avLst/>
          </a:prstGeom>
          <a:noFill/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5720075" y="3744750"/>
            <a:ext cx="1715700" cy="524100"/>
          </a:xfrm>
          <a:prstGeom prst="rect">
            <a:avLst/>
          </a:prstGeom>
          <a:noFill/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5720075" y="3030375"/>
            <a:ext cx="1715700" cy="524100"/>
          </a:xfrm>
          <a:prstGeom prst="rect">
            <a:avLst/>
          </a:prstGeom>
          <a:noFill/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1816782" y="1494900"/>
            <a:ext cx="1562100" cy="524100"/>
          </a:xfrm>
          <a:prstGeom prst="rect">
            <a:avLst/>
          </a:prstGeom>
          <a:noFill/>
          <a:ln cap="flat" cmpd="sng" w="952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"/>
          <p:cNvSpPr/>
          <p:nvPr/>
        </p:nvSpPr>
        <p:spPr>
          <a:xfrm>
            <a:off x="3773170" y="1494900"/>
            <a:ext cx="1562100" cy="524100"/>
          </a:xfrm>
          <a:prstGeom prst="rect">
            <a:avLst/>
          </a:prstGeom>
          <a:noFill/>
          <a:ln cap="flat" cmpd="sng" w="952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3773170" y="2316000"/>
            <a:ext cx="1562100" cy="524100"/>
          </a:xfrm>
          <a:prstGeom prst="rect">
            <a:avLst/>
          </a:prstGeom>
          <a:noFill/>
          <a:ln cap="flat" cmpd="sng" w="9525">
            <a:solidFill>
              <a:srgbClr val="0B2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"/>
          <p:cNvSpPr/>
          <p:nvPr/>
        </p:nvSpPr>
        <p:spPr>
          <a:xfrm>
            <a:off x="435550" y="2215478"/>
            <a:ext cx="1133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4737"/>
              </a:lnSpc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질문에 따라 LLM이 필요한 도구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호출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49175" y="2600782"/>
            <a:ext cx="952500" cy="4764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430125" y="2592214"/>
            <a:ext cx="990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질문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1812925" y="1494900"/>
            <a:ext cx="57300" cy="524100"/>
          </a:xfrm>
          <a:prstGeom prst="rect">
            <a:avLst/>
          </a:prstGeom>
          <a:solidFill>
            <a:srgbClr val="0C2F61"/>
          </a:solidFill>
          <a:ln cap="flat" cmpd="sng" w="9525">
            <a:solidFill>
              <a:srgbClr val="0B2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/>
          <p:nvPr/>
        </p:nvSpPr>
        <p:spPr>
          <a:xfrm>
            <a:off x="1984375" y="1586306"/>
            <a:ext cx="1404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search_statistics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1984375" y="1774208"/>
            <a:ext cx="14040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관련 통계 탐색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3765550" y="1494900"/>
            <a:ext cx="57300" cy="524100"/>
          </a:xfrm>
          <a:prstGeom prst="rect">
            <a:avLst/>
          </a:prstGeom>
          <a:solidFill>
            <a:srgbClr val="0C2F61"/>
          </a:solidFill>
          <a:ln cap="flat" cmpd="sng" w="952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3937000" y="1588914"/>
            <a:ext cx="1404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search_tables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3937000" y="1786558"/>
            <a:ext cx="14040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원자료 수치 확인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5718175" y="1494900"/>
            <a:ext cx="57300" cy="524100"/>
          </a:xfrm>
          <a:prstGeom prst="rect">
            <a:avLst/>
          </a:prstGeom>
          <a:solidFill>
            <a:srgbClr val="1F5A91"/>
          </a:solidFill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5861595" y="1588914"/>
            <a:ext cx="1456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visualize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5861595" y="1786558"/>
            <a:ext cx="145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차트 생성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1812925" y="1299989"/>
            <a:ext cx="1328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수치를 찾는 기본 경로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2073203" y="2399664"/>
            <a:ext cx="1271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· 부서를 물었을 때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3773175" y="2316000"/>
            <a:ext cx="57300" cy="524100"/>
          </a:xfrm>
          <a:prstGeom prst="rect">
            <a:avLst/>
          </a:prstGeom>
          <a:solidFill>
            <a:srgbClr val="0B2E61"/>
          </a:solidFill>
          <a:ln cap="flat" cmpd="sng" w="9525">
            <a:solidFill>
              <a:srgbClr val="0B2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3944620" y="2395999"/>
            <a:ext cx="1456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B2E6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search_contacts</a:t>
            </a:r>
            <a:endParaRPr i="0" sz="1100" u="none" cap="none" strike="noStrike">
              <a:solidFill>
                <a:srgbClr val="0B2E6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3944620" y="2593643"/>
            <a:ext cx="145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· 부서 확인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3016554" y="3116089"/>
            <a:ext cx="12123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3022504" y="3122914"/>
            <a:ext cx="12003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발간물 구성이 궁금할 때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5718175" y="3030364"/>
            <a:ext cx="57300" cy="524100"/>
          </a:xfrm>
          <a:prstGeom prst="rect">
            <a:avLst/>
          </a:prstGeom>
          <a:solidFill>
            <a:srgbClr val="1F5A91"/>
          </a:solidFill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9"/>
          <p:cNvSpPr/>
          <p:nvPr/>
        </p:nvSpPr>
        <p:spPr>
          <a:xfrm>
            <a:off x="5861595" y="3113200"/>
            <a:ext cx="15621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analyze_publications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5861595" y="3310841"/>
            <a:ext cx="145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발간물 구성 분석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2902645" y="3830464"/>
            <a:ext cx="14400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"/>
          <p:cNvSpPr/>
          <p:nvPr/>
        </p:nvSpPr>
        <p:spPr>
          <a:xfrm>
            <a:off x="2924870" y="3817764"/>
            <a:ext cx="1450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발간판 사이 변화가 궁금할 때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5718175" y="3744739"/>
            <a:ext cx="57300" cy="524100"/>
          </a:xfrm>
          <a:prstGeom prst="rect">
            <a:avLst/>
          </a:prstGeom>
          <a:solidFill>
            <a:srgbClr val="1F5A91"/>
          </a:solidFill>
          <a:ln cap="flat" cmpd="sng" w="95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5861595" y="3819929"/>
            <a:ext cx="1623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compare_publications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5861595" y="4017562"/>
            <a:ext cx="145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발간판 변화 비교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7740650" y="2592214"/>
            <a:ext cx="1028700" cy="666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7816850" y="2770875"/>
            <a:ext cx="8763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답변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청년인턴 </a:t>
            </a:r>
            <a:r>
              <a:rPr lang="ko" sz="900">
                <a:solidFill>
                  <a:srgbClr val="81909E"/>
                </a:solidFill>
              </a:rPr>
              <a:t>완료</a:t>
            </a: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보고 | 행정안전부 데이터정보화담당관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 rot="5399949">
            <a:off x="1741277" y="174341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9"/>
          <p:cNvSpPr/>
          <p:nvPr/>
        </p:nvSpPr>
        <p:spPr>
          <a:xfrm rot="5399949">
            <a:off x="3692302" y="174341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 rot="5399949">
            <a:off x="5643327" y="174341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 rot="5399949">
            <a:off x="3692302" y="256346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 rot="5399949">
            <a:off x="5643327" y="327688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 rot="5399949">
            <a:off x="5643327" y="3981658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 rot="5399949">
            <a:off x="7667402" y="289291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3" name="Google Shape;363;p29"/>
          <p:cNvCxnSpPr/>
          <p:nvPr/>
        </p:nvCxnSpPr>
        <p:spPr>
          <a:xfrm flipH="1" rot="10800000">
            <a:off x="5339152" y="1775125"/>
            <a:ext cx="356100" cy="150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9"/>
          <p:cNvCxnSpPr/>
          <p:nvPr/>
        </p:nvCxnSpPr>
        <p:spPr>
          <a:xfrm>
            <a:off x="1588300" y="2595575"/>
            <a:ext cx="21126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9"/>
          <p:cNvCxnSpPr/>
          <p:nvPr/>
        </p:nvCxnSpPr>
        <p:spPr>
          <a:xfrm>
            <a:off x="1578850" y="1771650"/>
            <a:ext cx="0" cy="224160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9"/>
          <p:cNvCxnSpPr/>
          <p:nvPr/>
        </p:nvCxnSpPr>
        <p:spPr>
          <a:xfrm rot="10800000">
            <a:off x="1568340" y="3309645"/>
            <a:ext cx="4082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9"/>
          <p:cNvCxnSpPr/>
          <p:nvPr/>
        </p:nvCxnSpPr>
        <p:spPr>
          <a:xfrm rot="10800000">
            <a:off x="1568340" y="4013145"/>
            <a:ext cx="4082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9"/>
          <p:cNvCxnSpPr/>
          <p:nvPr/>
        </p:nvCxnSpPr>
        <p:spPr>
          <a:xfrm>
            <a:off x="7573175" y="1785950"/>
            <a:ext cx="0" cy="222900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9"/>
          <p:cNvCxnSpPr/>
          <p:nvPr/>
        </p:nvCxnSpPr>
        <p:spPr>
          <a:xfrm>
            <a:off x="7441702" y="1796488"/>
            <a:ext cx="137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9"/>
          <p:cNvCxnSpPr/>
          <p:nvPr/>
        </p:nvCxnSpPr>
        <p:spPr>
          <a:xfrm rot="10800000">
            <a:off x="7439400" y="4014425"/>
            <a:ext cx="1425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9"/>
          <p:cNvCxnSpPr/>
          <p:nvPr/>
        </p:nvCxnSpPr>
        <p:spPr>
          <a:xfrm>
            <a:off x="7439277" y="3309638"/>
            <a:ext cx="137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9"/>
          <p:cNvCxnSpPr/>
          <p:nvPr/>
        </p:nvCxnSpPr>
        <p:spPr>
          <a:xfrm>
            <a:off x="7573177" y="2928038"/>
            <a:ext cx="137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9"/>
          <p:cNvCxnSpPr/>
          <p:nvPr/>
        </p:nvCxnSpPr>
        <p:spPr>
          <a:xfrm>
            <a:off x="5335275" y="2595575"/>
            <a:ext cx="22347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9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MCP 도구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76" name="Google Shape;376;p29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7" name="Google Shape;377;p2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29"/>
          <p:cNvCxnSpPr/>
          <p:nvPr/>
        </p:nvCxnSpPr>
        <p:spPr>
          <a:xfrm>
            <a:off x="1571625" y="1775900"/>
            <a:ext cx="175800" cy="0"/>
          </a:xfrm>
          <a:prstGeom prst="straightConnector1">
            <a:avLst/>
          </a:prstGeom>
          <a:noFill/>
          <a:ln cap="flat" cmpd="sng" w="19050">
            <a:solidFill>
              <a:srgbClr val="4E91B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29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/>
          <p:nvPr/>
        </p:nvSpPr>
        <p:spPr>
          <a:xfrm>
            <a:off x="438150" y="1365138"/>
            <a:ext cx="8267700" cy="3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438150" y="1733438"/>
            <a:ext cx="8267700" cy="1266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438150" y="2993913"/>
            <a:ext cx="8267700" cy="9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438150" y="3898788"/>
            <a:ext cx="8267700" cy="809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495300" y="1400850"/>
            <a:ext cx="190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687176" y="1384188"/>
            <a:ext cx="74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접수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495300" y="2215244"/>
            <a:ext cx="18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706376" y="2198575"/>
            <a:ext cx="775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찾기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706375" y="2389075"/>
            <a:ext cx="9873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7925"/>
              </a:lnSpc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800"/>
              <a:buFont typeface="Arial"/>
              <a:buNone/>
            </a:pPr>
            <a:r>
              <a:rPr i="0" lang="ko" sz="8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search_statistics</a:t>
            </a:r>
            <a:endParaRPr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495300" y="3301094"/>
            <a:ext cx="18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30"/>
          <p:cNvSpPr/>
          <p:nvPr/>
        </p:nvSpPr>
        <p:spPr>
          <a:xfrm>
            <a:off x="705743" y="3284425"/>
            <a:ext cx="89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원자료 표 조회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705743" y="3474925"/>
            <a:ext cx="89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7925"/>
              </a:lnSpc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800"/>
              <a:buFont typeface="Arial"/>
              <a:buNone/>
            </a:pPr>
            <a:r>
              <a:rPr i="0" lang="ko" sz="8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search_tables</a:t>
            </a:r>
            <a:endParaRPr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495300" y="4158344"/>
            <a:ext cx="19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714673" y="4141675"/>
            <a:ext cx="98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답변 작성 · 전달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2100263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3338513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/>
          <p:nvPr/>
        </p:nvSpPr>
        <p:spPr>
          <a:xfrm>
            <a:off x="4767263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6100763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7386638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8577263" y="1365138"/>
            <a:ext cx="9600" cy="334350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2105025" y="1536588"/>
            <a:ext cx="12384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 rot="5399949">
            <a:off x="3279565" y="1510613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3343275" y="1717563"/>
            <a:ext cx="14289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3787713" y="1560400"/>
            <a:ext cx="540000" cy="1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4772025" y="1898538"/>
            <a:ext cx="13335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4772025" y="2260488"/>
            <a:ext cx="26196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7391400" y="2441463"/>
            <a:ext cx="11907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7602885" y="2284300"/>
            <a:ext cx="767700" cy="143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7716776" y="2465275"/>
            <a:ext cx="540000" cy="143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4772025" y="2984388"/>
            <a:ext cx="13335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4772025" y="3346338"/>
            <a:ext cx="26196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7391400" y="3527313"/>
            <a:ext cx="11907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7602885" y="3370150"/>
            <a:ext cx="767700" cy="1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4772025" y="4070238"/>
            <a:ext cx="1333500" cy="14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4835835" y="3913075"/>
            <a:ext cx="1205700" cy="143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4842179" y="4094050"/>
            <a:ext cx="1193400" cy="143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1817694" y="1079388"/>
            <a:ext cx="574800" cy="29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C2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"/>
          <p:cNvSpPr/>
          <p:nvPr/>
        </p:nvSpPr>
        <p:spPr>
          <a:xfrm>
            <a:off x="1884923" y="1123845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2950127" y="1079388"/>
            <a:ext cx="786300" cy="273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3007820" y="1123845"/>
            <a:ext cx="73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프론트엔드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4494219" y="1079388"/>
            <a:ext cx="555600" cy="273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0"/>
          <p:cNvSpPr/>
          <p:nvPr/>
        </p:nvSpPr>
        <p:spPr>
          <a:xfrm>
            <a:off x="4558274" y="1123845"/>
            <a:ext cx="6150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5874265" y="1079388"/>
            <a:ext cx="462600" cy="2739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5947307" y="1123845"/>
            <a:ext cx="487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LLM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7018716" y="1079388"/>
            <a:ext cx="745500" cy="2739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"/>
          <p:cNvSpPr/>
          <p:nvPr/>
        </p:nvSpPr>
        <p:spPr>
          <a:xfrm>
            <a:off x="7077737" y="1123845"/>
            <a:ext cx="667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MCP 서버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8248092" y="1079388"/>
            <a:ext cx="667800" cy="2931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0"/>
          <p:cNvSpPr/>
          <p:nvPr/>
        </p:nvSpPr>
        <p:spPr>
          <a:xfrm>
            <a:off x="8321128" y="1142895"/>
            <a:ext cx="667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DB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</a:rPr>
              <a:t>청년인턴 </a:t>
            </a:r>
            <a:r>
              <a:rPr lang="ko" sz="900">
                <a:solidFill>
                  <a:srgbClr val="81909E"/>
                </a:solidFill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34" name="Google Shape;434;p30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질문에 답하는 과정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36" name="Google Shape;436;p30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7" name="Google Shape;437;p3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0"/>
          <p:cNvSpPr/>
          <p:nvPr/>
        </p:nvSpPr>
        <p:spPr>
          <a:xfrm rot="5399949">
            <a:off x="4707777" y="1693176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0"/>
          <p:cNvSpPr/>
          <p:nvPr/>
        </p:nvSpPr>
        <p:spPr>
          <a:xfrm rot="5399949">
            <a:off x="6046040" y="1870613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0"/>
          <p:cNvSpPr/>
          <p:nvPr/>
        </p:nvSpPr>
        <p:spPr>
          <a:xfrm rot="5399949">
            <a:off x="7331915" y="2232563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 rot="5399949">
            <a:off x="8522540" y="2417138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0"/>
          <p:cNvSpPr/>
          <p:nvPr/>
        </p:nvSpPr>
        <p:spPr>
          <a:xfrm rot="5399949">
            <a:off x="6046040" y="2956426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 rot="5399949">
            <a:off x="7327152" y="3318376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0"/>
          <p:cNvSpPr/>
          <p:nvPr/>
        </p:nvSpPr>
        <p:spPr>
          <a:xfrm rot="5399949">
            <a:off x="8517765" y="3500801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30"/>
          <p:cNvCxnSpPr/>
          <p:nvPr/>
        </p:nvCxnSpPr>
        <p:spPr>
          <a:xfrm>
            <a:off x="4838925" y="2089150"/>
            <a:ext cx="1261800" cy="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0"/>
          <p:cNvCxnSpPr>
            <a:stCxn id="447" idx="1"/>
          </p:cNvCxnSpPr>
          <p:nvPr/>
        </p:nvCxnSpPr>
        <p:spPr>
          <a:xfrm>
            <a:off x="7381875" y="2632075"/>
            <a:ext cx="1200000" cy="60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0"/>
          <p:cNvCxnSpPr>
            <a:stCxn id="449" idx="3"/>
          </p:cNvCxnSpPr>
          <p:nvPr/>
        </p:nvCxnSpPr>
        <p:spPr>
          <a:xfrm>
            <a:off x="4829400" y="2813050"/>
            <a:ext cx="2557200" cy="210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0"/>
          <p:cNvCxnSpPr>
            <a:stCxn id="451" idx="3"/>
          </p:cNvCxnSpPr>
          <p:nvPr/>
        </p:nvCxnSpPr>
        <p:spPr>
          <a:xfrm>
            <a:off x="4829400" y="3175000"/>
            <a:ext cx="1271400" cy="450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0"/>
          <p:cNvCxnSpPr>
            <a:stCxn id="453" idx="3"/>
          </p:cNvCxnSpPr>
          <p:nvPr/>
        </p:nvCxnSpPr>
        <p:spPr>
          <a:xfrm>
            <a:off x="7448775" y="3717925"/>
            <a:ext cx="1137900" cy="270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0"/>
          <p:cNvCxnSpPr/>
          <p:nvPr/>
        </p:nvCxnSpPr>
        <p:spPr>
          <a:xfrm>
            <a:off x="4776913" y="3900938"/>
            <a:ext cx="2609700" cy="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0"/>
          <p:cNvCxnSpPr/>
          <p:nvPr/>
        </p:nvCxnSpPr>
        <p:spPr>
          <a:xfrm>
            <a:off x="4819650" y="4262900"/>
            <a:ext cx="1285800" cy="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0"/>
          <p:cNvCxnSpPr>
            <a:stCxn id="457" idx="3"/>
          </p:cNvCxnSpPr>
          <p:nvPr/>
        </p:nvCxnSpPr>
        <p:spPr>
          <a:xfrm flipH="1" rot="10800000">
            <a:off x="3400650" y="4441525"/>
            <a:ext cx="1366800" cy="30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0"/>
          <p:cNvCxnSpPr/>
          <p:nvPr/>
        </p:nvCxnSpPr>
        <p:spPr>
          <a:xfrm>
            <a:off x="2162400" y="4622500"/>
            <a:ext cx="1176000" cy="0"/>
          </a:xfrm>
          <a:prstGeom prst="straightConnector1">
            <a:avLst/>
          </a:prstGeom>
          <a:noFill/>
          <a:ln cap="flat" cmpd="sng" w="9525">
            <a:solidFill>
              <a:srgbClr val="4E91B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9" name="Google Shape;459;p30"/>
          <p:cNvSpPr/>
          <p:nvPr/>
        </p:nvSpPr>
        <p:spPr>
          <a:xfrm rot="-5400051">
            <a:off x="4760790" y="2058726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 rot="-5400051">
            <a:off x="7375652" y="2599276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 rot="-5400051">
            <a:off x="4756115" y="2777851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0"/>
          <p:cNvSpPr/>
          <p:nvPr/>
        </p:nvSpPr>
        <p:spPr>
          <a:xfrm rot="-5400051">
            <a:off x="4760790" y="314456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"/>
          <p:cNvSpPr/>
          <p:nvPr/>
        </p:nvSpPr>
        <p:spPr>
          <a:xfrm rot="-5400051">
            <a:off x="7375665" y="3687488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0"/>
          <p:cNvSpPr/>
          <p:nvPr/>
        </p:nvSpPr>
        <p:spPr>
          <a:xfrm rot="-5400051">
            <a:off x="4751265" y="386836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0"/>
          <p:cNvSpPr/>
          <p:nvPr/>
        </p:nvSpPr>
        <p:spPr>
          <a:xfrm rot="-5400051">
            <a:off x="4759565" y="4230313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0"/>
          <p:cNvSpPr/>
          <p:nvPr/>
        </p:nvSpPr>
        <p:spPr>
          <a:xfrm rot="-5400051">
            <a:off x="3330815" y="4408901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0"/>
          <p:cNvSpPr/>
          <p:nvPr/>
        </p:nvSpPr>
        <p:spPr>
          <a:xfrm rot="-5400051">
            <a:off x="2097402" y="4589726"/>
            <a:ext cx="80950" cy="65524"/>
          </a:xfrm>
          <a:prstGeom prst="flowChartExtract">
            <a:avLst/>
          </a:prstGeom>
          <a:solidFill>
            <a:srgbClr val="4E91B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0"/>
          <p:cNvSpPr/>
          <p:nvPr/>
        </p:nvSpPr>
        <p:spPr>
          <a:xfrm rot="5399949">
            <a:off x="6037390" y="4043276"/>
            <a:ext cx="80950" cy="65524"/>
          </a:xfrm>
          <a:prstGeom prst="flowChartExtra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0"/>
          <p:cNvSpPr/>
          <p:nvPr/>
        </p:nvSpPr>
        <p:spPr>
          <a:xfrm>
            <a:off x="2084691" y="1379425"/>
            <a:ext cx="1472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정보공개청구 건수</a:t>
            </a:r>
            <a:r>
              <a:rPr lang="ko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알려줘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3844863" y="1560400"/>
            <a:ext cx="47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전달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4741719" y="1741375"/>
            <a:ext cx="16323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+ 사용 가능한 도구 </a:t>
            </a:r>
            <a:r>
              <a:rPr lang="ko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스펙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5583427" y="2103325"/>
            <a:ext cx="147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search_statistics 실행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7660035" y="2284300"/>
            <a:ext cx="730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관련 통계 검색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4778951" y="2827225"/>
            <a:ext cx="1794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search_statistics 결과 전달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5649827" y="3189175"/>
            <a:ext cx="11502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search_tables 실행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7660035" y="3370150"/>
            <a:ext cx="730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원자료 표 조회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4845346" y="3913075"/>
            <a:ext cx="1632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search_tables 결과 전달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4163800" y="1922350"/>
            <a:ext cx="308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search_statistics 호출 요청 · query="정보공개청구 건수"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7773926" y="2465275"/>
            <a:ext cx="47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후보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5650451" y="2646250"/>
            <a:ext cx="1261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stat_id와 통계 정보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4577701" y="3008200"/>
            <a:ext cx="2163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search_tables 호출 요청 · stat_id 지정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2" name="Google Shape;482;p30"/>
          <p:cNvSpPr/>
          <p:nvPr/>
        </p:nvSpPr>
        <p:spPr>
          <a:xfrm>
            <a:off x="7462298" y="3551125"/>
            <a:ext cx="1165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정보공개청구 건수 원표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5772690" y="3732100"/>
            <a:ext cx="1194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표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본문 전달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4899329" y="4094050"/>
            <a:ext cx="119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근거를 반영한 최종 답변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3632095" y="4275025"/>
            <a:ext cx="947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답변 스트리밍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1939639" y="4456000"/>
            <a:ext cx="173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26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정보공개청구 건수는 5건입니다.</a:t>
            </a:r>
            <a:endParaRPr i="0" sz="900" u="none" cap="none" strike="noStrike">
              <a:solidFill>
                <a:srgbClr val="8190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1"/>
          <p:cNvSpPr/>
          <p:nvPr/>
        </p:nvSpPr>
        <p:spPr>
          <a:xfrm>
            <a:off x="3932150" y="1333250"/>
            <a:ext cx="4812000" cy="263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1"/>
          <p:cNvSpPr/>
          <p:nvPr/>
        </p:nvSpPr>
        <p:spPr>
          <a:xfrm>
            <a:off x="429907" y="1227208"/>
            <a:ext cx="3286200" cy="7701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1"/>
          <p:cNvSpPr/>
          <p:nvPr/>
        </p:nvSpPr>
        <p:spPr>
          <a:xfrm>
            <a:off x="563257" y="1331983"/>
            <a:ext cx="33213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질문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563257" y="1522300"/>
            <a:ext cx="31101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2014년에 </a:t>
            </a:r>
            <a:r>
              <a:rPr b="1" i="0" lang="ko" sz="1000" u="none" cap="none" strike="noStrike">
                <a:solidFill>
                  <a:srgbClr val="1E5FBF"/>
                </a:solidFill>
                <a:latin typeface="Noto Sans KR"/>
                <a:ea typeface="Noto Sans KR"/>
                <a:cs typeface="Noto Sans KR"/>
                <a:sym typeface="Noto Sans KR"/>
              </a:rPr>
              <a:t>논두렁</a:t>
            </a:r>
            <a:r>
              <a:rPr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작업하다가 </a:t>
            </a:r>
            <a:r>
              <a:rPr b="1" i="0" lang="ko" sz="1000" u="none" cap="none" strike="noStrike">
                <a:solidFill>
                  <a:srgbClr val="D94C54"/>
                </a:solidFill>
                <a:latin typeface="Noto Sans KR"/>
                <a:ea typeface="Noto Sans KR"/>
                <a:cs typeface="Noto Sans KR"/>
                <a:sym typeface="Noto Sans KR"/>
              </a:rPr>
              <a:t>더위로 인해 피해</a:t>
            </a:r>
            <a:r>
              <a:rPr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를 입은 </a:t>
            </a:r>
            <a:r>
              <a:rPr b="1" i="0" lang="ko" sz="1000" u="none" cap="none" strike="noStrike">
                <a:solidFill>
                  <a:srgbClr val="D94C54"/>
                </a:solidFill>
                <a:latin typeface="Noto Sans KR"/>
                <a:ea typeface="Noto Sans KR"/>
                <a:cs typeface="Noto Sans KR"/>
                <a:sym typeface="Noto Sans KR"/>
              </a:rPr>
              <a:t>사람</a:t>
            </a:r>
            <a:r>
              <a:rPr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은 몇 명이야?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429907" y="2122901"/>
            <a:ext cx="33849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↓ </a:t>
            </a:r>
            <a:r>
              <a:rPr lang="ko" sz="900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</a:t>
            </a:r>
            <a:r>
              <a:rPr i="0" lang="ko" sz="9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경로로 통계표를 동시에 탐색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429907" y="2299297"/>
            <a:ext cx="3286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1"/>
          <p:cNvSpPr/>
          <p:nvPr/>
        </p:nvSpPr>
        <p:spPr>
          <a:xfrm>
            <a:off x="448957" y="2448125"/>
            <a:ext cx="409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820432" y="2448125"/>
            <a:ext cx="1404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의미 검색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2068752" y="2460031"/>
            <a:ext cx="1760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표 제목과 의미가 비슷한지 비교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31"/>
          <p:cNvSpPr/>
          <p:nvPr/>
        </p:nvSpPr>
        <p:spPr>
          <a:xfrm>
            <a:off x="429907" y="2756497"/>
            <a:ext cx="32862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1"/>
          <p:cNvSpPr/>
          <p:nvPr/>
        </p:nvSpPr>
        <p:spPr>
          <a:xfrm>
            <a:off x="448957" y="2905325"/>
            <a:ext cx="409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820432" y="2905325"/>
            <a:ext cx="1404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키워드 검색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2068752" y="2849366"/>
            <a:ext cx="1648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검색어가 표 본문에 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정확히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있는지 확인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429907" y="3213697"/>
            <a:ext cx="3286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1"/>
          <p:cNvSpPr/>
          <p:nvPr/>
        </p:nvSpPr>
        <p:spPr>
          <a:xfrm>
            <a:off x="448957" y="3362525"/>
            <a:ext cx="409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820432" y="3362525"/>
            <a:ext cx="1404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의미 검색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2068752" y="3306566"/>
            <a:ext cx="1648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표의 행</a:t>
            </a:r>
            <a:r>
              <a:rPr lang="ko" sz="9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·열·본문</a:t>
            </a:r>
            <a:r>
              <a:rPr i="0" lang="ko" sz="9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과 의미가 비슷한지 비교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429907" y="3781351"/>
            <a:ext cx="33849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91BC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↓ </a:t>
            </a:r>
            <a:r>
              <a:rPr b="1" i="0" lang="ko" sz="9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가중치</a:t>
            </a:r>
            <a:r>
              <a:rPr i="0" lang="ko" sz="900" u="none" cap="none" strike="noStrike">
                <a:solidFill>
                  <a:srgbClr val="4E91BC"/>
                </a:solidFill>
                <a:latin typeface="Noto Sans KR"/>
                <a:ea typeface="Noto Sans KR"/>
                <a:cs typeface="Noto Sans KR"/>
                <a:sym typeface="Noto Sans KR"/>
              </a:rPr>
              <a:t>를 적용해 합산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429907" y="3998960"/>
            <a:ext cx="3286200" cy="585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"/>
          <p:cNvSpPr/>
          <p:nvPr/>
        </p:nvSpPr>
        <p:spPr>
          <a:xfrm>
            <a:off x="572782" y="4113260"/>
            <a:ext cx="3300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후보 선정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572782" y="4334717"/>
            <a:ext cx="3300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9FC4E0"/>
                </a:solidFill>
                <a:latin typeface="Noto Sans KR"/>
                <a:ea typeface="Noto Sans KR"/>
                <a:cs typeface="Noto Sans KR"/>
                <a:sym typeface="Noto Sans KR"/>
              </a:rPr>
              <a:t>합산 점수가 가장 높은 표를 답변 근거로 사용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3914225" y="1144780"/>
            <a:ext cx="5207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▼ 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선정된 표 · 연도별 폭염 인명피해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515" name="Google Shape;5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6688" y="1377959"/>
            <a:ext cx="4724401" cy="253908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1"/>
          <p:cNvSpPr/>
          <p:nvPr/>
        </p:nvSpPr>
        <p:spPr>
          <a:xfrm>
            <a:off x="4071156" y="1443965"/>
            <a:ext cx="2787300" cy="238800"/>
          </a:xfrm>
          <a:prstGeom prst="rect">
            <a:avLst/>
          </a:prstGeom>
          <a:noFill/>
          <a:ln cap="flat" cmpd="sng" w="19050">
            <a:solidFill>
              <a:srgbClr val="0C2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1"/>
          <p:cNvSpPr/>
          <p:nvPr/>
        </p:nvSpPr>
        <p:spPr>
          <a:xfrm>
            <a:off x="6905811" y="1443965"/>
            <a:ext cx="605700" cy="192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/>
          <p:nvPr/>
        </p:nvSpPr>
        <p:spPr>
          <a:xfrm>
            <a:off x="6972486" y="1464297"/>
            <a:ext cx="510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  제목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4099508" y="2012711"/>
            <a:ext cx="4497600" cy="1244100"/>
          </a:xfrm>
          <a:prstGeom prst="rect">
            <a:avLst/>
          </a:prstGeom>
          <a:noFill/>
          <a:ln cap="flat" cmpd="sng" w="19050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1"/>
          <p:cNvSpPr/>
          <p:nvPr/>
        </p:nvSpPr>
        <p:spPr>
          <a:xfrm>
            <a:off x="6055407" y="1870506"/>
            <a:ext cx="1479300" cy="1929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6220995" y="1882596"/>
            <a:ext cx="1390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 · 03 표 본문 (행 · 열)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3968457" y="4095269"/>
            <a:ext cx="76200" cy="762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1"/>
          <p:cNvSpPr/>
          <p:nvPr/>
        </p:nvSpPr>
        <p:spPr>
          <a:xfrm>
            <a:off x="4124325" y="4052590"/>
            <a:ext cx="451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은 표 제목을 대상으로, </a:t>
            </a:r>
            <a:r>
              <a:rPr b="1"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02 · 03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은 표의 행 · 열 이름과 본문을 대상으로 검색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4124325" y="4465828"/>
            <a:ext cx="352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‘논두렁’은 표에 없는 단어지만, 의미 검색이 </a:t>
            </a:r>
            <a:r>
              <a:rPr b="1"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‘논밭’ 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열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찾아냄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어떻게 관련 통계를 찾아낼까요?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8" name="Google Shape;528;p31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9" name="Google Shape;529;p31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/>
          <p:nvPr/>
        </p:nvSpPr>
        <p:spPr>
          <a:xfrm>
            <a:off x="3968457" y="4297540"/>
            <a:ext cx="76200" cy="76200"/>
          </a:xfrm>
          <a:prstGeom prst="rect">
            <a:avLst/>
          </a:prstGeom>
          <a:solidFill>
            <a:srgbClr val="1E5FB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5FBF"/>
              </a:solidFill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4120848" y="4254862"/>
            <a:ext cx="4497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‘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더위로 인한 피해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’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는</a:t>
            </a:r>
            <a:r>
              <a:rPr i="0" lang="ko" sz="1000" u="none" cap="none" strike="noStrike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 표에 없는 단어지만, 의미 검색이 </a:t>
            </a:r>
            <a:r>
              <a:rPr b="1"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‘</a:t>
            </a:r>
            <a:r>
              <a:rPr b="1" lang="ko" sz="1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폭염</a:t>
            </a:r>
            <a:r>
              <a:rPr b="1" i="0" lang="ko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’ </a:t>
            </a:r>
            <a:r>
              <a:rPr lang="ko" sz="1000">
                <a:solidFill>
                  <a:srgbClr val="566473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찾아냄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3968457" y="4512340"/>
            <a:ext cx="76200" cy="76200"/>
          </a:xfrm>
          <a:prstGeom prst="rect">
            <a:avLst/>
          </a:prstGeom>
          <a:solidFill>
            <a:srgbClr val="152D5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1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"/>
          <p:cNvSpPr/>
          <p:nvPr/>
        </p:nvSpPr>
        <p:spPr>
          <a:xfrm>
            <a:off x="438150" y="1280500"/>
            <a:ext cx="1202100" cy="3276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2"/>
          <p:cNvSpPr/>
          <p:nvPr/>
        </p:nvSpPr>
        <p:spPr>
          <a:xfrm>
            <a:off x="561975" y="134846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</a:t>
            </a: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용자 사용 방법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456355" y="1762456"/>
            <a:ext cx="4128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🌐 </a:t>
            </a:r>
            <a:r>
              <a:rPr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chat-mois-statyearbook.pages.dev 접속</a:t>
            </a:r>
            <a:r>
              <a:rPr lang="ko" sz="11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사용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456355" y="2012700"/>
            <a:ext cx="4128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    Desktop LLM 에 연결하여 사용</a:t>
            </a:r>
            <a:endParaRPr i="0" sz="1100" u="none" cap="none" strike="noStrike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4705350" y="1280500"/>
            <a:ext cx="1202100" cy="327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2"/>
          <p:cNvSpPr/>
          <p:nvPr/>
        </p:nvSpPr>
        <p:spPr>
          <a:xfrm>
            <a:off x="4829175" y="134846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사용 방법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5" name="Google Shape;545;p32"/>
          <p:cNvSpPr/>
          <p:nvPr/>
        </p:nvSpPr>
        <p:spPr>
          <a:xfrm>
            <a:off x="4726254" y="1776354"/>
            <a:ext cx="4128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🔐 </a:t>
            </a:r>
            <a:r>
              <a:rPr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admin 페이지에서 새로운 발간물을 DB에 등록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</a:t>
            </a:r>
            <a:r>
              <a:rPr lang="ko" sz="900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i="0" lang="ko" sz="900" u="none" cap="none" strike="noStrike">
                <a:solidFill>
                  <a:srgbClr val="81909E"/>
                </a:solidFill>
                <a:latin typeface="Noto Sans KR"/>
                <a:ea typeface="Noto Sans KR"/>
                <a:cs typeface="Noto Sans KR"/>
                <a:sym typeface="Noto Sans KR"/>
              </a:rPr>
              <a:t>보고 | 행정안전부 데이터정보화담당관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4697360" y="2626863"/>
            <a:ext cx="3954173" cy="2003294"/>
            <a:chOff x="1431300" y="1657050"/>
            <a:chExt cx="6130500" cy="2996700"/>
          </a:xfrm>
        </p:grpSpPr>
        <p:sp>
          <p:nvSpPr>
            <p:cNvPr id="548" name="Google Shape;548;p32"/>
            <p:cNvSpPr/>
            <p:nvPr/>
          </p:nvSpPr>
          <p:spPr>
            <a:xfrm>
              <a:off x="1431300" y="1657050"/>
              <a:ext cx="6130500" cy="2996700"/>
            </a:xfrm>
            <a:prstGeom prst="roundRect">
              <a:avLst>
                <a:gd fmla="val 5365" name="adj"/>
              </a:avLst>
            </a:prstGeom>
            <a:solidFill>
              <a:srgbClr val="FFFFFF"/>
            </a:solidFill>
            <a:ln cap="flat" cmpd="sng" w="60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4181" rotWithShape="0" algn="bl" dir="8100000" dist="16045">
                <a:srgbClr val="000000">
                  <a:alpha val="10200"/>
                </a:srgbClr>
              </a:outerShdw>
            </a:effectLst>
          </p:spPr>
          <p:txBody>
            <a:bodyPr anchorCtr="0" anchor="ctr" bIns="57725" lIns="57725" spcFirstLastPara="1" rIns="57725" wrap="square" tIns="57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84"/>
            </a:p>
          </p:txBody>
        </p:sp>
        <p:pic>
          <p:nvPicPr>
            <p:cNvPr id="549" name="Google Shape;549;p32" title="스크린샷 2026-08-20 오전 10.46.46(2).png"/>
            <p:cNvPicPr preferRelativeResize="0"/>
            <p:nvPr/>
          </p:nvPicPr>
          <p:blipFill rotWithShape="1">
            <a:blip r:embed="rId3">
              <a:alphaModFix/>
            </a:blip>
            <a:srcRect b="6005" l="0" r="0" t="14460"/>
            <a:stretch/>
          </p:blipFill>
          <p:spPr>
            <a:xfrm>
              <a:off x="1481015" y="1700302"/>
              <a:ext cx="6019500" cy="2904300"/>
            </a:xfrm>
            <a:prstGeom prst="roundRect">
              <a:avLst>
                <a:gd fmla="val 3955" name="adj"/>
              </a:avLst>
            </a:prstGeom>
            <a:noFill/>
            <a:ln>
              <a:noFill/>
            </a:ln>
          </p:spPr>
        </p:pic>
      </p:grpSp>
      <p:grpSp>
        <p:nvGrpSpPr>
          <p:cNvPr id="550" name="Google Shape;550;p32"/>
          <p:cNvGrpSpPr/>
          <p:nvPr/>
        </p:nvGrpSpPr>
        <p:grpSpPr>
          <a:xfrm>
            <a:off x="457271" y="2627303"/>
            <a:ext cx="3978081" cy="2003294"/>
            <a:chOff x="1431300" y="1657050"/>
            <a:chExt cx="6130500" cy="2996700"/>
          </a:xfrm>
        </p:grpSpPr>
        <p:sp>
          <p:nvSpPr>
            <p:cNvPr id="551" name="Google Shape;551;p32"/>
            <p:cNvSpPr/>
            <p:nvPr/>
          </p:nvSpPr>
          <p:spPr>
            <a:xfrm>
              <a:off x="1431300" y="1657050"/>
              <a:ext cx="6130500" cy="2996700"/>
            </a:xfrm>
            <a:prstGeom prst="roundRect">
              <a:avLst>
                <a:gd fmla="val 5365" name="adj"/>
              </a:avLst>
            </a:prstGeom>
            <a:solidFill>
              <a:srgbClr val="FFFFFF"/>
            </a:solidFill>
            <a:ln cap="flat" cmpd="sng" w="62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5917" rotWithShape="0" algn="bl" dir="8100000" dist="16479">
                <a:srgbClr val="000000">
                  <a:alpha val="10200"/>
                </a:srgbClr>
              </a:outerShdw>
            </a:effectLst>
          </p:spPr>
          <p:txBody>
            <a:bodyPr anchorCtr="0" anchor="ctr" bIns="59300" lIns="59300" spcFirstLastPara="1" rIns="59300" wrap="square" tIns="59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8"/>
            </a:p>
          </p:txBody>
        </p:sp>
        <p:pic>
          <p:nvPicPr>
            <p:cNvPr id="552" name="Google Shape;552;p32" title="스크린샷 2026-08-20 오전 10.48.52(2).png"/>
            <p:cNvPicPr preferRelativeResize="0"/>
            <p:nvPr/>
          </p:nvPicPr>
          <p:blipFill rotWithShape="1">
            <a:blip r:embed="rId4">
              <a:alphaModFix/>
            </a:blip>
            <a:srcRect b="5827" l="0" r="0" t="13683"/>
            <a:stretch/>
          </p:blipFill>
          <p:spPr>
            <a:xfrm>
              <a:off x="1481000" y="1721295"/>
              <a:ext cx="6019500" cy="2883300"/>
            </a:xfrm>
            <a:prstGeom prst="roundRect">
              <a:avLst>
                <a:gd fmla="val 3955" name="adj"/>
              </a:avLst>
            </a:prstGeom>
            <a:noFill/>
            <a:ln>
              <a:noFill/>
            </a:ln>
          </p:spPr>
        </p:pic>
      </p:grpSp>
      <p:sp>
        <p:nvSpPr>
          <p:cNvPr id="553" name="Google Shape;553;p32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32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어떻게 사용 · 운영할까요?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55" name="Google Shape;555;p32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6" name="Google Shape;556;p32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2"/>
          <p:cNvSpPr/>
          <p:nvPr/>
        </p:nvSpPr>
        <p:spPr>
          <a:xfrm>
            <a:off x="8443980" y="4879170"/>
            <a:ext cx="257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r>
            <a:endParaRPr sz="8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456355" y="2262945"/>
            <a:ext cx="4128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📥 </a:t>
            </a:r>
            <a:r>
              <a:rPr i="0" lang="ko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내부망에 설치하여 사용</a:t>
            </a:r>
            <a:endParaRPr i="0" sz="1100" u="none" cap="none" strike="noStrike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59" name="Google Shape;55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636" y="2036702"/>
            <a:ext cx="171300" cy="1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3"/>
          <p:cNvSpPr/>
          <p:nvPr/>
        </p:nvSpPr>
        <p:spPr>
          <a:xfrm>
            <a:off x="1066800" y="1170214"/>
            <a:ext cx="3971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현재 문제점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5267325" y="1170214"/>
            <a:ext cx="3799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보완 방법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3"/>
          <p:cNvSpPr/>
          <p:nvPr/>
        </p:nvSpPr>
        <p:spPr>
          <a:xfrm>
            <a:off x="438150" y="1372625"/>
            <a:ext cx="4238700" cy="954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"/>
          <p:cNvSpPr/>
          <p:nvPr/>
        </p:nvSpPr>
        <p:spPr>
          <a:xfrm>
            <a:off x="547275" y="1602460"/>
            <a:ext cx="4485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D4"/>
              </a:buClr>
              <a:buSzPts val="1100"/>
              <a:buFont typeface="Arial"/>
              <a:buNone/>
            </a:pPr>
            <a:r>
              <a:rPr b="1" lang="ko" sz="2800">
                <a:solidFill>
                  <a:srgbClr val="B9C7D4"/>
                </a:solidFill>
              </a:rPr>
              <a:t>0</a:t>
            </a:r>
            <a:r>
              <a:rPr b="1" i="0" lang="ko" sz="2800" u="none" cap="none" strike="noStrike">
                <a:solidFill>
                  <a:srgbClr val="B9C7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1066800" y="1618336"/>
            <a:ext cx="37824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4396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외부 LLM API 비용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1066800" y="1901704"/>
            <a:ext cx="378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566473"/>
                </a:solidFill>
                <a:latin typeface="Arial"/>
                <a:ea typeface="Arial"/>
                <a:cs typeface="Arial"/>
                <a:sym typeface="Arial"/>
              </a:rPr>
              <a:t>배포 페이지 운영 시 API 호출 비용 지속 발생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025" y="173550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3"/>
          <p:cNvSpPr/>
          <p:nvPr/>
        </p:nvSpPr>
        <p:spPr>
          <a:xfrm>
            <a:off x="5095875" y="1372620"/>
            <a:ext cx="3610200" cy="9543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325" y="171645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3"/>
          <p:cNvSpPr/>
          <p:nvPr/>
        </p:nvSpPr>
        <p:spPr>
          <a:xfrm>
            <a:off x="5657850" y="1534545"/>
            <a:ext cx="3164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 서버 호스팅 · 로컬 LLM 전환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3"/>
          <p:cNvSpPr/>
          <p:nvPr/>
        </p:nvSpPr>
        <p:spPr>
          <a:xfrm>
            <a:off x="5657850" y="1806008"/>
            <a:ext cx="29628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9FC4E0"/>
                </a:solidFill>
                <a:latin typeface="Arial"/>
                <a:ea typeface="Arial"/>
                <a:cs typeface="Arial"/>
                <a:sym typeface="Arial"/>
              </a:rPr>
              <a:t>내부망 gemma4 테스트 시 답변 1건 6분 (CPU 전용 · RAM 16GB)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438150" y="2455300"/>
            <a:ext cx="4238700" cy="90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3"/>
          <p:cNvSpPr/>
          <p:nvPr/>
        </p:nvSpPr>
        <p:spPr>
          <a:xfrm>
            <a:off x="1066800" y="2617220"/>
            <a:ext cx="37824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4396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대화 이력 보관 제한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1066800" y="2900589"/>
            <a:ext cx="378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566473"/>
                </a:solidFill>
                <a:latin typeface="Arial"/>
                <a:ea typeface="Arial"/>
                <a:cs typeface="Arial"/>
                <a:sym typeface="Arial"/>
              </a:rPr>
              <a:t>브라우저 local storage 저장으로 최대 10개 대화만 유지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9" name="Google Shape;5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025" y="27343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3"/>
          <p:cNvSpPr/>
          <p:nvPr/>
        </p:nvSpPr>
        <p:spPr>
          <a:xfrm>
            <a:off x="5095875" y="2455306"/>
            <a:ext cx="3610200" cy="9036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1" name="Google Shape;58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7325" y="27152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>
            <a:off x="5657850" y="2623173"/>
            <a:ext cx="20187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로그인 기능 · DB 이력 저장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5657850" y="2894636"/>
            <a:ext cx="2018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9FC4E0"/>
                </a:solidFill>
                <a:latin typeface="Arial"/>
                <a:ea typeface="Arial"/>
                <a:cs typeface="Arial"/>
                <a:sym typeface="Arial"/>
              </a:rPr>
              <a:t>사용자별 대화 이력을 제한 없이 보관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438150" y="3496504"/>
            <a:ext cx="4238700" cy="90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1066800" y="3658413"/>
            <a:ext cx="37824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4396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룰 기반 시각화 검증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1066800" y="3941782"/>
            <a:ext cx="378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566473"/>
                </a:solidFill>
                <a:latin typeface="Arial"/>
                <a:ea typeface="Arial"/>
                <a:cs typeface="Arial"/>
                <a:sym typeface="Arial"/>
              </a:rPr>
              <a:t>시 · 도 이름과 소속기관 약칭을 코드에 수동 매핑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7" name="Google Shape;5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025" y="377554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3"/>
          <p:cNvSpPr/>
          <p:nvPr/>
        </p:nvSpPr>
        <p:spPr>
          <a:xfrm>
            <a:off x="5095875" y="3496502"/>
            <a:ext cx="3610200" cy="9036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9" name="Google Shape;58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7325" y="37564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3"/>
          <p:cNvSpPr/>
          <p:nvPr/>
        </p:nvSpPr>
        <p:spPr>
          <a:xfrm>
            <a:off x="5657850" y="3664366"/>
            <a:ext cx="25578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매핑 테이블 DB 분리 · 관리자 편집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5657850" y="3935829"/>
            <a:ext cx="255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9FC4E0"/>
                </a:solidFill>
                <a:latin typeface="Arial"/>
                <a:ea typeface="Arial"/>
                <a:cs typeface="Arial"/>
                <a:sym typeface="Arial"/>
              </a:rPr>
              <a:t>행정구역 개편 시 코드 수정 없이 반영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3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청년인턴 중간보고 | 행정안전부 데이터정보화담당관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3"/>
          <p:cNvSpPr/>
          <p:nvPr/>
        </p:nvSpPr>
        <p:spPr>
          <a:xfrm>
            <a:off x="8578044" y="4860132"/>
            <a:ext cx="16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 사항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한계점 및 보완 방법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96" name="Google Shape;596;p33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7" name="Google Shape;597;p33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3"/>
          <p:cNvSpPr/>
          <p:nvPr/>
        </p:nvSpPr>
        <p:spPr>
          <a:xfrm>
            <a:off x="547275" y="2620251"/>
            <a:ext cx="448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D4"/>
              </a:buClr>
              <a:buSzPts val="1100"/>
              <a:buFont typeface="Arial"/>
              <a:buNone/>
            </a:pPr>
            <a:r>
              <a:rPr b="1" lang="ko" sz="2800">
                <a:solidFill>
                  <a:srgbClr val="B9C7D4"/>
                </a:solidFill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547275" y="3602801"/>
            <a:ext cx="448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D4"/>
              </a:buClr>
              <a:buSzPts val="1100"/>
              <a:buFont typeface="Arial"/>
              <a:buNone/>
            </a:pPr>
            <a:r>
              <a:rPr b="1" lang="ko" sz="2800">
                <a:solidFill>
                  <a:srgbClr val="B9C7D4"/>
                </a:solidFill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"/>
          <p:cNvSpPr/>
          <p:nvPr/>
        </p:nvSpPr>
        <p:spPr>
          <a:xfrm>
            <a:off x="438150" y="972985"/>
            <a:ext cx="2673300" cy="1887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590550" y="1115839"/>
            <a:ext cx="266700" cy="266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571500" y="1115839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952500" y="1152748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UI 소개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9" name="Google Shape;6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000" y="1139652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4"/>
          <p:cNvSpPr/>
          <p:nvPr/>
        </p:nvSpPr>
        <p:spPr>
          <a:xfrm>
            <a:off x="590550" y="1496839"/>
            <a:ext cx="2605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566473"/>
                </a:solidFill>
                <a:latin typeface="Arial"/>
                <a:ea typeface="Arial"/>
                <a:cs typeface="Arial"/>
                <a:sym typeface="Arial"/>
              </a:rPr>
              <a:t>화면 구성 · 조회 범위 선택 · 답변 표시 방식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3235300" y="972964"/>
            <a:ext cx="2673300" cy="1887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3387700" y="1115839"/>
            <a:ext cx="266700" cy="266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3368650" y="1115839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3749650" y="1152748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기본 통계 질문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5" name="Google Shape;61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7188" y="1139652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4"/>
          <p:cNvSpPr/>
          <p:nvPr/>
        </p:nvSpPr>
        <p:spPr>
          <a:xfrm>
            <a:off x="3387700" y="1496839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4"/>
          <p:cNvSpPr/>
          <p:nvPr/>
        </p:nvSpPr>
        <p:spPr>
          <a:xfrm>
            <a:off x="3492475" y="1627808"/>
            <a:ext cx="176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2-1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/>
          <p:nvPr/>
        </p:nvSpPr>
        <p:spPr>
          <a:xfrm>
            <a:off x="3706639" y="1592089"/>
            <a:ext cx="20034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국과수 소속 연구직 공무원 수 알려줘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4"/>
          <p:cNvSpPr/>
          <p:nvPr/>
        </p:nvSpPr>
        <p:spPr>
          <a:xfrm>
            <a:off x="3387700" y="2140670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4"/>
          <p:cNvSpPr/>
          <p:nvPr/>
        </p:nvSpPr>
        <p:spPr>
          <a:xfrm>
            <a:off x="3492475" y="2271638"/>
            <a:ext cx="1980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2-2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3728480" y="2235920"/>
            <a:ext cx="19809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특별재난지역 피해 복구 지원비가 얼마씩 책정됐어?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6032488" y="972964"/>
            <a:ext cx="2673300" cy="2531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4"/>
          <p:cNvSpPr/>
          <p:nvPr/>
        </p:nvSpPr>
        <p:spPr>
          <a:xfrm>
            <a:off x="6184888" y="1115839"/>
            <a:ext cx="266700" cy="266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4"/>
          <p:cNvSpPr/>
          <p:nvPr/>
        </p:nvSpPr>
        <p:spPr>
          <a:xfrm>
            <a:off x="6165838" y="1115839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4"/>
          <p:cNvSpPr/>
          <p:nvPr/>
        </p:nvSpPr>
        <p:spPr>
          <a:xfrm>
            <a:off x="6546838" y="1152748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시각화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6" name="Google Shape;62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4338" y="1139652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4"/>
          <p:cNvSpPr/>
          <p:nvPr/>
        </p:nvSpPr>
        <p:spPr>
          <a:xfrm>
            <a:off x="6184888" y="1496839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4"/>
          <p:cNvSpPr/>
          <p:nvPr/>
        </p:nvSpPr>
        <p:spPr>
          <a:xfrm>
            <a:off x="6289663" y="1627808"/>
            <a:ext cx="178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3-1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6506357" y="1592089"/>
            <a:ext cx="2000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공공데이터 활용 및 이용건수의 추이 알려줘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4"/>
          <p:cNvSpPr/>
          <p:nvPr/>
        </p:nvSpPr>
        <p:spPr>
          <a:xfrm>
            <a:off x="6184888" y="2140670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4"/>
          <p:cNvSpPr/>
          <p:nvPr/>
        </p:nvSpPr>
        <p:spPr>
          <a:xfrm>
            <a:off x="6289663" y="2271638"/>
            <a:ext cx="200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3-2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4"/>
          <p:cNvSpPr/>
          <p:nvPr/>
        </p:nvSpPr>
        <p:spPr>
          <a:xfrm>
            <a:off x="6528197" y="2235920"/>
            <a:ext cx="1978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공공데이터 개방 실적 추이 시각화해줘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6184888" y="2784500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4"/>
          <p:cNvSpPr/>
          <p:nvPr/>
        </p:nvSpPr>
        <p:spPr>
          <a:xfrm>
            <a:off x="6289663" y="2915469"/>
            <a:ext cx="200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3-3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6527713" y="2879750"/>
            <a:ext cx="1978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2025년도 활용 실적을 기관별 비율로 시각화해줘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438150" y="3022411"/>
            <a:ext cx="2673300" cy="1667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4"/>
          <p:cNvSpPr/>
          <p:nvPr/>
        </p:nvSpPr>
        <p:spPr>
          <a:xfrm>
            <a:off x="590550" y="3588456"/>
            <a:ext cx="266700" cy="2667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571500" y="3588456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952500" y="3625364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담당자 질문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0" name="Google Shape;64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0000" y="3612268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4"/>
          <p:cNvSpPr/>
          <p:nvPr/>
        </p:nvSpPr>
        <p:spPr>
          <a:xfrm>
            <a:off x="590550" y="3969456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4"/>
          <p:cNvSpPr/>
          <p:nvPr/>
        </p:nvSpPr>
        <p:spPr>
          <a:xfrm>
            <a:off x="695325" y="4100424"/>
            <a:ext cx="184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4-1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4"/>
          <p:cNvSpPr/>
          <p:nvPr/>
        </p:nvSpPr>
        <p:spPr>
          <a:xfrm>
            <a:off x="917861" y="4064706"/>
            <a:ext cx="1994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공공데이터 관련 통계 담당자들 알려줘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4"/>
          <p:cNvSpPr/>
          <p:nvPr/>
        </p:nvSpPr>
        <p:spPr>
          <a:xfrm>
            <a:off x="3235300" y="3022273"/>
            <a:ext cx="2673300" cy="1667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4"/>
          <p:cNvSpPr/>
          <p:nvPr/>
        </p:nvSpPr>
        <p:spPr>
          <a:xfrm>
            <a:off x="3387700" y="3588456"/>
            <a:ext cx="266700" cy="2667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4"/>
          <p:cNvSpPr/>
          <p:nvPr/>
        </p:nvSpPr>
        <p:spPr>
          <a:xfrm>
            <a:off x="3368650" y="3588456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3749650" y="3625364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발간물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8" name="Google Shape;64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37188" y="3612268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4"/>
          <p:cNvSpPr/>
          <p:nvPr/>
        </p:nvSpPr>
        <p:spPr>
          <a:xfrm>
            <a:off x="3387700" y="3969456"/>
            <a:ext cx="23685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3492475" y="4100424"/>
            <a:ext cx="176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5-1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3706527" y="4064706"/>
            <a:ext cx="20034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26년도 통계연보에 실린 통계 종류가 몇 개야?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4"/>
          <p:cNvSpPr/>
          <p:nvPr/>
        </p:nvSpPr>
        <p:spPr>
          <a:xfrm>
            <a:off x="6032488" y="3628356"/>
            <a:ext cx="2673300" cy="105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6184888" y="3771231"/>
            <a:ext cx="266700" cy="2667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4"/>
          <p:cNvSpPr/>
          <p:nvPr/>
        </p:nvSpPr>
        <p:spPr>
          <a:xfrm>
            <a:off x="6165838" y="3771231"/>
            <a:ext cx="30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4"/>
          <p:cNvSpPr/>
          <p:nvPr/>
        </p:nvSpPr>
        <p:spPr>
          <a:xfrm>
            <a:off x="6546838" y="3808140"/>
            <a:ext cx="1861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없는 통계 처리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6" name="Google Shape;656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4338" y="3795043"/>
            <a:ext cx="219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4"/>
          <p:cNvSpPr/>
          <p:nvPr/>
        </p:nvSpPr>
        <p:spPr>
          <a:xfrm>
            <a:off x="6184888" y="4152231"/>
            <a:ext cx="2368500" cy="3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/>
          <p:nvPr/>
        </p:nvSpPr>
        <p:spPr>
          <a:xfrm>
            <a:off x="6289663" y="4283199"/>
            <a:ext cx="1833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1F5A91"/>
                </a:solidFill>
                <a:latin typeface="Arial"/>
                <a:ea typeface="Arial"/>
                <a:cs typeface="Arial"/>
                <a:sym typeface="Arial"/>
              </a:rPr>
              <a:t>6-1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6511045" y="4247481"/>
            <a:ext cx="1999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681"/>
              </a:lnSpc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국가공무원 퇴직 사유 통계 보여줘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438150" y="4874419"/>
            <a:ext cx="2560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909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81909E"/>
                </a:solidFill>
                <a:latin typeface="Arial"/>
                <a:ea typeface="Arial"/>
                <a:cs typeface="Arial"/>
                <a:sym typeface="Arial"/>
              </a:rPr>
              <a:t>청년인턴 중간보고 | 행정안전부 데이터정보화담당관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8572463" y="4860132"/>
            <a:ext cx="17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72331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442800" y="221400"/>
            <a:ext cx="3571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시연</a:t>
            </a:r>
            <a:endParaRPr sz="9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442800" y="464400"/>
            <a:ext cx="7215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시나리오</a:t>
            </a:r>
            <a:endParaRPr sz="2000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64" name="Google Shape;664;p34"/>
          <p:cNvCxnSpPr/>
          <p:nvPr/>
        </p:nvCxnSpPr>
        <p:spPr>
          <a:xfrm>
            <a:off x="442800" y="899910"/>
            <a:ext cx="8258100" cy="30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65" name="Google Shape;665;p34" title="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93832" y="97428"/>
            <a:ext cx="1150243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oto Sans KR"/>
                <a:ea typeface="Noto Sans KR"/>
                <a:cs typeface="Noto Sans KR"/>
                <a:sym typeface="Noto Sans KR"/>
              </a:rPr>
              <a:t>감</a:t>
            </a:r>
            <a:r>
              <a:rPr b="1" lang="ko">
                <a:latin typeface="Noto Sans KR"/>
                <a:ea typeface="Noto Sans KR"/>
                <a:cs typeface="Noto Sans KR"/>
                <a:sym typeface="Noto Sans KR"/>
              </a:rPr>
              <a:t>사</a:t>
            </a:r>
            <a:r>
              <a:rPr b="1" lang="ko"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71" name="Google Shape;671;p3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8100" y="65100"/>
            <a:ext cx="1373550" cy="3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1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1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1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3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1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4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4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
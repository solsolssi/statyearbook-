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NotoSansKR-bold.fntdata"/><Relationship Id="rId12" Type="http://schemas.openxmlformats.org/officeDocument/2006/relationships/slide" Target="slides/slide7.xml"/><Relationship Id="rId23" Type="http://schemas.openxmlformats.org/officeDocument/2006/relationships/font" Target="fonts/NotoSansK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" name="Google Shape;41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109728"/>
            <a:ext cx="1325880" cy="37762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/>
        </p:nvSpPr>
        <p:spPr>
          <a:xfrm>
            <a:off x="658368" y="117043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48A9C7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지원</a:t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658368" y="1499616"/>
            <a:ext cx="6309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</a:t>
            </a:r>
            <a:br>
              <a:rPr b="1" i="0" lang="en-US" sz="31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31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보조 시스템</a:t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676656" y="3072384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검수는 줄이고, 오류 확인과 수정은 한 흐름으로</a:t>
            </a:r>
            <a:endParaRPr/>
          </a:p>
        </p:txBody>
      </p:sp>
      <p:sp>
        <p:nvSpPr>
          <p:cNvPr id="62" name="Google Shape;62;p15"/>
          <p:cNvSpPr txBox="1"/>
          <p:nvPr/>
        </p:nvSpPr>
        <p:spPr>
          <a:xfrm>
            <a:off x="676656" y="345643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B2D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검수·수정·재검수·결과 공유를 하나의 플랫폼에서 지원</a:t>
            </a:r>
            <a:endParaRPr/>
          </a:p>
        </p:txBody>
      </p:sp>
      <p:sp>
        <p:nvSpPr>
          <p:cNvPr id="63" name="Google Shape;63;p15"/>
          <p:cNvSpPr txBox="1"/>
          <p:nvPr/>
        </p:nvSpPr>
        <p:spPr>
          <a:xfrm>
            <a:off x="6400800" y="1280160"/>
            <a:ext cx="1920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  |  2026. 8.</a:t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8394192" y="460857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발간과 검수</a:t>
            </a:r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통계 정보를 제공하기 위해 발간 전 검수는 반드시 필요합니다.</a:t>
            </a:r>
            <a:endParaRPr/>
          </a:p>
        </p:txBody>
      </p:sp>
      <p:pic>
        <p:nvPicPr>
          <p:cNvPr descr="image.png" id="72" name="Google Shape;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전, 왜 검수가 필요한가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502920" y="1810512"/>
            <a:ext cx="5257800" cy="2633472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903220" y="273405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731520" y="3172968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예시 이미지 삽입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731520" y="3465576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표지 또는 여러 통계표가 보이는 화면 권장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053328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190488" y="186537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과정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6053328" y="2286000"/>
            <a:ext cx="256032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053328" y="2286000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172200" y="24231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6574536" y="2359152"/>
            <a:ext cx="1901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데이터 취합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6574536" y="2569464"/>
            <a:ext cx="1901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부서·기관 자료를 한 권으로 정리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6053328" y="2862072"/>
            <a:ext cx="256032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053328" y="286207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172200" y="299923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6574536" y="2935224"/>
            <a:ext cx="1901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검수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574536" y="3145536"/>
            <a:ext cx="1901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정보 제공을 위한 마지막 확인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6053328" y="3438144"/>
            <a:ext cx="256032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053328" y="3438144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172200" y="3575303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6574536" y="3511296"/>
            <a:ext cx="1901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역할이 참여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6574536" y="3721607"/>
            <a:ext cx="1901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담당자·주무관·청년인턴 협업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172200" y="4133087"/>
            <a:ext cx="74980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172200" y="4133087"/>
            <a:ext cx="7498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취합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949440" y="4169663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7232904" y="4133087"/>
            <a:ext cx="56692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232904" y="4133087"/>
            <a:ext cx="5669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7827264" y="4169663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8110727" y="4133087"/>
            <a:ext cx="56692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110727" y="4133087"/>
            <a:ext cx="5669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업무의 어려움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300개 이상의 표를 반복 확인하고 오류를 공유·수정하는 과정은 시간이 많이 듭니다.</a:t>
            </a:r>
            <a:endParaRPr/>
          </a:p>
        </p:txBody>
      </p:sp>
      <p:pic>
        <p:nvPicPr>
          <p:cNvPr descr="image.png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검수에서 협업 플랫폼으로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640080" y="186537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AS-IS  사람이 반복 확인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493776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074920" y="186537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TO-BE  서비스가 반복 업무 지원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66928" y="2331720"/>
            <a:ext cx="3584448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566928" y="2331720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85800" y="2468879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088136" y="240487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300개+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088136" y="26151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표를 하나씩 반복 확인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010912" y="2331720"/>
            <a:ext cx="3584448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010912" y="2331720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5129784" y="2468879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532120" y="240487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계산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532120" y="26151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합계·비율을 구성값에서 다시 계산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66928" y="2953512"/>
            <a:ext cx="3584448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66928" y="2953512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85800" y="309067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88136" y="3026664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위험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88136" y="3236976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오류·오탈자를 놓치기 쉬움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010912" y="2953512"/>
            <a:ext cx="3584448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010912" y="295351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129784" y="309067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532120" y="3026664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근거 확인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532120" y="3236976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판정 근거를 한눈에 확인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66928" y="3575304"/>
            <a:ext cx="3584448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66928" y="3575304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685800" y="371246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88136" y="364845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 공유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88136" y="3858768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전달·수정 반영·재확인이 분산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010912" y="3575304"/>
            <a:ext cx="3584448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010912" y="3575304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129784" y="371246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532120" y="364845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 곳에서 협업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532120" y="3858768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수정·재검수·결과 공유까지 연결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4315968" y="2916936"/>
            <a:ext cx="420624" cy="40233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914400" y="444398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143000" y="4489704"/>
            <a:ext cx="6858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계산은 서비스가 처리하고, 담당자는 판단·수정·공유에 집중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①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연보를 등록하고 검수를 실행한 뒤, 오류가 있는 통계와 전체 현황을 확인합니다.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페이지에서 연보와 검수 현황을 한눈에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02920" y="1792224"/>
            <a:ext cx="5577840" cy="2761488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063239" y="2779775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31520" y="3218687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 이미지 삽입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31520" y="351129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목록·검수 실행·상태 요약이 보이는 화면 권장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6327648" y="1819656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464808" y="1856231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페이지에서 하는 일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327648" y="2286000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327648" y="2286000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446520" y="24231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848856" y="2359152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등록·검수 시작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848856" y="2569464"/>
            <a:ext cx="16276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연보 선택 후 검수 실행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327648" y="2871216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327648" y="287121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6446520" y="300837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848856" y="2944368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 자동 분류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848856" y="3154680"/>
            <a:ext cx="16276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확인이 필요한 통계를 우선 표시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6327648" y="3456432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327648" y="3456432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446520" y="3593591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848856" y="3529584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현황 요약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848856" y="3739896"/>
            <a:ext cx="16276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정상·확인 필요·오류 의심 집계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6419088" y="4151376"/>
            <a:ext cx="65836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419088" y="4151376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선택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114032" y="4187952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7406640" y="4151376"/>
            <a:ext cx="71323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7406640" y="4151376"/>
            <a:ext cx="7132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실행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147304" y="4187952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8403336" y="4151376"/>
            <a:ext cx="71323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403336" y="4151376"/>
            <a:ext cx="7132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요약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②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화면에서 문제 위치와 근거를 확인하고 바로 수정할 수 있습니다.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셀을 확인하고 바로 수정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02920" y="1792224"/>
            <a:ext cx="5577840" cy="2761488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063239" y="2779775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31520" y="3218687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페이지 이미지 삽입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31520" y="351129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하이라이트 셀·검수 내역·수정 화면이 보이는 화면 권장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6327648" y="1819656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464808" y="1856231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화면에서 확인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6327648" y="2286000"/>
            <a:ext cx="2286000" cy="493776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327648" y="2286000"/>
            <a:ext cx="41148" cy="493776"/>
          </a:xfrm>
          <a:prstGeom prst="rect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446520" y="242316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848856" y="2359152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 하이라이트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848856" y="2569464"/>
            <a:ext cx="16276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위치에 문제가 있는지 표시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6327648" y="2871216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327648" y="287121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446520" y="300837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848856" y="2944368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내역·근거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848856" y="3154680"/>
            <a:ext cx="16276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현재값·기대값·근거 셀 확인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6327648" y="3456432"/>
            <a:ext cx="2286000" cy="49377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327648" y="3456432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6446520" y="3593591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848856" y="3529584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848856" y="3739896"/>
            <a:ext cx="16276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값·구조를 화면에서 편집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914400" y="444398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1143000" y="4489704"/>
            <a:ext cx="6858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 확인 → 근거 검토 → 내용 수정 → 재검수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이용 흐름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결과에 문제가 있으면 수정·재검수를 반복하고, 오류가 없으면 결과를 내려받습니다.</a:t>
            </a:r>
            <a:endParaRPr/>
          </a:p>
        </p:txBody>
      </p:sp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등록부터 재검수까지 반복되는 흐름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02920" y="1883664"/>
            <a:ext cx="1325880" cy="7498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2920" y="1883664"/>
            <a:ext cx="41148" cy="749808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67512" y="2002536"/>
            <a:ext cx="10149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1  연보 등록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67512" y="2276856"/>
            <a:ext cx="10149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파일·연도 선택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1883664" y="2084831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212848" y="1883664"/>
            <a:ext cx="1325880" cy="74980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2212848" y="1883664"/>
            <a:ext cx="41148" cy="74980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2377440" y="2002536"/>
            <a:ext cx="10149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  검수 실행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2377440" y="2276856"/>
            <a:ext cx="10149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항목 선택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3593592" y="2084831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922776" y="1883664"/>
            <a:ext cx="1325880" cy="7498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922776" y="1883664"/>
            <a:ext cx="41148" cy="74980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087368" y="2002536"/>
            <a:ext cx="10149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  결과 확인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4087368" y="2276856"/>
            <a:ext cx="10149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위치·근거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5303520" y="2084831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650992" y="1810512"/>
            <a:ext cx="1143000" cy="932688"/>
          </a:xfrm>
          <a:prstGeom prst="diamond">
            <a:avLst/>
          </a:prstGeom>
          <a:solidFill>
            <a:srgbClr val="FFFFFF"/>
          </a:solidFill>
          <a:ln cap="flat" cmpd="sng" w="15225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833872" y="2084831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없음?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793992" y="19202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예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949440" y="2084831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7278624" y="1883664"/>
            <a:ext cx="1353312" cy="74980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7278624" y="1883664"/>
            <a:ext cx="41148" cy="749808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7443216" y="2002536"/>
            <a:ext cx="1042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4  연보 완성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7443216" y="2276856"/>
            <a:ext cx="1042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없는 결과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071616" y="277063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아니오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6071616" y="2944368"/>
            <a:ext cx="292608" cy="3108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4571993" y="3369579"/>
            <a:ext cx="1417200" cy="749700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4571993" y="3369579"/>
            <a:ext cx="41100" cy="749700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736584" y="3488451"/>
            <a:ext cx="11064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4736584" y="3762771"/>
            <a:ext cx="110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셀·표 정보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4059932" y="3511297"/>
            <a:ext cx="292500" cy="310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2450592" y="2788920"/>
            <a:ext cx="347472" cy="1069848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연보 등록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파일을 읽어 통계별 제목·번호·내용을 저장하고 플랫폼 화면으로 재구성합니다.</a:t>
            </a:r>
            <a:endParaRPr/>
          </a:p>
        </p:txBody>
      </p:sp>
      <p:pic>
        <p:nvPicPr>
          <p:cNvPr descr="image.png"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파일이 플랫폼의 통계 게시물로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457200" y="4855464"/>
            <a:ext cx="43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502925" y="1847099"/>
            <a:ext cx="2743200" cy="1904700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645919" y="249631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731520" y="293522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연보의 통계 예시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31520" y="322783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안의 통계표 이미지</a:t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3419856" y="2651760"/>
            <a:ext cx="347472" cy="3840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3858775" y="2212850"/>
            <a:ext cx="1426500" cy="1014900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114800" y="24231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업로드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4014215" y="2825496"/>
            <a:ext cx="502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014215" y="2825496"/>
            <a:ext cx="502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HWPX</a:t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4617720" y="2825496"/>
            <a:ext cx="502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617720" y="2825496"/>
            <a:ext cx="502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MD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5394960" y="2651760"/>
            <a:ext cx="347472" cy="3840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852150" y="1847099"/>
            <a:ext cx="2743200" cy="1904700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6995160" y="249631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080760" y="293522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플랫폼에 등록된 통계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080760" y="322783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제목·번호·표 내용이 재구성된 화면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749808" y="3995928"/>
            <a:ext cx="24871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749808" y="3995928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868680" y="413308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1271016" y="40690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읽기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1271016" y="4279392"/>
            <a:ext cx="18288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내용을</a:t>
            </a:r>
            <a:r>
              <a:rPr lang="en-US" sz="85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 파싱</a:t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3511296" y="3995928"/>
            <a:ext cx="24871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511296" y="3995928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3630168" y="413308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4032504" y="40690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저장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4032504" y="4279392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제목·번호·표·기본 정보를 데이터베이스에 저장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6272784" y="3995928"/>
            <a:ext cx="24871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272784" y="3995928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6391656" y="413308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6793992" y="4069080"/>
            <a:ext cx="1828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793992" y="4279392"/>
            <a:ext cx="1828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연보는 독립된 게시물이며 수정 및 삭제 가능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검수 실행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6가지 검수를 지원하며, 처리 방식과 결과 상태가 항목마다 다릅니다.</a:t>
            </a:r>
            <a:endParaRPr/>
          </a:p>
        </p:txBody>
      </p:sp>
      <p:pic>
        <p:nvPicPr>
          <p:cNvPr descr="image.png" id="318" name="Google Shape;3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6가지 검수, 두 가지 처리 방식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7388352" y="1408176"/>
            <a:ext cx="1188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지  6종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640080" y="1865376"/>
            <a:ext cx="49834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규칙·통계 기반 검수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658368" y="2139696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계산 관계를 미리 구성한 기준으로 확인</a:t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566928" y="2450592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566928" y="2450592"/>
            <a:ext cx="41148" cy="713232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713232" y="25603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713232" y="2834640"/>
            <a:ext cx="211226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계·합계·소계를 다시 합산</a:t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2057400" y="2551176"/>
            <a:ext cx="804672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2057400" y="2551176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3108960" y="2450592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3108960" y="2450592"/>
            <a:ext cx="41148" cy="713232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3255264" y="25603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3255264" y="2834640"/>
            <a:ext cx="211226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비율·구성비·증감 값을 재계산</a:t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4599431" y="2551176"/>
            <a:ext cx="804672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4599431" y="2551176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566928" y="3282696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566928" y="3282696"/>
            <a:ext cx="41148" cy="713232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713232" y="339242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713232" y="3666744"/>
            <a:ext cx="211226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확인</a:t>
            </a: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2057400" y="3383279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2057400" y="3383279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3108960" y="3282696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3108960" y="3282696"/>
            <a:ext cx="41148" cy="713232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3255264" y="339242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3255264" y="3666744"/>
            <a:ext cx="211226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값과 차이가 큰 수치 후보</a:t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4599431" y="3383279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4599431" y="3383279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5824728" y="1828800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5961888" y="1865376"/>
            <a:ext cx="2651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LLM </a:t>
            </a:r>
            <a:r>
              <a:rPr b="1" lang="en-US" sz="12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검수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5980176" y="213969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용어·이전 결과를 먼저 적용하고 남은 후보만 확인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5888736" y="2578608"/>
            <a:ext cx="2706624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5888736" y="2578608"/>
            <a:ext cx="41148" cy="713232"/>
          </a:xfrm>
          <a:prstGeom prst="rect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6035040" y="2688336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6035040" y="2962656"/>
            <a:ext cx="23957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철자·문자 깨짐·표기 불일치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7662672" y="2679191"/>
            <a:ext cx="804672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7662672" y="2679191"/>
            <a:ext cx="804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5888736" y="3410712"/>
            <a:ext cx="2706624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5888736" y="3410712"/>
            <a:ext cx="41148" cy="713232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6035040" y="3520440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6035040" y="3794760"/>
            <a:ext cx="23957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한글·영문 의미 대응 확인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7662672" y="3511296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7662672" y="3511296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기준 생성 방식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통계 특성을 단계적으로 분석해 각 표에 적용할 검수를 결정합니다.</a:t>
            </a:r>
            <a:endParaRPr/>
          </a:p>
        </p:txBody>
      </p:sp>
      <p:pic>
        <p:nvPicPr>
          <p:cNvPr descr="image.png" id="372" name="Google Shape;3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3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표에 어떤 검수를 적용할까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02920" y="1856231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640080" y="1892807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① 공통 기준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612648" y="2276856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모든 표의 필수 정보 확인</a:t>
            </a:r>
            <a:b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숫자 열의 특이값 후보 생성</a:t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594360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1" name="Google Shape;381;p23"/>
          <p:cNvSpPr txBox="1"/>
          <p:nvPr/>
        </p:nvSpPr>
        <p:spPr>
          <a:xfrm>
            <a:off x="594360" y="2852928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</a:t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1243584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1243584" y="2852928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</a:t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2578608" y="1856231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2715768" y="1892807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② 표 유형별 기준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2688336" y="2276856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지역별·연도별 등 구조 파악</a:t>
            </a:r>
            <a:b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전국계와 지역 값 관계 적용</a:t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2670048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2670048" y="2852928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4654296" y="1856231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4791456" y="1892807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③ 표별 자동 분석</a:t>
            </a:r>
            <a:endParaRPr/>
          </a:p>
        </p:txBody>
      </p:sp>
      <p:sp>
        <p:nvSpPr>
          <p:cNvPr id="391" name="Google Shape;391;p23"/>
          <p:cNvSpPr txBox="1"/>
          <p:nvPr/>
        </p:nvSpPr>
        <p:spPr>
          <a:xfrm>
            <a:off x="4764024" y="2276856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계·합계·소계 항목 탐색</a:t>
            </a:r>
            <a:b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분자·분모·증감 관계 탐색</a:t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4745736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3" name="Google Shape;393;p23"/>
          <p:cNvSpPr txBox="1"/>
          <p:nvPr/>
        </p:nvSpPr>
        <p:spPr>
          <a:xfrm>
            <a:off x="4745736" y="2852928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5394959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23"/>
          <p:cNvSpPr txBox="1"/>
          <p:nvPr/>
        </p:nvSpPr>
        <p:spPr>
          <a:xfrm>
            <a:off x="5394959" y="2852928"/>
            <a:ext cx="5760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6729984" y="1856231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6867144" y="1892807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④ 통계별 예외 기준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6839712" y="2276856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담당자가 확인한 규칙 반영</a:t>
            </a:r>
            <a:b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고정 셀·분할표 예외 처리</a:t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640074" y="3172978"/>
            <a:ext cx="576000" cy="24690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629641" y="3172978"/>
            <a:ext cx="5760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1289298" y="3172978"/>
            <a:ext cx="576000" cy="24690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1289298" y="3172978"/>
            <a:ext cx="5760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2203704" y="2487168"/>
            <a:ext cx="21945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4279392" y="2487168"/>
            <a:ext cx="21945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6355080" y="2487168"/>
            <a:ext cx="21945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6821411" y="2984478"/>
            <a:ext cx="576000" cy="246900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6821411" y="2984478"/>
            <a:ext cx="5760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7470634" y="2984478"/>
            <a:ext cx="576000" cy="246900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7470634" y="2984478"/>
            <a:ext cx="5760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계·합계·소계와 표에 표시된 산식을 구성값에서 다시 계산합니다.</a:t>
            </a:r>
            <a:endParaRPr/>
          </a:p>
        </p:txBody>
      </p:sp>
      <p:pic>
        <p:nvPicPr>
          <p:cNvPr descr="image.png" id="416" name="Google Shape;4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4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8" name="Google Shape;418;p24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구성 항목을 다시 더해 합계를 확인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640080" y="1865376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566928" y="2249424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66928" y="2249424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685800" y="238658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1088136" y="2322576"/>
            <a:ext cx="2176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</a:t>
            </a:r>
            <a:endParaRPr/>
          </a:p>
        </p:txBody>
      </p:sp>
      <p:sp>
        <p:nvSpPr>
          <p:cNvPr id="427" name="Google Shape;427;p24"/>
          <p:cNvSpPr txBox="1"/>
          <p:nvPr/>
        </p:nvSpPr>
        <p:spPr>
          <a:xfrm>
            <a:off x="1088136" y="2532888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세부 지역 값을 더해 전국계 확인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전국 = 시·도 합</a:t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566928" y="2898648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566928" y="2898648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685800" y="303580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33" name="Google Shape;433;p24"/>
          <p:cNvSpPr txBox="1"/>
          <p:nvPr/>
        </p:nvSpPr>
        <p:spPr>
          <a:xfrm>
            <a:off x="1088136" y="2971800"/>
            <a:ext cx="2176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행·열 합계</a:t>
            </a:r>
            <a:endParaRPr/>
          </a:p>
        </p:txBody>
      </p:sp>
      <p:sp>
        <p:nvSpPr>
          <p:cNvPr id="434" name="Google Shape;434;p24"/>
          <p:cNvSpPr txBox="1"/>
          <p:nvPr/>
        </p:nvSpPr>
        <p:spPr>
          <a:xfrm>
            <a:off x="1088136" y="3182112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행의 열 또는 세부 행 합산</a:t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6" name="Google Shape;436;p24"/>
          <p:cNvSpPr txBox="1"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계 = 남 + 여</a:t>
            </a:r>
            <a:endParaRPr/>
          </a:p>
        </p:txBody>
      </p:sp>
      <p:sp>
        <p:nvSpPr>
          <p:cNvPr id="437" name="Google Shape;437;p24"/>
          <p:cNvSpPr/>
          <p:nvPr/>
        </p:nvSpPr>
        <p:spPr>
          <a:xfrm>
            <a:off x="566928" y="3547872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566928" y="354787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685800" y="368503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40" name="Google Shape;440;p24"/>
          <p:cNvSpPr txBox="1"/>
          <p:nvPr/>
        </p:nvSpPr>
        <p:spPr>
          <a:xfrm>
            <a:off x="1088136" y="3621024"/>
            <a:ext cx="2176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명시 산식·분할표</a:t>
            </a:r>
            <a:endParaRPr/>
          </a:p>
        </p:txBody>
      </p:sp>
      <p:sp>
        <p:nvSpPr>
          <p:cNvPr id="441" name="Google Shape;441;p24"/>
          <p:cNvSpPr txBox="1"/>
          <p:nvPr/>
        </p:nvSpPr>
        <p:spPr>
          <a:xfrm>
            <a:off x="1088136" y="3831335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a+b·a-b와 연결된 표 관계 계산</a:t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c = a + b</a:t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3675887" y="1828800"/>
            <a:ext cx="4937760" cy="2432304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5916168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3904487" y="3090672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 예시 이미지 삽입</a:t>
            </a:r>
            <a:endParaRPr/>
          </a:p>
        </p:txBody>
      </p:sp>
      <p:sp>
        <p:nvSpPr>
          <p:cNvPr id="447" name="Google Shape;447;p24"/>
          <p:cNvSpPr txBox="1"/>
          <p:nvPr/>
        </p:nvSpPr>
        <p:spPr>
          <a:xfrm>
            <a:off x="3904487" y="3383280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 또는 산식 오류가 보이는 화면 권장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5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비율·구성비·건당 값과 증감액·증감률을 다시 계산합니다.</a:t>
            </a:r>
            <a:endParaRPr/>
          </a:p>
        </p:txBody>
      </p:sp>
      <p:pic>
        <p:nvPicPr>
          <p:cNvPr descr="image.png" id="454" name="Google Shape;4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5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분자·분모와 전년값으로 비율을 재계산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459" name="Google Shape;459;p25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Google Shape;460;p25"/>
          <p:cNvSpPr txBox="1"/>
          <p:nvPr/>
        </p:nvSpPr>
        <p:spPr>
          <a:xfrm>
            <a:off x="640080" y="1865376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566928" y="2249424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566928" y="2249424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685800" y="238658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1088136" y="2322576"/>
            <a:ext cx="2176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</a:t>
            </a:r>
            <a:endParaRPr/>
          </a:p>
        </p:txBody>
      </p:sp>
      <p:sp>
        <p:nvSpPr>
          <p:cNvPr id="465" name="Google Shape;465;p25"/>
          <p:cNvSpPr txBox="1"/>
          <p:nvPr/>
        </p:nvSpPr>
        <p:spPr>
          <a:xfrm>
            <a:off x="1088136" y="2532888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항목 값과 전체 값을 분자·분모로 연결</a:t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÷ 전체 × 100</a:t>
            </a:r>
            <a:endParaRPr/>
          </a:p>
        </p:txBody>
      </p:sp>
      <p:sp>
        <p:nvSpPr>
          <p:cNvPr id="468" name="Google Shape;468;p25"/>
          <p:cNvSpPr/>
          <p:nvPr/>
        </p:nvSpPr>
        <p:spPr>
          <a:xfrm>
            <a:off x="566928" y="2898648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566928" y="2898648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685800" y="303580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1088136" y="2971800"/>
            <a:ext cx="2176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건당·인당 값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1088136" y="3182112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건수·인원을 기준으로 원단위 계산</a:t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건수 ÷ 인원</a:t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566928" y="3547872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566928" y="3547872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685800" y="368503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78" name="Google Shape;478;p25"/>
          <p:cNvSpPr txBox="1"/>
          <p:nvPr/>
        </p:nvSpPr>
        <p:spPr>
          <a:xfrm>
            <a:off x="1088136" y="3621024"/>
            <a:ext cx="2176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증감액·증감률</a:t>
            </a:r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1088136" y="3831335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전년과 당해 값을 비교해 변화 계산</a:t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(당해-전년)÷전년</a:t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3675887" y="1828800"/>
            <a:ext cx="4937760" cy="2432304"/>
          </a:xfrm>
          <a:prstGeom prst="roundRect">
            <a:avLst>
              <a:gd fmla="val 16667" name="adj"/>
            </a:avLst>
          </a:prstGeom>
          <a:solidFill>
            <a:srgbClr val="FAFBFC"/>
          </a:solidFill>
          <a:ln cap="flat" cmpd="sng" w="12700">
            <a:solidFill>
              <a:srgbClr val="CA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3" name="Google Shape;483;p25"/>
          <p:cNvSpPr txBox="1"/>
          <p:nvPr/>
        </p:nvSpPr>
        <p:spPr>
          <a:xfrm>
            <a:off x="5916168" y="26517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84" name="Google Shape;484;p25"/>
          <p:cNvSpPr txBox="1"/>
          <p:nvPr/>
        </p:nvSpPr>
        <p:spPr>
          <a:xfrm>
            <a:off x="3904487" y="3090672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 예시 이미지 삽입</a:t>
            </a:r>
            <a:endParaRPr/>
          </a:p>
        </p:txBody>
      </p:sp>
      <p:sp>
        <p:nvSpPr>
          <p:cNvPr id="485" name="Google Shape;485;p25"/>
          <p:cNvSpPr txBox="1"/>
          <p:nvPr/>
        </p:nvSpPr>
        <p:spPr>
          <a:xfrm>
            <a:off x="3904487" y="3383280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비율 또는 증감 산식 오류가 보이는 화면 권장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6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오탈자·번역 검수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텍스트를 바로 LLM에 보내지 않고, 후보를 줄인 뒤 남은 항목만 검토합니다.</a:t>
            </a:r>
            <a:endParaRPr/>
          </a:p>
        </p:txBody>
      </p:sp>
      <p:pic>
        <p:nvPicPr>
          <p:cNvPr descr="image.png" id="492" name="Google Shape;4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6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4" name="Google Shape;494;p26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용어와 반복 표현을 먼저, LLM은 마지막에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/>
          </a:p>
        </p:txBody>
      </p:sp>
      <p:sp>
        <p:nvSpPr>
          <p:cNvPr id="497" name="Google Shape;497;p26"/>
          <p:cNvSpPr/>
          <p:nvPr/>
        </p:nvSpPr>
        <p:spPr>
          <a:xfrm>
            <a:off x="658368" y="1810512"/>
            <a:ext cx="7845552" cy="420624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841248" y="1929384"/>
            <a:ext cx="932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후보 수집</a:t>
            </a:r>
            <a:endParaRPr/>
          </a:p>
        </p:txBody>
      </p:sp>
      <p:sp>
        <p:nvSpPr>
          <p:cNvPr id="499" name="Google Shape;499;p26"/>
          <p:cNvSpPr txBox="1"/>
          <p:nvPr/>
        </p:nvSpPr>
        <p:spPr>
          <a:xfrm>
            <a:off x="1883664" y="1920240"/>
            <a:ext cx="6263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제목 · 헤더 · 한글/영문 셀에서 검수할 문구를 수집</a:t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4407408" y="2295144"/>
            <a:ext cx="292608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1639068" y="2606034"/>
            <a:ext cx="2286000" cy="9327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1639068" y="2606034"/>
            <a:ext cx="41100" cy="9327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26"/>
          <p:cNvSpPr txBox="1"/>
          <p:nvPr/>
        </p:nvSpPr>
        <p:spPr>
          <a:xfrm>
            <a:off x="1794516" y="2734050"/>
            <a:ext cx="1975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용어·번역 DB</a:t>
            </a:r>
            <a:endParaRPr/>
          </a:p>
        </p:txBody>
      </p:sp>
      <p:sp>
        <p:nvSpPr>
          <p:cNvPr id="504" name="Google Shape;504;p26"/>
          <p:cNvSpPr txBox="1"/>
          <p:nvPr/>
        </p:nvSpPr>
        <p:spPr>
          <a:xfrm>
            <a:off x="1803659" y="3044946"/>
            <a:ext cx="195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기관명  행정안전부</a:t>
            </a:r>
            <a:br>
              <a:rPr b="0" i="0" lang="en-US" sz="81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1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지역명  세종특별자치시·연기면</a:t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>
            <a:off x="5132885" y="2606034"/>
            <a:ext cx="2286000" cy="9327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5132885" y="2606034"/>
            <a:ext cx="41100" cy="9327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26"/>
          <p:cNvSpPr txBox="1"/>
          <p:nvPr/>
        </p:nvSpPr>
        <p:spPr>
          <a:xfrm>
            <a:off x="5288333" y="2734050"/>
            <a:ext cx="1975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표현 DB</a:t>
            </a:r>
            <a:endParaRPr/>
          </a:p>
        </p:txBody>
      </p:sp>
      <p:sp>
        <p:nvSpPr>
          <p:cNvPr id="508" name="Google Shape;508;p26"/>
          <p:cNvSpPr txBox="1"/>
          <p:nvPr/>
        </p:nvSpPr>
        <p:spPr>
          <a:xfrm>
            <a:off x="5297477" y="3044946"/>
            <a:ext cx="195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 · 합계 · 소계</a:t>
            </a:r>
            <a:br>
              <a:rPr b="0" i="0" lang="en-US" sz="81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1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전체에서 자주 쓰는 표현</a:t>
            </a: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4343400" y="3630168"/>
            <a:ext cx="25603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2487168" y="3913632"/>
            <a:ext cx="4169663" cy="420624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2761488" y="4023360"/>
            <a:ext cx="36210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후보만 LLM </a:t>
            </a:r>
            <a:r>
              <a:rPr b="1" lang="en-US" sz="1100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</a:t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3355623" y="4471419"/>
            <a:ext cx="1124700" cy="246900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3355623" y="4471419"/>
            <a:ext cx="1124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토큰 사용량 감소</a:t>
            </a:r>
            <a:endParaRPr/>
          </a:p>
        </p:txBody>
      </p:sp>
      <p:sp>
        <p:nvSpPr>
          <p:cNvPr id="514" name="Google Shape;514;p26"/>
          <p:cNvSpPr/>
          <p:nvPr/>
        </p:nvSpPr>
        <p:spPr>
          <a:xfrm>
            <a:off x="4658287" y="4471419"/>
            <a:ext cx="1124700" cy="24690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5" name="Google Shape;515;p26"/>
          <p:cNvSpPr txBox="1"/>
          <p:nvPr/>
        </p:nvSpPr>
        <p:spPr>
          <a:xfrm>
            <a:off x="4658287" y="4471419"/>
            <a:ext cx="1124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표현 일관성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7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메타데이터·이상치 검수</a:t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정보의 누락과 통계적으로 차이가 큰 값을 ‘확인 필요’로 제시합니다.</a:t>
            </a:r>
            <a:endParaRPr/>
          </a:p>
        </p:txBody>
      </p:sp>
      <p:pic>
        <p:nvPicPr>
          <p:cNvPr descr="image.png" id="522" name="Google Shape;5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7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빠진 표 정보와 눈에 띄는 수치를 확인</a:t>
            </a:r>
            <a:endParaRPr/>
          </a:p>
        </p:txBody>
      </p:sp>
      <p:sp>
        <p:nvSpPr>
          <p:cNvPr id="525" name="Google Shape;525;p27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526" name="Google Shape;526;p27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p27"/>
          <p:cNvSpPr txBox="1"/>
          <p:nvPr/>
        </p:nvSpPr>
        <p:spPr>
          <a:xfrm>
            <a:off x="640080" y="1865376"/>
            <a:ext cx="36118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검수</a:t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566928" y="2304288"/>
            <a:ext cx="3621024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566928" y="2304288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1" name="Google Shape;531;p27"/>
          <p:cNvSpPr txBox="1"/>
          <p:nvPr/>
        </p:nvSpPr>
        <p:spPr>
          <a:xfrm>
            <a:off x="685800" y="244144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1088136" y="2377440"/>
            <a:ext cx="2962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1088136" y="2587752"/>
            <a:ext cx="29626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여부 + 기존 기준 단위와 일치</a:t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566928" y="2862072"/>
            <a:ext cx="3621024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566928" y="286207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6" name="Google Shape;536;p27"/>
          <p:cNvSpPr txBox="1"/>
          <p:nvPr/>
        </p:nvSpPr>
        <p:spPr>
          <a:xfrm>
            <a:off x="685800" y="299923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1088136" y="2935224"/>
            <a:ext cx="2962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1088136" y="3145536"/>
            <a:ext cx="29626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566928" y="3419856"/>
            <a:ext cx="3621024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566928" y="341985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1" name="Google Shape;541;p27"/>
          <p:cNvSpPr txBox="1"/>
          <p:nvPr/>
        </p:nvSpPr>
        <p:spPr>
          <a:xfrm>
            <a:off x="685800" y="355701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542" name="Google Shape;542;p27"/>
          <p:cNvSpPr txBox="1"/>
          <p:nvPr/>
        </p:nvSpPr>
        <p:spPr>
          <a:xfrm>
            <a:off x="1088136" y="3493008"/>
            <a:ext cx="2962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endParaRPr/>
          </a:p>
        </p:txBody>
      </p:sp>
      <p:sp>
        <p:nvSpPr>
          <p:cNvPr id="543" name="Google Shape;543;p27"/>
          <p:cNvSpPr txBox="1"/>
          <p:nvPr/>
        </p:nvSpPr>
        <p:spPr>
          <a:xfrm>
            <a:off x="1088136" y="3703320"/>
            <a:ext cx="29626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4617720" y="1828800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4754880" y="1865376"/>
            <a:ext cx="38404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 검수</a:t>
            </a:r>
            <a:endParaRPr/>
          </a:p>
        </p:txBody>
      </p:sp>
      <p:sp>
        <p:nvSpPr>
          <p:cNvPr id="546" name="Google Shape;546;p27"/>
          <p:cNvSpPr txBox="1"/>
          <p:nvPr/>
        </p:nvSpPr>
        <p:spPr>
          <a:xfrm>
            <a:off x="4800600" y="2221992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숫자 열에서 값이 크게 벗어난 후보</a:t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4974336" y="2953512"/>
            <a:ext cx="3273552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5102352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9" name="Google Shape;549;p27"/>
          <p:cNvSpPr txBox="1"/>
          <p:nvPr/>
        </p:nvSpPr>
        <p:spPr>
          <a:xfrm>
            <a:off x="5029200" y="3118104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5669280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1" name="Google Shape;551;p27"/>
          <p:cNvSpPr txBox="1"/>
          <p:nvPr/>
        </p:nvSpPr>
        <p:spPr>
          <a:xfrm>
            <a:off x="5596128" y="3118104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6236208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p27"/>
          <p:cNvSpPr txBox="1"/>
          <p:nvPr/>
        </p:nvSpPr>
        <p:spPr>
          <a:xfrm>
            <a:off x="6163056" y="3118104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6803136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5" name="Google Shape;555;p27"/>
          <p:cNvSpPr txBox="1"/>
          <p:nvPr/>
        </p:nvSpPr>
        <p:spPr>
          <a:xfrm>
            <a:off x="6729984" y="3118104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818120" y="2596896"/>
            <a:ext cx="182880" cy="182880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7744968" y="3118104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7479792" y="2331720"/>
            <a:ext cx="841248" cy="256032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27"/>
          <p:cNvSpPr txBox="1"/>
          <p:nvPr/>
        </p:nvSpPr>
        <p:spPr>
          <a:xfrm>
            <a:off x="7479792" y="233172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8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</a:t>
            </a:r>
            <a:endParaRPr/>
          </a:p>
        </p:txBody>
      </p:sp>
      <p:sp>
        <p:nvSpPr>
          <p:cNvPr id="565" name="Google Shape;565;p28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권한을 확인한 뒤 내용을 고치고, 변경 범위에 맞춰 다시 검수합니다.</a:t>
            </a:r>
            <a:endParaRPr/>
          </a:p>
        </p:txBody>
      </p:sp>
      <p:pic>
        <p:nvPicPr>
          <p:cNvPr descr="image.png" id="566" name="Google Shape;5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8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8" name="Google Shape;568;p28"/>
          <p:cNvSpPr txBox="1"/>
          <p:nvPr/>
        </p:nvSpPr>
        <p:spPr>
          <a:xfrm>
            <a:off x="457200" y="1316736"/>
            <a:ext cx="8138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수정은 보호하고, </a:t>
            </a:r>
            <a:r>
              <a:rPr lang="en-US" sz="120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변경된 표만 재검수</a:t>
            </a:r>
            <a:endParaRPr/>
          </a:p>
        </p:txBody>
      </p:sp>
      <p:sp>
        <p:nvSpPr>
          <p:cNvPr id="569" name="Google Shape;569;p28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570" name="Google Shape;570;p28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/>
          </a:p>
        </p:txBody>
      </p:sp>
      <p:sp>
        <p:nvSpPr>
          <p:cNvPr id="571" name="Google Shape;571;p28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2" name="Google Shape;572;p28"/>
          <p:cNvSpPr txBox="1"/>
          <p:nvPr/>
        </p:nvSpPr>
        <p:spPr>
          <a:xfrm>
            <a:off x="640080" y="1865376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보호</a:t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>
            <a:off x="566928" y="2322576"/>
            <a:ext cx="1033271" cy="7680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4" name="Google Shape;574;p28"/>
          <p:cNvSpPr txBox="1"/>
          <p:nvPr/>
        </p:nvSpPr>
        <p:spPr>
          <a:xfrm>
            <a:off x="658368" y="2450592"/>
            <a:ext cx="850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비밀번호 확인</a:t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658368" y="2734056"/>
            <a:ext cx="850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 확인</a:t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1645919" y="2542032"/>
            <a:ext cx="16459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1819656" y="2322576"/>
            <a:ext cx="1033271" cy="7680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1911096" y="2450592"/>
            <a:ext cx="850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편집 화면</a:t>
            </a:r>
            <a:endParaRPr/>
          </a:p>
        </p:txBody>
      </p:sp>
      <p:sp>
        <p:nvSpPr>
          <p:cNvPr id="579" name="Google Shape;579;p28"/>
          <p:cNvSpPr txBox="1"/>
          <p:nvPr/>
        </p:nvSpPr>
        <p:spPr>
          <a:xfrm>
            <a:off x="1911096" y="2734056"/>
            <a:ext cx="850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값·행/열 수정</a:t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2898648" y="2542032"/>
            <a:ext cx="16459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3072384" y="2322576"/>
            <a:ext cx="1033271" cy="76809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8"/>
          <p:cNvSpPr txBox="1"/>
          <p:nvPr/>
        </p:nvSpPr>
        <p:spPr>
          <a:xfrm>
            <a:off x="3163824" y="2450592"/>
            <a:ext cx="850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저장</a:t>
            </a:r>
            <a:endParaRPr/>
          </a:p>
        </p:txBody>
      </p:sp>
      <p:sp>
        <p:nvSpPr>
          <p:cNvPr id="583" name="Google Shape;583;p28"/>
          <p:cNvSpPr txBox="1"/>
          <p:nvPr/>
        </p:nvSpPr>
        <p:spPr>
          <a:xfrm>
            <a:off x="3163824" y="2734056"/>
            <a:ext cx="850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내용 반영</a:t>
            </a:r>
            <a:endParaRPr/>
          </a:p>
        </p:txBody>
      </p:sp>
      <p:sp>
        <p:nvSpPr>
          <p:cNvPr id="584" name="Google Shape;584;p28"/>
          <p:cNvSpPr txBox="1"/>
          <p:nvPr/>
        </p:nvSpPr>
        <p:spPr>
          <a:xfrm>
            <a:off x="758952" y="3264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저장 즉시 검수 자동 실행 X  ·  담당자가 재검수 실행</a:t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4599432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6" name="Google Shape;586;p28"/>
          <p:cNvSpPr txBox="1"/>
          <p:nvPr/>
        </p:nvSpPr>
        <p:spPr>
          <a:xfrm>
            <a:off x="4736592" y="1865376"/>
            <a:ext cx="38404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재검수 원칙</a:t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4681728" y="2276856"/>
            <a:ext cx="3730752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4681728" y="227685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4800600" y="241401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90" name="Google Shape;590;p28"/>
          <p:cNvSpPr txBox="1"/>
          <p:nvPr/>
        </p:nvSpPr>
        <p:spPr>
          <a:xfrm>
            <a:off x="5202936" y="2350008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값 변경</a:t>
            </a:r>
            <a:endParaRPr/>
          </a:p>
        </p:txBody>
      </p:sp>
      <p:sp>
        <p:nvSpPr>
          <p:cNvPr id="591" name="Google Shape;591;p28"/>
          <p:cNvSpPr txBox="1"/>
          <p:nvPr/>
        </p:nvSpPr>
        <p:spPr>
          <a:xfrm>
            <a:off x="5202936" y="2560320"/>
            <a:ext cx="30723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계산 기준으로 현재 값 재검수</a:t>
            </a:r>
            <a:endParaRPr/>
          </a:p>
        </p:txBody>
      </p:sp>
      <p:sp>
        <p:nvSpPr>
          <p:cNvPr id="592" name="Google Shape;592;p28"/>
          <p:cNvSpPr/>
          <p:nvPr/>
        </p:nvSpPr>
        <p:spPr>
          <a:xfrm>
            <a:off x="4681728" y="2825496"/>
            <a:ext cx="3730752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4681728" y="282549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4" name="Google Shape;594;p28"/>
          <p:cNvSpPr txBox="1"/>
          <p:nvPr/>
        </p:nvSpPr>
        <p:spPr>
          <a:xfrm>
            <a:off x="4800600" y="296265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95" name="Google Shape;595;p28"/>
          <p:cNvSpPr txBox="1"/>
          <p:nvPr/>
        </p:nvSpPr>
        <p:spPr>
          <a:xfrm>
            <a:off x="5202936" y="2898648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 변경</a:t>
            </a:r>
            <a:endParaRPr/>
          </a:p>
        </p:txBody>
      </p:sp>
      <p:sp>
        <p:nvSpPr>
          <p:cNvPr id="596" name="Google Shape;596;p28"/>
          <p:cNvSpPr txBox="1"/>
          <p:nvPr/>
        </p:nvSpPr>
        <p:spPr>
          <a:xfrm>
            <a:off x="5202936" y="3108960"/>
            <a:ext cx="30723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표 구조에 맞춰 기준 재생성</a:t>
            </a:r>
            <a:endParaRPr/>
          </a:p>
        </p:txBody>
      </p:sp>
      <p:sp>
        <p:nvSpPr>
          <p:cNvPr id="597" name="Google Shape;597;p28"/>
          <p:cNvSpPr/>
          <p:nvPr/>
        </p:nvSpPr>
        <p:spPr>
          <a:xfrm>
            <a:off x="4681728" y="3374136"/>
            <a:ext cx="3730752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4681728" y="337413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4800600" y="351129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600" name="Google Shape;600;p28"/>
          <p:cNvSpPr txBox="1"/>
          <p:nvPr/>
        </p:nvSpPr>
        <p:spPr>
          <a:xfrm>
            <a:off x="5202936" y="3447288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없음</a:t>
            </a:r>
            <a:endParaRPr/>
          </a:p>
        </p:txBody>
      </p:sp>
      <p:sp>
        <p:nvSpPr>
          <p:cNvPr id="601" name="Google Shape;601;p28"/>
          <p:cNvSpPr txBox="1"/>
          <p:nvPr/>
        </p:nvSpPr>
        <p:spPr>
          <a:xfrm>
            <a:off x="5202936" y="3657600"/>
            <a:ext cx="30723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검수 결과 재사용</a:t>
            </a:r>
            <a:endParaRPr/>
          </a:p>
        </p:txBody>
      </p:sp>
      <p:sp>
        <p:nvSpPr>
          <p:cNvPr id="602" name="Google Shape;602;p28"/>
          <p:cNvSpPr/>
          <p:nvPr/>
        </p:nvSpPr>
        <p:spPr>
          <a:xfrm>
            <a:off x="502920" y="3858768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3" name="Google Shape;603;p28"/>
          <p:cNvSpPr txBox="1"/>
          <p:nvPr/>
        </p:nvSpPr>
        <p:spPr>
          <a:xfrm>
            <a:off x="640080" y="3895344"/>
            <a:ext cx="7909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후 재검수 흐름</a:t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658368" y="4233672"/>
            <a:ext cx="1481328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768096" y="433425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저장</a:t>
            </a:r>
            <a:endParaRPr/>
          </a:p>
        </p:txBody>
      </p:sp>
      <p:sp>
        <p:nvSpPr>
          <p:cNvPr id="606" name="Google Shape;606;p28"/>
          <p:cNvSpPr/>
          <p:nvPr/>
        </p:nvSpPr>
        <p:spPr>
          <a:xfrm>
            <a:off x="2231136" y="4288536"/>
            <a:ext cx="25603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2670048" y="4233672"/>
            <a:ext cx="1481328" cy="365760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8" name="Google Shape;608;p28"/>
          <p:cNvSpPr txBox="1"/>
          <p:nvPr/>
        </p:nvSpPr>
        <p:spPr>
          <a:xfrm>
            <a:off x="2779776" y="433425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재검수 필요</a:t>
            </a:r>
            <a:endParaRPr/>
          </a:p>
        </p:txBody>
      </p:sp>
      <p:sp>
        <p:nvSpPr>
          <p:cNvPr id="609" name="Google Shape;609;p28"/>
          <p:cNvSpPr/>
          <p:nvPr/>
        </p:nvSpPr>
        <p:spPr>
          <a:xfrm>
            <a:off x="4242816" y="4288536"/>
            <a:ext cx="25603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4681728" y="4233672"/>
            <a:ext cx="1481328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1" name="Google Shape;611;p28"/>
          <p:cNvSpPr txBox="1"/>
          <p:nvPr/>
        </p:nvSpPr>
        <p:spPr>
          <a:xfrm>
            <a:off x="4791456" y="433425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재검수 실행</a:t>
            </a:r>
            <a:endParaRPr/>
          </a:p>
        </p:txBody>
      </p:sp>
      <p:sp>
        <p:nvSpPr>
          <p:cNvPr id="612" name="Google Shape;612;p28"/>
          <p:cNvSpPr/>
          <p:nvPr/>
        </p:nvSpPr>
        <p:spPr>
          <a:xfrm>
            <a:off x="6254496" y="4288536"/>
            <a:ext cx="25603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6693408" y="4233672"/>
            <a:ext cx="1481328" cy="36576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4" name="Google Shape;614;p28"/>
          <p:cNvSpPr txBox="1"/>
          <p:nvPr/>
        </p:nvSpPr>
        <p:spPr>
          <a:xfrm>
            <a:off x="6803136" y="433425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새 결과 갱신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9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 활용</a:t>
            </a:r>
            <a:endParaRPr/>
          </a:p>
        </p:txBody>
      </p:sp>
      <p:sp>
        <p:nvSpPr>
          <p:cNvPr id="620" name="Google Shape;620;p29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통계표와 검수 결과를 업무 목적에 맞춰 내려받습니다.</a:t>
            </a:r>
            <a:endParaRPr/>
          </a:p>
        </p:txBody>
      </p:sp>
      <p:pic>
        <p:nvPicPr>
          <p:cNvPr descr="image.png" id="621" name="Google Shape;6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9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3" name="Google Shape;623;p29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표와 검수 리포트로 결과 공유</a:t>
            </a:r>
            <a:endParaRPr/>
          </a:p>
        </p:txBody>
      </p:sp>
      <p:sp>
        <p:nvSpPr>
          <p:cNvPr id="624" name="Google Shape;624;p29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625" name="Google Shape;625;p29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/>
          </a:p>
        </p:txBody>
      </p:sp>
      <p:sp>
        <p:nvSpPr>
          <p:cNvPr id="626" name="Google Shape;626;p29"/>
          <p:cNvSpPr/>
          <p:nvPr/>
        </p:nvSpPr>
        <p:spPr>
          <a:xfrm>
            <a:off x="594360" y="1856231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7" name="Google Shape;627;p29"/>
          <p:cNvSpPr txBox="1"/>
          <p:nvPr/>
        </p:nvSpPr>
        <p:spPr>
          <a:xfrm>
            <a:off x="731520" y="1892807"/>
            <a:ext cx="37490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01  표</a:t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758952" y="226771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통계표를 검토·공유</a:t>
            </a:r>
            <a:endParaRPr/>
          </a:p>
        </p:txBody>
      </p:sp>
      <p:sp>
        <p:nvSpPr>
          <p:cNvPr id="629" name="Google Shape;629;p29"/>
          <p:cNvSpPr/>
          <p:nvPr/>
        </p:nvSpPr>
        <p:spPr>
          <a:xfrm>
            <a:off x="758952" y="2615184"/>
            <a:ext cx="3529584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813816" y="2907792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1" name="Google Shape;631;p29"/>
          <p:cNvSpPr txBox="1"/>
          <p:nvPr/>
        </p:nvSpPr>
        <p:spPr>
          <a:xfrm>
            <a:off x="1033271" y="2889504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통계표와 하위 표</a:t>
            </a:r>
            <a:endParaRPr/>
          </a:p>
        </p:txBody>
      </p:sp>
      <p:sp>
        <p:nvSpPr>
          <p:cNvPr id="632" name="Google Shape;632;p29"/>
          <p:cNvSpPr/>
          <p:nvPr/>
        </p:nvSpPr>
        <p:spPr>
          <a:xfrm>
            <a:off x="813816" y="3337560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1033271" y="3319272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한글·영문 헤더와 셀 내용</a:t>
            </a:r>
            <a:endParaRPr/>
          </a:p>
        </p:txBody>
      </p:sp>
      <p:sp>
        <p:nvSpPr>
          <p:cNvPr id="634" name="Google Shape;634;p29"/>
          <p:cNvSpPr/>
          <p:nvPr/>
        </p:nvSpPr>
        <p:spPr>
          <a:xfrm>
            <a:off x="813816" y="3767327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5" name="Google Shape;635;p29"/>
          <p:cNvSpPr txBox="1"/>
          <p:nvPr/>
        </p:nvSpPr>
        <p:spPr>
          <a:xfrm>
            <a:off x="1033271" y="3749039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등 표 정보</a:t>
            </a:r>
            <a:endParaRPr/>
          </a:p>
        </p:txBody>
      </p:sp>
      <p:sp>
        <p:nvSpPr>
          <p:cNvPr id="636" name="Google Shape;636;p29"/>
          <p:cNvSpPr/>
          <p:nvPr/>
        </p:nvSpPr>
        <p:spPr>
          <a:xfrm>
            <a:off x="813816" y="4197096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7" name="Google Shape;637;p29"/>
          <p:cNvSpPr txBox="1"/>
          <p:nvPr/>
        </p:nvSpPr>
        <p:spPr>
          <a:xfrm>
            <a:off x="1033271" y="4178808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수정·검토용 자료</a:t>
            </a:r>
            <a:endParaRPr/>
          </a:p>
        </p:txBody>
      </p:sp>
      <p:sp>
        <p:nvSpPr>
          <p:cNvPr id="638" name="Google Shape;638;p29"/>
          <p:cNvSpPr/>
          <p:nvPr/>
        </p:nvSpPr>
        <p:spPr>
          <a:xfrm>
            <a:off x="4663440" y="1856231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9" name="Google Shape;639;p29"/>
          <p:cNvSpPr txBox="1"/>
          <p:nvPr/>
        </p:nvSpPr>
        <p:spPr>
          <a:xfrm>
            <a:off x="4800600" y="1892807"/>
            <a:ext cx="37490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02  검수 리포트</a:t>
            </a:r>
            <a:endParaRPr/>
          </a:p>
        </p:txBody>
      </p:sp>
      <p:sp>
        <p:nvSpPr>
          <p:cNvPr id="640" name="Google Shape;640;p29"/>
          <p:cNvSpPr txBox="1"/>
          <p:nvPr/>
        </p:nvSpPr>
        <p:spPr>
          <a:xfrm>
            <a:off x="4828031" y="226771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확인 내역과 판정 근거 보고</a:t>
            </a:r>
            <a:endParaRPr/>
          </a:p>
        </p:txBody>
      </p:sp>
      <p:sp>
        <p:nvSpPr>
          <p:cNvPr id="641" name="Google Shape;641;p29"/>
          <p:cNvSpPr/>
          <p:nvPr/>
        </p:nvSpPr>
        <p:spPr>
          <a:xfrm>
            <a:off x="4828031" y="2615184"/>
            <a:ext cx="3529584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4882896" y="2907792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3" name="Google Shape;643;p29"/>
          <p:cNvSpPr txBox="1"/>
          <p:nvPr/>
        </p:nvSpPr>
        <p:spPr>
          <a:xfrm>
            <a:off x="5102352" y="2889504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의심·확인 필요 항목</a:t>
            </a:r>
            <a:endParaRPr/>
          </a:p>
        </p:txBody>
      </p:sp>
      <p:sp>
        <p:nvSpPr>
          <p:cNvPr id="644" name="Google Shape;644;p29"/>
          <p:cNvSpPr/>
          <p:nvPr/>
        </p:nvSpPr>
        <p:spPr>
          <a:xfrm>
            <a:off x="4882896" y="3337560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5" name="Google Shape;645;p29"/>
          <p:cNvSpPr txBox="1"/>
          <p:nvPr/>
        </p:nvSpPr>
        <p:spPr>
          <a:xfrm>
            <a:off x="5102352" y="3319272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 셀 위치</a:t>
            </a:r>
            <a:endParaRPr/>
          </a:p>
        </p:txBody>
      </p:sp>
      <p:sp>
        <p:nvSpPr>
          <p:cNvPr id="646" name="Google Shape;646;p29"/>
          <p:cNvSpPr/>
          <p:nvPr/>
        </p:nvSpPr>
        <p:spPr>
          <a:xfrm>
            <a:off x="4882896" y="3767327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7" name="Google Shape;647;p29"/>
          <p:cNvSpPr txBox="1"/>
          <p:nvPr/>
        </p:nvSpPr>
        <p:spPr>
          <a:xfrm>
            <a:off x="5102352" y="3749039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현재값·재계산값·판정 사유</a:t>
            </a:r>
            <a:endParaRPr/>
          </a:p>
        </p:txBody>
      </p:sp>
      <p:sp>
        <p:nvSpPr>
          <p:cNvPr id="648" name="Google Shape;648;p29"/>
          <p:cNvSpPr/>
          <p:nvPr/>
        </p:nvSpPr>
        <p:spPr>
          <a:xfrm>
            <a:off x="4882896" y="4197096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9" name="Google Shape;649;p29"/>
          <p:cNvSpPr txBox="1"/>
          <p:nvPr/>
        </p:nvSpPr>
        <p:spPr>
          <a:xfrm>
            <a:off x="5102352" y="4178808"/>
            <a:ext cx="30449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 확인 결과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</a:t>
            </a:r>
            <a:endParaRPr/>
          </a:p>
        </p:txBody>
      </p:sp>
      <p:sp>
        <p:nvSpPr>
          <p:cNvPr id="655" name="Google Shape;655;p30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담당자·통계 담당자·검수 진행자가 같은 화면과 기준으로 협업합니다.</a:t>
            </a:r>
            <a:endParaRPr/>
          </a:p>
        </p:txBody>
      </p:sp>
      <p:pic>
        <p:nvPicPr>
          <p:cNvPr descr="image.png" id="656" name="Google Shape;65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0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8" name="Google Shape;658;p30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부담은 줄이고, 검수 효율은 높이고</a:t>
            </a:r>
            <a:endParaRPr/>
          </a:p>
        </p:txBody>
      </p:sp>
      <p:sp>
        <p:nvSpPr>
          <p:cNvPr id="659" name="Google Shape;659;p30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  <a:endParaRPr/>
          </a:p>
        </p:txBody>
      </p:sp>
      <p:sp>
        <p:nvSpPr>
          <p:cNvPr id="661" name="Google Shape;661;p30"/>
          <p:cNvSpPr txBox="1"/>
          <p:nvPr/>
        </p:nvSpPr>
        <p:spPr>
          <a:xfrm>
            <a:off x="594360" y="2404872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담당자</a:t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594360" y="2688336"/>
            <a:ext cx="2414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진행 상황 관리</a:t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758952" y="2980944"/>
            <a:ext cx="2084831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4" name="Google Shape;664;p30"/>
          <p:cNvSpPr txBox="1"/>
          <p:nvPr/>
        </p:nvSpPr>
        <p:spPr>
          <a:xfrm>
            <a:off x="740664" y="3209544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연보별 검수 상태 한눈에 확인</a:t>
            </a:r>
            <a:endParaRPr/>
          </a:p>
        </p:txBody>
      </p:sp>
      <p:sp>
        <p:nvSpPr>
          <p:cNvPr id="665" name="Google Shape;665;p30"/>
          <p:cNvSpPr txBox="1"/>
          <p:nvPr/>
        </p:nvSpPr>
        <p:spPr>
          <a:xfrm>
            <a:off x="740664" y="3575303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오류 통계와 수정 현황 공유</a:t>
            </a:r>
            <a:endParaRPr/>
          </a:p>
        </p:txBody>
      </p:sp>
      <p:sp>
        <p:nvSpPr>
          <p:cNvPr id="666" name="Google Shape;666;p30"/>
          <p:cNvSpPr txBox="1"/>
          <p:nvPr/>
        </p:nvSpPr>
        <p:spPr>
          <a:xfrm>
            <a:off x="740664" y="3941063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발간 전 최종 결과 정리</a:t>
            </a:r>
            <a:endParaRPr/>
          </a:p>
        </p:txBody>
      </p:sp>
      <p:sp>
        <p:nvSpPr>
          <p:cNvPr id="667" name="Google Shape;667;p30"/>
          <p:cNvSpPr txBox="1"/>
          <p:nvPr/>
        </p:nvSpPr>
        <p:spPr>
          <a:xfrm>
            <a:off x="3364992" y="2404872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각 통계 담당자</a:t>
            </a:r>
            <a:endParaRPr/>
          </a:p>
        </p:txBody>
      </p:sp>
      <p:sp>
        <p:nvSpPr>
          <p:cNvPr id="668" name="Google Shape;668;p30"/>
          <p:cNvSpPr txBox="1"/>
          <p:nvPr/>
        </p:nvSpPr>
        <p:spPr>
          <a:xfrm>
            <a:off x="3364992" y="2688336"/>
            <a:ext cx="2414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내 통계의 문제를 바로 수정</a:t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3529584" y="2980944"/>
            <a:ext cx="2084831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0" name="Google Shape;670;p30"/>
          <p:cNvSpPr txBox="1"/>
          <p:nvPr/>
        </p:nvSpPr>
        <p:spPr>
          <a:xfrm>
            <a:off x="3511296" y="3209544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문제 셀과 근거를 빠르게 확인</a:t>
            </a:r>
            <a:endParaRPr/>
          </a:p>
        </p:txBody>
      </p:sp>
      <p:sp>
        <p:nvSpPr>
          <p:cNvPr id="671" name="Google Shape;671;p30"/>
          <p:cNvSpPr txBox="1"/>
          <p:nvPr/>
        </p:nvSpPr>
        <p:spPr>
          <a:xfrm>
            <a:off x="3511296" y="3575303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화면에서 직접 수정·저장</a:t>
            </a:r>
            <a:endParaRPr/>
          </a:p>
        </p:txBody>
      </p:sp>
      <p:sp>
        <p:nvSpPr>
          <p:cNvPr id="672" name="Google Shape;672;p30"/>
          <p:cNvSpPr txBox="1"/>
          <p:nvPr/>
        </p:nvSpPr>
        <p:spPr>
          <a:xfrm>
            <a:off x="3511296" y="3941063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변경된 표 중심으로 재검수</a:t>
            </a:r>
            <a:endParaRPr/>
          </a:p>
        </p:txBody>
      </p:sp>
      <p:sp>
        <p:nvSpPr>
          <p:cNvPr id="673" name="Google Shape;673;p30"/>
          <p:cNvSpPr txBox="1"/>
          <p:nvPr/>
        </p:nvSpPr>
        <p:spPr>
          <a:xfrm>
            <a:off x="6144768" y="2404872"/>
            <a:ext cx="2414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진행자</a:t>
            </a:r>
            <a:endParaRPr/>
          </a:p>
        </p:txBody>
      </p:sp>
      <p:sp>
        <p:nvSpPr>
          <p:cNvPr id="674" name="Google Shape;674;p30"/>
          <p:cNvSpPr txBox="1"/>
          <p:nvPr/>
        </p:nvSpPr>
        <p:spPr>
          <a:xfrm>
            <a:off x="6144768" y="2688336"/>
            <a:ext cx="2414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 대신 판단에 집중</a:t>
            </a:r>
            <a:endParaRPr/>
          </a:p>
        </p:txBody>
      </p:sp>
      <p:sp>
        <p:nvSpPr>
          <p:cNvPr id="675" name="Google Shape;675;p30"/>
          <p:cNvSpPr/>
          <p:nvPr/>
        </p:nvSpPr>
        <p:spPr>
          <a:xfrm>
            <a:off x="6309359" y="2980944"/>
            <a:ext cx="2084831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6" name="Google Shape;676;p30"/>
          <p:cNvSpPr txBox="1"/>
          <p:nvPr/>
        </p:nvSpPr>
        <p:spPr>
          <a:xfrm>
            <a:off x="6291072" y="3209544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합계·비율 자동 재계산</a:t>
            </a:r>
            <a:endParaRPr/>
          </a:p>
        </p:txBody>
      </p:sp>
      <p:sp>
        <p:nvSpPr>
          <p:cNvPr id="677" name="Google Shape;677;p30"/>
          <p:cNvSpPr txBox="1"/>
          <p:nvPr/>
        </p:nvSpPr>
        <p:spPr>
          <a:xfrm>
            <a:off x="6291072" y="3575303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확인 우선순위와 근거 제시</a:t>
            </a:r>
            <a:endParaRPr/>
          </a:p>
        </p:txBody>
      </p:sp>
      <p:sp>
        <p:nvSpPr>
          <p:cNvPr id="678" name="Google Shape;678;p30"/>
          <p:cNvSpPr txBox="1"/>
          <p:nvPr/>
        </p:nvSpPr>
        <p:spPr>
          <a:xfrm>
            <a:off x="6291072" y="3941063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검수 리포트로 결과 공유</a:t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804672" y="4352544"/>
            <a:ext cx="7534656" cy="31089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1078992" y="4434840"/>
            <a:ext cx="6986016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시간 단축  ·  오류 누락 위험 감소  ·  공유·수정·재검수 흐름 단순화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1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보완점</a:t>
            </a:r>
            <a:endParaRPr/>
          </a:p>
        </p:txBody>
      </p:sp>
      <p:sp>
        <p:nvSpPr>
          <p:cNvPr id="686" name="Google Shape;686;p31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운영을 위해 권한·이력·AI 환경을 단계적으로 보완해야 합니다.</a:t>
            </a:r>
            <a:endParaRPr/>
          </a:p>
        </p:txBody>
      </p:sp>
      <p:pic>
        <p:nvPicPr>
          <p:cNvPr descr="image.png" id="687" name="Google Shape;6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1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9" name="Google Shape;689;p31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운영을 위한 다음 과제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566928" y="1874519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704088" y="1911095"/>
            <a:ext cx="23500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01  권한·보안</a:t>
            </a:r>
            <a:endParaRPr/>
          </a:p>
        </p:txBody>
      </p:sp>
      <p:sp>
        <p:nvSpPr>
          <p:cNvPr id="694" name="Google Shape;694;p31"/>
          <p:cNvSpPr/>
          <p:nvPr/>
        </p:nvSpPr>
        <p:spPr>
          <a:xfrm>
            <a:off x="713232" y="2359152"/>
            <a:ext cx="2194560" cy="148132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5" name="Google Shape;695;p31"/>
          <p:cNvSpPr txBox="1"/>
          <p:nvPr/>
        </p:nvSpPr>
        <p:spPr>
          <a:xfrm>
            <a:off x="877824" y="263347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기관 계정과 통합 로그인</a:t>
            </a:r>
            <a:endParaRPr/>
          </a:p>
        </p:txBody>
      </p:sp>
      <p:sp>
        <p:nvSpPr>
          <p:cNvPr id="696" name="Google Shape;696;p31"/>
          <p:cNvSpPr txBox="1"/>
          <p:nvPr/>
        </p:nvSpPr>
        <p:spPr>
          <a:xfrm>
            <a:off x="877824" y="3017520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담당자별 역할·수정 권한</a:t>
            </a:r>
            <a:endParaRPr/>
          </a:p>
        </p:txBody>
      </p:sp>
      <p:sp>
        <p:nvSpPr>
          <p:cNvPr id="697" name="Google Shape;697;p31"/>
          <p:cNvSpPr txBox="1"/>
          <p:nvPr/>
        </p:nvSpPr>
        <p:spPr>
          <a:xfrm>
            <a:off x="877824" y="3401568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세션 만료·접속 제한</a:t>
            </a: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3328416" y="1874519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9" name="Google Shape;699;p31"/>
          <p:cNvSpPr txBox="1"/>
          <p:nvPr/>
        </p:nvSpPr>
        <p:spPr>
          <a:xfrm>
            <a:off x="3465576" y="1911095"/>
            <a:ext cx="23500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02  수정 이력 기록</a:t>
            </a:r>
            <a:endParaRPr/>
          </a:p>
        </p:txBody>
      </p:sp>
      <p:sp>
        <p:nvSpPr>
          <p:cNvPr id="700" name="Google Shape;700;p31"/>
          <p:cNvSpPr/>
          <p:nvPr/>
        </p:nvSpPr>
        <p:spPr>
          <a:xfrm>
            <a:off x="3474720" y="2359152"/>
            <a:ext cx="2194560" cy="148132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1" name="Google Shape;701;p31"/>
          <p:cNvSpPr txBox="1"/>
          <p:nvPr/>
        </p:nvSpPr>
        <p:spPr>
          <a:xfrm>
            <a:off x="3639312" y="263347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셀 단위 변경 전·후 기록</a:t>
            </a:r>
            <a:endParaRPr/>
          </a:p>
        </p:txBody>
      </p:sp>
      <p:sp>
        <p:nvSpPr>
          <p:cNvPr id="702" name="Google Shape;702;p31"/>
          <p:cNvSpPr txBox="1"/>
          <p:nvPr/>
        </p:nvSpPr>
        <p:spPr>
          <a:xfrm>
            <a:off x="3639312" y="3017520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수정자·시간·사유 확인</a:t>
            </a:r>
            <a:endParaRPr/>
          </a:p>
        </p:txBody>
      </p:sp>
      <p:sp>
        <p:nvSpPr>
          <p:cNvPr id="703" name="Google Shape;703;p31"/>
          <p:cNvSpPr txBox="1"/>
          <p:nvPr/>
        </p:nvSpPr>
        <p:spPr>
          <a:xfrm>
            <a:off x="3639312" y="3401568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되돌리기·변경 알림</a:t>
            </a:r>
            <a:endParaRPr/>
          </a:p>
        </p:txBody>
      </p:sp>
      <p:sp>
        <p:nvSpPr>
          <p:cNvPr id="704" name="Google Shape;704;p31"/>
          <p:cNvSpPr/>
          <p:nvPr/>
        </p:nvSpPr>
        <p:spPr>
          <a:xfrm>
            <a:off x="6089904" y="1874519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5" name="Google Shape;705;p31"/>
          <p:cNvSpPr txBox="1"/>
          <p:nvPr/>
        </p:nvSpPr>
        <p:spPr>
          <a:xfrm>
            <a:off x="6227064" y="1911095"/>
            <a:ext cx="23500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03  내부망·내부 LLM</a:t>
            </a: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6236208" y="2359152"/>
            <a:ext cx="2194560" cy="148132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7" name="Google Shape;707;p31"/>
          <p:cNvSpPr txBox="1"/>
          <p:nvPr/>
        </p:nvSpPr>
        <p:spPr>
          <a:xfrm>
            <a:off x="6400800" y="2633472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내부망 환경에 서비스 도입</a:t>
            </a:r>
            <a:endParaRPr/>
          </a:p>
        </p:txBody>
      </p:sp>
      <p:sp>
        <p:nvSpPr>
          <p:cNvPr id="708" name="Google Shape;708;p31"/>
          <p:cNvSpPr txBox="1"/>
          <p:nvPr/>
        </p:nvSpPr>
        <p:spPr>
          <a:xfrm>
            <a:off x="6400800" y="3017520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외부 LLM을 내부 모델로 전환</a:t>
            </a:r>
            <a:endParaRPr/>
          </a:p>
        </p:txBody>
      </p:sp>
      <p:sp>
        <p:nvSpPr>
          <p:cNvPr id="709" name="Google Shape;709;p31"/>
          <p:cNvSpPr txBox="1"/>
          <p:nvPr/>
        </p:nvSpPr>
        <p:spPr>
          <a:xfrm>
            <a:off x="6400800" y="3401568"/>
            <a:ext cx="18653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민감 정보와 사용 이력 관리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
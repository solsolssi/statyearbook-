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NotoSansKR-regular.fntdata"/><Relationship Id="rId24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저희 과는 매년 여러 데이터를 취합하여 통계연보를 발간하고 있는데, 가능한 한 정확한 정보를 전달하기 위해 발간 전에 검수하는 과정이 필수적입니다.</a:t>
            </a:r>
          </a:p>
          <a:p/>
          <a:p>
            <a:r>
              <a:rPr sz="1400">
                <a:latin typeface="Noto Sans KR"/>
              </a:rPr>
              <a:t>저희 청년인턴들도 일부 참여하게 되는데, 저도 검수를 진행해 보며 느꼈던 어려움이 몇 가지 있었습니다.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통계연보는 보통 300개 이상의 표를 포함하고 있는데, 이를 사람이 반복해서 확인하는 과정 자체가 매우 오래 걸리며 계산 오류나 오탈자를 놓치기도 쉽습니다.</a:t>
            </a:r>
          </a:p>
          <a:p/>
          <a:p>
            <a:r>
              <a:rPr sz="1400">
                <a:latin typeface="Noto Sans KR"/>
              </a:rPr>
              <a:t>또 검수로 발견한 오류 내용을 공유하고 수정사항을 다시 반영하는 과정도 표가 많으면 많을수록 까다롭습니다.</a:t>
            </a:r>
          </a:p>
          <a:p/>
          <a:p>
            <a:r>
              <a:rPr sz="1400">
                <a:latin typeface="Noto Sans KR"/>
              </a:rPr>
              <a:t>따라서 반복적인 계산이나 오류 확인은 서비스가 처리하고, 검수 내역을 공유하며 수정사항을 바로 반영할 수 있는 플랫폼이 필요합니다.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서비스의 메인 페이지에서는 연보를 등록하고 해당 연보를 검수할 수 있습니다.</a:t>
            </a:r>
          </a:p>
          <a:p/>
          <a:p>
            <a:r>
              <a:rPr sz="1400">
                <a:latin typeface="Noto Sans KR"/>
              </a:rPr>
              <a:t>검수가 완료되면 오류가 의심되거나 확인이 필요한 통계가 분류되고, 해당 통계의 요약 정보를 확인할 수 있습니다.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통계의 상세 페이지에서는 검수 내역을 자세히 확인하고 내용을 수정할 수 있습니다.</a:t>
            </a:r>
          </a:p>
          <a:p/>
          <a:p>
            <a:r>
              <a:rPr sz="1400">
                <a:latin typeface="Noto Sans KR"/>
              </a:rPr>
              <a:t>어떤 셀에 어떤 문제가 있는지 쉽게 확인할 수 있도록 문제가 발견된 셀은 하이라이트로 표시됩니다.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서비스를 이용하는 기본적인 흐름은 다음과 같습니다.</a:t>
            </a:r>
          </a:p>
          <a:p/>
          <a:p>
            <a:r>
              <a:rPr sz="1400">
                <a:latin typeface="Noto Sans KR"/>
              </a:rPr>
              <a:t>먼저 연보를 등록하고 검수를 진행합니다. 검수 내용을 확인하고 수정한 후 재검수하는 과정을 거쳐 오류가 없는 연보를 완성합니다.</a:t>
            </a:r>
          </a:p>
          <a:p/>
          <a:p>
            <a:r>
              <a:rPr sz="1400">
                <a:latin typeface="Noto Sans KR"/>
              </a:rPr>
              <a:t>검수 내용은 검수 리포트로 내려받을 수 있고, 필요한 통계표도 별도로 내려받을 수 있습니다.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연보를 등록하는 과정부터 좀 더 자세히 알아보겠습니다.</a:t>
            </a:r>
          </a:p>
          <a:p/>
          <a:p>
            <a:r>
              <a:rPr sz="1400">
                <a:latin typeface="Noto Sans KR"/>
              </a:rPr>
              <a:t>연보를 등록하면 시스템이 파일 내용을 읽어 연보에 포함된 각 통계의 제목, 번호, 내용 등을 데이터베이스에 저장하고 플랫폼 화면에서 다시 구성합니다.</a:t>
            </a:r>
          </a:p>
          <a:p/>
          <a:p>
            <a:r>
              <a:rPr sz="1400">
                <a:latin typeface="Noto Sans KR"/>
              </a:rPr>
              <a:t>등록된 연보는 하나의 독립된 게시물로 관리되며 수정과 삭제가 가능합니다.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다음으로 서비스의 핵심인 검수입니다. 현재 지원하는 검수는 총 여섯 가지입니다.</a:t>
            </a:r>
          </a:p>
          <a:p/>
          <a:p>
            <a:r>
              <a:rPr sz="1400">
                <a:latin typeface="Noto Sans KR"/>
              </a:rPr>
              <a:t>검수는 크게 미리 구성된 로직으로 처리하는 방식과 LLM으로 처리하는 방식으로 나뉩니다. 로직 기반 검수에는 합계, 비율, 메타데이터, 이상치 검수가 있고, LLM 기반 검수에는 오탈자와 번역 검수가 있습니다.</a:t>
            </a:r>
          </a:p>
          <a:p/>
          <a:p>
            <a:r>
              <a:rPr sz="1400">
                <a:latin typeface="Noto Sans KR"/>
              </a:rPr>
              <a:t>이때 메타데이터, 이상치, 번역 검수 결과는 ‘확인 필요’로, 합계, 비율, 오탈자 검수에서 발견된 오류는 ‘오류 의심’으로 분류합니다.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어떤 통계표에 어떤 검수를 적용할지는 화면의 왼쪽부터 네 단계로 결정합니다.</a:t>
            </a:r>
          </a:p>
          <a:p/>
          <a:p>
            <a:r>
              <a:rPr sz="1400">
                <a:latin typeface="Noto Sans KR"/>
              </a:rPr>
              <a:t>먼저 모든 표에 공통으로 필요한 정보와 이상치 후보를 확인하고, 지역별·연도별 등 표의 유형에 따라 합계 관계를 적용합니다.</a:t>
            </a:r>
          </a:p>
          <a:p/>
          <a:p>
            <a:r>
              <a:rPr sz="1400">
                <a:latin typeface="Noto Sans KR"/>
              </a:rPr>
              <a:t>이어서 표 안의 계·합계·소계와 분자·분모, 증감 관계를 자동으로 찾아 합계와 비율 검수 기준을 만듭니다.</a:t>
            </a:r>
          </a:p>
          <a:p/>
          <a:p>
            <a:r>
              <a:rPr sz="1400">
                <a:latin typeface="Noto Sans KR"/>
              </a:rPr>
              <a:t>마지막으로 담당자가 확인한 규칙과 고정 셀, 분할표 같은 통계별 예외를 반영하여 각 표에 적합한 검수를 적용합니다.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합계 검수는 표에 표시된 합계가 세부 값과 일치하는지 다시 계산하는 기능입니다.</a:t>
            </a:r>
          </a:p>
          <a:p/>
          <a:p>
            <a:r>
              <a:rPr sz="1400">
                <a:latin typeface="Noto Sans KR"/>
              </a:rPr>
              <a:t>지역별 값을 더해 전국 합계를 확인하거나, 남성과 여성 값을 합산해 전체 값이 맞는지 확인합니다. 또한 표에 명시된 산식이나 서로 나뉘어 있는 표의 관계도 함께 계산합니다.</a:t>
            </a:r>
          </a:p>
          <a:p/>
          <a:p>
            <a:r>
              <a:rPr sz="1400">
                <a:latin typeface="Noto Sans KR"/>
              </a:rPr>
              <a:t>검수 결과에서는 오류가 의심되는 위치와 현재 값, 재계산한 값, 판정 근거를 함께 보여 주어 오류의 원인을 쉽게 확인할 수 있습니다.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비율·증감 검수는 표에 제시된 비율과 변화량이 원래 값에 맞게 계산되었는지 확인하는 기능입니다.</a:t>
            </a:r>
          </a:p>
          <a:p/>
          <a:p>
            <a:r>
              <a:rPr sz="1400">
                <a:latin typeface="Noto Sans KR"/>
              </a:rPr>
              <a:t>지역 값을 전체 값으로 나눈 구성비와 건수·인원을 이용한 건당 또는 인당 값을 다시 계산합니다. 전년도와 당해 연도 값을 비교하여 증감액과 증감률도 함께 확인합니다.</a:t>
            </a:r>
          </a:p>
          <a:p/>
          <a:p>
            <a:r>
              <a:rPr sz="1400">
                <a:latin typeface="Noto Sans KR"/>
              </a:rPr>
              <a:t>결과 화면에서는 문제가 의심되는 셀과 계산에 사용된 값, 재계산 결과를 함께 제시해 확인 과정을 돕습니다.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오탈자와 번역은 기본적으로 LLM을 통해 검수합니다. 다만 연보에 있는 모든 텍스트를 바로 LLM에 전달하지 않고, 먼저 검수 후보를 생성하는 과정을 거칩니다.</a:t>
            </a:r>
          </a:p>
          <a:p/>
          <a:p>
            <a:r>
              <a:rPr sz="1400">
                <a:latin typeface="Noto Sans KR"/>
              </a:rPr>
              <a:t>예를 들어 행정안전부와 같은 기관명, 세종특별자치시나 연기면 같은 지역명 등 공식적으로 정해진 용어와 번역을 데이터베이스에 미리 구성해 둡니다.</a:t>
            </a:r>
          </a:p>
          <a:p/>
          <a:p>
            <a:r>
              <a:rPr sz="1400">
                <a:latin typeface="Noto Sans KR"/>
              </a:rPr>
              <a:t>또 계, 합계, 소계처럼 연보 전체에서 반복되는 표현도 데이터베이스에 구성하고, 이 두 단계를 거치고도 처리되지 않은 후보만 LLM이 검수하도록 합니다.</a:t>
            </a:r>
          </a:p>
          <a:p/>
          <a:p>
            <a:r>
              <a:rPr sz="1400">
                <a:latin typeface="Noto Sans KR"/>
              </a:rPr>
              <a:t>이를 통해 토큰 사용량을 줄이고 공식 표현을 더 일관되게 사용할 수 있습니다.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이 페이지에서는 표의 기본 정보와 수치의 특이값을 확인하는 두 가지 검수를 보여 줍니다.</a:t>
            </a:r>
          </a:p>
          <a:p/>
          <a:p>
            <a:r>
              <a:rPr sz="1400">
                <a:latin typeface="Noto Sans KR"/>
              </a:rPr>
              <a:t>왼쪽의 메타데이터 검수에서는 단위, 기준일, 출처가 빠지지 않았는지와 기존 기준에 맞게 작성되었는지를 확인합니다.</a:t>
            </a:r>
          </a:p>
          <a:p/>
          <a:p>
            <a:r>
              <a:rPr sz="1400">
                <a:latin typeface="Noto Sans KR"/>
              </a:rPr>
              <a:t>오른쪽의 이상치 검수에서는 값이 다섯 개 이상인 동일한 숫자 열을 대상으로 다른 값과 차이가 큰 항목을 찾아냅니다. 합계와 소계는 대상에서 제외합니다.</a:t>
            </a:r>
          </a:p>
          <a:p/>
          <a:p>
            <a:r>
              <a:rPr sz="1400">
                <a:latin typeface="Noto Sans KR"/>
              </a:rPr>
              <a:t>발견된 항목은 오류로 단정하지 않고 담당자가 살펴볼 수 있도록 ‘확인 필요’로 제시합니다.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검수 결과를 확인한 뒤 수정 내용을 저장하면, 필요한 경우 담당자가 검수를 다시 실행하고 새로운 결과로 갱신합니다.</a:t>
            </a:r>
          </a:p>
          <a:p/>
          <a:p>
            <a:r>
              <a:rPr sz="1400">
                <a:latin typeface="Noto Sans KR"/>
              </a:rPr>
              <a:t>수정 전에는 통계별 비밀번호와 권한을 확인하며, 표 정보와 셀 값, 행과 열을 화면에서 직접 고칠 수 있습니다.</a:t>
            </a:r>
          </a:p>
          <a:p/>
          <a:p>
            <a:r>
              <a:rPr sz="1400">
                <a:latin typeface="Noto Sans KR"/>
              </a:rPr>
              <a:t>값만 변경된 경우에는 기존 계산 기준으로 현재 값을 다시 검수하고, 표 구조가 변경된 경우에는 새로운 구조에 맞춰 검수 기준을 다시 만듭니다. 변경된 내용이 없다면 이전 결과를 그대로 활용합니다.</a:t>
            </a:r>
          </a:p>
          <a:p/>
          <a:p>
            <a:r>
              <a:rPr sz="1400">
                <a:latin typeface="Noto Sans KR"/>
              </a:rPr>
              <a:t>수정만으로 검수가 자동 실행되지는 않으며, 담당자가 내용을 확인한 뒤 재검수를 실행하도록 구성했습니다.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검수가 끝난 결과는 통계표와 검수 리포트의 두 가지 형태로 활용할 수 있습니다.</a:t>
            </a:r>
          </a:p>
          <a:p/>
          <a:p>
            <a:r>
              <a:rPr sz="1400">
                <a:latin typeface="Noto Sans KR"/>
              </a:rPr>
              <a:t>통계표에는 선택한 통계의 하위 표와 셀 내용, 단위·기준일·출처 등의 정보가 포함되어 담당자 간 공유와 후속 업무에 사용할 수 있습니다.</a:t>
            </a:r>
          </a:p>
          <a:p/>
          <a:p>
            <a:r>
              <a:rPr sz="1400">
                <a:latin typeface="Noto Sans KR"/>
              </a:rPr>
              <a:t>검수 리포트에는 오류 의심과 확인 필요 항목, 문제 셀과 근거 셀의 위치, 현재 값과 재계산 값, 판정 사유가 담깁니다.</a:t>
            </a:r>
          </a:p>
          <a:p/>
          <a:p>
            <a:r>
              <a:rPr sz="1400">
                <a:latin typeface="Noto Sans KR"/>
              </a:rPr>
              <a:t>이를 통해 오류 내용을 공유하고 수정사항을 전달하거나 최종 검수 결과를 보고하는 데 활용할 수 있습니다.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이 서비스를 활용하면 통계연보 담당자는 전체 검수 진행 상황과 오류 통계, 수정 현황을 한눈에 관리할 수 있습니다.</a:t>
            </a:r>
          </a:p>
          <a:p/>
          <a:p>
            <a:r>
              <a:rPr sz="1400">
                <a:latin typeface="Noto Sans KR"/>
              </a:rPr>
              <a:t>각 통계 담당자는 문제 셀과 근거를 바로 확인하고 화면에서 직접 수정한 뒤 변경된 표를 중심으로 재검수할 수 있습니다.</a:t>
            </a:r>
          </a:p>
          <a:p/>
          <a:p>
            <a:r>
              <a:rPr sz="1400">
                <a:latin typeface="Noto Sans KR"/>
              </a:rPr>
              <a:t>검수 진행자는 반복적인 합계와 비율 계산을 서비스에 맡기고 확인이 필요한 항목을 판단하는 일에 집중할 수 있습니다.</a:t>
            </a:r>
          </a:p>
          <a:p/>
          <a:p>
            <a:r>
              <a:rPr sz="1400">
                <a:latin typeface="Noto Sans KR"/>
              </a:rPr>
              <a:t>결과적으로 검수 시간을 줄이고 오류 누락 위험을 낮추며, 공유부터 수정과 재검수까지의 업무 흐름을 단순화할 수 있습니다.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>
                <a:latin typeface="Noto Sans KR"/>
              </a:rPr>
              <a:t>향후 기관에서 안정적으로 운영하기 위해 세 가지 부분을 단계적으로 보완할 계획입니다.</a:t>
            </a:r>
          </a:p>
          <a:p/>
          <a:p>
            <a:r>
              <a:rPr sz="1400">
                <a:latin typeface="Noto Sans KR"/>
              </a:rPr>
              <a:t>먼저 기관 계정 연계와 담당자별 역할 설정을 통해 접근 권한과 수정 권한을 더욱 세밀하게 관리하겠습니다.</a:t>
            </a:r>
          </a:p>
          <a:p/>
          <a:p>
            <a:r>
              <a:rPr sz="1400">
                <a:latin typeface="Noto Sans KR"/>
              </a:rPr>
              <a:t>다음으로 셀 단위의 변경 전후 내용과 수정자, 시간, 사유를 기록하여 수정 과정을 추적하고 필요할 경우 되돌릴 수 있도록 하겠습니다.</a:t>
            </a:r>
          </a:p>
          <a:p/>
          <a:p>
            <a:r>
              <a:rPr sz="1400">
                <a:latin typeface="Noto Sans KR"/>
              </a:rPr>
              <a:t>마지막으로 서비스를 내부망에 도입하고 외부 LLM을 내부 모델로 전환하여 민감 정보와 사용 이력을 보다 안전하게 관리하겠습니다.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53" name="Google Shape;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527" y="109728"/>
            <a:ext cx="1325880" cy="37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658368" y="1115568"/>
            <a:ext cx="36576" cy="25603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786384" y="113385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87B7DD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지원  |  26-1 청년인턴 완료보고</a:t>
            </a:r>
            <a:endParaRPr/>
          </a:p>
        </p:txBody>
      </p:sp>
      <p:sp>
        <p:nvSpPr>
          <p:cNvPr id="56" name="Google Shape;56;p15"/>
          <p:cNvSpPr txBox="1"/>
          <p:nvPr/>
        </p:nvSpPr>
        <p:spPr>
          <a:xfrm>
            <a:off x="658368" y="1554480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/>
          </a:p>
        </p:txBody>
      </p:sp>
      <p:sp>
        <p:nvSpPr>
          <p:cNvPr id="57" name="Google Shape;57;p15"/>
          <p:cNvSpPr txBox="1"/>
          <p:nvPr/>
        </p:nvSpPr>
        <p:spPr>
          <a:xfrm>
            <a:off x="676656" y="2450592"/>
            <a:ext cx="6720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검수는 줄이고, 오류 확인과 수정은 한 흐름으로</a:t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" y="2962656"/>
            <a:ext cx="6217920" cy="13716"/>
          </a:xfrm>
          <a:prstGeom prst="rect">
            <a:avLst/>
          </a:prstGeom>
          <a:solidFill>
            <a:srgbClr val="4C75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76656" y="3182112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FB2D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검수·수정·재검수·결과 공유를 하나의 플랫폼에서 지원</a:t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  |  2026. 8.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8439912" y="460857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발간과 검수</a:t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</a:t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통계 정보를 제공하기 위해 발간 전 검수는 반드시 필요합니다.</a:t>
            </a:r>
            <a:endParaRPr/>
          </a:p>
        </p:txBody>
      </p:sp>
      <p:pic>
        <p:nvPicPr>
          <p:cNvPr descr="imag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38912" y="1417320"/>
            <a:ext cx="5138928" cy="3127248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38912" y="1417320"/>
            <a:ext cx="50292" cy="312724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798064" y="2596896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67512" y="3008375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예시 이미지 삽입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67512" y="3300984"/>
            <a:ext cx="4681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표지 또는 여러 통계표가 보이는 화면 권장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과정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961888" y="1755648"/>
            <a:ext cx="26974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61888" y="175564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6"/>
          <p:cNvSpPr/>
          <p:nvPr/>
        </p:nvSpPr>
        <p:spPr>
          <a:xfrm flipH="1">
            <a:off x="6161303" y="1938526"/>
            <a:ext cx="10500" cy="1572900"/>
          </a:xfrm>
          <a:prstGeom prst="rect">
            <a:avLst/>
          </a:prstGeom>
          <a:solidFill>
            <a:srgbClr val="BCD2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16752" y="1847088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016752" y="1883664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455664" y="1837944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데이터 취합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455664" y="2093976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</a:t>
            </a: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부서·기관 자료를 한 권으로 정리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016752" y="2560320"/>
            <a:ext cx="274320" cy="27432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016752" y="2596896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455664" y="2551176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검수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455664" y="2807208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정보 제공을 위한 확인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016752" y="3273552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016752" y="3310128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69314" y="3312171"/>
            <a:ext cx="203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발간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업무의 어려움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검수의 어려움과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개선 방향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300개 이상의 표를 반복 확인하고 오류를 공유·수정하는 과정은 시간이 많이 듭니다.</a:t>
            </a:r>
            <a:endParaRPr/>
          </a:p>
        </p:txBody>
      </p:sp>
      <p:pic>
        <p:nvPicPr>
          <p:cNvPr descr="image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681725" y="1335025"/>
            <a:ext cx="4023300" cy="25713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75488" y="144475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234440" y="1417320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사람이 반복 확인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4956048" y="1444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760720" y="141732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서비스가 반복 업무 지원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7548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41832" y="1874519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300개+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941832" y="2121408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표를 하나씩 반복 확인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75488" y="2395727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95604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422392" y="1874519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계산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422392" y="2121408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합계·비율을 구성값에서 다시 계산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956048" y="2395727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7548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941832" y="2624327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위험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41832" y="2871215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오류·오탈자를 놓치기 쉬움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75488" y="3145535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5604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422392" y="2624327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근거 확인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422392" y="2871215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판정 근거를 한눈에 확인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956048" y="3145535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7548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41832" y="3374135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공유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41832" y="3621023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전달·수정 반영·재확인이 분산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5488" y="3895344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95604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22392" y="3374135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 곳에서 협업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422392" y="3621023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수정·재검수·결과 공유까지 연결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956048" y="3895344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279392" y="277063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681725" y="4198892"/>
            <a:ext cx="4023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885700" y="4018113"/>
            <a:ext cx="35055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13174" y="4155063"/>
            <a:ext cx="3850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계산은 서비스가 처리하고, 담당자는 판단·수정·공유에 집중</a:t>
            </a:r>
            <a:endParaRPr b="1" sz="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①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연보·검수 현황 한눈에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연보를 등록하고 검수를 실행한 뒤, 오류가 있는 통계와 전체 현황을 확인합니다.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 이미지 삽입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목록·검수 실행·상태 요약이 보이는 화면 권장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하는 일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등록·검수 시작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연보 선택 후 검수 실행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 자동 분류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확인이 필요한 통계를 우선 표시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현황 요약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정상·확인 필요·오류 의심 집계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②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 확인부터 수정까지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화면에서 문제 위치와 근거를 확인하고 바로 수정할 수 있습니다.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페이지 이미지 삽입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하이라이트 셀·검수 내역·수정 화면이 보이는 화면 권장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화면에서 확인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20256" y="1965960"/>
            <a:ext cx="347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919">
              <a:solidFill>
                <a:srgbClr val="C946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 하이라이트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위치에 문제가 있는지 표시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내역·근거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현재값·기대값·근거 셀 확인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값·구조를 화면에서 편집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 흐름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등록부터 재검수까지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결과에 문제가 있으면 수정·재검수를 반복하고, 오류가 없으면 결과를 내려받습니다.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210" name="이용 흐름_01"/>
          <p:cNvSpPr/>
          <p:nvPr/>
        </p:nvSpPr>
        <p:spPr>
          <a:xfrm>
            <a:off x="969264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69264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76072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38912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파일·연도 선택</a:t>
            </a:r>
          </a:p>
        </p:txBody>
      </p:sp>
      <p:cxnSp>
        <p:nvCxnSpPr>
          <p:cNvPr id="214" name="상단 흐름_01"/>
          <p:cNvCxnSpPr/>
          <p:nvPr/>
        </p:nvCxnSpPr>
        <p:spPr>
          <a:xfrm>
            <a:off x="1417320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15" name="이용 흐름_02"/>
          <p:cNvSpPr/>
          <p:nvPr/>
        </p:nvSpPr>
        <p:spPr>
          <a:xfrm>
            <a:off x="3017520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017520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24327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487168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항목 선택</a:t>
            </a:r>
          </a:p>
        </p:txBody>
      </p:sp>
      <p:cxnSp>
        <p:nvCxnSpPr>
          <p:cNvPr id="219" name="상단 흐름_02"/>
          <p:cNvCxnSpPr/>
          <p:nvPr/>
        </p:nvCxnSpPr>
        <p:spPr>
          <a:xfrm>
            <a:off x="3465576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20" name="이용 흐름_03"/>
          <p:cNvSpPr/>
          <p:nvPr/>
        </p:nvSpPr>
        <p:spPr>
          <a:xfrm>
            <a:off x="5065776" y="1719072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065776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672584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535424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위치·근거</a:t>
            </a:r>
          </a:p>
        </p:txBody>
      </p:sp>
      <p:cxnSp>
        <p:nvCxnSpPr>
          <p:cNvPr id="224" name="상단 흐름_03"/>
          <p:cNvCxnSpPr/>
          <p:nvPr/>
        </p:nvCxnSpPr>
        <p:spPr>
          <a:xfrm>
            <a:off x="5513832" y="1929384"/>
            <a:ext cx="1572768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25" name="이용 흐름_04"/>
          <p:cNvSpPr/>
          <p:nvPr/>
        </p:nvSpPr>
        <p:spPr>
          <a:xfrm>
            <a:off x="7114032" y="171907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114032" y="182880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720840" y="2322576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완성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583680" y="2615184"/>
            <a:ext cx="14813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없는 결과
표·검수 리포트 내려받기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108192" y="164592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오류 없음?  →  예</a:t>
            </a:r>
          </a:p>
        </p:txBody>
      </p:sp>
      <p:cxnSp>
        <p:nvCxnSpPr>
          <p:cNvPr id="230" name="오류 분기"/>
          <p:cNvCxnSpPr/>
          <p:nvPr/>
        </p:nvCxnSpPr>
        <p:spPr>
          <a:xfrm>
            <a:off x="5276088" y="2944368"/>
            <a:ext cx="0" cy="329184"/>
          </a:xfrm>
          <a:prstGeom prst="line">
            <a:avLst/>
          </a:prstGeom>
          <a:ln w="15875">
            <a:solidFill>
              <a:srgbClr val="C94655"/>
            </a:solidFill>
            <a:tailEnd type="triangle" w="sm" len="sm"/>
          </a:ln>
        </p:spPr>
      </p:cxnSp>
      <p:sp>
        <p:nvSpPr>
          <p:cNvPr id="231" name="TextBox 230"/>
          <p:cNvSpPr txBox="1"/>
          <p:nvPr/>
        </p:nvSpPr>
        <p:spPr>
          <a:xfrm>
            <a:off x="4590288" y="3246120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아니오  ·  오류 있음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517136" y="3529584"/>
            <a:ext cx="1719072" cy="658368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709160" y="3666744"/>
            <a:ext cx="13350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709160" y="3941063"/>
            <a:ext cx="13350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셀·표 정보</a:t>
            </a:r>
          </a:p>
        </p:txBody>
      </p:sp>
      <p:cxnSp>
        <p:nvCxnSpPr>
          <p:cNvPr id="235" name="재검수 복귀_가로"/>
          <p:cNvCxnSpPr/>
          <p:nvPr/>
        </p:nvCxnSpPr>
        <p:spPr>
          <a:xfrm flipH="1">
            <a:off x="3227832" y="3822191"/>
            <a:ext cx="1289304" cy="0"/>
          </a:xfrm>
          <a:prstGeom prst="line">
            <a:avLst/>
          </a:prstGeom>
          <a:ln w="15875">
            <a:solidFill>
              <a:srgbClr val="2F78B7"/>
            </a:solidFill>
          </a:ln>
        </p:spPr>
      </p:cxnSp>
      <p:cxnSp>
        <p:nvCxnSpPr>
          <p:cNvPr id="236" name="재검수 복귀_세로"/>
          <p:cNvCxnSpPr/>
          <p:nvPr/>
        </p:nvCxnSpPr>
        <p:spPr>
          <a:xfrm flipV="1">
            <a:off x="3227832" y="2944368"/>
            <a:ext cx="0" cy="877823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237" name="TextBox 236"/>
          <p:cNvSpPr txBox="1"/>
          <p:nvPr/>
        </p:nvSpPr>
        <p:spPr>
          <a:xfrm>
            <a:off x="3364992" y="3383280"/>
            <a:ext cx="6949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재검수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136392" y="4315968"/>
            <a:ext cx="30540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수정한 내용을 현재 기준으로 다시 검수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연보 등록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파일을 읽어 통계별 제목·번호·내용을 저장하고 플랫폼 화면으로 재구성합니다.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38912" y="4873752"/>
            <a:ext cx="324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56692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33271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파일 읽기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33271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내용을 파싱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6692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35584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822191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정보 저장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822191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제목·번호·표·기본 정보를 데이터베이스에 저장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35584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144768" y="144475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11112" y="1389888"/>
            <a:ext cx="19568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611112" y="1645920"/>
            <a:ext cx="20848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연보는 독립된 게시물이며 수정 및 삭제 가능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144768" y="1965960"/>
            <a:ext cx="2514600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이미지 삽입_연보 통계 예시"/>
          <p:cNvSpPr/>
          <p:nvPr/>
        </p:nvSpPr>
        <p:spPr>
          <a:xfrm>
            <a:off x="438912" y="2139696"/>
            <a:ext cx="2980944" cy="2258568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38912" y="2139696"/>
            <a:ext cx="50292" cy="225856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719072" y="28849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67512" y="32964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실제 연보의 통계 예시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67512" y="35890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안의 통계표 이미지</a:t>
            </a:r>
          </a:p>
        </p:txBody>
      </p:sp>
      <p:sp>
        <p:nvSpPr>
          <p:cNvPr id="266" name="이미지 삽입_플랫폼 등록 통계"/>
          <p:cNvSpPr/>
          <p:nvPr/>
        </p:nvSpPr>
        <p:spPr>
          <a:xfrm>
            <a:off x="5724144" y="2139696"/>
            <a:ext cx="2980944" cy="2258568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724144" y="2139696"/>
            <a:ext cx="50292" cy="225856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004303" y="2884932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952744" y="3296412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플랫폼에 등록된 통계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952744" y="3589020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 내용이 재구성된 화면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3968496" y="2542032"/>
            <a:ext cx="1207008" cy="13898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142232" y="2761488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업로드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078224" y="323697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HWPX   ·   MD</a:t>
            </a:r>
          </a:p>
        </p:txBody>
      </p:sp>
      <p:cxnSp>
        <p:nvCxnSpPr>
          <p:cNvPr id="274" name="업로드 전"/>
          <p:cNvCxnSpPr/>
          <p:nvPr/>
        </p:nvCxnSpPr>
        <p:spPr>
          <a:xfrm>
            <a:off x="3438144" y="3255264"/>
            <a:ext cx="466343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cxnSp>
        <p:nvCxnSpPr>
          <p:cNvPr id="275" name="업로드 후"/>
          <p:cNvCxnSpPr/>
          <p:nvPr/>
        </p:nvCxnSpPr>
        <p:spPr>
          <a:xfrm>
            <a:off x="5202936" y="3255264"/>
            <a:ext cx="466344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검수 실행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검수 6종과 처리 방식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6가지 검수를 지원하며, 처리 방식과 결과 상태가 항목마다 다릅니다.</a:t>
            </a:r>
            <a:endParaRPr/>
          </a:p>
        </p:txBody>
      </p:sp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438912" y="1417320"/>
            <a:ext cx="5230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4종 규칙·통계 기반 검수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38912" y="1728216"/>
            <a:ext cx="5230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3891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38912" y="1810512"/>
            <a:ext cx="4983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구조와 계산 관계를 미리 구성한 기준으로 확인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30352" y="219456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30352" y="250545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계·합계·소계를 다시 합산</a:t>
            </a:r>
          </a:p>
        </p:txBody>
      </p:sp>
      <p:sp>
        <p:nvSpPr>
          <p:cNvPr id="293" name="라벨_오류 의심"/>
          <p:cNvSpPr/>
          <p:nvPr/>
        </p:nvSpPr>
        <p:spPr>
          <a:xfrm>
            <a:off x="1883664" y="2185416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라벨 텍스트_오류 의심"/>
          <p:cNvSpPr txBox="1"/>
          <p:nvPr/>
        </p:nvSpPr>
        <p:spPr>
          <a:xfrm>
            <a:off x="1883664" y="2185416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30352" y="292608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999232" y="219456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999232" y="250545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비율·구성비·증감 값을 재계산</a:t>
            </a:r>
          </a:p>
        </p:txBody>
      </p:sp>
      <p:sp>
        <p:nvSpPr>
          <p:cNvPr id="298" name="라벨_오류 의심"/>
          <p:cNvSpPr/>
          <p:nvPr/>
        </p:nvSpPr>
        <p:spPr>
          <a:xfrm>
            <a:off x="4352544" y="2185416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라벨 텍스트_오류 의심"/>
          <p:cNvSpPr txBox="1"/>
          <p:nvPr/>
        </p:nvSpPr>
        <p:spPr>
          <a:xfrm>
            <a:off x="4352544" y="2185416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999232" y="292608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530352" y="329184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30352" y="360273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단위·기준일·출처 확인</a:t>
            </a:r>
          </a:p>
        </p:txBody>
      </p:sp>
      <p:sp>
        <p:nvSpPr>
          <p:cNvPr id="303" name="라벨_확인 필요"/>
          <p:cNvSpPr/>
          <p:nvPr/>
        </p:nvSpPr>
        <p:spPr>
          <a:xfrm>
            <a:off x="1883664" y="3282696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라벨 텍스트_확인 필요"/>
          <p:cNvSpPr txBox="1"/>
          <p:nvPr/>
        </p:nvSpPr>
        <p:spPr>
          <a:xfrm>
            <a:off x="1883664" y="3282696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30352" y="402336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999232" y="3291840"/>
            <a:ext cx="1298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999232" y="360273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다른 값과 차이가 큰 수치 후보</a:t>
            </a:r>
          </a:p>
        </p:txBody>
      </p:sp>
      <p:sp>
        <p:nvSpPr>
          <p:cNvPr id="308" name="라벨_확인 필요"/>
          <p:cNvSpPr/>
          <p:nvPr/>
        </p:nvSpPr>
        <p:spPr>
          <a:xfrm>
            <a:off x="4352544" y="3282696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라벨 텍스트_확인 필요"/>
          <p:cNvSpPr txBox="1"/>
          <p:nvPr/>
        </p:nvSpPr>
        <p:spPr>
          <a:xfrm>
            <a:off x="4352544" y="3282696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999232" y="4023360"/>
            <a:ext cx="221284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797296" y="1344168"/>
            <a:ext cx="2907792" cy="3136392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016752" y="1417320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2종 LLM 기반 검수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016752" y="1728216"/>
            <a:ext cx="24688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01675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5961888" y="1810512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공식 용어·이전 결과를 먼저 적용하고
남은 후보만 확인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035040" y="2441448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035040" y="2752344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철자·문자 깨짐·표기 불일치</a:t>
            </a:r>
          </a:p>
        </p:txBody>
      </p:sp>
      <p:sp>
        <p:nvSpPr>
          <p:cNvPr id="318" name="라벨_오류 의심"/>
          <p:cNvSpPr/>
          <p:nvPr/>
        </p:nvSpPr>
        <p:spPr>
          <a:xfrm>
            <a:off x="7424927" y="2432304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라벨 텍스트_오류 의심"/>
          <p:cNvSpPr txBox="1"/>
          <p:nvPr/>
        </p:nvSpPr>
        <p:spPr>
          <a:xfrm>
            <a:off x="7424927" y="2432304"/>
            <a:ext cx="822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6035040" y="3172968"/>
            <a:ext cx="2249424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035040" y="3438144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035040" y="3749039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한글·영문 의미 대응 확인</a:t>
            </a:r>
          </a:p>
        </p:txBody>
      </p:sp>
      <p:sp>
        <p:nvSpPr>
          <p:cNvPr id="323" name="라벨_확인 필요"/>
          <p:cNvSpPr/>
          <p:nvPr/>
        </p:nvSpPr>
        <p:spPr>
          <a:xfrm>
            <a:off x="7424927" y="3429000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라벨 텍스트_확인 필요"/>
          <p:cNvSpPr txBox="1"/>
          <p:nvPr/>
        </p:nvSpPr>
        <p:spPr>
          <a:xfrm>
            <a:off x="7424927" y="3429000"/>
            <a:ext cx="8595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6035040" y="4169663"/>
            <a:ext cx="2249424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기준 생성 방식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표마다 달라지는 검수 기준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통계 특성을 단계적으로 분석해 각 표에 적용할 검수를 결정합니다.</a:t>
            </a:r>
            <a:endParaRPr/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658368" y="1883664"/>
            <a:ext cx="7424927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검수 기준_01"/>
          <p:cNvSpPr/>
          <p:nvPr/>
        </p:nvSpPr>
        <p:spPr>
          <a:xfrm>
            <a:off x="457200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5720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3891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공통 기준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43891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모든 표의 필수 정보 확인
숫자 열의 특이값 후보 생성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3891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3891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메타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112471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12471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345" name="검수 기준_02"/>
          <p:cNvSpPr/>
          <p:nvPr/>
        </p:nvSpPr>
        <p:spPr>
          <a:xfrm>
            <a:off x="2560320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256032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254203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유형별 기준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4203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지역별·연도별 등 구조 파악
전국계와 지역 값 관계 적용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254203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254203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51" name="검수 기준_03"/>
          <p:cNvSpPr/>
          <p:nvPr/>
        </p:nvSpPr>
        <p:spPr>
          <a:xfrm>
            <a:off x="4663440" y="1673352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4663440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64515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표별 자동 분석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464515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 항목 탐색
분자·분모·증감 관계 탐색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4515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464515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5330952" y="3538728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330952" y="3602736"/>
            <a:ext cx="640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359" name="검수 기준_04"/>
          <p:cNvSpPr/>
          <p:nvPr/>
        </p:nvSpPr>
        <p:spPr>
          <a:xfrm>
            <a:off x="6766559" y="1673352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766559" y="1783080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748272" y="22860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통계별 예외 기준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6748272" y="2679192"/>
            <a:ext cx="18288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담당자가 확인한 규칙 반영
고정 셀·분할표 예외 처리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748272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748272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7196328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196328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7644383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7644383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092440" y="3538728"/>
            <a:ext cx="402336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092440" y="3602736"/>
            <a:ext cx="402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구성값으로 합계 재계산</a:t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계·합계·소계와 표에 표시된 산식을 구성값에서 다시 계산합니다.</a:t>
            </a:r>
            <a:endParaRPr/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 지역 값을 더해 전국계 확인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= 시·도 합</a:t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행·열 합계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행의 열 또는 세부 행 합산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계 = 남 + 여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명시 산식·분할표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a+b·a-b와 연결된 표 관계 계산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c = a + b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 예시 이미지 삽입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 또는 산식 오류가 보이는 화면 권장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분자·분모와 전년값 재계산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비율·구성비·건당 값과 증감액·증감률을 다시 계산합니다.</a:t>
            </a:r>
            <a:endParaRPr/>
          </a:p>
        </p:txBody>
      </p:sp>
      <p:pic>
        <p:nvPicPr>
          <p:cNvPr descr="image.png" id="414" name="Google Shape;4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항목 값과 전체 값을 분자·분모로 연결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÷ 전체 × 100</a:t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건당·인당 값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건수·인원을 기준으로 원단위 계산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건수 ÷ 인원</a:t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증감액·증감률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전년과 당해 값을 비교해 변화 계산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(당해-전년)÷전년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 예시 이미지 삽입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비율 또는 증감 산식 오류가 보이는 화면 권장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오탈자·번역 검수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후보를 줄인 뒤 LLM 검토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텍스트를 바로 LLM에 보내지 않고, 후보를 줄인 뒤 남은 항목만 검토합니다.</a:t>
            </a:r>
            <a:endParaRPr/>
          </a:p>
        </p:txBody>
      </p:sp>
      <p:pic>
        <p:nvPicPr>
          <p:cNvPr descr="image.png" id="449" name="Google Shape;4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/>
          </a:p>
        </p:txBody>
      </p:sp>
      <p:sp>
        <p:nvSpPr>
          <p:cNvPr id="452" name="Rectangle 451"/>
          <p:cNvSpPr/>
          <p:nvPr/>
        </p:nvSpPr>
        <p:spPr>
          <a:xfrm>
            <a:off x="566928" y="1344168"/>
            <a:ext cx="8010144" cy="39319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804672" y="1453896"/>
            <a:ext cx="9875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후보 수집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901952" y="1435608"/>
            <a:ext cx="62727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제목 · 헤더 · 한글/영문 셀에서 검수할 문구를 수집</a:t>
            </a:r>
          </a:p>
        </p:txBody>
      </p:sp>
      <p:sp>
        <p:nvSpPr>
          <p:cNvPr id="455" name="아래 흐름 화살표"/>
          <p:cNvSpPr/>
          <p:nvPr/>
        </p:nvSpPr>
        <p:spPr>
          <a:xfrm>
            <a:off x="4425696" y="1801368"/>
            <a:ext cx="274320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170432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609344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용어·번역 DB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1170432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43584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기관명  행정안전부
지역명  세종특별자치시·연기면</a:t>
            </a:r>
          </a:p>
        </p:txBody>
      </p:sp>
      <p:sp>
        <p:nvSpPr>
          <p:cNvPr id="460" name="아래 흐름 화살표"/>
          <p:cNvSpPr/>
          <p:nvPr/>
        </p:nvSpPr>
        <p:spPr>
          <a:xfrm>
            <a:off x="2633472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754880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5193792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표현 DB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4754880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4828032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 · 합계 · 소계
연보 전체에서 자주 쓰는 표현</a:t>
            </a:r>
          </a:p>
        </p:txBody>
      </p:sp>
      <p:sp>
        <p:nvSpPr>
          <p:cNvPr id="465" name="아래 흐름 화살표"/>
          <p:cNvSpPr/>
          <p:nvPr/>
        </p:nvSpPr>
        <p:spPr>
          <a:xfrm>
            <a:off x="6217920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883664" y="3493008"/>
            <a:ext cx="5376672" cy="9326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212848" y="3621024"/>
            <a:ext cx="471830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남은 후보만 LLM 검수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2194560" y="3941063"/>
            <a:ext cx="4754880" cy="12801"/>
          </a:xfrm>
          <a:prstGeom prst="rect">
            <a:avLst/>
          </a:prstGeom>
          <a:solidFill>
            <a:srgbClr val="C7D9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라벨_토큰 사용량 감소"/>
          <p:cNvSpPr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라벨 텍스트_토큰 사용량 감소"/>
          <p:cNvSpPr txBox="1"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토큰 사용량 감소</a:t>
            </a:r>
          </a:p>
        </p:txBody>
      </p:sp>
      <p:sp>
        <p:nvSpPr>
          <p:cNvPr id="471" name="라벨_공식 표현 일관성 확보"/>
          <p:cNvSpPr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라벨 텍스트_공식 표현 일관성 확보"/>
          <p:cNvSpPr txBox="1"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공식 표현 일관성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메타데이터·이상치 검수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정보와 이상값 후보 확인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정보의 누락과 통계적으로 차이가 큰 값을 ‘확인 필요’로 제시합니다.</a:t>
            </a:r>
            <a:endParaRPr/>
          </a:p>
        </p:txBody>
      </p:sp>
      <p:pic>
        <p:nvPicPr>
          <p:cNvPr descr="image.png" id="479" name="Google Shape;4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438912" y="1399032"/>
            <a:ext cx="3675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검수</a:t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438912" y="1709928"/>
            <a:ext cx="3675887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438912" y="19476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905256" y="1901952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905256" y="2148840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여부 + 기존 기준 단위와 일치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438912" y="2423160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438912" y="266090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905256" y="2615184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905256" y="2862072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38912" y="3136392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438912" y="337413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905256" y="3328416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905256" y="3575304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438912" y="3849624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4617720" y="1399032"/>
            <a:ext cx="4087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검수</a:t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4617720" y="170992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617720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4736592" y="1901952"/>
            <a:ext cx="367588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숫자 열에서 값이 크게 벗어난 후보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956048" y="2889504"/>
            <a:ext cx="3429000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102352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5029200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687568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5614416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272784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6199632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858000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27"/>
          <p:cNvSpPr txBox="1"/>
          <p:nvPr/>
        </p:nvSpPr>
        <p:spPr>
          <a:xfrm>
            <a:off x="6784848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7882127" y="2468880"/>
            <a:ext cx="201168" cy="201168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7808975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4937760" y="3410712"/>
            <a:ext cx="338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값이 5개 이상인 숫자 열</a:t>
            </a:r>
            <a:b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합계·소계 제외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</a:t>
            </a:r>
            <a:endParaRPr/>
          </a:p>
        </p:txBody>
      </p:sp>
      <p:sp>
        <p:nvSpPr>
          <p:cNvPr id="520" name="Google Shape;520;p2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보호된 수정과 선택적 재검수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권한을 확인한 뒤 내용을 고치고, 변경 범위에 맞춰 다시 검수합니다.</a:t>
            </a:r>
            <a:endParaRPr/>
          </a:p>
        </p:txBody>
      </p:sp>
      <p:pic>
        <p:nvPicPr>
          <p:cNvPr descr="image.png"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/>
          </a:p>
        </p:txBody>
      </p:sp>
      <p:sp>
        <p:nvSpPr>
          <p:cNvPr id="526" name="Rectangle 525"/>
          <p:cNvSpPr/>
          <p:nvPr/>
        </p:nvSpPr>
        <p:spPr>
          <a:xfrm>
            <a:off x="566928" y="1362456"/>
            <a:ext cx="8010144" cy="566928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859536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cxnSp>
        <p:nvCxnSpPr>
          <p:cNvPr id="528" name="재검수 흐름_0"/>
          <p:cNvCxnSpPr/>
          <p:nvPr/>
        </p:nvCxnSpPr>
        <p:spPr>
          <a:xfrm>
            <a:off x="2167128" y="1645920"/>
            <a:ext cx="539496" cy="0"/>
          </a:xfrm>
          <a:prstGeom prst="line">
            <a:avLst/>
          </a:prstGeom>
          <a:ln w="15875">
            <a:solidFill>
              <a:srgbClr val="C5861A"/>
            </a:solidFill>
            <a:tailEnd type="triangle" w="sm" len="sm"/>
          </a:ln>
        </p:spPr>
      </p:cxnSp>
      <p:sp>
        <p:nvSpPr>
          <p:cNvPr id="529" name="TextBox 528"/>
          <p:cNvSpPr txBox="1"/>
          <p:nvPr/>
        </p:nvSpPr>
        <p:spPr>
          <a:xfrm>
            <a:off x="2788920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재검수 필요</a:t>
            </a:r>
          </a:p>
        </p:txBody>
      </p:sp>
      <p:cxnSp>
        <p:nvCxnSpPr>
          <p:cNvPr id="530" name="재검수 흐름_1"/>
          <p:cNvCxnSpPr/>
          <p:nvPr/>
        </p:nvCxnSpPr>
        <p:spPr>
          <a:xfrm>
            <a:off x="4096511" y="1645920"/>
            <a:ext cx="539497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531" name="TextBox 530"/>
          <p:cNvSpPr txBox="1"/>
          <p:nvPr/>
        </p:nvSpPr>
        <p:spPr>
          <a:xfrm>
            <a:off x="4718304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cxnSp>
        <p:nvCxnSpPr>
          <p:cNvPr id="532" name="재검수 흐름_2"/>
          <p:cNvCxnSpPr/>
          <p:nvPr/>
        </p:nvCxnSpPr>
        <p:spPr>
          <a:xfrm>
            <a:off x="6025896" y="1645920"/>
            <a:ext cx="539496" cy="0"/>
          </a:xfrm>
          <a:prstGeom prst="line">
            <a:avLst/>
          </a:prstGeom>
          <a:ln w="15875">
            <a:solidFill>
              <a:srgbClr val="2F78B7"/>
            </a:solidFill>
            <a:tailEnd type="triangle" w="sm" len="sm"/>
          </a:ln>
        </p:spPr>
      </p:cxnSp>
      <p:sp>
        <p:nvSpPr>
          <p:cNvPr id="533" name="TextBox 532"/>
          <p:cNvSpPr txBox="1"/>
          <p:nvPr/>
        </p:nvSpPr>
        <p:spPr>
          <a:xfrm>
            <a:off x="6647688" y="1554480"/>
            <a:ext cx="12252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새 결과 갱신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38912" y="2176272"/>
            <a:ext cx="3712463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보호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438912" y="2487168"/>
            <a:ext cx="3712463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38912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950976" y="2953512"/>
            <a:ext cx="2688336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수정 보호_01"/>
          <p:cNvSpPr/>
          <p:nvPr/>
        </p:nvSpPr>
        <p:spPr>
          <a:xfrm>
            <a:off x="786384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786384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438912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비밀번호 확인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438912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 확인</a:t>
            </a:r>
          </a:p>
        </p:txBody>
      </p:sp>
      <p:sp>
        <p:nvSpPr>
          <p:cNvPr id="542" name="수정 보호_02"/>
          <p:cNvSpPr/>
          <p:nvPr/>
        </p:nvSpPr>
        <p:spPr>
          <a:xfrm>
            <a:off x="2130552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130552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783080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편집 화면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783080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값·행/열 수정</a:t>
            </a:r>
          </a:p>
        </p:txBody>
      </p:sp>
      <p:sp>
        <p:nvSpPr>
          <p:cNvPr id="546" name="수정 보호_03"/>
          <p:cNvSpPr/>
          <p:nvPr/>
        </p:nvSpPr>
        <p:spPr>
          <a:xfrm>
            <a:off x="3474720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3474720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127248" y="32735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127248" y="3547872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 내용 반영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5216" y="4142232"/>
            <a:ext cx="3383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저장 즉시 검수 자동 실행 X  ·  담당자가 재검수 실행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617720" y="2176272"/>
            <a:ext cx="4087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 원칙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4617720" y="248716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4617720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4617720" y="2651760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4617720" y="2651760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754880" y="278892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5212080" y="2724912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값 변경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212080" y="2953512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계산 기준으로 현재 값 재검수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4617720" y="3273552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4617720" y="3273552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4754880" y="341071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5212080" y="3346704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구조 변경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5212080" y="3575304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새로운 표 구조에 맞춰 기준 재생성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4617720" y="4398264"/>
            <a:ext cx="408736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4754880" y="403250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5212080" y="396849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212080" y="419709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이전 검수 결과 재사용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활용</a:t>
            </a:r>
            <a:endParaRPr/>
          </a:p>
        </p:txBody>
      </p:sp>
      <p:sp>
        <p:nvSpPr>
          <p:cNvPr id="571" name="Google Shape;571;p29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표와 검수 리포트 내려받기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통계표와 검수 결과를 업무 목적에 맞춰 내려받습니다.</a:t>
            </a:r>
            <a:endParaRPr/>
          </a:p>
        </p:txBody>
      </p:sp>
      <p:pic>
        <p:nvPicPr>
          <p:cNvPr descr="image.png" id="574" name="Google Shape;5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76" name="Google Shape;576;p2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4572000" y="1389898"/>
            <a:ext cx="13800" cy="25533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566928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79" name="Google Shape;579;p29"/>
          <p:cNvSpPr txBox="1"/>
          <p:nvPr/>
        </p:nvSpPr>
        <p:spPr>
          <a:xfrm>
            <a:off x="1097280" y="1426464"/>
            <a:ext cx="1097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</a:t>
            </a:r>
            <a:endParaRPr/>
          </a:p>
        </p:txBody>
      </p:sp>
      <p:sp>
        <p:nvSpPr>
          <p:cNvPr id="580" name="Google Shape;580;p29"/>
          <p:cNvSpPr txBox="1"/>
          <p:nvPr/>
        </p:nvSpPr>
        <p:spPr>
          <a:xfrm>
            <a:off x="566928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통계표를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·공유</a:t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566928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626993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의 모든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하위 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헤더와 셀 내용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등 표 정보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Noto Sans KR"/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표 활용</a:t>
            </a:r>
            <a:endParaRPr/>
          </a:p>
        </p:txBody>
      </p:sp>
      <p:sp>
        <p:nvSpPr>
          <p:cNvPr id="583" name="Google Shape;583;p29"/>
          <p:cNvSpPr txBox="1"/>
          <p:nvPr/>
        </p:nvSpPr>
        <p:spPr>
          <a:xfrm>
            <a:off x="4992624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5522976" y="1426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</a:t>
            </a:r>
            <a:endParaRPr/>
          </a:p>
        </p:txBody>
      </p:sp>
      <p:sp>
        <p:nvSpPr>
          <p:cNvPr id="585" name="Google Shape;585;p29"/>
          <p:cNvSpPr txBox="1"/>
          <p:nvPr/>
        </p:nvSpPr>
        <p:spPr>
          <a:xfrm>
            <a:off x="4992624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내역과 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근거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4992624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5084064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의심·확인 필요 항목 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 셀 위치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현재값·재계산값·판정 사유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</a:t>
            </a: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공유·수정·결과 보고에 활용</a:t>
            </a:r>
            <a:endParaRPr sz="900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sp>
        <p:nvSpPr>
          <p:cNvPr id="593" name="Google Shape;593;p3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부담 감소, 협업 효율 향상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담당자·통계 담당자·검수 진행자가 같은 화면과 기준으로 협업합니다.</a:t>
            </a:r>
            <a:endParaRPr/>
          </a:p>
        </p:txBody>
      </p:sp>
      <p:pic>
        <p:nvPicPr>
          <p:cNvPr descr="image.png" id="596" name="Google Shape;5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  <a:endParaRPr/>
          </a:p>
        </p:txBody>
      </p:sp>
      <p:sp>
        <p:nvSpPr>
          <p:cNvPr id="599" name="TextBox 598"/>
          <p:cNvSpPr txBox="1"/>
          <p:nvPr/>
        </p:nvSpPr>
        <p:spPr>
          <a:xfrm>
            <a:off x="438912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담당자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438912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전체 진행 상황 관리</a:t>
            </a:r>
          </a:p>
        </p:txBody>
      </p:sp>
      <p:sp>
        <p:nvSpPr>
          <p:cNvPr id="601" name="Rectangle 600"/>
          <p:cNvSpPr/>
          <p:nvPr/>
        </p:nvSpPr>
        <p:spPr>
          <a:xfrm>
            <a:off x="548640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530352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연보별 검수 상태 한눈에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통계와 수정 현황 공유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전 최종 결과 정리</a:t>
            </a:r>
          </a:p>
        </p:txBody>
      </p:sp>
      <p:sp>
        <p:nvSpPr>
          <p:cNvPr id="603" name="Rectangle 602"/>
          <p:cNvSpPr/>
          <p:nvPr/>
        </p:nvSpPr>
        <p:spPr>
          <a:xfrm>
            <a:off x="3127248" y="1609344"/>
            <a:ext cx="12801" cy="245059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291840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각 통계 담당자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3291840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내 통계의 문제를 바로 수정</a:t>
            </a:r>
          </a:p>
        </p:txBody>
      </p:sp>
      <p:sp>
        <p:nvSpPr>
          <p:cNvPr id="606" name="Rectangle 605"/>
          <p:cNvSpPr/>
          <p:nvPr/>
        </p:nvSpPr>
        <p:spPr>
          <a:xfrm>
            <a:off x="3401568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383280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셀과 근거를 빠르게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화면에서 직접 수정·저장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변경된 표 중심으로 재검수</a:t>
            </a:r>
          </a:p>
        </p:txBody>
      </p:sp>
      <p:sp>
        <p:nvSpPr>
          <p:cNvPr id="608" name="Rectangle 607"/>
          <p:cNvSpPr/>
          <p:nvPr/>
        </p:nvSpPr>
        <p:spPr>
          <a:xfrm>
            <a:off x="5980176" y="1609344"/>
            <a:ext cx="12801" cy="245059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6144768" y="1645920"/>
            <a:ext cx="25603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진행자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6144768" y="20116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반복 계산 대신 판단에 집중</a:t>
            </a:r>
          </a:p>
        </p:txBody>
      </p:sp>
      <p:sp>
        <p:nvSpPr>
          <p:cNvPr id="611" name="Rectangle 610"/>
          <p:cNvSpPr/>
          <p:nvPr/>
        </p:nvSpPr>
        <p:spPr>
          <a:xfrm>
            <a:off x="6254496" y="2368296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236207" y="2679192"/>
            <a:ext cx="23774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합계·비율 자동 재계산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확인 우선순위와 근거 제시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리포트로 결과 공유</a:t>
            </a:r>
          </a:p>
        </p:txBody>
      </p:sp>
      <p:sp>
        <p:nvSpPr>
          <p:cNvPr id="613" name="Rectangle 612"/>
          <p:cNvSpPr/>
          <p:nvPr/>
        </p:nvSpPr>
        <p:spPr>
          <a:xfrm>
            <a:off x="804672" y="4279392"/>
            <a:ext cx="7534656" cy="329184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1078992" y="4370832"/>
            <a:ext cx="698601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시간 단축  ·  오류 누락 위험 감소  ·  공유·수정·재검수 흐름 단순화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보완점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 기관 운영을 위한 보완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운영을 위해 권한·이력·AI 환경을 단계적으로 보완해야 합니다.</a:t>
            </a:r>
            <a:endParaRPr/>
          </a:p>
        </p:txBody>
      </p:sp>
      <p:pic>
        <p:nvPicPr>
          <p:cNvPr descr="image.png" id="621" name="Google Shape;6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1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623" name="Google Shape;623;p3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/>
          </a:p>
        </p:txBody>
      </p:sp>
      <p:sp>
        <p:nvSpPr>
          <p:cNvPr id="624" name="Rectangle 623"/>
          <p:cNvSpPr/>
          <p:nvPr/>
        </p:nvSpPr>
        <p:spPr>
          <a:xfrm>
            <a:off x="1719072" y="1874519"/>
            <a:ext cx="5486400" cy="16459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향후 보완_01"/>
          <p:cNvSpPr/>
          <p:nvPr/>
        </p:nvSpPr>
        <p:spPr>
          <a:xfrm>
            <a:off x="1499616" y="1655064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1499616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438912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권한·보안</a:t>
            </a:r>
          </a:p>
        </p:txBody>
      </p:sp>
      <p:sp>
        <p:nvSpPr>
          <p:cNvPr id="628" name="Rectangle 627"/>
          <p:cNvSpPr/>
          <p:nvPr/>
        </p:nvSpPr>
        <p:spPr>
          <a:xfrm>
            <a:off x="548640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530352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기관 계정과 통합 로그인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담당자별 역할·수정 권한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세션 만료·접속 제한</a:t>
            </a:r>
          </a:p>
        </p:txBody>
      </p:sp>
      <p:sp>
        <p:nvSpPr>
          <p:cNvPr id="630" name="향후 보완_02"/>
          <p:cNvSpPr/>
          <p:nvPr/>
        </p:nvSpPr>
        <p:spPr>
          <a:xfrm>
            <a:off x="4352544" y="1655064"/>
            <a:ext cx="438912" cy="438912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352544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3291840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이력 기록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3401568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3383280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셀 단위 변경 전·후 기록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수정자·시간·사유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되돌리기·변경 알림</a:t>
            </a:r>
          </a:p>
        </p:txBody>
      </p:sp>
      <p:sp>
        <p:nvSpPr>
          <p:cNvPr id="635" name="향후 보완_03"/>
          <p:cNvSpPr/>
          <p:nvPr/>
        </p:nvSpPr>
        <p:spPr>
          <a:xfrm>
            <a:off x="7205472" y="1655064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7205472" y="176479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6144768" y="23042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내부망·내부 LLM</a:t>
            </a:r>
          </a:p>
        </p:txBody>
      </p:sp>
      <p:sp>
        <p:nvSpPr>
          <p:cNvPr id="638" name="Rectangle 637"/>
          <p:cNvSpPr/>
          <p:nvPr/>
        </p:nvSpPr>
        <p:spPr>
          <a:xfrm>
            <a:off x="6254496" y="2706624"/>
            <a:ext cx="2340864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TextBox 638"/>
          <p:cNvSpPr txBox="1"/>
          <p:nvPr/>
        </p:nvSpPr>
        <p:spPr>
          <a:xfrm>
            <a:off x="6236207" y="2999232"/>
            <a:ext cx="237744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내부망 환경에 서비스 도입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외부 LLM을 내부 모델로 전환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86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민감 정보와 사용 이력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
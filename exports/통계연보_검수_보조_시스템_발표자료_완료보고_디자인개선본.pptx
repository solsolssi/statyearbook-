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8"/>
    <p:sldId id="272" r:id="rId7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font" Target="fonts/NotoSansKR-regular.fntdata"/><Relationship Id="rId24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7" y="109728"/>
            <a:ext cx="1325880" cy="377624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658368" y="1115568"/>
            <a:ext cx="36576" cy="25603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" y="1133856"/>
            <a:ext cx="5120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87B7DD"/>
                </a:solidFill>
                <a:latin typeface="Noto Sans KR"/>
                <a:ea typeface="Noto Sans KR"/>
                <a:cs typeface="Noto Sans KR"/>
              </a:rPr>
              <a:t>통계연보 발간 지원  |  26-1 청년인턴 완료보고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1554480"/>
            <a:ext cx="731520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통계연보 검수 보조 시스템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" y="2450592"/>
            <a:ext cx="6720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반복 검수는 줄이고, 오류 확인과 수정은 한 흐름으로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2962656"/>
            <a:ext cx="6217920" cy="13716"/>
          </a:xfrm>
          <a:prstGeom prst="rect">
            <a:avLst/>
          </a:prstGeom>
          <a:solidFill>
            <a:srgbClr val="4C75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182112"/>
            <a:ext cx="6492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B2D8"/>
                </a:solidFill>
                <a:latin typeface="Noto Sans KR"/>
                <a:ea typeface="Noto Sans KR"/>
                <a:cs typeface="Noto Sans KR"/>
              </a:rPr>
              <a:t>검수·수정·재검수·결과 공유를 하나의 플랫폼에서 지원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  |  2026. 8.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9912" y="460857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통계연보 발간과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발간 전 검수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정확한 통계 정보를 제공하기 위해 발간 전 검수는 반드시 필요합니다.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이미지 삽입_통계연보 예시"/>
          <p:cNvSpPr/>
          <p:nvPr/>
        </p:nvSpPr>
        <p:spPr>
          <a:xfrm>
            <a:off x="438912" y="1417320"/>
            <a:ext cx="5138928" cy="3127248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50292" cy="312724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596896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08375"/>
            <a:ext cx="468172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통계연보 예시 이미지 삽입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00984"/>
            <a:ext cx="46817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표지 또는 여러 통계표가 보이는 화면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발간 과정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1755648"/>
            <a:ext cx="26974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75564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938528"/>
            <a:ext cx="16459" cy="1938528"/>
          </a:xfrm>
          <a:prstGeom prst="rect">
            <a:avLst/>
          </a:prstGeom>
          <a:solidFill>
            <a:srgbClr val="BCD2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발간 과정_01"/>
          <p:cNvSpPr/>
          <p:nvPr/>
        </p:nvSpPr>
        <p:spPr>
          <a:xfrm>
            <a:off x="6016752" y="1847088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883664"/>
            <a:ext cx="274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837944"/>
            <a:ext cx="20299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여러 데이터 취합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093976"/>
            <a:ext cx="20574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부서·기관 자료를 한 권으로 정리</a:t>
            </a:r>
          </a:p>
        </p:txBody>
      </p:sp>
      <p:sp>
        <p:nvSpPr>
          <p:cNvPr id="22" name="발간 과정_02"/>
          <p:cNvSpPr/>
          <p:nvPr/>
        </p:nvSpPr>
        <p:spPr>
          <a:xfrm>
            <a:off x="6016752" y="2560320"/>
            <a:ext cx="274320" cy="27432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2596896"/>
            <a:ext cx="274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551176"/>
            <a:ext cx="20299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전 검수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807208"/>
            <a:ext cx="20574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정확한 정보 제공을 위한 마지막 확인</a:t>
            </a:r>
          </a:p>
        </p:txBody>
      </p:sp>
      <p:sp>
        <p:nvSpPr>
          <p:cNvPr id="26" name="발간 과정_03"/>
          <p:cNvSpPr/>
          <p:nvPr/>
        </p:nvSpPr>
        <p:spPr>
          <a:xfrm>
            <a:off x="6016752" y="3273552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3310128"/>
            <a:ext cx="274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264408"/>
            <a:ext cx="20299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여러 역할이 참여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520440"/>
            <a:ext cx="20574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담당자·주무관·청년인턴 협업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61888" y="4187952"/>
            <a:ext cx="2697480" cy="310896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270248"/>
            <a:ext cx="2331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데이터 취합  →  검수  →  발간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업무의 어려움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검수의 한계와 개선 방향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300개 이상의 표를 반복 확인하고 오류를 공유·수정하는 과정은 시간이 많이 듭니다.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1335024"/>
            <a:ext cx="4023360" cy="324612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4475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17320"/>
            <a:ext cx="29718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사람이 반복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444752"/>
            <a:ext cx="749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417320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서비스가 반복 업무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20239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74519"/>
            <a:ext cx="326440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300개+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121408"/>
            <a:ext cx="326440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표를 하나씩 반복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395727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920239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1874519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자동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121408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합계·비율을 구성값에서 다시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395727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670047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624327"/>
            <a:ext cx="326440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누락 위험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2871215"/>
            <a:ext cx="326440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계산 오류·오탈자를 놓치기 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3145535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670047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2624327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근거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2871215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셀과 판정 근거를 한눈에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3145535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41985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3374135"/>
            <a:ext cx="326440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복잡한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3621023"/>
            <a:ext cx="326440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전달·수정 반영·재확인이 분산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3895344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41985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392" y="3374135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한 곳에서 협업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2392" y="3621023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수정·재검수·결과 공유까지 연결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895344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흐름 화살표"/>
          <p:cNvSpPr/>
          <p:nvPr/>
        </p:nvSpPr>
        <p:spPr>
          <a:xfrm>
            <a:off x="4279392" y="2770632"/>
            <a:ext cx="274320" cy="310896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5376" y="4370832"/>
            <a:ext cx="5413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반복 계산은 서비스가 처리하고, 담당자는 판단·수정·공유에 집중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화면 ①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연보·검수 현황 한눈에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연보를 등록하고 검수를 실행한 뒤, 오류가 있는 통계와 전체 현황을 확인합니다.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9" name="이미지 삽입_메인 페이지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메인 페이지 이미지 삽입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목록·검수 실행·상태 요약이 보이는 화면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메인 페이지에서 하는 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등록·검수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대상 연보 선택 후 검수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통계 자동 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확인이 필요한 통계를 우선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현황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정상·확인 필요·오류 의심 집계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315968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연보 선택  →  검수 실행  →  결과 요약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화면 ②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위치 확인부터 수정까지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 상세 화면에서 문제 위치와 근거를 확인하고 바로 수정할 수 있습니다.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9" name="이미지 삽입_통계 상세 페이지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통계 상세 페이지 이미지 삽입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하이라이트 셀·검수 내역·수정 화면이 보이는 화면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상세 화면에서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 하이라이트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어떤 위치에 문제가 있는지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내역·근거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현재값·기대값·근거 셀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값·구조를 화면에서 편집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425196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문제 위치 확인  →  근거 검토
→  내용 수정  →  재검수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이용 흐름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등록부터 재검수까지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결과에 문제가 있으면 수정·재검수를 반복하고, 오류가 없으면 결과를 내려받습니다.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1947672"/>
            <a:ext cx="6144768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이용 흐름_01"/>
          <p:cNvSpPr/>
          <p:nvPr/>
        </p:nvSpPr>
        <p:spPr>
          <a:xfrm>
            <a:off x="969264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847088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350008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파일·연도 선택</a:t>
            </a:r>
          </a:p>
        </p:txBody>
      </p:sp>
      <p:sp>
        <p:nvSpPr>
          <p:cNvPr id="14" name="이용 흐름_02"/>
          <p:cNvSpPr/>
          <p:nvPr/>
        </p:nvSpPr>
        <p:spPr>
          <a:xfrm>
            <a:off x="3017520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847088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7" y="2350008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63347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항목 선택</a:t>
            </a:r>
          </a:p>
        </p:txBody>
      </p:sp>
      <p:sp>
        <p:nvSpPr>
          <p:cNvPr id="18" name="이용 흐름_03"/>
          <p:cNvSpPr/>
          <p:nvPr/>
        </p:nvSpPr>
        <p:spPr>
          <a:xfrm>
            <a:off x="5065776" y="1737360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1847088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2350008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63347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위치·근거</a:t>
            </a:r>
          </a:p>
        </p:txBody>
      </p:sp>
      <p:sp>
        <p:nvSpPr>
          <p:cNvPr id="22" name="이용 흐름_04"/>
          <p:cNvSpPr/>
          <p:nvPr/>
        </p:nvSpPr>
        <p:spPr>
          <a:xfrm>
            <a:off x="7114032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1847088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350008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완성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63347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없는 결과
표·검수 리포트 내려받기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664208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오류 없음?  →  예</a:t>
            </a:r>
          </a:p>
        </p:txBody>
      </p:sp>
      <p:sp>
        <p:nvSpPr>
          <p:cNvPr id="27" name="아래 흐름 화살표"/>
          <p:cNvSpPr/>
          <p:nvPr/>
        </p:nvSpPr>
        <p:spPr>
          <a:xfrm>
            <a:off x="5175504" y="2944368"/>
            <a:ext cx="219456" cy="310896"/>
          </a:xfrm>
          <a:prstGeom prst="downArrow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246120"/>
            <a:ext cx="13167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아니오  ·  오류 있음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31136" y="3538728"/>
            <a:ext cx="3703320" cy="749808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730752"/>
            <a:ext cx="96926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3986784"/>
            <a:ext cx="10607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셀·표 정보</a:t>
            </a:r>
          </a:p>
        </p:txBody>
      </p:sp>
      <p:sp>
        <p:nvSpPr>
          <p:cNvPr id="32" name="수정에서 재검수"/>
          <p:cNvSpPr/>
          <p:nvPr/>
        </p:nvSpPr>
        <p:spPr>
          <a:xfrm>
            <a:off x="4041648" y="3730752"/>
            <a:ext cx="365760" cy="237744"/>
          </a:xfrm>
          <a:prstGeom prst="leftArrow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2" y="3730752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재검수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8064" y="3986784"/>
            <a:ext cx="115214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변경된 표 다시 확인</a:t>
            </a:r>
          </a:p>
        </p:txBody>
      </p:sp>
      <p:sp>
        <p:nvSpPr>
          <p:cNvPr id="35" name="검수 실행으로 복귀"/>
          <p:cNvSpPr/>
          <p:nvPr/>
        </p:nvSpPr>
        <p:spPr>
          <a:xfrm>
            <a:off x="3191256" y="2834640"/>
            <a:ext cx="329184" cy="749808"/>
          </a:xfrm>
          <a:prstGeom prst="up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5728" y="4370832"/>
            <a:ext cx="34015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검수 실행으로 다시 돌아가 반복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1단계 · 연보 등록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등록과 통계표 재구성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파일을 읽어 통계별 제목·번호·내용을 저장하고 플랫폼 화면으로 재구성합니다.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9" name="이미지 삽입_연보 통계 예시"/>
          <p:cNvSpPr/>
          <p:nvPr/>
        </p:nvSpPr>
        <p:spPr>
          <a:xfrm>
            <a:off x="438912" y="1417320"/>
            <a:ext cx="2980944" cy="2331720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50292" cy="233172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1991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106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실제 연보의 통계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032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안의 통계표 이미지</a:t>
            </a:r>
          </a:p>
        </p:txBody>
      </p:sp>
      <p:sp>
        <p:nvSpPr>
          <p:cNvPr id="14" name="이미지 삽입_플랫폼 등록 통계"/>
          <p:cNvSpPr/>
          <p:nvPr/>
        </p:nvSpPr>
        <p:spPr>
          <a:xfrm>
            <a:off x="5724144" y="1417320"/>
            <a:ext cx="2980944" cy="2331720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24144" y="1417320"/>
            <a:ext cx="50292" cy="233172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3" y="21991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6106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플랫폼에 등록된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9032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 내용이 재구성된 화면</a:t>
            </a:r>
          </a:p>
        </p:txBody>
      </p:sp>
      <p:sp>
        <p:nvSpPr>
          <p:cNvPr id="19" name="흐름 화살표"/>
          <p:cNvSpPr/>
          <p:nvPr/>
        </p:nvSpPr>
        <p:spPr>
          <a:xfrm>
            <a:off x="3566160" y="2395728"/>
            <a:ext cx="310896" cy="310896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8496" y="1847088"/>
            <a:ext cx="1207008" cy="1426464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2084831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업로드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8224" y="2578608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HWPX   ·   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889504"/>
            <a:ext cx="914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지원 확장자</a:t>
            </a:r>
          </a:p>
        </p:txBody>
      </p:sp>
      <p:sp>
        <p:nvSpPr>
          <p:cNvPr id="24" name="흐름 화살표"/>
          <p:cNvSpPr/>
          <p:nvPr/>
        </p:nvSpPr>
        <p:spPr>
          <a:xfrm>
            <a:off x="5285232" y="2395728"/>
            <a:ext cx="310896" cy="310896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1421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968496"/>
            <a:ext cx="20391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파일 읽기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215383"/>
            <a:ext cx="203911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내용을 파싱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401421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7" y="3968496"/>
            <a:ext cx="20391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정보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7" y="4215383"/>
            <a:ext cx="203911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제목·번호·표·기본 정보를 데이터베이스에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38144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01421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3968496"/>
            <a:ext cx="20391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4215383"/>
            <a:ext cx="203911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독립된 게시물로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4553712"/>
            <a:ext cx="493776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연보는 독립된 게시물이며 수정 및 삭제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2단계 · 검수 실행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지원 검수 6종과 처리 방식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6가지 검수를 지원하며, 처리 방식과 결과 상태가 항목마다 다릅니다.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417320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4종  규칙·통계 기반 검수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728216"/>
            <a:ext cx="507492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10512"/>
            <a:ext cx="4892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구조와 계산 관계를 미리 구성한 기준으로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4884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459736"/>
            <a:ext cx="17922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계·합계·소계를 다시 합산</a:t>
            </a:r>
          </a:p>
        </p:txBody>
      </p:sp>
      <p:sp>
        <p:nvSpPr>
          <p:cNvPr id="15" name="라벨_오류 의심"/>
          <p:cNvSpPr/>
          <p:nvPr/>
        </p:nvSpPr>
        <p:spPr>
          <a:xfrm>
            <a:off x="1764792" y="2130552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라벨 텍스트_오류 의심"/>
          <p:cNvSpPr txBox="1"/>
          <p:nvPr/>
        </p:nvSpPr>
        <p:spPr>
          <a:xfrm>
            <a:off x="1764792" y="2130552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898648"/>
            <a:ext cx="1810512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14884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459736"/>
            <a:ext cx="17922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비율·구성비·증감 값을 재계산</a:t>
            </a:r>
          </a:p>
        </p:txBody>
      </p:sp>
      <p:sp>
        <p:nvSpPr>
          <p:cNvPr id="20" name="라벨_오류 의심"/>
          <p:cNvSpPr/>
          <p:nvPr/>
        </p:nvSpPr>
        <p:spPr>
          <a:xfrm>
            <a:off x="3995928" y="2130552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라벨 텍스트_오류 의심"/>
          <p:cNvSpPr txBox="1"/>
          <p:nvPr/>
        </p:nvSpPr>
        <p:spPr>
          <a:xfrm>
            <a:off x="3995928" y="2130552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2898648"/>
            <a:ext cx="1810512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2461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557015"/>
            <a:ext cx="17922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단위·기준일·출처 확인</a:t>
            </a:r>
          </a:p>
        </p:txBody>
      </p:sp>
      <p:sp>
        <p:nvSpPr>
          <p:cNvPr id="25" name="라벨_확인 필요"/>
          <p:cNvSpPr/>
          <p:nvPr/>
        </p:nvSpPr>
        <p:spPr>
          <a:xfrm>
            <a:off x="1764792" y="3227832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라벨 텍스트_확인 필요"/>
          <p:cNvSpPr txBox="1"/>
          <p:nvPr/>
        </p:nvSpPr>
        <p:spPr>
          <a:xfrm>
            <a:off x="1764792" y="3227832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995928"/>
            <a:ext cx="1810512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2461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557015"/>
            <a:ext cx="17922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다른 값과 차이가 큰 수치 후보</a:t>
            </a:r>
          </a:p>
        </p:txBody>
      </p:sp>
      <p:sp>
        <p:nvSpPr>
          <p:cNvPr id="30" name="라벨_확인 필요"/>
          <p:cNvSpPr/>
          <p:nvPr/>
        </p:nvSpPr>
        <p:spPr>
          <a:xfrm>
            <a:off x="3995928" y="3227832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확인 필요"/>
          <p:cNvSpPr txBox="1"/>
          <p:nvPr/>
        </p:nvSpPr>
        <p:spPr>
          <a:xfrm>
            <a:off x="3995928" y="3227832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995928"/>
            <a:ext cx="1810512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1307592"/>
            <a:ext cx="2944368" cy="327355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1417320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2종  LLM 기반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6752" y="1728216"/>
            <a:ext cx="239572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1675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1819656"/>
            <a:ext cx="23408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공식 용어·이전 결과를 먼저 적용하고
남은 후보만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496312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807208"/>
            <a:ext cx="22128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철자·문자 깨짐·표기 불일치</a:t>
            </a:r>
          </a:p>
        </p:txBody>
      </p:sp>
      <p:sp>
        <p:nvSpPr>
          <p:cNvPr id="40" name="라벨_오류 의심"/>
          <p:cNvSpPr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라벨 텍스트_오류 의심"/>
          <p:cNvSpPr txBox="1"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15468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3456432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767328"/>
            <a:ext cx="22128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한글·영문 의미 대응 확인</a:t>
            </a:r>
          </a:p>
        </p:txBody>
      </p:sp>
      <p:sp>
        <p:nvSpPr>
          <p:cNvPr id="45" name="라벨_확인 필요"/>
          <p:cNvSpPr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라벨 텍스트_확인 필요"/>
          <p:cNvSpPr txBox="1"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11480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83080" y="4425696"/>
            <a:ext cx="5577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 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합계·비율·오탈자    </a:t>
            </a:r>
            <a:r>
              <a:rPr sz="86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 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메타데이터·이상치·번역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기준 생성 방식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표마다 달라지는 검수 기준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구조와 통계 특성을 단계적으로 분석해 각 표에 적용할 검수를 결정합니다.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737360"/>
            <a:ext cx="7260336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검수 기준_01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3677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066543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공통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423160"/>
            <a:ext cx="181051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모든 표의 필수 정보 확인
숫자 열의 특이값 후보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209544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메타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47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209544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18" name="검수 기준_02"/>
          <p:cNvSpPr/>
          <p:nvPr/>
        </p:nvSpPr>
        <p:spPr>
          <a:xfrm>
            <a:off x="256032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63677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066543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유형별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423160"/>
            <a:ext cx="181051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지역별·연도별 등 구조 파악
전국계와 지역 값 관계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203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3209544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24" name="검수 기준_03"/>
          <p:cNvSpPr/>
          <p:nvPr/>
        </p:nvSpPr>
        <p:spPr>
          <a:xfrm>
            <a:off x="4663440" y="1536192"/>
            <a:ext cx="411480" cy="41148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63677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066543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표별 자동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2423160"/>
            <a:ext cx="181051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 항목 탐색
분자·분모·증감 관계 탐색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209544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09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0952" y="3209544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32" name="검수 기준_04"/>
          <p:cNvSpPr/>
          <p:nvPr/>
        </p:nvSpPr>
        <p:spPr>
          <a:xfrm>
            <a:off x="6766559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163677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066543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통계별 예외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2423160"/>
            <a:ext cx="181051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담당자가 확인한 규칙 반영
고정 셀·분할표 예외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48272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209544"/>
            <a:ext cx="4206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14616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4616" y="3209544"/>
            <a:ext cx="4206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209544"/>
            <a:ext cx="4206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7304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47304" y="3209544"/>
            <a:ext cx="4206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685032"/>
            <a:ext cx="8010144" cy="384048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794760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표 구조 기준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7088" y="3776472"/>
            <a:ext cx="6355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공통 + 유형 + 표 자동 분석 + 예외 기준   →   합계 · 비율 · 메타데이터 · 이상치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187952"/>
            <a:ext cx="8010144" cy="38404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297680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언어 표현 기준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4279392"/>
            <a:ext cx="6355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 + 반복 표현 + 이전 검수 결과 + 남은 후보   →   오탈자 · 번역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구성값으로 합계 재계산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계·합계·소계와 표에 표시된 산식을 구성값에서 다시 계산합니다.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대상과 계산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지역별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세부 지역 값을 더해 전국계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전국 = 시·도 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행·열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같은 행의 열 또는 세부 행 합산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계 = 남 + 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명시 산식·분할표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a+b·a-b와 연결된 표 관계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c = a +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이미지 삽입_합계 검수 예시 이미지 삽입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합계 검수 예시 이미지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 합계 또는 산식 오류가 보이는 화면 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4297680"/>
            <a:ext cx="2724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구성값 합산  →  현재 합계와 비교  →  오류 의심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확인 화면  ·  오류 위치  ·  현재값  ·  재계산값  ·  판정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비율·증감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분자·분모와 전년값 재계산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비율·구성비·건당 값과 증감액·증감률을 다시 계산합니다.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대상과 계산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비율·구성비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항목 값과 전체 값을 분자·분모로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지역 ÷ 전체 ×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건당·인당 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건수·인원을 기준으로 원단위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건수 ÷ 인원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증감액·증감률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전년과 당해 값을 비교해 변화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(당해-전년)÷전년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이미지 삽입_비율·증감 검수 예시 이미지 삽입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비율·증감 검수 예시 이미지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 비율 또는 증감 산식 오류가 보이는 화면 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4297680"/>
            <a:ext cx="2724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총계는 비율 합산 X  →  합계 분자 ÷ 합계 분모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확인 화면  ·  오류 위치  ·  현재값  ·  재계산값  ·  판정 근거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오탈자·번역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후보를 줄인 뒤 LLM 검토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모든 텍스트를 바로 LLM에 보내지 않고, 후보를 줄인 뒤 남은 항목만 검토합니다.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8010144" cy="39319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63040"/>
            <a:ext cx="9875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후보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1444752"/>
            <a:ext cx="62727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제목 · 헤더 · 한글/영문 셀에서 검수할 문구를 수집</a:t>
            </a:r>
          </a:p>
        </p:txBody>
      </p:sp>
      <p:sp>
        <p:nvSpPr>
          <p:cNvPr id="12" name="아래 흐름 화살표"/>
          <p:cNvSpPr/>
          <p:nvPr/>
        </p:nvSpPr>
        <p:spPr>
          <a:xfrm>
            <a:off x="4425696" y="1819656"/>
            <a:ext cx="274320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40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용어·번역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32888"/>
            <a:ext cx="2432304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24912"/>
            <a:ext cx="232257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기관명  행정안전부
지역명  세종특별자치시·연기면</a:t>
            </a:r>
          </a:p>
        </p:txBody>
      </p:sp>
      <p:sp>
        <p:nvSpPr>
          <p:cNvPr id="17" name="아래 흐름 화살표"/>
          <p:cNvSpPr/>
          <p:nvPr/>
        </p:nvSpPr>
        <p:spPr>
          <a:xfrm>
            <a:off x="1664207" y="3246120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19456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148840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표현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2532888"/>
            <a:ext cx="2432304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2724912"/>
            <a:ext cx="232257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 · 합계 · 소계
연보 전체에서 자주 쓰는 표현</a:t>
            </a:r>
          </a:p>
        </p:txBody>
      </p:sp>
      <p:sp>
        <p:nvSpPr>
          <p:cNvPr id="22" name="아래 흐름 화살표"/>
          <p:cNvSpPr/>
          <p:nvPr/>
        </p:nvSpPr>
        <p:spPr>
          <a:xfrm>
            <a:off x="4453128" y="3246120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219456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2148840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이전 검수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532888"/>
            <a:ext cx="2432304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2724912"/>
            <a:ext cx="232257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같은 위치·문맥에서
담당자가 확인한 표현</a:t>
            </a:r>
          </a:p>
        </p:txBody>
      </p:sp>
      <p:sp>
        <p:nvSpPr>
          <p:cNvPr id="27" name="아래 흐름 화살표"/>
          <p:cNvSpPr/>
          <p:nvPr/>
        </p:nvSpPr>
        <p:spPr>
          <a:xfrm>
            <a:off x="7242048" y="3246120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40864" y="3575304"/>
            <a:ext cx="4462272" cy="4754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3712463"/>
            <a:ext cx="3877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남은 후보만 LLM 검수</a:t>
            </a:r>
          </a:p>
        </p:txBody>
      </p:sp>
      <p:sp>
        <p:nvSpPr>
          <p:cNvPr id="30" name="라벨_토큰 사용량 감소"/>
          <p:cNvSpPr/>
          <p:nvPr/>
        </p:nvSpPr>
        <p:spPr>
          <a:xfrm>
            <a:off x="786384" y="4114800"/>
            <a:ext cx="1207008" cy="256032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토큰 사용량 감소"/>
          <p:cNvSpPr txBox="1"/>
          <p:nvPr/>
        </p:nvSpPr>
        <p:spPr>
          <a:xfrm>
            <a:off x="786384" y="4114800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토큰 사용량 감소</a:t>
            </a:r>
          </a:p>
        </p:txBody>
      </p:sp>
      <p:sp>
        <p:nvSpPr>
          <p:cNvPr id="32" name="라벨_공식 표현 일관성"/>
          <p:cNvSpPr/>
          <p:nvPr/>
        </p:nvSpPr>
        <p:spPr>
          <a:xfrm>
            <a:off x="7150608" y="4114800"/>
            <a:ext cx="1207008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라벨 텍스트_공식 표현 일관성"/>
          <p:cNvSpPr txBox="1"/>
          <p:nvPr/>
        </p:nvSpPr>
        <p:spPr>
          <a:xfrm>
            <a:off x="7150608" y="4114800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공식 표현 일관성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4315968"/>
            <a:ext cx="4169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담당자 확인 전에는 원문을 자동으로 바꾸지 않음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메타데이터·이상치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누락 정보와 이상값 후보 확인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필수 정보의 누락과 통계적으로 차이가 큰 값을 ‘확인 필요’로 제시합니다.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399032"/>
            <a:ext cx="36758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 검수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709928"/>
            <a:ext cx="3675887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94767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1901952"/>
            <a:ext cx="319125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48840"/>
            <a:ext cx="319125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누락 여부 + 기존 기준 단위와 일치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423160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66090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615184"/>
            <a:ext cx="319125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기준일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862072"/>
            <a:ext cx="319125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입력 여부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136392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37413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328416"/>
            <a:ext cx="319125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575304"/>
            <a:ext cx="319125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입력 여부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849624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697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자동 확인 범위  ·  단위  ·  기준일  ·  출처</a:t>
            </a:r>
          </a:p>
        </p:txBody>
      </p:sp>
      <p:sp>
        <p:nvSpPr>
          <p:cNvPr id="25" name="라벨_확인 필요"/>
          <p:cNvSpPr/>
          <p:nvPr/>
        </p:nvSpPr>
        <p:spPr>
          <a:xfrm>
            <a:off x="3246120" y="4160520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라벨 텍스트_확인 필요"/>
          <p:cNvSpPr txBox="1"/>
          <p:nvPr/>
        </p:nvSpPr>
        <p:spPr>
          <a:xfrm>
            <a:off x="3246120" y="4160520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399032"/>
            <a:ext cx="4087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 검수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70992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1901952"/>
            <a:ext cx="36758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같은 숫자 열에서 값이 크게 벗어난 후보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889504"/>
            <a:ext cx="3429000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이상치 값_9"/>
          <p:cNvSpPr/>
          <p:nvPr/>
        </p:nvSpPr>
        <p:spPr>
          <a:xfrm>
            <a:off x="5102352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0906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4" name="이상치 값_10"/>
          <p:cNvSpPr/>
          <p:nvPr/>
        </p:nvSpPr>
        <p:spPr>
          <a:xfrm>
            <a:off x="5687568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0906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6" name="이상치 값_10"/>
          <p:cNvSpPr/>
          <p:nvPr/>
        </p:nvSpPr>
        <p:spPr>
          <a:xfrm>
            <a:off x="6272784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30906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8" name="이상치 값_11"/>
          <p:cNvSpPr/>
          <p:nvPr/>
        </p:nvSpPr>
        <p:spPr>
          <a:xfrm>
            <a:off x="6858000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0906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" name="이상치 값_43"/>
          <p:cNvSpPr/>
          <p:nvPr/>
        </p:nvSpPr>
        <p:spPr>
          <a:xfrm>
            <a:off x="7882127" y="2468880"/>
            <a:ext cx="201168" cy="201168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30906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  <p:sp>
        <p:nvSpPr>
          <p:cNvPr id="42" name="라벨_확인 필요"/>
          <p:cNvSpPr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라벨 텍스트_확인 필요"/>
          <p:cNvSpPr txBox="1"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3410712"/>
            <a:ext cx="338328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값이 5개 이상인 숫자 열
• 합계·소계 제외
• 표당 차이가 큰 값 최대 1건 제시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187952"/>
            <a:ext cx="3127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오류 확정이 아니라 담당자가 확인할 후보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수정·재검수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보호된 수정과 선택적 재검수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권한을 확인한 뒤 내용을 고치고, 변경 범위에 맞춰 다시 검수합니다.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389888"/>
            <a:ext cx="3712463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보호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700784"/>
            <a:ext cx="3712463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700784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2212848"/>
            <a:ext cx="2880360" cy="18288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수정 보호_01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12264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2578608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비밀번호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" y="2871216"/>
            <a:ext cx="1078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 확인</a:t>
            </a:r>
          </a:p>
        </p:txBody>
      </p:sp>
      <p:sp>
        <p:nvSpPr>
          <p:cNvPr id="17" name="수정 보호_02"/>
          <p:cNvSpPr/>
          <p:nvPr/>
        </p:nvSpPr>
        <p:spPr>
          <a:xfrm>
            <a:off x="1773936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2112264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78608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편집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871216"/>
            <a:ext cx="1078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값·행/열 수정</a:t>
            </a:r>
          </a:p>
        </p:txBody>
      </p:sp>
      <p:sp>
        <p:nvSpPr>
          <p:cNvPr id="21" name="수정 보호_03"/>
          <p:cNvSpPr/>
          <p:nvPr/>
        </p:nvSpPr>
        <p:spPr>
          <a:xfrm>
            <a:off x="2999232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2112264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2578608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2871216"/>
            <a:ext cx="1078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 내용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346704"/>
            <a:ext cx="3383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저장 즉시 검수 자동 실행 X  ·  담당자가 재검수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389888"/>
            <a:ext cx="4087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 원칙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700784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1700784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1911095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1865376"/>
            <a:ext cx="360273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값 변경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2112264"/>
            <a:ext cx="360273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계산 기준으로 현재 값 재검수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38658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255117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2505456"/>
            <a:ext cx="360273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구조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752344"/>
            <a:ext cx="360273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새로운 표 구조에 맞춰 기준 재생성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302666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319125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4064" y="3145536"/>
            <a:ext cx="360273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3392424"/>
            <a:ext cx="360273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이전 검수 결과 재사용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66674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3986784"/>
            <a:ext cx="8010144" cy="530352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151376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43" name="흐름 화살표"/>
          <p:cNvSpPr/>
          <p:nvPr/>
        </p:nvSpPr>
        <p:spPr>
          <a:xfrm>
            <a:off x="2231136" y="4123944"/>
            <a:ext cx="237744" cy="228600"/>
          </a:xfrm>
          <a:prstGeom prst="rightArrow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79776" y="4151376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재검수 필요</a:t>
            </a:r>
          </a:p>
        </p:txBody>
      </p:sp>
      <p:sp>
        <p:nvSpPr>
          <p:cNvPr id="45" name="흐름 화살표"/>
          <p:cNvSpPr/>
          <p:nvPr/>
        </p:nvSpPr>
        <p:spPr>
          <a:xfrm>
            <a:off x="4169664" y="4123944"/>
            <a:ext cx="237744" cy="228600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4" y="4151376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재검수 실행</a:t>
            </a:r>
          </a:p>
        </p:txBody>
      </p:sp>
      <p:sp>
        <p:nvSpPr>
          <p:cNvPr id="47" name="흐름 화살표"/>
          <p:cNvSpPr/>
          <p:nvPr/>
        </p:nvSpPr>
        <p:spPr>
          <a:xfrm>
            <a:off x="6108192" y="4123944"/>
            <a:ext cx="237744" cy="228600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151376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새 결과 갱신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결과 활용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표와 검수 리포트 내려받기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필요한 통계표와 검수 결과를 업무 목적에 맞춰 내려받습니다.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89888"/>
            <a:ext cx="13716" cy="32004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08760"/>
            <a:ext cx="4937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26464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20240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선택한 통계표를 검토·공유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87752"/>
            <a:ext cx="333756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선택한 통계표와 하위 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한글·영문 헤더와 셀 내용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단위·기준일·출처 등 표 정보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담당자 수정·검토용 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508760"/>
            <a:ext cx="4937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426464"/>
            <a:ext cx="2103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리포트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1920240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오류 확인 내역과 판정 근거 보고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587752"/>
            <a:ext cx="333756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의심·확인 필요 항목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셀과 근거 셀 위치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현재값·재계산값·판정 사유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정보 확인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416552"/>
            <a:ext cx="54498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필요한 범위와 검수 상태를 선택해 담당자 공유·수정·결과 보고에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기대효과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역할별 부담 감소, 협업 효율 향상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발간 담당자·통계 담당자·검수 진행자가 같은 화면과 기준으로 협업합니다.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9" name="역할_통계연보 담당자"/>
          <p:cNvSpPr/>
          <p:nvPr/>
        </p:nvSpPr>
        <p:spPr>
          <a:xfrm>
            <a:off x="1463040" y="1417320"/>
            <a:ext cx="475488" cy="475488"/>
          </a:xfrm>
          <a:prstGeom prst="ellipse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51790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66543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14016"/>
            <a:ext cx="2267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전체 진행 상황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035808"/>
            <a:ext cx="2066543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연보별 검수 상태 한눈에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통계와 수정 현황 공유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전 최종 결과 정리</a:t>
            </a:r>
          </a:p>
        </p:txBody>
      </p:sp>
      <p:sp>
        <p:nvSpPr>
          <p:cNvPr id="15" name="역할_각 통계 담당자"/>
          <p:cNvSpPr/>
          <p:nvPr/>
        </p:nvSpPr>
        <p:spPr>
          <a:xfrm>
            <a:off x="4261104" y="1417320"/>
            <a:ext cx="475488" cy="47548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51790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066543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각 통계 담당자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414016"/>
            <a:ext cx="2267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내 통계의 문제를 바로 수정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035808"/>
            <a:ext cx="2066543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셀과 근거를 빠르게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화면에서 직접 수정·저장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변경된 표 중심으로 재검수</a:t>
            </a:r>
          </a:p>
        </p:txBody>
      </p:sp>
      <p:sp>
        <p:nvSpPr>
          <p:cNvPr id="21" name="역할_검수 진행자"/>
          <p:cNvSpPr/>
          <p:nvPr/>
        </p:nvSpPr>
        <p:spPr>
          <a:xfrm>
            <a:off x="7059168" y="1417320"/>
            <a:ext cx="475488" cy="47548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151790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2066543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진행자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414016"/>
            <a:ext cx="2267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반복 계산 대신 판단에 집중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3035808"/>
            <a:ext cx="2066543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합계·비율 자동 재계산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확인 우선순위와 근거 제시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86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리포트로 결과 공유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4334256"/>
            <a:ext cx="7534656" cy="31089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416552"/>
            <a:ext cx="698601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시간 단축  ·  오류 누락 위험 감소  ·  공유·수정·재검수 흐름 단순화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향후 보완점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안전한 기관 운영을 위한 보완</a:t>
            </a:r>
          </a:p>
        </p:txBody>
      </p:sp>
      <p:sp>
        <p:nvSpPr>
          <p:cNvPr id="4" name="상단 구분선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슬라이드 부제목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 운영을 위해 권한·이력·AI 환경을 단계적으로 보완해야 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"/>
            <a:ext cx="1152144" cy="328142"/>
          </a:xfrm>
          <a:prstGeom prst="rect">
            <a:avLst/>
          </a:prstGeom>
        </p:spPr>
      </p:pic>
      <p:sp>
        <p:nvSpPr>
          <p:cNvPr id="7" name="하단 문구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완료보고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1737360"/>
            <a:ext cx="6172200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향후 보완_01"/>
          <p:cNvSpPr/>
          <p:nvPr/>
        </p:nvSpPr>
        <p:spPr>
          <a:xfrm>
            <a:off x="1444752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63677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권한·보안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880360"/>
            <a:ext cx="2066543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기관 계정과 통합 로그인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담당자별 역할·수정 권한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세션 만료·접속 제한</a:t>
            </a:r>
          </a:p>
        </p:txBody>
      </p:sp>
      <p:sp>
        <p:nvSpPr>
          <p:cNvPr id="15" name="향후 보완_02"/>
          <p:cNvSpPr/>
          <p:nvPr/>
        </p:nvSpPr>
        <p:spPr>
          <a:xfrm>
            <a:off x="4242816" y="1527048"/>
            <a:ext cx="438912" cy="438912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63677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194560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이력 기록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880360"/>
            <a:ext cx="2066543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셀 단위 변경 전·후 기록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수정자·시간·사유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되돌리기·변경 알림</a:t>
            </a:r>
          </a:p>
        </p:txBody>
      </p:sp>
      <p:sp>
        <p:nvSpPr>
          <p:cNvPr id="20" name="향후 보완_03"/>
          <p:cNvSpPr/>
          <p:nvPr/>
        </p:nvSpPr>
        <p:spPr>
          <a:xfrm>
            <a:off x="7040880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63677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2194560"/>
            <a:ext cx="22677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내부망·내부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2880360"/>
            <a:ext cx="2066543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 환경에 서비스 도입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외부 LLM을 내부 모델로 전환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민감 정보와 사용 이력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233672"/>
            <a:ext cx="6912864" cy="33832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8" y="4325112"/>
            <a:ext cx="627278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권한 체계 정비  →  변경 이력 관리  →  내부망·내부 모델 전환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통계연보 검수 보조 시스템</dc:title>
  <cp:lastModifiedBy>python-pptx</cp:lastModifiedBy>
  <cp:revision>1</cp:revision>
  <dcterms:modified xsi:type="dcterms:W3CDTF">2026-08-23T09:26:15Z</dcterms:modified>
  <dc:subject>통계연보 검수 업무 개선과 서비스 주요 기능</dc:subject>
  <dc:creator>행정안전부 데이터정보화담당관</dc:creator>
</cp:coreProperties>
</file>
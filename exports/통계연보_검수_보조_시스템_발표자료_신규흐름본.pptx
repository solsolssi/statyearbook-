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9"/>
  </p:sldIdLst>
  <p:sldSz cy="5143500" cx="9144000"/>
  <p:notesSz cx="6858000" cy="9144000"/>
  <p:embeddedFontLst>
    <p:embeddedFont>
      <p:font typeface="Noto Sans KR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466A9C-AF73-4E76-8EC6-081741966E7C}">
  <a:tblStyle styleId="{6D466A9C-AF73-4E76-8EC6-081741966E7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/>
      <a:tcStyle>
        <a:fill>
          <a:solidFill>
            <a:srgbClr val="CDD8FB"/>
          </a:solidFill>
        </a:fill>
      </a:tcStyle>
    </a:band1H>
    <a:band2H>
      <a:tcTxStyle/>
    </a:band2H>
    <a:band1V>
      <a:tcTxStyle/>
      <a:tcStyle>
        <a:fill>
          <a:solidFill>
            <a:srgbClr val="CDD8FB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9" Type="http://schemas.openxmlformats.org/officeDocument/2006/relationships/slide" Target="slides/slide17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font" Target="fonts/NotoSansKR-regular.fntdata"/><Relationship Id="rId26" Type="http://schemas.openxmlformats.org/officeDocument/2006/relationships/font" Target="fonts/NotoSansKR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●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○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■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●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○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■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●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○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■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57" name="Google Shape;57;p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" name="Google Shape;40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" type="subTitle"/>
          </p:nvPr>
        </p:nvSpPr>
        <p:spPr>
          <a:xfrm>
            <a:off x="457110" y="1203390"/>
            <a:ext cx="822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600"/>
              <a:buChar char="●"/>
              <a:defRPr/>
            </a:lvl1pPr>
            <a:lvl2pPr lvl="1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/>
            </a:lvl2pPr>
            <a:lvl3pPr lvl="2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■"/>
              <a:defRPr/>
            </a:lvl3pPr>
            <a:lvl4pPr lvl="3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  <a:defRPr/>
            </a:lvl4pPr>
            <a:lvl5pPr lvl="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○"/>
              <a:defRPr/>
            </a:lvl5pPr>
            <a:lvl6pPr lvl="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■"/>
              <a:defRPr/>
            </a:lvl6pPr>
            <a:lvl7pPr lvl="6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●"/>
              <a:defRPr/>
            </a:lvl7pPr>
            <a:lvl8pPr lvl="7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KR"/>
              <a:buChar char="●"/>
              <a:defRPr b="0" i="0" sz="18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○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■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●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○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■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●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○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■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2F6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09728"/>
            <a:ext cx="1325880" cy="37762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58368" y="1170432"/>
            <a:ext cx="36576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48A9C7"/>
                </a:solidFill>
                <a:latin typeface="Noto Sans KR"/>
                <a:ea typeface="Noto Sans KR"/>
                <a:cs typeface="Noto Sans KR"/>
              </a:rPr>
              <a:t>통계연보 발간 지원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1499616"/>
            <a:ext cx="6309360" cy="1325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통계연보 검수
보조 시스템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6656" y="3072384"/>
            <a:ext cx="6217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B7CCE6"/>
                </a:solidFill>
                <a:latin typeface="Noto Sans KR"/>
                <a:ea typeface="Noto Sans KR"/>
                <a:cs typeface="Noto Sans KR"/>
              </a:rPr>
              <a:t>반복 검수는 줄이고, 오류 확인과 수정은 한 흐름으로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" y="3456432"/>
            <a:ext cx="6217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FB2D8"/>
                </a:solidFill>
                <a:latin typeface="Noto Sans KR"/>
                <a:ea typeface="Noto Sans KR"/>
                <a:cs typeface="Noto Sans KR"/>
              </a:rPr>
              <a:t>검수·수정·재검수·결과 공유를 하나의 플랫폼에서 지원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1280160"/>
            <a:ext cx="192024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" y="4590288"/>
            <a:ext cx="6126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B7CCE6"/>
                </a:solidFill>
                <a:latin typeface="Noto Sans KR"/>
                <a:ea typeface="Noto Sans KR"/>
                <a:cs typeface="Noto Sans KR"/>
              </a:rPr>
              <a:t>청년인턴 중간보고  |  행정안전부 데이터정보화담당관  |  2026. 8.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94192" y="4608576"/>
            <a:ext cx="274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B7CCE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통계연보 발간과 검수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정확한 통계 정보를 제공하기 위해 발간 전 검수는 반드시 필요합니다.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73152"/>
            <a:ext cx="1371600" cy="390646"/>
          </a:xfrm>
          <a:prstGeom prst="rect">
            <a:avLst/>
          </a:prstGeom>
        </p:spPr>
      </p:pic>
      <p:sp>
        <p:nvSpPr>
          <p:cNvPr id="5" name="제목 구분선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슬라이드 부제목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통계연보 발간 전, 왜 검수가 필요한가</a:t>
            </a:r>
          </a:p>
        </p:txBody>
      </p:sp>
      <p:sp>
        <p:nvSpPr>
          <p:cNvPr id="7" name="하단 문구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중간보고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9" name="이미지 삽입_통계연보 예시"/>
          <p:cNvSpPr/>
          <p:nvPr/>
        </p:nvSpPr>
        <p:spPr>
          <a:xfrm>
            <a:off x="502920" y="1810512"/>
            <a:ext cx="5257800" cy="263347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CAD5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3220" y="2734056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72968"/>
            <a:ext cx="48006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통계연보 예시 이미지 삽입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65576"/>
            <a:ext cx="4800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표지 또는 여러 통계표가 보이는 화면 권장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53328" y="1828800"/>
            <a:ext cx="41148" cy="32004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865376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통계연보 발간 과정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53328" y="2286000"/>
            <a:ext cx="256032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53328" y="2286000"/>
            <a:ext cx="41148" cy="493776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423160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2359152"/>
            <a:ext cx="19019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여러 데이터 취합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2569464"/>
            <a:ext cx="190195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부서·기관 자료를 한 권으로 정리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328" y="2862072"/>
            <a:ext cx="256032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53328" y="2862072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299923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4536" y="2935224"/>
            <a:ext cx="19019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발간 전 검수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4536" y="3145536"/>
            <a:ext cx="190195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정확한 정보 제공을 위한 마지막 확인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53328" y="3438144"/>
            <a:ext cx="256032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53328" y="3438144"/>
            <a:ext cx="41148" cy="493776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575303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4536" y="3511296"/>
            <a:ext cx="19019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여러 역할이 참여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4536" y="3721607"/>
            <a:ext cx="190195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담당자·주무관·청년인턴 협업</a:t>
            </a:r>
          </a:p>
        </p:txBody>
      </p:sp>
      <p:sp>
        <p:nvSpPr>
          <p:cNvPr id="30" name="라벨_데이터 취합"/>
          <p:cNvSpPr/>
          <p:nvPr/>
        </p:nvSpPr>
        <p:spPr>
          <a:xfrm>
            <a:off x="6172200" y="4133087"/>
            <a:ext cx="749808" cy="2468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라벨 텍스트_데이터 취합"/>
          <p:cNvSpPr txBox="1"/>
          <p:nvPr/>
        </p:nvSpPr>
        <p:spPr>
          <a:xfrm>
            <a:off x="6172200" y="4133087"/>
            <a:ext cx="749808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데이터 취합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169663"/>
            <a:ext cx="2560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3" name="라벨_검수"/>
          <p:cNvSpPr/>
          <p:nvPr/>
        </p:nvSpPr>
        <p:spPr>
          <a:xfrm>
            <a:off x="7232904" y="4133087"/>
            <a:ext cx="566928" cy="2468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라벨 텍스트_검수"/>
          <p:cNvSpPr txBox="1"/>
          <p:nvPr/>
        </p:nvSpPr>
        <p:spPr>
          <a:xfrm>
            <a:off x="7232904" y="4133087"/>
            <a:ext cx="566928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검수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27264" y="4169663"/>
            <a:ext cx="2560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6" name="라벨_발간"/>
          <p:cNvSpPr/>
          <p:nvPr/>
        </p:nvSpPr>
        <p:spPr>
          <a:xfrm>
            <a:off x="8110727" y="4133087"/>
            <a:ext cx="566928" cy="2468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라벨 텍스트_발간"/>
          <p:cNvSpPr txBox="1"/>
          <p:nvPr/>
        </p:nvSpPr>
        <p:spPr>
          <a:xfrm>
            <a:off x="8110727" y="4133087"/>
            <a:ext cx="566928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발간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검수 업무의 어려움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300개 이상의 표를 반복 확인하고 오류를 공유·수정하는 과정은 시간이 많이 듭니다.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73152"/>
            <a:ext cx="1371600" cy="390646"/>
          </a:xfrm>
          <a:prstGeom prst="rect">
            <a:avLst/>
          </a:prstGeom>
        </p:spPr>
      </p:pic>
      <p:sp>
        <p:nvSpPr>
          <p:cNvPr id="5" name="제목 구분선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슬라이드 부제목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반복 검수에서 협업 플랫폼으로</a:t>
            </a:r>
          </a:p>
        </p:txBody>
      </p:sp>
      <p:sp>
        <p:nvSpPr>
          <p:cNvPr id="7" name="하단 문구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중간보고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41148" cy="32004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65376"/>
            <a:ext cx="35661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AS-IS  사람이 반복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828800"/>
            <a:ext cx="41148" cy="32004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865376"/>
            <a:ext cx="35661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TO-BE  서비스가 반복 업무 지원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331720"/>
            <a:ext cx="3584448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331720"/>
            <a:ext cx="41148" cy="493776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468879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2404872"/>
            <a:ext cx="2926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300개+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" y="2615184"/>
            <a:ext cx="29260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표를 하나씩 반복 확인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10912" y="2331720"/>
            <a:ext cx="3584448" cy="493776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10912" y="2331720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9784" y="2468879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2404872"/>
            <a:ext cx="2926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자동 계산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2615184"/>
            <a:ext cx="29260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합계·비율을 구성값에서 다시 계산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953512"/>
            <a:ext cx="3584448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2953512"/>
            <a:ext cx="41148" cy="493776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09067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" y="3026664"/>
            <a:ext cx="2926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누락 위험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" y="3236976"/>
            <a:ext cx="29260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계산 오류·오탈자를 놓치기 쉬움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10912" y="2953512"/>
            <a:ext cx="3584448" cy="493776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10912" y="2953512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9784" y="309067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026664"/>
            <a:ext cx="2926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근거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3236976"/>
            <a:ext cx="29260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문제 셀과 판정 근거를 한눈에 확인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575304"/>
            <a:ext cx="3584448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3575304"/>
            <a:ext cx="41148" cy="493776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712464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" y="3648456"/>
            <a:ext cx="2926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복잡한 공유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" y="3858768"/>
            <a:ext cx="29260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오류 전달·수정 반영·재확인이 분산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10912" y="3575304"/>
            <a:ext cx="3584448" cy="493776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10912" y="3575304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9784" y="3712464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2120" y="3648456"/>
            <a:ext cx="2926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한 곳에서 협업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3858768"/>
            <a:ext cx="29260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수정·재검수·결과 공유까지 연결</a:t>
            </a:r>
          </a:p>
        </p:txBody>
      </p:sp>
      <p:sp>
        <p:nvSpPr>
          <p:cNvPr id="43" name="흐름 화살표"/>
          <p:cNvSpPr/>
          <p:nvPr/>
        </p:nvSpPr>
        <p:spPr>
          <a:xfrm>
            <a:off x="4315968" y="2916936"/>
            <a:ext cx="420624" cy="402336"/>
          </a:xfrm>
          <a:prstGeom prst="rightArrow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4400" y="4443984"/>
            <a:ext cx="7315200" cy="237744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4489704"/>
            <a:ext cx="6858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반복 계산은 서비스가 처리하고, 담당자는 판단·수정·공유에 집중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서비스 화면 ①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연보를 등록하고 검수를 실행한 뒤, 오류가 있는 통계와 전체 현황을 확인합니다.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73152"/>
            <a:ext cx="1371600" cy="390646"/>
          </a:xfrm>
          <a:prstGeom prst="rect">
            <a:avLst/>
          </a:prstGeom>
        </p:spPr>
      </p:pic>
      <p:sp>
        <p:nvSpPr>
          <p:cNvPr id="5" name="제목 구분선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슬라이드 부제목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메인 페이지에서 연보와 검수 현황을 한눈에</a:t>
            </a:r>
          </a:p>
        </p:txBody>
      </p:sp>
      <p:sp>
        <p:nvSpPr>
          <p:cNvPr id="7" name="하단 문구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중간보고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9" name="이미지 삽입_메인 페이지"/>
          <p:cNvSpPr/>
          <p:nvPr/>
        </p:nvSpPr>
        <p:spPr>
          <a:xfrm>
            <a:off x="502920" y="1792224"/>
            <a:ext cx="5577840" cy="2761488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CAD5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779775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18687"/>
            <a:ext cx="5120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메인 페이지 이미지 삽입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11296"/>
            <a:ext cx="51206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연보 목록·검수 실행·상태 요약이 보이는 화면 권장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7648" y="1819656"/>
            <a:ext cx="41148" cy="32004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56231"/>
            <a:ext cx="21031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메인 페이지에서 하는 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7648" y="2286000"/>
            <a:ext cx="228600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7648" y="2286000"/>
            <a:ext cx="41148" cy="493776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423160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8856" y="2359152"/>
            <a:ext cx="16276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연보 등록·검수 시작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8856" y="2569464"/>
            <a:ext cx="162763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대상 연보 선택 후 검수 실행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7648" y="2871216"/>
            <a:ext cx="228600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27648" y="2871216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008376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8856" y="2944368"/>
            <a:ext cx="16276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오류 통계 자동 분류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6" y="3154680"/>
            <a:ext cx="162763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확인이 필요한 통계를 우선 표시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7648" y="3456432"/>
            <a:ext cx="228600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27648" y="3456432"/>
            <a:ext cx="41148" cy="493776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593591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8856" y="3529584"/>
            <a:ext cx="16276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검수 현황 요약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48856" y="3739896"/>
            <a:ext cx="162763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정상·확인 필요·오류 의심 집계</a:t>
            </a:r>
          </a:p>
        </p:txBody>
      </p:sp>
      <p:sp>
        <p:nvSpPr>
          <p:cNvPr id="30" name="라벨_연보 선택"/>
          <p:cNvSpPr/>
          <p:nvPr/>
        </p:nvSpPr>
        <p:spPr>
          <a:xfrm>
            <a:off x="6419088" y="4151376"/>
            <a:ext cx="658368" cy="2468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라벨 텍스트_연보 선택"/>
          <p:cNvSpPr txBox="1"/>
          <p:nvPr/>
        </p:nvSpPr>
        <p:spPr>
          <a:xfrm>
            <a:off x="6419088" y="4151376"/>
            <a:ext cx="658368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연보 선택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4187952"/>
            <a:ext cx="2560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3" name="라벨_검수 실행"/>
          <p:cNvSpPr/>
          <p:nvPr/>
        </p:nvSpPr>
        <p:spPr>
          <a:xfrm>
            <a:off x="7406640" y="4151376"/>
            <a:ext cx="713232" cy="2468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라벨 텍스트_검수 실행"/>
          <p:cNvSpPr txBox="1"/>
          <p:nvPr/>
        </p:nvSpPr>
        <p:spPr>
          <a:xfrm>
            <a:off x="7406640" y="4151376"/>
            <a:ext cx="71323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검수 실행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7304" y="4187952"/>
            <a:ext cx="2560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6" name="라벨_결과 요약"/>
          <p:cNvSpPr/>
          <p:nvPr/>
        </p:nvSpPr>
        <p:spPr>
          <a:xfrm>
            <a:off x="8403336" y="4151376"/>
            <a:ext cx="713232" cy="2468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라벨 텍스트_결과 요약"/>
          <p:cNvSpPr txBox="1"/>
          <p:nvPr/>
        </p:nvSpPr>
        <p:spPr>
          <a:xfrm>
            <a:off x="8403336" y="4151376"/>
            <a:ext cx="71323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결과 요약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서비스 화면 ②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통계 상세 화면에서 문제 위치와 근거를 확인하고 바로 수정할 수 있습니다.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73152"/>
            <a:ext cx="1371600" cy="390646"/>
          </a:xfrm>
          <a:prstGeom prst="rect">
            <a:avLst/>
          </a:prstGeom>
        </p:spPr>
      </p:pic>
      <p:sp>
        <p:nvSpPr>
          <p:cNvPr id="5" name="제목 구분선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슬라이드 부제목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문제 셀을 확인하고 바로 수정</a:t>
            </a:r>
          </a:p>
        </p:txBody>
      </p:sp>
      <p:sp>
        <p:nvSpPr>
          <p:cNvPr id="7" name="하단 문구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중간보고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9" name="이미지 삽입_통계 상세 페이지"/>
          <p:cNvSpPr/>
          <p:nvPr/>
        </p:nvSpPr>
        <p:spPr>
          <a:xfrm>
            <a:off x="502920" y="1792224"/>
            <a:ext cx="5577840" cy="2761488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CAD5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779775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18687"/>
            <a:ext cx="5120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통계 상세 페이지 이미지 삽입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11296"/>
            <a:ext cx="51206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하이라이트 셀·검수 내역·수정 화면이 보이는 화면 권장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7648" y="1819656"/>
            <a:ext cx="41148" cy="32004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56231"/>
            <a:ext cx="21031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상세 화면에서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7648" y="2286000"/>
            <a:ext cx="2286000" cy="493776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7648" y="2286000"/>
            <a:ext cx="41148" cy="493776"/>
          </a:xfrm>
          <a:prstGeom prst="rect">
            <a:avLst/>
          </a:prstGeom>
          <a:solidFill>
            <a:srgbClr val="C946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423160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8856" y="2359152"/>
            <a:ext cx="16276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문제 셀 하이라이트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8856" y="2569464"/>
            <a:ext cx="162763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어떤 위치에 문제가 있는지 표시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7648" y="2871216"/>
            <a:ext cx="228600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27648" y="2871216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008376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8856" y="2944368"/>
            <a:ext cx="16276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검수 내역·근거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6" y="3154680"/>
            <a:ext cx="162763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현재값·기대값·근거 셀 확인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7648" y="3456432"/>
            <a:ext cx="2286000" cy="493776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27648" y="3456432"/>
            <a:ext cx="41148" cy="493776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593591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8856" y="3529584"/>
            <a:ext cx="16276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내용 수정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48856" y="3739896"/>
            <a:ext cx="162763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표 정보·셀 값·구조를 화면에서 편집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443984"/>
            <a:ext cx="7315200" cy="237744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4489704"/>
            <a:ext cx="6858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 위치 확인 → 근거 검토 → 내용 수정 → 재검수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서비스 이용 흐름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검수 결과에 문제가 있으면 수정·재검수를 반복하고, 오류가 없으면 결과를 내려받습니다.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73152"/>
            <a:ext cx="1371600" cy="390646"/>
          </a:xfrm>
          <a:prstGeom prst="rect">
            <a:avLst/>
          </a:prstGeom>
        </p:spPr>
      </p:pic>
      <p:sp>
        <p:nvSpPr>
          <p:cNvPr id="5" name="제목 구분선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슬라이드 부제목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연보 등록부터 재검수까지 반복되는 흐름</a:t>
            </a:r>
          </a:p>
        </p:txBody>
      </p:sp>
      <p:sp>
        <p:nvSpPr>
          <p:cNvPr id="7" name="하단 문구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중간보고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83664"/>
            <a:ext cx="1325880" cy="74980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83664"/>
            <a:ext cx="41148" cy="749808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002536"/>
            <a:ext cx="1014983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1  연보 등록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276856"/>
            <a:ext cx="1014983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파일·연도 선택</a:t>
            </a:r>
          </a:p>
        </p:txBody>
      </p:sp>
      <p:sp>
        <p:nvSpPr>
          <p:cNvPr id="13" name="흐름 화살표"/>
          <p:cNvSpPr/>
          <p:nvPr/>
        </p:nvSpPr>
        <p:spPr>
          <a:xfrm>
            <a:off x="1883664" y="2084831"/>
            <a:ext cx="274320" cy="310896"/>
          </a:xfrm>
          <a:prstGeom prst="rightArrow">
            <a:avLst/>
          </a:prstGeom>
          <a:solidFill>
            <a:srgbClr val="48A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2848" y="1883664"/>
            <a:ext cx="1325880" cy="74980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2848" y="1883664"/>
            <a:ext cx="41148" cy="749808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2002536"/>
            <a:ext cx="1014983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2  검수 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276856"/>
            <a:ext cx="1014983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검수 항목 선택</a:t>
            </a:r>
          </a:p>
        </p:txBody>
      </p:sp>
      <p:sp>
        <p:nvSpPr>
          <p:cNvPr id="18" name="흐름 화살표"/>
          <p:cNvSpPr/>
          <p:nvPr/>
        </p:nvSpPr>
        <p:spPr>
          <a:xfrm>
            <a:off x="3593592" y="2084831"/>
            <a:ext cx="274320" cy="310896"/>
          </a:xfrm>
          <a:prstGeom prst="rightArrow">
            <a:avLst/>
          </a:prstGeom>
          <a:solidFill>
            <a:srgbClr val="48A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22776" y="1883664"/>
            <a:ext cx="1325880" cy="74980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22776" y="1883664"/>
            <a:ext cx="41148" cy="749808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87368" y="2002536"/>
            <a:ext cx="1014983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3  결과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7368" y="2276856"/>
            <a:ext cx="1014983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문제 위치·근거</a:t>
            </a:r>
          </a:p>
        </p:txBody>
      </p:sp>
      <p:sp>
        <p:nvSpPr>
          <p:cNvPr id="23" name="흐름 화살표"/>
          <p:cNvSpPr/>
          <p:nvPr/>
        </p:nvSpPr>
        <p:spPr>
          <a:xfrm>
            <a:off x="5303520" y="2084831"/>
            <a:ext cx="274320" cy="310896"/>
          </a:xfrm>
          <a:prstGeom prst="rightArrow">
            <a:avLst/>
          </a:prstGeom>
          <a:solidFill>
            <a:srgbClr val="48A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판단_오류 없음"/>
          <p:cNvSpPr/>
          <p:nvPr/>
        </p:nvSpPr>
        <p:spPr>
          <a:xfrm>
            <a:off x="5650992" y="1810512"/>
            <a:ext cx="1143000" cy="932688"/>
          </a:xfrm>
          <a:prstGeom prst="diamond">
            <a:avLst/>
          </a:prstGeom>
          <a:solidFill>
            <a:srgbClr val="FFFFFF"/>
          </a:solidFill>
          <a:ln w="15240">
            <a:solidFill>
              <a:srgbClr val="1F5A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3872" y="2084831"/>
            <a:ext cx="77724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오류 없음?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1920240"/>
            <a:ext cx="2560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예</a:t>
            </a:r>
          </a:p>
        </p:txBody>
      </p:sp>
      <p:sp>
        <p:nvSpPr>
          <p:cNvPr id="27" name="흐름 화살표"/>
          <p:cNvSpPr/>
          <p:nvPr/>
        </p:nvSpPr>
        <p:spPr>
          <a:xfrm>
            <a:off x="6949440" y="2084831"/>
            <a:ext cx="274320" cy="310896"/>
          </a:xfrm>
          <a:prstGeom prst="rightArrow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78624" y="1883664"/>
            <a:ext cx="1353312" cy="749808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78624" y="1883664"/>
            <a:ext cx="41148" cy="749808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43216" y="2002536"/>
            <a:ext cx="1042415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4  연보 완성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2276856"/>
            <a:ext cx="1042415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오류 없는 결과</a:t>
            </a:r>
          </a:p>
        </p:txBody>
      </p:sp>
      <p:sp>
        <p:nvSpPr>
          <p:cNvPr id="32" name="아래 흐름 화살표"/>
          <p:cNvSpPr/>
          <p:nvPr/>
        </p:nvSpPr>
        <p:spPr>
          <a:xfrm>
            <a:off x="7808975" y="2761488"/>
            <a:ext cx="292608" cy="310896"/>
          </a:xfrm>
          <a:prstGeom prst="downArrow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라벨_표·검수 리포트 내려받기"/>
          <p:cNvSpPr/>
          <p:nvPr/>
        </p:nvSpPr>
        <p:spPr>
          <a:xfrm>
            <a:off x="6995160" y="3163824"/>
            <a:ext cx="1920240" cy="310896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라벨 텍스트_표·검수 리포트 내려받기"/>
          <p:cNvSpPr txBox="1"/>
          <p:nvPr/>
        </p:nvSpPr>
        <p:spPr>
          <a:xfrm>
            <a:off x="6995160" y="3163824"/>
            <a:ext cx="19202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표·검수 리포트 내려받기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71616" y="277063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아니오</a:t>
            </a:r>
          </a:p>
        </p:txBody>
      </p:sp>
      <p:sp>
        <p:nvSpPr>
          <p:cNvPr id="36" name="아래 흐름 화살표"/>
          <p:cNvSpPr/>
          <p:nvPr/>
        </p:nvSpPr>
        <p:spPr>
          <a:xfrm>
            <a:off x="6071616" y="2944368"/>
            <a:ext cx="292608" cy="310896"/>
          </a:xfrm>
          <a:prstGeom prst="downArrow">
            <a:avLst/>
          </a:prstGeom>
          <a:solidFill>
            <a:srgbClr val="C946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230368" y="3346704"/>
            <a:ext cx="1417320" cy="749808"/>
          </a:xfrm>
          <a:prstGeom prst="rect">
            <a:avLst/>
          </a:prstGeom>
          <a:solidFill>
            <a:srgbClr val="FFF4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230368" y="3346704"/>
            <a:ext cx="41148" cy="749808"/>
          </a:xfrm>
          <a:prstGeom prst="rect">
            <a:avLst/>
          </a:prstGeom>
          <a:solidFill>
            <a:srgbClr val="B978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59" y="3465576"/>
            <a:ext cx="110642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내용 수정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59" y="3739896"/>
            <a:ext cx="110642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문제 셀·표 정보</a:t>
            </a:r>
          </a:p>
        </p:txBody>
      </p:sp>
      <p:sp>
        <p:nvSpPr>
          <p:cNvPr id="41" name="재검수 방향"/>
          <p:cNvSpPr/>
          <p:nvPr/>
        </p:nvSpPr>
        <p:spPr>
          <a:xfrm>
            <a:off x="4828032" y="3547872"/>
            <a:ext cx="292608" cy="310896"/>
          </a:xfrm>
          <a:prstGeom prst="leftArrow">
            <a:avLst/>
          </a:prstGeom>
          <a:solidFill>
            <a:srgbClr val="48A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10128" y="3346704"/>
            <a:ext cx="1417320" cy="74980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10128" y="3346704"/>
            <a:ext cx="41148" cy="749808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0" y="3465576"/>
            <a:ext cx="110642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재검수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0" y="3739896"/>
            <a:ext cx="110642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변경된 표 다시 확인</a:t>
            </a:r>
          </a:p>
        </p:txBody>
      </p:sp>
      <p:sp>
        <p:nvSpPr>
          <p:cNvPr id="46" name="검수 반복 방향"/>
          <p:cNvSpPr/>
          <p:nvPr/>
        </p:nvSpPr>
        <p:spPr>
          <a:xfrm>
            <a:off x="2898648" y="3547872"/>
            <a:ext cx="292608" cy="310896"/>
          </a:xfrm>
          <a:prstGeom prst="leftArrow">
            <a:avLst/>
          </a:prstGeom>
          <a:solidFill>
            <a:srgbClr val="48A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검수 실행 복귀"/>
          <p:cNvSpPr/>
          <p:nvPr/>
        </p:nvSpPr>
        <p:spPr>
          <a:xfrm>
            <a:off x="2450592" y="2788920"/>
            <a:ext cx="347472" cy="1069848"/>
          </a:xfrm>
          <a:prstGeom prst="upArrow">
            <a:avLst/>
          </a:prstGeom>
          <a:solidFill>
            <a:srgbClr val="48A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4128" y="4197096"/>
            <a:ext cx="5577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검수 실행으로 다시 돌아가 반복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1단계 · 연보 등록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연보 파일을 읽어 통계별 제목·번호·내용을 저장하고 플랫폼 화면으로 재구성합니다.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73152"/>
            <a:ext cx="1371600" cy="390646"/>
          </a:xfrm>
          <a:prstGeom prst="rect">
            <a:avLst/>
          </a:prstGeom>
        </p:spPr>
      </p:pic>
      <p:sp>
        <p:nvSpPr>
          <p:cNvPr id="5" name="제목 구분선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슬라이드 부제목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연보 파일이 플랫폼의 통계 게시물로</a:t>
            </a:r>
          </a:p>
        </p:txBody>
      </p:sp>
      <p:sp>
        <p:nvSpPr>
          <p:cNvPr id="7" name="하단 문구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중간보고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9" name="이미지 삽입_연보 통계 예시"/>
          <p:cNvSpPr/>
          <p:nvPr/>
        </p:nvSpPr>
        <p:spPr>
          <a:xfrm>
            <a:off x="502920" y="1847088"/>
            <a:ext cx="274320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CAD5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19" y="2496312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35224"/>
            <a:ext cx="22860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실제 연보의 통계 예시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27832"/>
            <a:ext cx="2286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연보 안의 통계표 이미지</a:t>
            </a:r>
          </a:p>
        </p:txBody>
      </p:sp>
      <p:sp>
        <p:nvSpPr>
          <p:cNvPr id="13" name="흐름 화살표"/>
          <p:cNvSpPr/>
          <p:nvPr/>
        </p:nvSpPr>
        <p:spPr>
          <a:xfrm>
            <a:off x="3419856" y="2651760"/>
            <a:ext cx="347472" cy="384048"/>
          </a:xfrm>
          <a:prstGeom prst="rightArrow">
            <a:avLst/>
          </a:prstGeom>
          <a:solidFill>
            <a:srgbClr val="48A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58768" y="2212848"/>
            <a:ext cx="1426464" cy="1234440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2423160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업로드</a:t>
            </a:r>
          </a:p>
        </p:txBody>
      </p:sp>
      <p:sp>
        <p:nvSpPr>
          <p:cNvPr id="16" name="라벨_HWPX"/>
          <p:cNvSpPr/>
          <p:nvPr/>
        </p:nvSpPr>
        <p:spPr>
          <a:xfrm>
            <a:off x="4014215" y="2825496"/>
            <a:ext cx="5029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라벨 텍스트_HWPX"/>
          <p:cNvSpPr txBox="1"/>
          <p:nvPr/>
        </p:nvSpPr>
        <p:spPr>
          <a:xfrm>
            <a:off x="4014215" y="2825496"/>
            <a:ext cx="5029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HWPX</a:t>
            </a:r>
          </a:p>
        </p:txBody>
      </p:sp>
      <p:sp>
        <p:nvSpPr>
          <p:cNvPr id="18" name="라벨_MD"/>
          <p:cNvSpPr/>
          <p:nvPr/>
        </p:nvSpPr>
        <p:spPr>
          <a:xfrm>
            <a:off x="4617720" y="2825496"/>
            <a:ext cx="5029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라벨 텍스트_MD"/>
          <p:cNvSpPr txBox="1"/>
          <p:nvPr/>
        </p:nvSpPr>
        <p:spPr>
          <a:xfrm>
            <a:off x="4617720" y="2825496"/>
            <a:ext cx="5029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05656" y="3154680"/>
            <a:ext cx="914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지원 확장자</a:t>
            </a:r>
          </a:p>
        </p:txBody>
      </p:sp>
      <p:sp>
        <p:nvSpPr>
          <p:cNvPr id="21" name="흐름 화살표"/>
          <p:cNvSpPr/>
          <p:nvPr/>
        </p:nvSpPr>
        <p:spPr>
          <a:xfrm>
            <a:off x="5394960" y="2651760"/>
            <a:ext cx="347472" cy="384048"/>
          </a:xfrm>
          <a:prstGeom prst="rightArrow">
            <a:avLst/>
          </a:prstGeom>
          <a:solidFill>
            <a:srgbClr val="48A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이미지 삽입_플랫폼 등록 통계"/>
          <p:cNvSpPr/>
          <p:nvPr/>
        </p:nvSpPr>
        <p:spPr>
          <a:xfrm>
            <a:off x="5852160" y="1847088"/>
            <a:ext cx="274320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CAD5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2496312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2935224"/>
            <a:ext cx="22860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플랫폼에 등록된 통계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227832"/>
            <a:ext cx="2286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제목·번호·표 내용이 재구성된 화면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3995928"/>
            <a:ext cx="2487168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8" y="3995928"/>
            <a:ext cx="41148" cy="493776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133088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1016" y="4069080"/>
            <a:ext cx="1828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파일 읽기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1016" y="4279392"/>
            <a:ext cx="18288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연보 내용을 통계별로 분리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1296" y="3995928"/>
            <a:ext cx="2487168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11296" y="3995928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30168" y="4133088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32504" y="4069080"/>
            <a:ext cx="1828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정보 저장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32504" y="4279392"/>
            <a:ext cx="18288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제목·번호·표·기본 정보를 데이터베이스에 저장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72784" y="3995928"/>
            <a:ext cx="2487168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72784" y="3995928"/>
            <a:ext cx="41148" cy="493776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1656" y="4133088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93992" y="4069080"/>
            <a:ext cx="1828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게시물 구성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93992" y="4279392"/>
            <a:ext cx="18288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연보 1건을 독립된 게시물로 생성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4553712"/>
            <a:ext cx="7315200" cy="237744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599432"/>
            <a:ext cx="6858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등록된 연보는 독립 게시물로 관리하며 수정·삭제 가능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2단계 · 검수 실행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현재 6가지 검수를 지원하며, 처리 방식과 결과 상태가 항목마다 다릅니다.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73152"/>
            <a:ext cx="1371600" cy="390646"/>
          </a:xfrm>
          <a:prstGeom prst="rect">
            <a:avLst/>
          </a:prstGeom>
        </p:spPr>
      </p:pic>
      <p:sp>
        <p:nvSpPr>
          <p:cNvPr id="5" name="제목 구분선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슬라이드 부제목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6가지 검수, 두 가지 처리 방식</a:t>
            </a:r>
          </a:p>
        </p:txBody>
      </p:sp>
      <p:sp>
        <p:nvSpPr>
          <p:cNvPr id="7" name="하단 문구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중간보고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9" name="라벨_현재 지원  6종"/>
          <p:cNvSpPr/>
          <p:nvPr/>
        </p:nvSpPr>
        <p:spPr>
          <a:xfrm>
            <a:off x="7388352" y="1408176"/>
            <a:ext cx="1188720" cy="27432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라벨 텍스트_현재 지원  6종"/>
          <p:cNvSpPr txBox="1"/>
          <p:nvPr/>
        </p:nvSpPr>
        <p:spPr>
          <a:xfrm>
            <a:off x="7388352" y="1408176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현재 지원  6종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1148" cy="32004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65376"/>
            <a:ext cx="4983479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규칙·통계 기반 검수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39696"/>
            <a:ext cx="4526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표 구조와 계산 관계를 미리 구성한 기준으로 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450592"/>
            <a:ext cx="2423160" cy="71323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450592"/>
            <a:ext cx="41148" cy="713232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560320"/>
            <a:ext cx="13533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합계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834640"/>
            <a:ext cx="2112264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계·합계·소계를 다시 합산</a:t>
            </a:r>
          </a:p>
        </p:txBody>
      </p:sp>
      <p:sp>
        <p:nvSpPr>
          <p:cNvPr id="18" name="라벨_오류 의심"/>
          <p:cNvSpPr/>
          <p:nvPr/>
        </p:nvSpPr>
        <p:spPr>
          <a:xfrm>
            <a:off x="2057400" y="2551176"/>
            <a:ext cx="804672" cy="237744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라벨 텍스트_오류 의심"/>
          <p:cNvSpPr txBox="1"/>
          <p:nvPr/>
        </p:nvSpPr>
        <p:spPr>
          <a:xfrm>
            <a:off x="2057400" y="2551176"/>
            <a:ext cx="80467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오류 의심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2450592"/>
            <a:ext cx="2423160" cy="71323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08960" y="2450592"/>
            <a:ext cx="41148" cy="713232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55264" y="2560320"/>
            <a:ext cx="13533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비율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55264" y="2834640"/>
            <a:ext cx="2112264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비율·구성비·증감 값을 재계산</a:t>
            </a:r>
          </a:p>
        </p:txBody>
      </p:sp>
      <p:sp>
        <p:nvSpPr>
          <p:cNvPr id="24" name="라벨_오류 의심"/>
          <p:cNvSpPr/>
          <p:nvPr/>
        </p:nvSpPr>
        <p:spPr>
          <a:xfrm>
            <a:off x="4599431" y="2551176"/>
            <a:ext cx="804672" cy="237744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라벨 텍스트_오류 의심"/>
          <p:cNvSpPr txBox="1"/>
          <p:nvPr/>
        </p:nvSpPr>
        <p:spPr>
          <a:xfrm>
            <a:off x="4599431" y="2551176"/>
            <a:ext cx="80467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오류 의심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282696"/>
            <a:ext cx="2423160" cy="71323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282696"/>
            <a:ext cx="41148" cy="713232"/>
          </a:xfrm>
          <a:prstGeom prst="rect">
            <a:avLst/>
          </a:prstGeom>
          <a:solidFill>
            <a:srgbClr val="B978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392424"/>
            <a:ext cx="13533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메타데이터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3666744"/>
            <a:ext cx="2112264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단위·기준일·출처 확인</a:t>
            </a:r>
          </a:p>
        </p:txBody>
      </p:sp>
      <p:sp>
        <p:nvSpPr>
          <p:cNvPr id="30" name="라벨_확인 필요"/>
          <p:cNvSpPr/>
          <p:nvPr/>
        </p:nvSpPr>
        <p:spPr>
          <a:xfrm>
            <a:off x="2057400" y="3383279"/>
            <a:ext cx="841248" cy="237744"/>
          </a:xfrm>
          <a:prstGeom prst="rect">
            <a:avLst/>
          </a:prstGeom>
          <a:solidFill>
            <a:srgbClr val="FFF4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라벨 텍스트_확인 필요"/>
          <p:cNvSpPr txBox="1"/>
          <p:nvPr/>
        </p:nvSpPr>
        <p:spPr>
          <a:xfrm>
            <a:off x="2057400" y="3383279"/>
            <a:ext cx="84124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B97818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3282696"/>
            <a:ext cx="2423160" cy="71323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08960" y="3282696"/>
            <a:ext cx="41148" cy="713232"/>
          </a:xfrm>
          <a:prstGeom prst="rect">
            <a:avLst/>
          </a:prstGeom>
          <a:solidFill>
            <a:srgbClr val="B978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55264" y="3392424"/>
            <a:ext cx="13533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이상치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55264" y="3666744"/>
            <a:ext cx="2112264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다른 값과 차이가 큰 수치 후보</a:t>
            </a:r>
          </a:p>
        </p:txBody>
      </p:sp>
      <p:sp>
        <p:nvSpPr>
          <p:cNvPr id="36" name="라벨_확인 필요"/>
          <p:cNvSpPr/>
          <p:nvPr/>
        </p:nvSpPr>
        <p:spPr>
          <a:xfrm>
            <a:off x="4599431" y="3383279"/>
            <a:ext cx="841248" cy="237744"/>
          </a:xfrm>
          <a:prstGeom prst="rect">
            <a:avLst/>
          </a:prstGeom>
          <a:solidFill>
            <a:srgbClr val="FFF4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라벨 텍스트_확인 필요"/>
          <p:cNvSpPr txBox="1"/>
          <p:nvPr/>
        </p:nvSpPr>
        <p:spPr>
          <a:xfrm>
            <a:off x="4599431" y="3383279"/>
            <a:ext cx="84124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B97818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24728" y="1828800"/>
            <a:ext cx="41148" cy="320040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61888" y="1865376"/>
            <a:ext cx="26517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후보 생성 + 선택적 LLM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0176" y="2139696"/>
            <a:ext cx="2514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공식 용어·이전 결과를 먼저 적용하고 남은 후보만 확인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88736" y="2578608"/>
            <a:ext cx="2706624" cy="71323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88736" y="2578608"/>
            <a:ext cx="41148" cy="713232"/>
          </a:xfrm>
          <a:prstGeom prst="rect">
            <a:avLst/>
          </a:prstGeom>
          <a:solidFill>
            <a:srgbClr val="C946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2688336"/>
            <a:ext cx="16367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오탈자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2962656"/>
            <a:ext cx="2395728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철자·문자 깨짐·표기 불일치</a:t>
            </a:r>
          </a:p>
        </p:txBody>
      </p:sp>
      <p:sp>
        <p:nvSpPr>
          <p:cNvPr id="45" name="라벨_오류 의심"/>
          <p:cNvSpPr/>
          <p:nvPr/>
        </p:nvSpPr>
        <p:spPr>
          <a:xfrm>
            <a:off x="7662672" y="2679191"/>
            <a:ext cx="804672" cy="237744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라벨 텍스트_오류 의심"/>
          <p:cNvSpPr txBox="1"/>
          <p:nvPr/>
        </p:nvSpPr>
        <p:spPr>
          <a:xfrm>
            <a:off x="7662672" y="2679191"/>
            <a:ext cx="80467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오류 의심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88736" y="3410712"/>
            <a:ext cx="2706624" cy="71323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888736" y="3410712"/>
            <a:ext cx="41148" cy="713232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40" y="3520440"/>
            <a:ext cx="16367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번역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3794760"/>
            <a:ext cx="2395728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한글·영문 의미 대응 확인</a:t>
            </a:r>
          </a:p>
        </p:txBody>
      </p:sp>
      <p:sp>
        <p:nvSpPr>
          <p:cNvPr id="51" name="라벨_확인 필요"/>
          <p:cNvSpPr/>
          <p:nvPr/>
        </p:nvSpPr>
        <p:spPr>
          <a:xfrm>
            <a:off x="7662672" y="3511296"/>
            <a:ext cx="841248" cy="237744"/>
          </a:xfrm>
          <a:prstGeom prst="rect">
            <a:avLst/>
          </a:prstGeom>
          <a:solidFill>
            <a:srgbClr val="FFF4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라벨 텍스트_확인 필요"/>
          <p:cNvSpPr txBox="1"/>
          <p:nvPr/>
        </p:nvSpPr>
        <p:spPr>
          <a:xfrm>
            <a:off x="7662672" y="3511296"/>
            <a:ext cx="84124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B97818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4370832"/>
            <a:ext cx="7315200" cy="237744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43000" y="4416552"/>
            <a:ext cx="6858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오류 의심  합계·비율·오탈자   |   확인 필요  메타데이터·이상치·번역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검수 기준 생성 방식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표 구조와 통계 특성을 단계적으로 분석해 각 표에 적용할 검수를 결정합니다.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73152"/>
            <a:ext cx="1371600" cy="390646"/>
          </a:xfrm>
          <a:prstGeom prst="rect">
            <a:avLst/>
          </a:prstGeom>
        </p:spPr>
      </p:pic>
      <p:sp>
        <p:nvSpPr>
          <p:cNvPr id="5" name="제목 구분선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슬라이드 부제목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어떤 표에 어떤 검수를 적용할까</a:t>
            </a:r>
          </a:p>
        </p:txBody>
      </p:sp>
      <p:sp>
        <p:nvSpPr>
          <p:cNvPr id="7" name="하단 문구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중간보고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56231"/>
            <a:ext cx="41148" cy="32004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92807"/>
            <a:ext cx="170992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① 공통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276856"/>
            <a:ext cx="1691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• 모든 표의 필수 정보 확인
• 숫자 열의 특이값 후보 생성</a:t>
            </a:r>
          </a:p>
        </p:txBody>
      </p:sp>
      <p:sp>
        <p:nvSpPr>
          <p:cNvPr id="12" name="라벨_메타"/>
          <p:cNvSpPr/>
          <p:nvPr/>
        </p:nvSpPr>
        <p:spPr>
          <a:xfrm>
            <a:off x="594360" y="2852928"/>
            <a:ext cx="576072" cy="2468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라벨 텍스트_메타"/>
          <p:cNvSpPr txBox="1"/>
          <p:nvPr/>
        </p:nvSpPr>
        <p:spPr>
          <a:xfrm>
            <a:off x="594360" y="2852928"/>
            <a:ext cx="57607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메타</a:t>
            </a:r>
          </a:p>
        </p:txBody>
      </p:sp>
      <p:sp>
        <p:nvSpPr>
          <p:cNvPr id="14" name="라벨_이상치"/>
          <p:cNvSpPr/>
          <p:nvPr/>
        </p:nvSpPr>
        <p:spPr>
          <a:xfrm>
            <a:off x="1243584" y="2852928"/>
            <a:ext cx="576072" cy="2468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라벨 텍스트_이상치"/>
          <p:cNvSpPr txBox="1"/>
          <p:nvPr/>
        </p:nvSpPr>
        <p:spPr>
          <a:xfrm>
            <a:off x="1243584" y="2852928"/>
            <a:ext cx="57607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이상치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856231"/>
            <a:ext cx="41148" cy="32004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15768" y="1892807"/>
            <a:ext cx="170992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② 표 유형별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2276856"/>
            <a:ext cx="1691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• 지역별·연도별 등 구조 파악
• 전국계와 지역 값 관계 적용</a:t>
            </a:r>
          </a:p>
        </p:txBody>
      </p:sp>
      <p:sp>
        <p:nvSpPr>
          <p:cNvPr id="19" name="라벨_합계"/>
          <p:cNvSpPr/>
          <p:nvPr/>
        </p:nvSpPr>
        <p:spPr>
          <a:xfrm>
            <a:off x="2670048" y="2852928"/>
            <a:ext cx="576072" cy="2468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라벨 텍스트_합계"/>
          <p:cNvSpPr txBox="1"/>
          <p:nvPr/>
        </p:nvSpPr>
        <p:spPr>
          <a:xfrm>
            <a:off x="2670048" y="2852928"/>
            <a:ext cx="57607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합계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54296" y="1856231"/>
            <a:ext cx="41148" cy="32004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91456" y="1892807"/>
            <a:ext cx="170992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③ 표별 자동 분석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64024" y="2276856"/>
            <a:ext cx="1691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• 계·합계·소계 항목 탐색
• 분자·분모·증감 관계 탐색</a:t>
            </a:r>
          </a:p>
        </p:txBody>
      </p:sp>
      <p:sp>
        <p:nvSpPr>
          <p:cNvPr id="24" name="라벨_합계"/>
          <p:cNvSpPr/>
          <p:nvPr/>
        </p:nvSpPr>
        <p:spPr>
          <a:xfrm>
            <a:off x="4745736" y="2852928"/>
            <a:ext cx="576072" cy="2468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라벨 텍스트_합계"/>
          <p:cNvSpPr txBox="1"/>
          <p:nvPr/>
        </p:nvSpPr>
        <p:spPr>
          <a:xfrm>
            <a:off x="4745736" y="2852928"/>
            <a:ext cx="57607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합계</a:t>
            </a:r>
          </a:p>
        </p:txBody>
      </p:sp>
      <p:sp>
        <p:nvSpPr>
          <p:cNvPr id="26" name="라벨_비율"/>
          <p:cNvSpPr/>
          <p:nvPr/>
        </p:nvSpPr>
        <p:spPr>
          <a:xfrm>
            <a:off x="5394959" y="2852928"/>
            <a:ext cx="576072" cy="2468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라벨 텍스트_비율"/>
          <p:cNvSpPr txBox="1"/>
          <p:nvPr/>
        </p:nvSpPr>
        <p:spPr>
          <a:xfrm>
            <a:off x="5394959" y="2852928"/>
            <a:ext cx="57607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비율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9984" y="1856231"/>
            <a:ext cx="41148" cy="320040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67144" y="1892807"/>
            <a:ext cx="170992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④ 통계별 예외 기준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2276856"/>
            <a:ext cx="1691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• 담당자가 확인한 규칙 반영
• 고정 셀·분할표 예외 처리</a:t>
            </a:r>
          </a:p>
        </p:txBody>
      </p:sp>
      <p:sp>
        <p:nvSpPr>
          <p:cNvPr id="31" name="라벨_합계"/>
          <p:cNvSpPr/>
          <p:nvPr/>
        </p:nvSpPr>
        <p:spPr>
          <a:xfrm>
            <a:off x="6821424" y="2852928"/>
            <a:ext cx="576072" cy="246888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라벨 텍스트_합계"/>
          <p:cNvSpPr txBox="1"/>
          <p:nvPr/>
        </p:nvSpPr>
        <p:spPr>
          <a:xfrm>
            <a:off x="6821424" y="2852928"/>
            <a:ext cx="57607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합계</a:t>
            </a:r>
          </a:p>
        </p:txBody>
      </p:sp>
      <p:sp>
        <p:nvSpPr>
          <p:cNvPr id="33" name="라벨_비율"/>
          <p:cNvSpPr/>
          <p:nvPr/>
        </p:nvSpPr>
        <p:spPr>
          <a:xfrm>
            <a:off x="7470648" y="2852928"/>
            <a:ext cx="576072" cy="246888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라벨 텍스트_비율"/>
          <p:cNvSpPr txBox="1"/>
          <p:nvPr/>
        </p:nvSpPr>
        <p:spPr>
          <a:xfrm>
            <a:off x="7470648" y="2852928"/>
            <a:ext cx="57607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비율</a:t>
            </a:r>
          </a:p>
        </p:txBody>
      </p:sp>
      <p:sp>
        <p:nvSpPr>
          <p:cNvPr id="35" name="흐름 화살표"/>
          <p:cNvSpPr/>
          <p:nvPr/>
        </p:nvSpPr>
        <p:spPr>
          <a:xfrm>
            <a:off x="2203704" y="2487168"/>
            <a:ext cx="219456" cy="274320"/>
          </a:xfrm>
          <a:prstGeom prst="rightArrow">
            <a:avLst/>
          </a:prstGeom>
          <a:solidFill>
            <a:srgbClr val="48A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흐름 화살표"/>
          <p:cNvSpPr/>
          <p:nvPr/>
        </p:nvSpPr>
        <p:spPr>
          <a:xfrm>
            <a:off x="4279392" y="2487168"/>
            <a:ext cx="219456" cy="274320"/>
          </a:xfrm>
          <a:prstGeom prst="rightArrow">
            <a:avLst/>
          </a:prstGeom>
          <a:solidFill>
            <a:srgbClr val="48A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흐름 화살표"/>
          <p:cNvSpPr/>
          <p:nvPr/>
        </p:nvSpPr>
        <p:spPr>
          <a:xfrm>
            <a:off x="6355080" y="2487168"/>
            <a:ext cx="219456" cy="274320"/>
          </a:xfrm>
          <a:prstGeom prst="rightArrow">
            <a:avLst/>
          </a:prstGeom>
          <a:solidFill>
            <a:srgbClr val="48A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3310128"/>
            <a:ext cx="5559552" cy="493776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" y="3465576"/>
            <a:ext cx="950976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표 구조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3447288"/>
            <a:ext cx="31455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공통 + 유형 + 표 자동 분석 + 예외 기준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3447288"/>
            <a:ext cx="320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22392" y="3447288"/>
            <a:ext cx="2331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합계 · 비율 · 메타데이터 · 이상치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3913632"/>
            <a:ext cx="7845552" cy="493776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" y="4069080"/>
            <a:ext cx="950976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언어 표현 기준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74519" y="4050791"/>
            <a:ext cx="3886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공식 용어 + 반복 표현 + 이전 검수 결과 + 남은 후보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33872" y="4050791"/>
            <a:ext cx="320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54496" y="4050791"/>
            <a:ext cx="1554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오탈자 · 번역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합계 검수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계·합계·소계와 표에 표시된 산식을 구성값에서 다시 계산합니다.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73152"/>
            <a:ext cx="1371600" cy="390646"/>
          </a:xfrm>
          <a:prstGeom prst="rect">
            <a:avLst/>
          </a:prstGeom>
        </p:spPr>
      </p:pic>
      <p:sp>
        <p:nvSpPr>
          <p:cNvPr id="5" name="제목 구분선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슬라이드 부제목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구성 항목을 다시 더해 합계를 확인</a:t>
            </a:r>
          </a:p>
        </p:txBody>
      </p:sp>
      <p:sp>
        <p:nvSpPr>
          <p:cNvPr id="7" name="하단 문구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중간보고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41148" cy="32004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65376"/>
            <a:ext cx="26060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검수 대상과 계산 방식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249424"/>
            <a:ext cx="283464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249424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86584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322576"/>
            <a:ext cx="21762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지역별 합계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532888"/>
            <a:ext cx="217627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세부 지역 값을 더해 전국계 확인</a:t>
            </a:r>
          </a:p>
        </p:txBody>
      </p:sp>
      <p:sp>
        <p:nvSpPr>
          <p:cNvPr id="16" name="라벨_전국 = 시·도 합"/>
          <p:cNvSpPr/>
          <p:nvPr/>
        </p:nvSpPr>
        <p:spPr>
          <a:xfrm>
            <a:off x="1874519" y="2350008"/>
            <a:ext cx="135331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라벨 텍스트_전국 = 시·도 합"/>
          <p:cNvSpPr txBox="1"/>
          <p:nvPr/>
        </p:nvSpPr>
        <p:spPr>
          <a:xfrm>
            <a:off x="1874519" y="2350008"/>
            <a:ext cx="135331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전국 = 시·도 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98648"/>
            <a:ext cx="283464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898648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35808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2971800"/>
            <a:ext cx="21762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행·열 합계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3182112"/>
            <a:ext cx="217627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같은 행의 열 또는 세부 행 합산</a:t>
            </a:r>
          </a:p>
        </p:txBody>
      </p:sp>
      <p:sp>
        <p:nvSpPr>
          <p:cNvPr id="23" name="라벨_계 = 남 + 여"/>
          <p:cNvSpPr/>
          <p:nvPr/>
        </p:nvSpPr>
        <p:spPr>
          <a:xfrm>
            <a:off x="1874519" y="2999232"/>
            <a:ext cx="135331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라벨 텍스트_계 = 남 + 여"/>
          <p:cNvSpPr txBox="1"/>
          <p:nvPr/>
        </p:nvSpPr>
        <p:spPr>
          <a:xfrm>
            <a:off x="1874519" y="2999232"/>
            <a:ext cx="135331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계 = 남 + 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547872"/>
            <a:ext cx="283464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547872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8503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" y="3621024"/>
            <a:ext cx="21762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명시 산식·분할표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" y="3831335"/>
            <a:ext cx="217627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a+b·a-b와 연결된 표 관계 계산</a:t>
            </a:r>
          </a:p>
        </p:txBody>
      </p:sp>
      <p:sp>
        <p:nvSpPr>
          <p:cNvPr id="30" name="라벨_c = a + b"/>
          <p:cNvSpPr/>
          <p:nvPr/>
        </p:nvSpPr>
        <p:spPr>
          <a:xfrm>
            <a:off x="1874519" y="3648456"/>
            <a:ext cx="135331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라벨 텍스트_c = a + b"/>
          <p:cNvSpPr txBox="1"/>
          <p:nvPr/>
        </p:nvSpPr>
        <p:spPr>
          <a:xfrm>
            <a:off x="1874519" y="3648456"/>
            <a:ext cx="135331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c = a + 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251960"/>
            <a:ext cx="2834640" cy="33832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4343400"/>
            <a:ext cx="24414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구성값 합산  →  현재 합계와 비교  →  오류 의심</a:t>
            </a:r>
          </a:p>
        </p:txBody>
      </p:sp>
      <p:sp>
        <p:nvSpPr>
          <p:cNvPr id="34" name="이미지 삽입_합계 검수 예시 이미지 삽입"/>
          <p:cNvSpPr/>
          <p:nvPr/>
        </p:nvSpPr>
        <p:spPr>
          <a:xfrm>
            <a:off x="3675887" y="1828800"/>
            <a:ext cx="4937760" cy="2432304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CAD5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16168" y="265176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04487" y="3090672"/>
            <a:ext cx="44805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합계 검수 예시 이미지 삽입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04487" y="3383280"/>
            <a:ext cx="44805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지역별 합계 또는 산식 오류가 보이는 화면 권장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75887" y="4379976"/>
            <a:ext cx="4937760" cy="265176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13632" y="4443984"/>
            <a:ext cx="44622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확인 화면  오류 위치 · 현재값 · 재계산값 · 판정 근거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비율·증감 검수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비율·구성비·건당 값과 증감액·증감률을 다시 계산합니다.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73152"/>
            <a:ext cx="1371600" cy="390646"/>
          </a:xfrm>
          <a:prstGeom prst="rect">
            <a:avLst/>
          </a:prstGeom>
        </p:spPr>
      </p:pic>
      <p:sp>
        <p:nvSpPr>
          <p:cNvPr id="5" name="제목 구분선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슬라이드 부제목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분자·분모와 전년값으로 비율을 재계산</a:t>
            </a:r>
          </a:p>
        </p:txBody>
      </p:sp>
      <p:sp>
        <p:nvSpPr>
          <p:cNvPr id="7" name="하단 문구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중간보고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41148" cy="320040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65376"/>
            <a:ext cx="26060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검수 대상과 계산 방식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249424"/>
            <a:ext cx="283464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249424"/>
            <a:ext cx="41148" cy="493776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86584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322576"/>
            <a:ext cx="21762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비율·구성비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532888"/>
            <a:ext cx="217627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항목 값과 전체 값을 분자·분모로 연결</a:t>
            </a:r>
          </a:p>
        </p:txBody>
      </p:sp>
      <p:sp>
        <p:nvSpPr>
          <p:cNvPr id="16" name="라벨_지역 ÷ 전체 × 100"/>
          <p:cNvSpPr/>
          <p:nvPr/>
        </p:nvSpPr>
        <p:spPr>
          <a:xfrm>
            <a:off x="1874519" y="2350008"/>
            <a:ext cx="135331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라벨 텍스트_지역 ÷ 전체 × 100"/>
          <p:cNvSpPr txBox="1"/>
          <p:nvPr/>
        </p:nvSpPr>
        <p:spPr>
          <a:xfrm>
            <a:off x="1874519" y="2350008"/>
            <a:ext cx="135331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지역 ÷ 전체 × 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98648"/>
            <a:ext cx="283464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898648"/>
            <a:ext cx="41148" cy="493776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35808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2971800"/>
            <a:ext cx="21762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건당·인당 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3182112"/>
            <a:ext cx="217627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건수·인원을 기준으로 원단위 계산</a:t>
            </a:r>
          </a:p>
        </p:txBody>
      </p:sp>
      <p:sp>
        <p:nvSpPr>
          <p:cNvPr id="23" name="라벨_건수 ÷ 인원"/>
          <p:cNvSpPr/>
          <p:nvPr/>
        </p:nvSpPr>
        <p:spPr>
          <a:xfrm>
            <a:off x="1874519" y="2999232"/>
            <a:ext cx="135331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라벨 텍스트_건수 ÷ 인원"/>
          <p:cNvSpPr txBox="1"/>
          <p:nvPr/>
        </p:nvSpPr>
        <p:spPr>
          <a:xfrm>
            <a:off x="1874519" y="2999232"/>
            <a:ext cx="135331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건수 ÷ 인원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547872"/>
            <a:ext cx="2834640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547872"/>
            <a:ext cx="41148" cy="493776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8503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" y="3621024"/>
            <a:ext cx="21762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증감액·증감률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" y="3831335"/>
            <a:ext cx="217627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전년과 당해 값을 비교해 변화 계산</a:t>
            </a:r>
          </a:p>
        </p:txBody>
      </p:sp>
      <p:sp>
        <p:nvSpPr>
          <p:cNvPr id="30" name="라벨_(당해-전년)÷전년"/>
          <p:cNvSpPr/>
          <p:nvPr/>
        </p:nvSpPr>
        <p:spPr>
          <a:xfrm>
            <a:off x="1874519" y="3648456"/>
            <a:ext cx="135331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라벨 텍스트_(당해-전년)÷전년"/>
          <p:cNvSpPr txBox="1"/>
          <p:nvPr/>
        </p:nvSpPr>
        <p:spPr>
          <a:xfrm>
            <a:off x="1874519" y="3648456"/>
            <a:ext cx="135331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(당해-전년)÷전년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251960"/>
            <a:ext cx="2834640" cy="338328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4343400"/>
            <a:ext cx="24414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총계는 비율 합산 X  →  합계 분자 ÷ 합계 분모</a:t>
            </a:r>
          </a:p>
        </p:txBody>
      </p:sp>
      <p:sp>
        <p:nvSpPr>
          <p:cNvPr id="34" name="이미지 삽입_비율·증감 검수 예시 이미지 삽입"/>
          <p:cNvSpPr/>
          <p:nvPr/>
        </p:nvSpPr>
        <p:spPr>
          <a:xfrm>
            <a:off x="3675887" y="1828800"/>
            <a:ext cx="4937760" cy="2432304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CAD5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16168" y="265176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04487" y="3090672"/>
            <a:ext cx="44805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비율·증감 검수 예시 이미지 삽입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04487" y="3383280"/>
            <a:ext cx="44805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지역별 비율 또는 증감 산식 오류가 보이는 화면 권장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75887" y="4379976"/>
            <a:ext cx="4937760" cy="265176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13632" y="4443984"/>
            <a:ext cx="44622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확인 화면  오류 위치 · 현재값 · 재계산값 · 판정 근거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오탈자·번역 검수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모든 텍스트를 바로 LLM에 보내지 않고, 후보를 줄인 뒤 남은 항목만 검토합니다.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73152"/>
            <a:ext cx="1371600" cy="390646"/>
          </a:xfrm>
          <a:prstGeom prst="rect">
            <a:avLst/>
          </a:prstGeom>
        </p:spPr>
      </p:pic>
      <p:sp>
        <p:nvSpPr>
          <p:cNvPr id="5" name="제목 구분선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슬라이드 부제목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공식 용어와 반복 표현을 먼저, LLM은 마지막에</a:t>
            </a:r>
          </a:p>
        </p:txBody>
      </p:sp>
      <p:sp>
        <p:nvSpPr>
          <p:cNvPr id="7" name="하단 문구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중간보고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10512"/>
            <a:ext cx="7845552" cy="420624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929384"/>
            <a:ext cx="9326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후보 수집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1920240"/>
            <a:ext cx="6263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표 제목 · 헤더 · 한글/영문 셀에서 검수할 문구를 수집</a:t>
            </a:r>
          </a:p>
        </p:txBody>
      </p:sp>
      <p:sp>
        <p:nvSpPr>
          <p:cNvPr id="12" name="아래 흐름 화살표"/>
          <p:cNvSpPr/>
          <p:nvPr/>
        </p:nvSpPr>
        <p:spPr>
          <a:xfrm>
            <a:off x="4407408" y="2295144"/>
            <a:ext cx="292608" cy="274320"/>
          </a:xfrm>
          <a:prstGeom prst="downArrow">
            <a:avLst/>
          </a:prstGeom>
          <a:solidFill>
            <a:srgbClr val="48A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596896"/>
            <a:ext cx="2286000" cy="93268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596896"/>
            <a:ext cx="41148" cy="932688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2724912"/>
            <a:ext cx="197510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공식 용어·번역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035808"/>
            <a:ext cx="1956816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기관명  행정안전부
지역명  세종특별자치시·연기면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2596896"/>
            <a:ext cx="2286000" cy="93268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2596896"/>
            <a:ext cx="41148" cy="932688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93008" y="2724912"/>
            <a:ext cx="197510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반복 표현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3035808"/>
            <a:ext cx="1956816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계 · 합계 · 소계
연보 전체에서 자주 쓰는 표현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16752" y="2596896"/>
            <a:ext cx="2286000" cy="93268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16752" y="2596896"/>
            <a:ext cx="41148" cy="932688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724912"/>
            <a:ext cx="197510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이전 검수 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035808"/>
            <a:ext cx="1956816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같은 위치·문맥에서
담당자가 확인한 표현</a:t>
            </a:r>
          </a:p>
        </p:txBody>
      </p:sp>
      <p:sp>
        <p:nvSpPr>
          <p:cNvPr id="25" name="아래 흐름 화살표"/>
          <p:cNvSpPr/>
          <p:nvPr/>
        </p:nvSpPr>
        <p:spPr>
          <a:xfrm>
            <a:off x="1664208" y="3630168"/>
            <a:ext cx="256032" cy="256032"/>
          </a:xfrm>
          <a:prstGeom prst="downArrow">
            <a:avLst/>
          </a:prstGeom>
          <a:solidFill>
            <a:srgbClr val="48A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아래 흐름 화살표"/>
          <p:cNvSpPr/>
          <p:nvPr/>
        </p:nvSpPr>
        <p:spPr>
          <a:xfrm>
            <a:off x="4343400" y="3630168"/>
            <a:ext cx="256032" cy="256032"/>
          </a:xfrm>
          <a:prstGeom prst="downArrow">
            <a:avLst/>
          </a:prstGeom>
          <a:solidFill>
            <a:srgbClr val="48A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아래 흐름 화살표"/>
          <p:cNvSpPr/>
          <p:nvPr/>
        </p:nvSpPr>
        <p:spPr>
          <a:xfrm>
            <a:off x="7022592" y="3630168"/>
            <a:ext cx="256032" cy="256032"/>
          </a:xfrm>
          <a:prstGeom prst="downArrow">
            <a:avLst/>
          </a:prstGeom>
          <a:solidFill>
            <a:srgbClr val="48A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87168" y="3913632"/>
            <a:ext cx="4169663" cy="420624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61488" y="4023360"/>
            <a:ext cx="362102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남은 후보만 LLM 문맥 검토</a:t>
            </a:r>
          </a:p>
        </p:txBody>
      </p:sp>
      <p:sp>
        <p:nvSpPr>
          <p:cNvPr id="30" name="라벨_토큰 사용량 감소"/>
          <p:cNvSpPr/>
          <p:nvPr/>
        </p:nvSpPr>
        <p:spPr>
          <a:xfrm>
            <a:off x="841248" y="4123944"/>
            <a:ext cx="1124712" cy="246888"/>
          </a:xfrm>
          <a:prstGeom prst="rect">
            <a:avLst/>
          </a:prstGeom>
          <a:solidFill>
            <a:srgbClr val="FFF4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라벨 텍스트_토큰 사용량 감소"/>
          <p:cNvSpPr txBox="1"/>
          <p:nvPr/>
        </p:nvSpPr>
        <p:spPr>
          <a:xfrm>
            <a:off x="841248" y="4123944"/>
            <a:ext cx="11247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B97818"/>
                </a:solidFill>
                <a:latin typeface="Noto Sans KR"/>
                <a:ea typeface="Noto Sans KR"/>
                <a:cs typeface="Noto Sans KR"/>
              </a:rPr>
              <a:t>토큰 사용량 감소</a:t>
            </a:r>
          </a:p>
        </p:txBody>
      </p:sp>
      <p:sp>
        <p:nvSpPr>
          <p:cNvPr id="32" name="라벨_공식 표현 일관성"/>
          <p:cNvSpPr/>
          <p:nvPr/>
        </p:nvSpPr>
        <p:spPr>
          <a:xfrm>
            <a:off x="7068312" y="4123944"/>
            <a:ext cx="1124712" cy="246888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라벨 텍스트_공식 표현 일관성"/>
          <p:cNvSpPr txBox="1"/>
          <p:nvPr/>
        </p:nvSpPr>
        <p:spPr>
          <a:xfrm>
            <a:off x="7068312" y="4123944"/>
            <a:ext cx="112471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공식 표현 일관성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471416"/>
            <a:ext cx="7315200" cy="237744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4517136"/>
            <a:ext cx="6858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담당자 확인 전에는 원문을 자동으로 바꾸지 않음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메타데이터·이상치 검수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필수 정보의 누락과 통계적으로 차이가 큰 값을 ‘확인 필요’로 제시합니다.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73152"/>
            <a:ext cx="1371600" cy="390646"/>
          </a:xfrm>
          <a:prstGeom prst="rect">
            <a:avLst/>
          </a:prstGeom>
        </p:spPr>
      </p:pic>
      <p:sp>
        <p:nvSpPr>
          <p:cNvPr id="5" name="제목 구분선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슬라이드 부제목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빠진 표 정보와 눈에 띄는 수치를 확인</a:t>
            </a:r>
          </a:p>
        </p:txBody>
      </p:sp>
      <p:sp>
        <p:nvSpPr>
          <p:cNvPr id="7" name="하단 문구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중간보고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41148" cy="32004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65376"/>
            <a:ext cx="3611879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메타데이터 검수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304288"/>
            <a:ext cx="3621024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304288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41448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377440"/>
            <a:ext cx="296265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단위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587752"/>
            <a:ext cx="2962656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누락 여부 + 기존 기준 단위와 일치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862072"/>
            <a:ext cx="3621024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862072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99923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" y="2935224"/>
            <a:ext cx="296265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기준일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" y="3145536"/>
            <a:ext cx="2962656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입력 여부 확인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419856"/>
            <a:ext cx="3621024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19856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557016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3493008"/>
            <a:ext cx="296265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출처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" y="3703320"/>
            <a:ext cx="2962656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입력 여부 확인</a:t>
            </a:r>
          </a:p>
        </p:txBody>
      </p:sp>
      <p:sp>
        <p:nvSpPr>
          <p:cNvPr id="26" name="라벨_확인 필요"/>
          <p:cNvSpPr/>
          <p:nvPr/>
        </p:nvSpPr>
        <p:spPr>
          <a:xfrm>
            <a:off x="3200400" y="4087368"/>
            <a:ext cx="841248" cy="237744"/>
          </a:xfrm>
          <a:prstGeom prst="rect">
            <a:avLst/>
          </a:prstGeom>
          <a:solidFill>
            <a:srgbClr val="FFF4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라벨 텍스트_확인 필요"/>
          <p:cNvSpPr txBox="1"/>
          <p:nvPr/>
        </p:nvSpPr>
        <p:spPr>
          <a:xfrm>
            <a:off x="3200400" y="4087368"/>
            <a:ext cx="84124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B97818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133087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자동 확인 범위  단위 · 기준일 · 출처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1828800"/>
            <a:ext cx="41148" cy="320040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1865376"/>
            <a:ext cx="3840479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이상치 검수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2221992"/>
            <a:ext cx="34564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같은 숫자 열에서 값이 크게 벗어난 후보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74336" y="2953512"/>
            <a:ext cx="3273552" cy="18288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이상치 값_9"/>
          <p:cNvSpPr/>
          <p:nvPr/>
        </p:nvSpPr>
        <p:spPr>
          <a:xfrm>
            <a:off x="5102352" y="2834640"/>
            <a:ext cx="182880" cy="182880"/>
          </a:xfrm>
          <a:prstGeom prst="ellipse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3118104"/>
            <a:ext cx="32918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35" name="이상치 값_10"/>
          <p:cNvSpPr/>
          <p:nvPr/>
        </p:nvSpPr>
        <p:spPr>
          <a:xfrm>
            <a:off x="5669280" y="2834640"/>
            <a:ext cx="182880" cy="182880"/>
          </a:xfrm>
          <a:prstGeom prst="ellipse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96128" y="3118104"/>
            <a:ext cx="32918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37" name="이상치 값_10"/>
          <p:cNvSpPr/>
          <p:nvPr/>
        </p:nvSpPr>
        <p:spPr>
          <a:xfrm>
            <a:off x="6236208" y="2834640"/>
            <a:ext cx="182880" cy="182880"/>
          </a:xfrm>
          <a:prstGeom prst="ellipse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63056" y="3118104"/>
            <a:ext cx="32918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39" name="이상치 값_11"/>
          <p:cNvSpPr/>
          <p:nvPr/>
        </p:nvSpPr>
        <p:spPr>
          <a:xfrm>
            <a:off x="6803136" y="2834640"/>
            <a:ext cx="182880" cy="182880"/>
          </a:xfrm>
          <a:prstGeom prst="ellipse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9984" y="3118104"/>
            <a:ext cx="32918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41" name="이상치 값_43"/>
          <p:cNvSpPr/>
          <p:nvPr/>
        </p:nvSpPr>
        <p:spPr>
          <a:xfrm>
            <a:off x="7818120" y="2596896"/>
            <a:ext cx="182880" cy="182880"/>
          </a:xfrm>
          <a:prstGeom prst="ellipse">
            <a:avLst/>
          </a:prstGeom>
          <a:solidFill>
            <a:srgbClr val="C946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44968" y="3118104"/>
            <a:ext cx="32918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43</a:t>
            </a:r>
          </a:p>
        </p:txBody>
      </p:sp>
      <p:sp>
        <p:nvSpPr>
          <p:cNvPr id="43" name="라벨_확인 필요"/>
          <p:cNvSpPr/>
          <p:nvPr/>
        </p:nvSpPr>
        <p:spPr>
          <a:xfrm>
            <a:off x="7479792" y="2331720"/>
            <a:ext cx="841248" cy="256032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라벨 텍스트_확인 필요"/>
          <p:cNvSpPr txBox="1"/>
          <p:nvPr/>
        </p:nvSpPr>
        <p:spPr>
          <a:xfrm>
            <a:off x="7479792" y="2331720"/>
            <a:ext cx="84124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확인 필요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3429000"/>
            <a:ext cx="32461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• 값이 5개 이상인 숫자 열
• 합계·소계 제외
• 표당 차이가 큰 값 최대 1건 제시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55464" y="4096512"/>
            <a:ext cx="3456432" cy="274320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4169663"/>
            <a:ext cx="3017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오류 확정이 아니라 담당자가 확인할 후보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4489704"/>
            <a:ext cx="7315200" cy="237744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4535424"/>
            <a:ext cx="6858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출처·단위·업무 맥락을 함께 보고 담당자가 최종 판단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수정·재검수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통계별 수정 권한을 확인한 뒤 내용을 고치고, 변경 범위에 맞춰 다시 검수합니다.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73152"/>
            <a:ext cx="1371600" cy="390646"/>
          </a:xfrm>
          <a:prstGeom prst="rect">
            <a:avLst/>
          </a:prstGeom>
        </p:spPr>
      </p:pic>
      <p:sp>
        <p:nvSpPr>
          <p:cNvPr id="5" name="제목 구분선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슬라이드 부제목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수정은 보호하고, 바뀐 표만 다시 확인</a:t>
            </a:r>
          </a:p>
        </p:txBody>
      </p:sp>
      <p:sp>
        <p:nvSpPr>
          <p:cNvPr id="7" name="하단 문구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중간보고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41148" cy="32004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65376"/>
            <a:ext cx="363016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수정 보호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322576"/>
            <a:ext cx="1033271" cy="76809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450592"/>
            <a:ext cx="8503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비밀번호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734056"/>
            <a:ext cx="8503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통계별 수정 권한 확인</a:t>
            </a:r>
          </a:p>
        </p:txBody>
      </p:sp>
      <p:sp>
        <p:nvSpPr>
          <p:cNvPr id="14" name="흐름 화살표"/>
          <p:cNvSpPr/>
          <p:nvPr/>
        </p:nvSpPr>
        <p:spPr>
          <a:xfrm>
            <a:off x="1645919" y="2542032"/>
            <a:ext cx="164592" cy="256032"/>
          </a:xfrm>
          <a:prstGeom prst="rightArrow">
            <a:avLst/>
          </a:prstGeom>
          <a:solidFill>
            <a:srgbClr val="48A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19656" y="2322576"/>
            <a:ext cx="1033271" cy="76809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11096" y="2450592"/>
            <a:ext cx="8503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편집 화면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11096" y="2734056"/>
            <a:ext cx="8503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표 정보·셀 값·행/열 수정</a:t>
            </a:r>
          </a:p>
        </p:txBody>
      </p:sp>
      <p:sp>
        <p:nvSpPr>
          <p:cNvPr id="18" name="흐름 화살표"/>
          <p:cNvSpPr/>
          <p:nvPr/>
        </p:nvSpPr>
        <p:spPr>
          <a:xfrm>
            <a:off x="2898648" y="2542032"/>
            <a:ext cx="164592" cy="256032"/>
          </a:xfrm>
          <a:prstGeom prst="rightArrow">
            <a:avLst/>
          </a:prstGeom>
          <a:solidFill>
            <a:srgbClr val="48A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72384" y="2322576"/>
            <a:ext cx="1033271" cy="768096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63824" y="2450592"/>
            <a:ext cx="8503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수정 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63824" y="2734056"/>
            <a:ext cx="8503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변경 내용 반영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3264408"/>
            <a:ext cx="3200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B97818"/>
                </a:solidFill>
                <a:latin typeface="Noto Sans KR"/>
                <a:ea typeface="Noto Sans KR"/>
                <a:cs typeface="Noto Sans KR"/>
              </a:rPr>
              <a:t>저장 즉시 검수 자동 실행 X  ·  담당자가 재검수 실행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99432" y="1828800"/>
            <a:ext cx="41148" cy="32004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6592" y="1865376"/>
            <a:ext cx="3840479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재검수 원칙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81728" y="2276856"/>
            <a:ext cx="3730752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81728" y="2276856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2414016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2936" y="2350008"/>
            <a:ext cx="30723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값 변경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2936" y="2560320"/>
            <a:ext cx="3072384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기존 계산 기준으로 현재 값 재검수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1728" y="2825496"/>
            <a:ext cx="3730752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81728" y="2825496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2962656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02936" y="2898648"/>
            <a:ext cx="30723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구조 변경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02936" y="3108960"/>
            <a:ext cx="3072384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새로운 표 구조에 맞춰 기준 재생성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81728" y="3374136"/>
            <a:ext cx="3730752" cy="49377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81728" y="3374136"/>
            <a:ext cx="41148" cy="493776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3511296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02936" y="3447288"/>
            <a:ext cx="30723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변경 없음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02936" y="3657600"/>
            <a:ext cx="3072384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이전 검수 결과 재사용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3858768"/>
            <a:ext cx="41148" cy="320040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3895344"/>
            <a:ext cx="79095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수정 후 재검수 흐름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233672"/>
            <a:ext cx="1481328" cy="36576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4334256"/>
            <a:ext cx="1261872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수정 저장</a:t>
            </a:r>
          </a:p>
        </p:txBody>
      </p:sp>
      <p:sp>
        <p:nvSpPr>
          <p:cNvPr id="44" name="흐름 화살표"/>
          <p:cNvSpPr/>
          <p:nvPr/>
        </p:nvSpPr>
        <p:spPr>
          <a:xfrm>
            <a:off x="2231136" y="4288536"/>
            <a:ext cx="256032" cy="256032"/>
          </a:xfrm>
          <a:prstGeom prst="rightArrow">
            <a:avLst/>
          </a:prstGeom>
          <a:solidFill>
            <a:srgbClr val="48A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70048" y="4233672"/>
            <a:ext cx="1481328" cy="365760"/>
          </a:xfrm>
          <a:prstGeom prst="rect">
            <a:avLst/>
          </a:prstGeom>
          <a:solidFill>
            <a:srgbClr val="FFF4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79776" y="4334256"/>
            <a:ext cx="1261872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B97818"/>
                </a:solidFill>
                <a:latin typeface="Noto Sans KR"/>
                <a:ea typeface="Noto Sans KR"/>
                <a:cs typeface="Noto Sans KR"/>
              </a:rPr>
              <a:t>재검수 필요</a:t>
            </a:r>
          </a:p>
        </p:txBody>
      </p:sp>
      <p:sp>
        <p:nvSpPr>
          <p:cNvPr id="47" name="흐름 화살표"/>
          <p:cNvSpPr/>
          <p:nvPr/>
        </p:nvSpPr>
        <p:spPr>
          <a:xfrm>
            <a:off x="4242816" y="4288536"/>
            <a:ext cx="256032" cy="256032"/>
          </a:xfrm>
          <a:prstGeom prst="rightArrow">
            <a:avLst/>
          </a:prstGeom>
          <a:solidFill>
            <a:srgbClr val="48A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681728" y="4233672"/>
            <a:ext cx="1481328" cy="36576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91456" y="4334256"/>
            <a:ext cx="1261872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재검수 실행</a:t>
            </a:r>
          </a:p>
        </p:txBody>
      </p:sp>
      <p:sp>
        <p:nvSpPr>
          <p:cNvPr id="50" name="흐름 화살표"/>
          <p:cNvSpPr/>
          <p:nvPr/>
        </p:nvSpPr>
        <p:spPr>
          <a:xfrm>
            <a:off x="6254496" y="4288536"/>
            <a:ext cx="256032" cy="256032"/>
          </a:xfrm>
          <a:prstGeom prst="rightArrow">
            <a:avLst/>
          </a:prstGeom>
          <a:solidFill>
            <a:srgbClr val="48A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693408" y="4233672"/>
            <a:ext cx="1481328" cy="365760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03136" y="4334256"/>
            <a:ext cx="1261872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새 결과 갱신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검수 결과 활용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필요한 통계표와 검수 결과를 업무 목적에 맞춰 내려받습니다.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73152"/>
            <a:ext cx="1371600" cy="390646"/>
          </a:xfrm>
          <a:prstGeom prst="rect">
            <a:avLst/>
          </a:prstGeom>
        </p:spPr>
      </p:pic>
      <p:sp>
        <p:nvSpPr>
          <p:cNvPr id="5" name="제목 구분선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슬라이드 부제목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표와 검수 리포트로 결과 공유</a:t>
            </a:r>
          </a:p>
        </p:txBody>
      </p:sp>
      <p:sp>
        <p:nvSpPr>
          <p:cNvPr id="7" name="하단 문구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중간보고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56231"/>
            <a:ext cx="41148" cy="32004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92807"/>
            <a:ext cx="3749039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01  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267712"/>
            <a:ext cx="35661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선택한 통계표를 검토·공유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" y="2615184"/>
            <a:ext cx="3529584" cy="18288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산출물 항목_표_0"/>
          <p:cNvSpPr/>
          <p:nvPr/>
        </p:nvSpPr>
        <p:spPr>
          <a:xfrm>
            <a:off x="813816" y="2907792"/>
            <a:ext cx="109728" cy="109728"/>
          </a:xfrm>
          <a:prstGeom prst="ellipse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2889504"/>
            <a:ext cx="30449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선택한 통계표와 하위 표</a:t>
            </a:r>
          </a:p>
        </p:txBody>
      </p:sp>
      <p:sp>
        <p:nvSpPr>
          <p:cNvPr id="15" name="산출물 항목_표_1"/>
          <p:cNvSpPr/>
          <p:nvPr/>
        </p:nvSpPr>
        <p:spPr>
          <a:xfrm>
            <a:off x="813816" y="3337560"/>
            <a:ext cx="109728" cy="109728"/>
          </a:xfrm>
          <a:prstGeom prst="ellipse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3319272"/>
            <a:ext cx="30449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한글·영문 헤더와 셀 내용</a:t>
            </a:r>
          </a:p>
        </p:txBody>
      </p:sp>
      <p:sp>
        <p:nvSpPr>
          <p:cNvPr id="17" name="산출물 항목_표_2"/>
          <p:cNvSpPr/>
          <p:nvPr/>
        </p:nvSpPr>
        <p:spPr>
          <a:xfrm>
            <a:off x="813816" y="3767327"/>
            <a:ext cx="109728" cy="109728"/>
          </a:xfrm>
          <a:prstGeom prst="ellipse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3749039"/>
            <a:ext cx="30449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단위·기준일·출처 등 표 정보</a:t>
            </a:r>
          </a:p>
        </p:txBody>
      </p:sp>
      <p:sp>
        <p:nvSpPr>
          <p:cNvPr id="19" name="산출물 항목_표_3"/>
          <p:cNvSpPr/>
          <p:nvPr/>
        </p:nvSpPr>
        <p:spPr>
          <a:xfrm>
            <a:off x="813816" y="4197096"/>
            <a:ext cx="109728" cy="109728"/>
          </a:xfrm>
          <a:prstGeom prst="ellipse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4178808"/>
            <a:ext cx="30449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담당자 수정·검토용 자료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1856231"/>
            <a:ext cx="41148" cy="320040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1892807"/>
            <a:ext cx="3749039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02  검수 리포트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1" y="2267712"/>
            <a:ext cx="35661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오류 확인 내역과 판정 근거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28031" y="2615184"/>
            <a:ext cx="3529584" cy="18288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산출물 항목_검수 리포트_0"/>
          <p:cNvSpPr/>
          <p:nvPr/>
        </p:nvSpPr>
        <p:spPr>
          <a:xfrm>
            <a:off x="4882896" y="2907792"/>
            <a:ext cx="109728" cy="109728"/>
          </a:xfrm>
          <a:prstGeom prst="ellipse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2352" y="2889504"/>
            <a:ext cx="30449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오류 의심·확인 필요 항목</a:t>
            </a:r>
          </a:p>
        </p:txBody>
      </p:sp>
      <p:sp>
        <p:nvSpPr>
          <p:cNvPr id="27" name="산출물 항목_검수 리포트_1"/>
          <p:cNvSpPr/>
          <p:nvPr/>
        </p:nvSpPr>
        <p:spPr>
          <a:xfrm>
            <a:off x="4882896" y="3337560"/>
            <a:ext cx="109728" cy="109728"/>
          </a:xfrm>
          <a:prstGeom prst="ellipse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02352" y="3319272"/>
            <a:ext cx="30449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문제 셀과 근거 셀 위치</a:t>
            </a:r>
          </a:p>
        </p:txBody>
      </p:sp>
      <p:sp>
        <p:nvSpPr>
          <p:cNvPr id="29" name="산출물 항목_검수 리포트_2"/>
          <p:cNvSpPr/>
          <p:nvPr/>
        </p:nvSpPr>
        <p:spPr>
          <a:xfrm>
            <a:off x="4882896" y="3767327"/>
            <a:ext cx="109728" cy="109728"/>
          </a:xfrm>
          <a:prstGeom prst="ellipse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02352" y="3749039"/>
            <a:ext cx="30449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현재값·재계산값·판정 사유</a:t>
            </a:r>
          </a:p>
        </p:txBody>
      </p:sp>
      <p:sp>
        <p:nvSpPr>
          <p:cNvPr id="31" name="산출물 항목_검수 리포트_3"/>
          <p:cNvSpPr/>
          <p:nvPr/>
        </p:nvSpPr>
        <p:spPr>
          <a:xfrm>
            <a:off x="4882896" y="4197096"/>
            <a:ext cx="109728" cy="109728"/>
          </a:xfrm>
          <a:prstGeom prst="ellipse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02352" y="4178808"/>
            <a:ext cx="30449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표 정보 확인 결과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4443984"/>
            <a:ext cx="7315200" cy="237744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4489704"/>
            <a:ext cx="6858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필요한 범위와 검수 상태를 선택해 담당자 공유·수정·결과 보고에 활용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기대효과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발간 담당자·통계 담당자·검수 진행자가 같은 화면과 기준으로 협업합니다.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73152"/>
            <a:ext cx="1371600" cy="390646"/>
          </a:xfrm>
          <a:prstGeom prst="rect">
            <a:avLst/>
          </a:prstGeom>
        </p:spPr>
      </p:pic>
      <p:sp>
        <p:nvSpPr>
          <p:cNvPr id="5" name="제목 구분선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슬라이드 부제목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역할별 부담은 줄이고, 검수 효율은 높이고</a:t>
            </a:r>
          </a:p>
        </p:txBody>
      </p:sp>
      <p:sp>
        <p:nvSpPr>
          <p:cNvPr id="7" name="하단 문구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중간보고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9" name="관점 아이콘_통계연보 담당자"/>
          <p:cNvSpPr/>
          <p:nvPr/>
        </p:nvSpPr>
        <p:spPr>
          <a:xfrm>
            <a:off x="1581912" y="1847088"/>
            <a:ext cx="438912" cy="438912"/>
          </a:xfrm>
          <a:prstGeom prst="ellipse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81912" y="1874519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04872"/>
            <a:ext cx="24140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통계연보 담당자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88336"/>
            <a:ext cx="24140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전체 진행 상황 관리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2980944"/>
            <a:ext cx="2084831" cy="18288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3209544"/>
            <a:ext cx="21305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• 연보별 검수 상태 한눈에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3575303"/>
            <a:ext cx="21305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• 오류 통계와 수정 현황 공유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3941063"/>
            <a:ext cx="21305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• 발간 전 최종 결과 정리</a:t>
            </a:r>
          </a:p>
        </p:txBody>
      </p:sp>
      <p:sp>
        <p:nvSpPr>
          <p:cNvPr id="17" name="관점 아이콘_각 통계 담당자"/>
          <p:cNvSpPr/>
          <p:nvPr/>
        </p:nvSpPr>
        <p:spPr>
          <a:xfrm>
            <a:off x="4352544" y="1847088"/>
            <a:ext cx="438912" cy="438912"/>
          </a:xfrm>
          <a:prstGeom prst="ellipse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874519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2404872"/>
            <a:ext cx="24140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각 통계 담당자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2688336"/>
            <a:ext cx="24140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내 통계의 문제를 바로 수정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9584" y="2980944"/>
            <a:ext cx="2084831" cy="18288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11296" y="3209544"/>
            <a:ext cx="21305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• 문제 셀과 근거를 빠르게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11296" y="3575303"/>
            <a:ext cx="21305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• 화면에서 직접 수정·저장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1296" y="3941063"/>
            <a:ext cx="21305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• 변경된 표 중심으로 재검수</a:t>
            </a:r>
          </a:p>
        </p:txBody>
      </p:sp>
      <p:sp>
        <p:nvSpPr>
          <p:cNvPr id="25" name="관점 아이콘_검수 진행자"/>
          <p:cNvSpPr/>
          <p:nvPr/>
        </p:nvSpPr>
        <p:spPr>
          <a:xfrm>
            <a:off x="7132320" y="1847088"/>
            <a:ext cx="438912" cy="438912"/>
          </a:xfrm>
          <a:prstGeom prst="ellipse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1874519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2404872"/>
            <a:ext cx="24140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검수 진행자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2688336"/>
            <a:ext cx="24140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반복 계산 대신 판단에 집중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59" y="2980944"/>
            <a:ext cx="2084831" cy="18288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3209544"/>
            <a:ext cx="21305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• 합계·비율 자동 재계산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1072" y="3575303"/>
            <a:ext cx="21305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• 확인 우선순위와 근거 제시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3941063"/>
            <a:ext cx="21305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• 검수 리포트로 결과 공유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" y="4352544"/>
            <a:ext cx="7534656" cy="310896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" y="4434840"/>
            <a:ext cx="6986016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검수 시간 단축  ·  오류 누락 위험 감소  ·  공유·수정·재검수 흐름 단순화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 분류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향후 보완점</a:t>
            </a:r>
          </a:p>
        </p:txBody>
      </p:sp>
      <p:sp>
        <p:nvSpPr>
          <p:cNvPr id="3" name="슬라이드 제목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기관 운영을 위해 권한·이력·AI 환경을 단계적으로 보완해야 합니다.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73152"/>
            <a:ext cx="1371600" cy="390646"/>
          </a:xfrm>
          <a:prstGeom prst="rect">
            <a:avLst/>
          </a:prstGeom>
        </p:spPr>
      </p:pic>
      <p:sp>
        <p:nvSpPr>
          <p:cNvPr id="5" name="제목 구분선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슬라이드 부제목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실제 운영을 위한 다음 과제</a:t>
            </a:r>
          </a:p>
        </p:txBody>
      </p:sp>
      <p:sp>
        <p:nvSpPr>
          <p:cNvPr id="7" name="하단 문구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8A96A3"/>
                </a:solidFill>
                <a:latin typeface="Noto Sans KR"/>
                <a:ea typeface="Noto Sans KR"/>
                <a:cs typeface="Noto Sans KR"/>
              </a:rPr>
              <a:t>청년인턴 중간보고  |  행정안전부 데이터정보화담당관</a:t>
            </a:r>
          </a:p>
        </p:txBody>
      </p:sp>
      <p:sp>
        <p:nvSpPr>
          <p:cNvPr id="8" name="페이지 번호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74519"/>
            <a:ext cx="41148" cy="32004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911095"/>
            <a:ext cx="235000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01  권한·보안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359152"/>
            <a:ext cx="2194560" cy="148132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633472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• 기관 계정과 통합 로그인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017520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• 담당자별 역할·수정 권한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401568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• 세션 만료·접속 제한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28416" y="1874519"/>
            <a:ext cx="41148" cy="32004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5576" y="1911095"/>
            <a:ext cx="235000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02  수정 이력 기록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2359152"/>
            <a:ext cx="2194560" cy="148132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2633472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• 셀 단위 변경 전·후 기록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3017520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• 수정자·시간·사유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3401568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• 되돌리기·변경 알림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9904" y="1874519"/>
            <a:ext cx="41148" cy="320040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7064" y="1911095"/>
            <a:ext cx="235000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03  내부망·내부 LLM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359152"/>
            <a:ext cx="2194560" cy="148132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633472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• 내부망 환경에 서비스 도입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017520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• 외부 LLM을 내부 모델로 전환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401568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• 민감 정보와 사용 이력 관리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4096512"/>
            <a:ext cx="7132320" cy="365760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98448" y="4197096"/>
            <a:ext cx="1417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C2F61"/>
                </a:solidFill>
                <a:latin typeface="Noto Sans KR"/>
                <a:ea typeface="Noto Sans KR"/>
                <a:cs typeface="Noto Sans KR"/>
              </a:rPr>
              <a:t>1  권한 체계 정비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79776" y="4187952"/>
            <a:ext cx="2560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90672" y="4197096"/>
            <a:ext cx="1508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2  변경 이력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2584" y="4187952"/>
            <a:ext cx="2560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5A9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0912" y="4197096"/>
            <a:ext cx="2084831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F7D68"/>
                </a:solidFill>
                <a:latin typeface="Noto Sans KR"/>
                <a:ea typeface="Noto Sans KR"/>
                <a:cs typeface="Noto Sans KR"/>
              </a:rPr>
              <a:t>3  내부망·내부 모델 전환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4535424"/>
            <a:ext cx="7315200" cy="237744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4581144"/>
            <a:ext cx="6858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공통 운영 기준부터 마련하고, 담당자 의견을 반영해 단계적으로 확대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ajorFont>
      <a:min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ajorFont>
      <a:min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통계연보 검수 보조 시스템</dc:title>
  <cp:lastModifiedBy>python-pptx</cp:lastModifiedBy>
  <cp:revision>1</cp:revision>
  <dcterms:modified xsi:type="dcterms:W3CDTF">2026-08-21T05:55:01Z</dcterms:modified>
  <dc:subject>통계연보 검수 업무 개선과 서비스 주요 기능</dc:subject>
  <dc:creator>행정안전부 데이터정보화담당관</dc:creator>
</cp:coreProperties>
</file>
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Noto Sans KR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466A9C-AF73-4E76-8EC6-081741966E7C}">
  <a:tblStyle styleId="{6D466A9C-AF73-4E76-8EC6-081741966E7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fill>
          <a:solidFill>
            <a:srgbClr val="CDD8FB"/>
          </a:solidFill>
        </a:fill>
      </a:tcStyle>
    </a:band1H>
    <a:band2H>
      <a:tcTxStyle/>
    </a:band2H>
    <a:band1V>
      <a:tcTxStyle/>
      <a:tcStyle>
        <a:fill>
          <a:solidFill>
            <a:srgbClr val="CDD8FB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font" Target="fonts/NotoSansKR-regular.fntdata"/><Relationship Id="rId26" Type="http://schemas.openxmlformats.org/officeDocument/2006/relationships/font" Target="fonts/NotoSansKR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36" name="Google Shape;136;p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" name="Google Shape;40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457110" y="120339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600"/>
              <a:buChar char="●"/>
              <a:defRPr/>
            </a:lvl1pPr>
            <a:lvl2pPr lvl="1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/>
            </a:lvl2pPr>
            <a:lvl3pPr lvl="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3pPr>
            <a:lvl4pPr lvl="3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/>
            </a:lvl4pPr>
            <a:lvl5pPr lvl="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○"/>
              <a:defRPr/>
            </a:lvl5pPr>
            <a:lvl6pPr lvl="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6pPr>
            <a:lvl7pPr lvl="6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●"/>
              <a:defRPr/>
            </a:lvl7pPr>
            <a:lvl8pPr lvl="7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KR"/>
              <a:buChar char="●"/>
              <a:defRPr b="0" i="0" sz="18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A3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/>
        </p:nvSpPr>
        <p:spPr>
          <a:xfrm>
            <a:off x="4846320" y="457200"/>
            <a:ext cx="45720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D5C"/>
              </a:buClr>
              <a:buSzPts val="18000"/>
              <a:buFont typeface="Noto Sans KR"/>
              <a:buNone/>
            </a:pPr>
            <a:r>
              <a:rPr b="1" i="0" lang="en-US" sz="18000" u="none" cap="none" strike="noStrike">
                <a:solidFill>
                  <a:srgbClr val="152D5C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0" i="0" sz="18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640073" y="2377450"/>
            <a:ext cx="7827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Noto Sans KR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검수 보조 시스템</a:t>
            </a:r>
            <a:endParaRPr b="0" i="0" sz="4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1" name="Google Shape;61;p15" title="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8100" y="65100"/>
            <a:ext cx="1373550" cy="3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"/>
              <a:buNone/>
            </a:pPr>
            <a:r>
              <a:rPr sz="720" b="0" i="0">
                <a:solidFill>
                  <a:srgbClr val="B7CCE6"/>
                </a:solidFill>
                <a:latin typeface="Noto Sans KR"/>
              </a:rPr>
              <a:t>1</a:t>
            </a:r>
            <a:endParaRPr/>
          </a:p>
        </p:txBody>
      </p:sp>
      <p:sp>
        <p:nvSpPr>
          <p:cNvPr id="63" name="Google Shape;63;p15"/>
          <p:cNvSpPr txBox="1"/>
          <p:nvPr/>
        </p:nvSpPr>
        <p:spPr>
          <a:xfrm>
            <a:off x="640080" y="4443984"/>
            <a:ext cx="6309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  |  2026. 8.</a:t>
            </a:r>
            <a:endParaRPr/>
          </a:p>
        </p:txBody>
      </p:sp>
      <p:sp>
        <p:nvSpPr>
          <p:cNvPr id="64" name="Google Shape;64;p15"/>
          <p:cNvSpPr txBox="1"/>
          <p:nvPr/>
        </p:nvSpPr>
        <p:spPr>
          <a:xfrm>
            <a:off x="640080" y="4443984"/>
            <a:ext cx="6309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  |  2026. 8.</a:t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640080" y="210312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100"/>
              <a:buFont typeface="Noto Sans KR"/>
              <a:buNone/>
            </a:pPr>
            <a:r>
              <a:rPr sz="1100" b="1" i="0" u="none">
                <a:solidFill>
                  <a:srgbClr val="4A90E2"/>
                </a:solidFill>
                <a:latin typeface="Noto Sans KR"/>
              </a:rPr>
              <a:t>서비스 소개</a:t>
            </a:r>
            <a:endParaRPr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" name="서비스 한줄 설명"/>
          <p:cNvSpPr txBox="1"/>
          <p:nvPr/>
        </p:nvSpPr>
        <p:spPr>
          <a:xfrm>
            <a:off x="658368" y="3236976"/>
            <a:ext cx="66751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>
                <a:solidFill>
                  <a:srgbClr val="B7CCE6"/>
                </a:solidFill>
                <a:latin typeface="Noto Sans KR"/>
              </a:rPr>
              <a:t>통계연보 등록부터 오류 확인·수정·결과 활용까지 한 번에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457200" y="3518375"/>
            <a:ext cx="4407600" cy="777300"/>
          </a:xfrm>
          <a:prstGeom prst="rect">
            <a:avLst/>
          </a:prstGeom>
          <a:solidFill>
            <a:srgbClr val="F7F9FB"/>
          </a:solidFill>
          <a:ln cap="flat" cmpd="sng" w="9525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457200" y="2649700"/>
            <a:ext cx="4407600" cy="777300"/>
          </a:xfrm>
          <a:prstGeom prst="rect">
            <a:avLst/>
          </a:prstGeom>
          <a:solidFill>
            <a:srgbClr val="F7F9FB"/>
          </a:solidFill>
          <a:ln cap="flat" cmpd="sng" w="9525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457200" y="1795675"/>
            <a:ext cx="4407600" cy="777300"/>
          </a:xfrm>
          <a:prstGeom prst="rect">
            <a:avLst/>
          </a:prstGeom>
          <a:solidFill>
            <a:srgbClr val="F7F9FB"/>
          </a:solidFill>
          <a:ln cap="flat" cmpd="sng" w="9525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57200" y="1781021"/>
            <a:ext cx="54900" cy="777300"/>
          </a:xfrm>
          <a:prstGeom prst="rect">
            <a:avLst/>
          </a:prstGeom>
          <a:solidFill>
            <a:srgbClr val="172B59"/>
          </a:solidFill>
          <a:ln cap="flat" cmpd="sng" w="12700">
            <a:solidFill>
              <a:srgbClr val="172B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640080" y="1854173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172B59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0" i="0" sz="1100" u="none" cap="none" strike="noStrike">
              <a:solidFill>
                <a:srgbClr val="172B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051560" y="1826741"/>
            <a:ext cx="393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Noto Sans KR"/>
              <a:buNone/>
            </a:pPr>
            <a:r>
              <a:rPr sz="1300" b="1" i="0" u="none">
                <a:solidFill>
                  <a:srgbClr val="1A202C"/>
                </a:solidFill>
                <a:latin typeface="Noto Sans KR"/>
              </a:rPr>
              <a:t>수백 개 표를 사람이 반복 확인</a:t>
            </a:r>
            <a:endParaRPr b="0"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1051560" y="2128493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Noto Sans KR"/>
              <a:buNone/>
            </a:pPr>
            <a:r>
              <a:rPr sz="1200" b="0" i="0" u="none">
                <a:solidFill>
                  <a:srgbClr val="374151"/>
                </a:solidFill>
                <a:latin typeface="Noto Sans KR"/>
              </a:rPr>
              <a:t>- 표마다 값을 다시 대조해 검수 시간이 늘어남</a:t>
            </a:r>
            <a:endParaRPr b="0" i="0" sz="1200" u="none" cap="none" strike="noStrike">
              <a:solidFill>
                <a:srgbClr val="37415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57200" y="2649701"/>
            <a:ext cx="54900" cy="777300"/>
          </a:xfrm>
          <a:prstGeom prst="rect">
            <a:avLst/>
          </a:prstGeom>
          <a:solidFill>
            <a:srgbClr val="172B59"/>
          </a:solidFill>
          <a:ln cap="flat" cmpd="sng" w="12700">
            <a:solidFill>
              <a:srgbClr val="172B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640080" y="2722853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172B59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b="0" i="0" sz="1100" u="none" cap="none" strike="noStrike">
              <a:solidFill>
                <a:srgbClr val="172B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051560" y="2695421"/>
            <a:ext cx="393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Noto Sans KR"/>
              <a:buNone/>
            </a:pPr>
            <a:r>
              <a:rPr sz="1300" b="1" i="0" u="none">
                <a:solidFill>
                  <a:srgbClr val="1A202C"/>
                </a:solidFill>
                <a:latin typeface="Noto Sans KR"/>
              </a:rPr>
              <a:t>계산·문구 오류를 한눈에 찾기 어려움</a:t>
            </a:r>
            <a:endParaRPr b="0"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033360" y="3893385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Noto Sans KR"/>
              <a:buNone/>
            </a:pPr>
            <a:r>
              <a:rPr sz="1200" b="0" i="0" u="none">
                <a:solidFill>
                  <a:srgbClr val="374151"/>
                </a:solidFill>
                <a:latin typeface="Noto Sans KR"/>
              </a:rPr>
              <a:t>- 이전 검수 기준과 결과를 다음 연도에 활용하기 어려움</a:t>
            </a:r>
            <a:endParaRPr b="0" i="0" sz="1200" u="none" cap="none" strike="noStrike">
              <a:solidFill>
                <a:srgbClr val="374151"/>
              </a:solidFill>
              <a:highlight>
                <a:schemeClr val="lt1"/>
              </a:highlight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57200" y="3518381"/>
            <a:ext cx="54900" cy="777300"/>
          </a:xfrm>
          <a:prstGeom prst="rect">
            <a:avLst/>
          </a:prstGeom>
          <a:solidFill>
            <a:srgbClr val="172B59"/>
          </a:solidFill>
          <a:ln cap="flat" cmpd="sng" w="12700">
            <a:solidFill>
              <a:srgbClr val="172B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40080" y="3591533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172B59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b="0" i="0" sz="1100" u="none" cap="none" strike="noStrike">
              <a:solidFill>
                <a:srgbClr val="172B5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051560" y="3564101"/>
            <a:ext cx="393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Noto Sans KR"/>
              <a:buNone/>
            </a:pPr>
            <a:r>
              <a:rPr sz="1300" b="1" i="0" u="none">
                <a:solidFill>
                  <a:srgbClr val="1A202C"/>
                </a:solidFill>
                <a:latin typeface="Noto Sans KR"/>
              </a:rPr>
              <a:t>해마다 비슷한 표를 다시 검수</a:t>
            </a:r>
            <a:endParaRPr b="1" i="0" sz="1300" u="none" cap="none" strike="noStrike">
              <a:solidFill>
                <a:srgbClr val="1A202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033360" y="2983453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Noto Sans KR"/>
              <a:buNone/>
            </a:pPr>
            <a:r>
              <a:rPr sz="1200" b="0" i="0" u="none">
                <a:solidFill>
                  <a:srgbClr val="374151"/>
                </a:solidFill>
                <a:latin typeface="Noto Sans KR"/>
              </a:rPr>
              <a:t>- 합계·비율 오류와 오탈자·번역 문제를 놓치기 쉬움</a:t>
            </a:r>
            <a:endParaRPr b="0" i="0" sz="1200" u="none" cap="none" strike="noStrike">
              <a:solidFill>
                <a:srgbClr val="37415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86" name="Google Shape;86;p16" title="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8100" y="65100"/>
            <a:ext cx="1373550" cy="3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/>
          <p:nvPr/>
        </p:nvSpPr>
        <p:spPr>
          <a:xfrm>
            <a:off x="5486400" y="1659435"/>
            <a:ext cx="3200400" cy="2926200"/>
          </a:xfrm>
          <a:prstGeom prst="rect">
            <a:avLst/>
          </a:prstGeom>
          <a:solidFill>
            <a:srgbClr val="0F2C5C"/>
          </a:solidFill>
          <a:ln cap="flat" cmpd="sng" w="12700">
            <a:solidFill>
              <a:srgbClr val="0F2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5669280" y="2070915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oto Sans KR"/>
              <a:buNone/>
            </a:pPr>
            <a:r>
              <a:rPr sz="2200" b="1" i="0" u="none">
                <a:solidFill>
                  <a:srgbClr val="FFFFFF"/>
                </a:solidFill>
                <a:latin typeface="Noto Sans KR"/>
              </a:rPr>
              <a:t>시스템이 필요한 이유</a:t>
            </a:r>
            <a:endParaRPr b="0" i="0" sz="2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9" name="Google Shape;89;p16"/>
          <p:cNvCxnSpPr/>
          <p:nvPr/>
        </p:nvCxnSpPr>
        <p:spPr>
          <a:xfrm>
            <a:off x="5669280" y="2528135"/>
            <a:ext cx="1232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6"/>
          <p:cNvSpPr/>
          <p:nvPr/>
        </p:nvSpPr>
        <p:spPr>
          <a:xfrm>
            <a:off x="5669280" y="2710995"/>
            <a:ext cx="28347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sz="1300" b="1" i="0" u="none">
                <a:solidFill>
                  <a:srgbClr val="FFFFFF"/>
                </a:solidFill>
                <a:latin typeface="Noto Sans KR"/>
              </a:rPr>
              <a:t>반복 계산과 기본 확인은 시스템이 돕고,</a:t>
            </a:r>
            <a:br/>
            <a:r>
              <a:rPr sz="1300" b="1" i="0" u="none">
                <a:solidFill>
                  <a:srgbClr val="FFFFFF"/>
                </a:solidFill>
                <a:latin typeface="Noto Sans KR"/>
              </a:rPr>
              <a:t>담당자는 확인이 필요한 표와 문구에 집중합니다.</a:t>
            </a:r>
            <a:endParaRPr b="0" i="0" sz="13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"/>
              <a:buNone/>
            </a:pPr>
            <a:r>
              <a:rPr sz="720" b="0" i="0">
                <a:solidFill>
                  <a:srgbClr val="667085"/>
                </a:solidFill>
                <a:latin typeface="Noto Sans KR"/>
              </a:rPr>
              <a:t>2</a:t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457200" y="222665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FBF"/>
              </a:buClr>
              <a:buSzPts val="1000"/>
              <a:buFont typeface="Noto Sans KR"/>
              <a:buNone/>
            </a:pPr>
            <a:r>
              <a:rPr sz="1000" b="1" i="0" u="none">
                <a:solidFill>
                  <a:srgbClr val="1E5FBF"/>
                </a:solidFill>
                <a:latin typeface="Noto Sans KR"/>
              </a:rPr>
              <a:t>서비스가 필요한 이유</a:t>
            </a:r>
            <a:endParaRPr b="0" i="0" sz="1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57200" y="496985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800"/>
              <a:buFont typeface="Noto Sans KR"/>
              <a:buNone/>
            </a:pPr>
            <a:r>
              <a:rPr sz="2800" b="1" i="0" u="none">
                <a:solidFill>
                  <a:srgbClr val="1A202C"/>
                </a:solidFill>
                <a:latin typeface="Noto Sans KR"/>
              </a:rPr>
              <a:t>왜 검수 보조가 필요한가</a:t>
            </a:r>
            <a:endParaRPr b="0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95" name="Google Shape;95;p16"/>
          <p:cNvCxnSpPr/>
          <p:nvPr/>
        </p:nvCxnSpPr>
        <p:spPr>
          <a:xfrm>
            <a:off x="457200" y="1228505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16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수백 개 표를 사람이 반복 확인하면 시간과 오류 누락 위험이 커집니다.</a:t>
            </a:r>
            <a:endParaRPr/>
          </a:p>
        </p:txBody>
      </p:sp>
      <p:sp>
        <p:nvSpPr>
          <p:cNvPr id="97" name="클린 스타일 강조선_Google Shape;71;p16"/>
          <p:cNvSpPr/>
          <p:nvPr/>
        </p:nvSpPr>
        <p:spPr>
          <a:xfrm>
            <a:off x="457200" y="3518375"/>
            <a:ext cx="32004" cy="7773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클린 스타일 강조선_Google Shape;72;p16"/>
          <p:cNvSpPr/>
          <p:nvPr/>
        </p:nvSpPr>
        <p:spPr>
          <a:xfrm>
            <a:off x="457200" y="2649700"/>
            <a:ext cx="32004" cy="7773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클린 스타일 강조선_Google Shape;73;p16"/>
          <p:cNvSpPr/>
          <p:nvPr/>
        </p:nvSpPr>
        <p:spPr>
          <a:xfrm>
            <a:off x="457200" y="1795675"/>
            <a:ext cx="32004" cy="7773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문제 이해</a:t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해마다 반복되는 검수</a:t>
            </a:r>
            <a:endParaRPr/>
          </a:p>
        </p:txBody>
      </p:sp>
      <p:pic>
        <p:nvPicPr>
          <p:cNvPr descr="image.png"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계산 오류는 놓치기 쉽고, 표 구조가 같아도 셀 값은 매년 달라집니다.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3</a:t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502920" y="1768083"/>
            <a:ext cx="3858768" cy="2811231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502920" y="1768083"/>
            <a:ext cx="385876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685800" y="1867936"/>
            <a:ext cx="3547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172331"/>
                </a:solidFill>
                <a:latin typeface="Noto Sans KR"/>
              </a:rPr>
              <a:t>오류를 찾기 어려운 표</a:t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731520" y="2290389"/>
            <a:ext cx="3401568" cy="1613001"/>
          </a:xfrm>
          <a:prstGeom prst="rect">
            <a:avLst/>
          </a:prstGeom>
          <a:solidFill>
            <a:srgbClr val="F7F9FB"/>
          </a:solidFill>
          <a:ln cap="flat" cmpd="sng" w="15225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2176272" y="2697480"/>
            <a:ext cx="51206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950976" y="3112251"/>
            <a:ext cx="29626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사례 이미지 삽입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950976" y="3388766"/>
            <a:ext cx="29626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667085"/>
                </a:solidFill>
                <a:latin typeface="Noto Sans KR"/>
              </a:rPr>
              <a:t>합계 불일치나 오탈자가 보이는 화면 권장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31520" y="4041648"/>
            <a:ext cx="3401568" cy="330281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932688" y="4133819"/>
            <a:ext cx="2999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>
                <a:solidFill>
                  <a:srgbClr val="C94655"/>
                </a:solidFill>
                <a:latin typeface="Noto Sans KR"/>
              </a:rPr>
              <a:t>합계 불일치  ·  오탈자  ·  번역 오류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4599432" y="1768083"/>
            <a:ext cx="4041648" cy="2811231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4599432" y="1768083"/>
            <a:ext cx="404164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4782312" y="1867936"/>
            <a:ext cx="37307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172331"/>
                </a:solidFill>
                <a:latin typeface="Noto Sans KR"/>
              </a:rPr>
              <a:t>같은 구조, 달라지는 값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4828032" y="2290389"/>
            <a:ext cx="1645920" cy="1490106"/>
          </a:xfrm>
          <a:prstGeom prst="rect">
            <a:avLst/>
          </a:prstGeom>
          <a:solidFill>
            <a:srgbClr val="F7F9FB"/>
          </a:solidFill>
          <a:ln cap="flat" cmpd="sng" w="15225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394960" y="2636032"/>
            <a:ext cx="51206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5047488" y="3050804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전년도 표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5047488" y="3327318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 삽입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6766560" y="2290389"/>
            <a:ext cx="1645920" cy="1490106"/>
          </a:xfrm>
          <a:prstGeom prst="rect">
            <a:avLst/>
          </a:prstGeom>
          <a:solidFill>
            <a:srgbClr val="F7F9FB"/>
          </a:solidFill>
          <a:ln cap="flat" cmpd="sng" w="15225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7333488" y="2636032"/>
            <a:ext cx="51206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6986016" y="3050804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금년도 표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6986016" y="3327318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 삽입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6501384" y="2904865"/>
            <a:ext cx="219456" cy="24579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828032" y="3934114"/>
            <a:ext cx="3584448" cy="437813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5038344" y="4003243"/>
            <a:ext cx="11521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 u="none">
                <a:solidFill>
                  <a:srgbClr val="1F5A91"/>
                </a:solidFill>
                <a:latin typeface="Noto Sans KR"/>
              </a:rPr>
              <a:t>표 구조·항목은 같음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236208" y="399556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675120" y="4003243"/>
            <a:ext cx="14081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 u="none">
                <a:solidFill>
                  <a:srgbClr val="0C2F61"/>
                </a:solidFill>
                <a:latin typeface="Noto Sans KR"/>
              </a:rPr>
              <a:t>올해 값만 변경</a:t>
            </a:r>
            <a:endParaRPr/>
          </a:p>
        </p:txBody>
      </p:sp>
      <p:sp>
        <p:nvSpPr>
          <p:cNvPr id="133" name="클린 스타일 강조선_Google Shape;109;p17"/>
          <p:cNvSpPr/>
          <p:nvPr/>
        </p:nvSpPr>
        <p:spPr>
          <a:xfrm>
            <a:off x="502920" y="1768083"/>
            <a:ext cx="50292" cy="384048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클린 스타일 강조선_Google Shape;118;p17"/>
          <p:cNvSpPr/>
          <p:nvPr/>
        </p:nvSpPr>
        <p:spPr>
          <a:xfrm>
            <a:off x="4599432" y="1768083"/>
            <a:ext cx="50292" cy="384048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서비스 소개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서비스가 바꾸는 검수 방식</a:t>
            </a:r>
            <a:endParaRPr/>
          </a:p>
        </p:txBody>
      </p:sp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457200" y="1316736"/>
            <a:ext cx="813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반복 확인은 시스템이 돕고, 담당자는 최종 판단에 집중합니다.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4</a:t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502920" y="1768083"/>
            <a:ext cx="3840480" cy="2519354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502920" y="1768083"/>
            <a:ext cx="3840480" cy="399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85800" y="1875617"/>
            <a:ext cx="3529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172331"/>
                </a:solidFill>
                <a:latin typeface="Noto Sans KR"/>
              </a:rPr>
              <a:t>기존 방식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4800600" y="1768083"/>
            <a:ext cx="3840480" cy="2519354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800600" y="1768083"/>
            <a:ext cx="3840480" cy="399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4983480" y="1875617"/>
            <a:ext cx="3529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172331"/>
                </a:solidFill>
                <a:latin typeface="Noto Sans KR"/>
              </a:rPr>
              <a:t>검수 보조 시스템 사용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749808" y="2290389"/>
            <a:ext cx="3346704" cy="35332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841248" y="23211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8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41248" y="23211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1298448" y="2367198"/>
            <a:ext cx="2578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172331"/>
                </a:solidFill>
                <a:latin typeface="Noto Sans KR"/>
              </a:rPr>
              <a:t>수백 개 표를 직접 대조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047488" y="2290389"/>
            <a:ext cx="3346704" cy="35332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5193792" y="2344155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✓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577840" y="2367198"/>
            <a:ext cx="2596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0C2F61"/>
                </a:solidFill>
                <a:latin typeface="Noto Sans KR"/>
              </a:rPr>
              <a:t>검수할 항목을 선택해 일괄 확인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749808" y="2751246"/>
            <a:ext cx="3346704" cy="35332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841248" y="278197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8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41248" y="278197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298448" y="2828056"/>
            <a:ext cx="2578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72331"/>
                </a:solidFill>
                <a:latin typeface="Noto Sans KR"/>
              </a:rPr>
              <a:t>계산·문구 오류 누락 위험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047488" y="2751246"/>
            <a:ext cx="3346704" cy="35332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193792" y="2805013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✓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577840" y="2828056"/>
            <a:ext cx="2596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C2F61"/>
                </a:solidFill>
                <a:latin typeface="Noto Sans KR"/>
              </a:rPr>
              <a:t>계산 오류와 문구 후보를 함께 제시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749808" y="3212104"/>
            <a:ext cx="3346704" cy="35332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841248" y="32428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8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41248" y="32428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298448" y="3288913"/>
            <a:ext cx="2578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172331"/>
                </a:solidFill>
                <a:latin typeface="Noto Sans KR"/>
              </a:rPr>
              <a:t>해마다 같은 기준을 다시 확인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047488" y="3212104"/>
            <a:ext cx="3346704" cy="35332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5193792" y="3265870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✓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577840" y="3288913"/>
            <a:ext cx="2596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0C2F61"/>
                </a:solidFill>
                <a:latin typeface="Noto Sans KR"/>
              </a:rPr>
              <a:t>같은 구조의 표는 이전 기준 활용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749808" y="3672961"/>
            <a:ext cx="3346704" cy="35332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841248" y="3703685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88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41248" y="3703685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298448" y="3749771"/>
            <a:ext cx="25786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172331"/>
                </a:solidFill>
                <a:latin typeface="Noto Sans KR"/>
              </a:rPr>
              <a:t>검수 결과 공유 어려움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047488" y="3672961"/>
            <a:ext cx="3346704" cy="35332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5193792" y="3726727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✓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577840" y="3749771"/>
            <a:ext cx="2596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0C2F61"/>
                </a:solidFill>
                <a:latin typeface="Noto Sans KR"/>
              </a:rPr>
              <a:t>화면과 보고서로 결과 공유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4370832" y="2904865"/>
            <a:ext cx="310896" cy="30723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1078992" y="4441057"/>
            <a:ext cx="6986016" cy="21506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316736" y="4479462"/>
            <a:ext cx="65105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>
                <a:solidFill>
                  <a:srgbClr val="FFFFFF"/>
                </a:solidFill>
                <a:latin typeface="Noto Sans KR"/>
              </a:rPr>
              <a:t>반복 대조 업무를 줄이고, 확인·수정·재검수를 하나의 흐름으로 연결</a:t>
            </a:r>
            <a:endParaRPr/>
          </a:p>
        </p:txBody>
      </p:sp>
      <p:sp>
        <p:nvSpPr>
          <p:cNvPr id="182" name="클린 스타일 강조선_Google Shape;146;p18"/>
          <p:cNvSpPr/>
          <p:nvPr/>
        </p:nvSpPr>
        <p:spPr>
          <a:xfrm>
            <a:off x="502920" y="1768083"/>
            <a:ext cx="50292" cy="399409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클린 스타일 강조선_Google Shape;149;p18"/>
          <p:cNvSpPr/>
          <p:nvPr/>
        </p:nvSpPr>
        <p:spPr>
          <a:xfrm>
            <a:off x="4800600" y="1768083"/>
            <a:ext cx="50292" cy="399409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소개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통계연보 검수 보조 시스템</a:t>
            </a:r>
            <a:endParaRPr/>
          </a:p>
        </p:txBody>
      </p:sp>
      <p:pic>
        <p:nvPicPr>
          <p:cNvPr descr="image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연보 등록부터 오류 확인, 수정, 결과 내려받기까지 한 화면에서 지원합니다.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5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492925" y="1792237"/>
            <a:ext cx="5283300" cy="2739600"/>
          </a:xfrm>
          <a:prstGeom prst="roundRect">
            <a:avLst>
              <a:gd fmla="val 5365" name="adj"/>
            </a:avLst>
          </a:prstGeom>
          <a:solidFill>
            <a:srgbClr val="FFFFFF"/>
          </a:solidFill>
          <a:ln cap="flat" cmpd="sng" w="977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4011" rotWithShape="0" algn="bl" dir="8100000" dist="26003">
              <a:srgbClr val="000000">
                <a:alpha val="10200"/>
              </a:srgbClr>
            </a:outerShdw>
          </a:effectLst>
        </p:spPr>
        <p:txBody>
          <a:bodyPr anchorCtr="0" anchor="ctr" bIns="93575" lIns="93575" spcFirstLastPara="1" rIns="93575" wrap="square" tIns="93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/>
          </a:p>
        </p:txBody>
      </p:sp>
      <p:sp>
        <p:nvSpPr>
          <p:cNvPr id="194" name="Google Shape;194;p19"/>
          <p:cNvSpPr/>
          <p:nvPr/>
        </p:nvSpPr>
        <p:spPr>
          <a:xfrm>
            <a:off x="6020912" y="1917045"/>
            <a:ext cx="2923500" cy="82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6020912" y="1917045"/>
            <a:ext cx="44400" cy="8229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6050516" y="2248746"/>
            <a:ext cx="3702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6405760" y="2142780"/>
            <a:ext cx="2694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200"/>
              <a:buFont typeface="Noto Sans KR"/>
              <a:buNone/>
            </a:pPr>
            <a:r>
              <a:rPr sz="1200" b="1">
                <a:solidFill>
                  <a:srgbClr val="172331"/>
                </a:solidFill>
                <a:latin typeface="Noto Sans KR"/>
              </a:rPr>
              <a:t>검수할 연보 선택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405760" y="2364236"/>
            <a:ext cx="2694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000"/>
              <a:buFont typeface="Noto Sans KR"/>
              <a:buNone/>
            </a:pPr>
            <a:r>
              <a:rPr sz="1000">
                <a:solidFill>
                  <a:srgbClr val="566473"/>
                </a:solidFill>
                <a:latin typeface="Noto Sans KR"/>
              </a:rPr>
              <a:t>대상 연도와 통계표 검색</a:t>
            </a:r>
            <a:endParaRPr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020912" y="2739990"/>
            <a:ext cx="2923500" cy="823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6020912" y="2739990"/>
            <a:ext cx="44400" cy="8232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6050516" y="3071691"/>
            <a:ext cx="3702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405760" y="2965725"/>
            <a:ext cx="2694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200"/>
              <a:buFont typeface="Noto Sans KR"/>
              <a:buNone/>
            </a:pPr>
            <a:r>
              <a:rPr sz="1200" b="1">
                <a:solidFill>
                  <a:srgbClr val="172331"/>
                </a:solidFill>
                <a:latin typeface="Noto Sans KR"/>
              </a:rPr>
              <a:t>검수 결과 한눈에 확인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405760" y="3187182"/>
            <a:ext cx="2694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000"/>
              <a:buFont typeface="Noto Sans KR"/>
              <a:buNone/>
            </a:pPr>
            <a:r>
              <a:rPr sz="1000">
                <a:solidFill>
                  <a:srgbClr val="566473"/>
                </a:solidFill>
                <a:latin typeface="Noto Sans KR"/>
              </a:rPr>
              <a:t>정상·확인 필요·오류 의심 건수</a:t>
            </a:r>
            <a:endParaRPr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6020912" y="3562973"/>
            <a:ext cx="2923500" cy="82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6020912" y="3562973"/>
            <a:ext cx="44400" cy="8229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6050516" y="3894673"/>
            <a:ext cx="3702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5A91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6405760" y="3788708"/>
            <a:ext cx="2694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172331"/>
              </a:buClr>
              <a:buSzPts val="1200"/>
              <a:buFont typeface="Noto Sans KR"/>
              <a:buNone/>
            </a:pPr>
            <a:r>
              <a:rPr sz="1200" b="1">
                <a:solidFill>
                  <a:srgbClr val="172331"/>
                </a:solidFill>
                <a:latin typeface="Noto Sans KR"/>
              </a:rPr>
              <a:t>문제 위치와 근거 확인</a:t>
            </a:r>
            <a:endParaRPr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6405760" y="4010164"/>
            <a:ext cx="2694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566473"/>
              </a:buClr>
              <a:buSzPts val="1000"/>
              <a:buFont typeface="Noto Sans KR"/>
              <a:buNone/>
            </a:pPr>
            <a:r>
              <a:rPr sz="1000">
                <a:solidFill>
                  <a:srgbClr val="566473"/>
                </a:solidFill>
                <a:latin typeface="Noto Sans KR"/>
              </a:rPr>
              <a:t>현재값과 다시 계산한 값을 함께 확인</a:t>
            </a:r>
            <a:endParaRPr i="0" sz="10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처음 검수 흐름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처음 검수는 이렇게 진행합니다</a:t>
            </a:r>
            <a:endParaRPr/>
          </a:p>
        </p:txBody>
      </p:sp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연보를 등록한 뒤 항목을 선택하면 결과 확인과 재검수까지 이어집니다.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6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475488" y="2006193"/>
            <a:ext cx="1243584" cy="1244315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585216" y="2090684"/>
            <a:ext cx="36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585216" y="2413284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C2F61"/>
                </a:solidFill>
                <a:latin typeface="Noto Sans KR"/>
              </a:rPr>
              <a:t>1  연보 등록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566928" y="2682118"/>
            <a:ext cx="1060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 i="0" u="none">
                <a:solidFill>
                  <a:srgbClr val="667085"/>
                </a:solidFill>
                <a:latin typeface="Noto Sans KR"/>
              </a:rPr>
              <a:t>파일과 대상 연도 선택</a:t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1719072" y="2505456"/>
            <a:ext cx="146304" cy="21506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1847088" y="2006193"/>
            <a:ext cx="1243584" cy="1244315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1956816" y="2413284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C2F61"/>
                </a:solidFill>
                <a:latin typeface="Noto Sans KR"/>
              </a:rPr>
              <a:t>2  내용 확인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938528" y="2682118"/>
            <a:ext cx="1060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 i="0" u="none">
                <a:solidFill>
                  <a:srgbClr val="667085"/>
                </a:solidFill>
                <a:latin typeface="Noto Sans KR"/>
              </a:rPr>
              <a:t>표 번호·제목·셀 확인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3090672" y="2505456"/>
            <a:ext cx="146304" cy="21506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3218688" y="2006193"/>
            <a:ext cx="1243584" cy="1244315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3328416" y="2413284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C2F61"/>
                </a:solidFill>
                <a:latin typeface="Noto Sans KR"/>
              </a:rPr>
              <a:t>3  항목 선택·실행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3310128" y="2682118"/>
            <a:ext cx="1060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 i="0" u="none">
                <a:solidFill>
                  <a:srgbClr val="667085"/>
                </a:solidFill>
                <a:latin typeface="Noto Sans KR"/>
              </a:rPr>
              <a:t>합계·비율·문구 등 선택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4462272" y="2505456"/>
            <a:ext cx="146304" cy="21506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590288" y="2006193"/>
            <a:ext cx="1243584" cy="1244315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4700016" y="2413284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C2F61"/>
                </a:solidFill>
                <a:latin typeface="Noto Sans KR"/>
              </a:rPr>
              <a:t>4  결과 확인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4681727" y="2682118"/>
            <a:ext cx="1060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 i="0" u="none">
                <a:solidFill>
                  <a:srgbClr val="667085"/>
                </a:solidFill>
                <a:latin typeface="Noto Sans KR"/>
              </a:rPr>
              <a:t>상태·문제 위치·근거 확인</a:t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5833871" y="2505456"/>
            <a:ext cx="146304" cy="21506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961888" y="2006193"/>
            <a:ext cx="1243584" cy="1244315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6071616" y="2413284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C2F61"/>
                </a:solidFill>
                <a:latin typeface="Noto Sans KR"/>
              </a:rPr>
              <a:t>5  수정·재검수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053327" y="2682118"/>
            <a:ext cx="1060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 i="0" u="none">
                <a:solidFill>
                  <a:srgbClr val="667085"/>
                </a:solidFill>
                <a:latin typeface="Noto Sans KR"/>
              </a:rPr>
              <a:t>문제 수정 후 다시 확인</a:t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7205471" y="2505456"/>
            <a:ext cx="146304" cy="21506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7333488" y="2006193"/>
            <a:ext cx="1243584" cy="1244315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7443215" y="2413284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C2F61"/>
                </a:solidFill>
                <a:latin typeface="Noto Sans KR"/>
              </a:rPr>
              <a:t>6  결과 활용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7424927" y="2682118"/>
            <a:ext cx="1060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0" i="0" u="none">
                <a:solidFill>
                  <a:srgbClr val="667085"/>
                </a:solidFill>
                <a:latin typeface="Noto Sans KR"/>
              </a:rPr>
              <a:t>표·연보·보고서 저장</a:t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932688" y="3565428"/>
            <a:ext cx="7278624" cy="714329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1115568" y="3742090"/>
            <a:ext cx="1078992" cy="261152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1115568" y="3742090"/>
            <a:ext cx="10789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>
                <a:solidFill>
                  <a:srgbClr val="FFFFFF"/>
                </a:solidFill>
                <a:latin typeface="Noto Sans KR"/>
              </a:rPr>
              <a:t>처음 검수 핵심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2395728" y="3703685"/>
            <a:ext cx="55961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u="none">
                <a:solidFill>
                  <a:srgbClr val="1F5A91"/>
                </a:solidFill>
                <a:latin typeface="Noto Sans KR"/>
              </a:rPr>
              <a:t>연보 등록 → 내용 확인 → 항목 선택 → 결과 확인 순서로 진행하고, 필요할 때 수정·재검수를 이어갑니다.</a:t>
            </a:r>
            <a:endParaRPr/>
          </a:p>
        </p:txBody>
      </p:sp>
      <p:sp>
        <p:nvSpPr>
          <p:cNvPr id="248" name="클린 스타일 강조선_Google Shape;244;p20"/>
          <p:cNvSpPr/>
          <p:nvPr/>
        </p:nvSpPr>
        <p:spPr>
          <a:xfrm>
            <a:off x="932688" y="3565428"/>
            <a:ext cx="32004" cy="714329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1단계 · 연보 등록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검수할 연보 등록</a:t>
            </a:r>
            <a:endParaRPr/>
          </a:p>
        </p:txBody>
      </p:sp>
      <p:pic>
        <p:nvPicPr>
          <p:cNvPr descr="image.png" id="254" name="Google Shape;25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새 연보를 올리거나 기존 연보에 새 연도 자료를 추가합니다.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7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512064" y="1829531"/>
            <a:ext cx="3895344" cy="1797344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512064" y="1829531"/>
            <a:ext cx="3895344" cy="3610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694944" y="1914022"/>
            <a:ext cx="3584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94944" y="1914022"/>
            <a:ext cx="3584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A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94944" y="1914022"/>
            <a:ext cx="35844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1" i="0" u="none">
                <a:solidFill>
                  <a:srgbClr val="172331"/>
                </a:solidFill>
                <a:latin typeface="Noto Sans KR"/>
              </a:rPr>
              <a:t>완성된 연보 파일 등록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94944" y="2351836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파일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1517904" y="2328793"/>
            <a:ext cx="2670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HWPX · Markdown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94944" y="2712841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>
                <a:solidFill>
                  <a:srgbClr val="667085"/>
                </a:solidFill>
                <a:latin typeface="Noto Sans KR"/>
              </a:rPr>
              <a:t>함께 입력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1517904" y="2689799"/>
            <a:ext cx="2670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 u="none">
                <a:solidFill>
                  <a:srgbClr val="172331"/>
                </a:solidFill>
                <a:latin typeface="Noto Sans KR"/>
              </a:rPr>
              <a:t>대상 연도 · 연보명 · 원본 파일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694944" y="3066166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>
                <a:solidFill>
                  <a:srgbClr val="667085"/>
                </a:solidFill>
                <a:latin typeface="Noto Sans KR"/>
              </a:rPr>
              <a:t>등록 결과</a:t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1517904" y="3012399"/>
            <a:ext cx="1481328" cy="26115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1517904" y="3012399"/>
            <a:ext cx="14813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 i="0" u="none">
                <a:solidFill>
                  <a:srgbClr val="0C2F61"/>
                </a:solidFill>
                <a:latin typeface="Noto Sans KR"/>
              </a:rPr>
              <a:t>연보 초안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3118104" y="3073847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" b="0" i="0" u="none">
                <a:solidFill>
                  <a:srgbClr val="8A96A3"/>
                </a:solidFill>
                <a:latin typeface="Noto Sans KR"/>
              </a:rPr>
              <a:t>화면에서 지원하는 파일 형식</a:t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4736592" y="1829531"/>
            <a:ext cx="3895344" cy="1797344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4736592" y="1829531"/>
            <a:ext cx="3895344" cy="3610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919472" y="1914022"/>
            <a:ext cx="3584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4919472" y="1914022"/>
            <a:ext cx="35844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B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4919472" y="1914022"/>
            <a:ext cx="35844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1" i="0" u="none">
                <a:solidFill>
                  <a:srgbClr val="172331"/>
                </a:solidFill>
                <a:latin typeface="Noto Sans KR"/>
              </a:rPr>
              <a:t>기존 연보에 새 연도 자료 추가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4919472" y="2351836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파일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5742431" y="2328793"/>
            <a:ext cx="2670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C2F61"/>
                </a:solidFill>
                <a:latin typeface="Noto Sans KR"/>
              </a:rPr>
              <a:t>표 정보 · 항목 · 데이터 파일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4919472" y="2712841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>
                <a:solidFill>
                  <a:srgbClr val="667085"/>
                </a:solidFill>
                <a:latin typeface="Noto Sans KR"/>
              </a:rPr>
              <a:t>함께 입력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5742431" y="2689799"/>
            <a:ext cx="2670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 u="none">
                <a:solidFill>
                  <a:srgbClr val="172331"/>
                </a:solidFill>
                <a:latin typeface="Noto Sans KR"/>
              </a:rPr>
              <a:t>대상 연도 · 기준 연보 · Excel 파일 3개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4919472" y="3066166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>
                <a:solidFill>
                  <a:srgbClr val="667085"/>
                </a:solidFill>
                <a:latin typeface="Noto Sans KR"/>
              </a:rPr>
              <a:t>등록 결과</a:t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5742431" y="3012399"/>
            <a:ext cx="1481328" cy="26115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5742431" y="3012399"/>
            <a:ext cx="14813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 i="0" u="none">
                <a:solidFill>
                  <a:srgbClr val="2F7D68"/>
                </a:solidFill>
                <a:latin typeface="Noto Sans KR"/>
              </a:rPr>
              <a:t>새 연도 초안</a:t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2258568" y="3672961"/>
            <a:ext cx="329184" cy="24579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6483096" y="3672961"/>
            <a:ext cx="329184" cy="24579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749808" y="3957157"/>
            <a:ext cx="7644383" cy="483900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914400" y="4103095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 u="none">
                <a:solidFill>
                  <a:srgbClr val="0C2F61"/>
                </a:solidFill>
                <a:latin typeface="Noto Sans KR"/>
              </a:rPr>
              <a:t>파일 유형 확인</a:t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2084832" y="4110775"/>
            <a:ext cx="146304" cy="14593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2450592" y="4103095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 u="none">
                <a:solidFill>
                  <a:srgbClr val="0C2F61"/>
                </a:solidFill>
                <a:latin typeface="Noto Sans KR"/>
              </a:rPr>
              <a:t>표 번호·제목·중복 확인</a:t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4315968" y="4110775"/>
            <a:ext cx="146304" cy="14593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4617720" y="4103095"/>
            <a:ext cx="16642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 u="none">
                <a:solidFill>
                  <a:srgbClr val="0C2F61"/>
                </a:solidFill>
                <a:latin typeface="Noto Sans KR"/>
              </a:rPr>
              <a:t>표·셀·기본 정보 저장</a:t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6355080" y="4110775"/>
            <a:ext cx="146304" cy="14593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6629400" y="4103095"/>
            <a:ext cx="15361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 u="none">
                <a:solidFill>
                  <a:srgbClr val="0C2F61"/>
                </a:solidFill>
                <a:latin typeface="Noto Sans KR"/>
              </a:rPr>
              <a:t>내용 확인 후 연보 확정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1508760" y="4517867"/>
            <a:ext cx="6126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90" b="0" i="0" u="none">
                <a:solidFill>
                  <a:srgbClr val="667085"/>
                </a:solidFill>
                <a:latin typeface="Noto Sans KR"/>
              </a:rPr>
              <a:t>표 구조를 판단하기 어려운 경우 ‘확인 필요’로 표시하고 담당자가 확인합니다.</a:t>
            </a:r>
            <a:endParaRPr/>
          </a:p>
        </p:txBody>
      </p:sp>
      <p:sp>
        <p:nvSpPr>
          <p:cNvPr id="295" name="클린 스타일 강조선_Google Shape;260;p21"/>
          <p:cNvSpPr/>
          <p:nvPr/>
        </p:nvSpPr>
        <p:spPr>
          <a:xfrm>
            <a:off x="512064" y="1829531"/>
            <a:ext cx="50292" cy="361005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클린 스타일 강조선_Google Shape;273;p21"/>
          <p:cNvSpPr/>
          <p:nvPr/>
        </p:nvSpPr>
        <p:spPr>
          <a:xfrm>
            <a:off x="4736592" y="1829531"/>
            <a:ext cx="50292" cy="361005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클린 스타일 강조선_Google Shape;286;p21"/>
          <p:cNvSpPr/>
          <p:nvPr/>
        </p:nvSpPr>
        <p:spPr>
          <a:xfrm>
            <a:off x="749808" y="3957157"/>
            <a:ext cx="32004" cy="4839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2단계 · 검수 항목 선택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무엇을 검수할지 선택</a:t>
            </a:r>
            <a:endParaRPr/>
          </a:p>
        </p:txBody>
      </p:sp>
      <p:pic>
        <p:nvPicPr>
          <p:cNvPr descr="image.png" id="301" name="Google Shape;3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457200" y="1316736"/>
            <a:ext cx="8138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계산·표 정보·문구 중 필요한 항목을 선택해 한 번에 실행합니다.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8</a:t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475488" y="1783445"/>
            <a:ext cx="3986784" cy="1858792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475488" y="1783445"/>
            <a:ext cx="3986784" cy="330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658368" y="1867936"/>
            <a:ext cx="3675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1" i="0" u="none">
                <a:solidFill>
                  <a:srgbClr val="172331"/>
                </a:solidFill>
                <a:latin typeface="Noto Sans KR"/>
              </a:rPr>
              <a:t>계산·표 정보 확인</a:t>
            </a:r>
            <a:endParaRPr/>
          </a:p>
        </p:txBody>
      </p:sp>
      <p:sp>
        <p:nvSpPr>
          <p:cNvPr id="309" name="Google Shape;309;p22"/>
          <p:cNvSpPr/>
          <p:nvPr/>
        </p:nvSpPr>
        <p:spPr>
          <a:xfrm>
            <a:off x="658368" y="2259665"/>
            <a:ext cx="1737360" cy="491581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749808" y="2328793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1316736" y="2313431"/>
            <a:ext cx="987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u="none">
                <a:solidFill>
                  <a:srgbClr val="172331"/>
                </a:solidFill>
                <a:latin typeface="Noto Sans KR"/>
              </a:rPr>
              <a:t>더해야 할 값이 맞는지 다시 계산</a:t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2532888" y="2259665"/>
            <a:ext cx="1737360" cy="491581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>
            <a:off x="2624328" y="2328793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비율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3191256" y="2313431"/>
            <a:ext cx="987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u="none">
                <a:solidFill>
                  <a:srgbClr val="172331"/>
                </a:solidFill>
                <a:latin typeface="Noto Sans KR"/>
              </a:rPr>
              <a:t>비율·증감 값을 다시 계산해 비교</a:t>
            </a:r>
            <a:endParaRPr/>
          </a:p>
        </p:txBody>
      </p:sp>
      <p:sp>
        <p:nvSpPr>
          <p:cNvPr id="315" name="Google Shape;315;p22"/>
          <p:cNvSpPr/>
          <p:nvPr/>
        </p:nvSpPr>
        <p:spPr>
          <a:xfrm>
            <a:off x="658368" y="2904865"/>
            <a:ext cx="1737360" cy="491581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749808" y="2973993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>
                <a:solidFill>
                  <a:srgbClr val="1F5A91"/>
                </a:solidFill>
                <a:latin typeface="Noto Sans KR"/>
              </a:rPr>
              <a:t>표 정보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1316736" y="2958631"/>
            <a:ext cx="987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u="none">
                <a:solidFill>
                  <a:srgbClr val="172331"/>
                </a:solidFill>
                <a:latin typeface="Noto Sans KR"/>
              </a:rPr>
              <a:t>단위·기준일·출처 누락 확인</a:t>
            </a:r>
            <a:endParaRPr/>
          </a:p>
        </p:txBody>
      </p:sp>
      <p:sp>
        <p:nvSpPr>
          <p:cNvPr id="318" name="Google Shape;318;p22"/>
          <p:cNvSpPr/>
          <p:nvPr/>
        </p:nvSpPr>
        <p:spPr>
          <a:xfrm>
            <a:off x="2532888" y="2904865"/>
            <a:ext cx="1737360" cy="491581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2624328" y="2973993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>
                <a:solidFill>
                  <a:srgbClr val="1F5A91"/>
                </a:solidFill>
                <a:latin typeface="Noto Sans KR"/>
              </a:rPr>
              <a:t>특이값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3191256" y="2958631"/>
            <a:ext cx="987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u="none">
                <a:solidFill>
                  <a:srgbClr val="172331"/>
                </a:solidFill>
                <a:latin typeface="Noto Sans KR"/>
              </a:rPr>
              <a:t>다른 값과 차이가 큰 숫자 후보</a:t>
            </a:r>
            <a:endParaRPr/>
          </a:p>
        </p:txBody>
      </p:sp>
      <p:sp>
        <p:nvSpPr>
          <p:cNvPr id="321" name="Google Shape;321;p22"/>
          <p:cNvSpPr/>
          <p:nvPr/>
        </p:nvSpPr>
        <p:spPr>
          <a:xfrm>
            <a:off x="4681728" y="1783445"/>
            <a:ext cx="3986784" cy="1858792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4681728" y="1783445"/>
            <a:ext cx="3986784" cy="330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4864608" y="1867936"/>
            <a:ext cx="3675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1" i="0" u="none">
                <a:solidFill>
                  <a:srgbClr val="172331"/>
                </a:solidFill>
                <a:latin typeface="Noto Sans KR"/>
              </a:rPr>
              <a:t>오탈자·번역 확인</a:t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4892040" y="2259665"/>
            <a:ext cx="1517904" cy="6452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5020056" y="2336474"/>
            <a:ext cx="1261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9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오탈자</a:t>
            </a: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5001768" y="254386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0" i="0" u="none">
                <a:solidFill>
                  <a:srgbClr val="172331"/>
                </a:solidFill>
                <a:latin typeface="Noto Sans KR"/>
              </a:rPr>
              <a:t>깨진 문자·잘못된 표기 후보</a:t>
            </a:r>
            <a:endParaRPr/>
          </a:p>
        </p:txBody>
      </p:sp>
      <p:sp>
        <p:nvSpPr>
          <p:cNvPr id="327" name="Google Shape;327;p22"/>
          <p:cNvSpPr/>
          <p:nvPr/>
        </p:nvSpPr>
        <p:spPr>
          <a:xfrm>
            <a:off x="6940296" y="2259665"/>
            <a:ext cx="1517904" cy="6452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7068312" y="2336474"/>
            <a:ext cx="1261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9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번역</a:t>
            </a:r>
            <a:endParaRPr/>
          </a:p>
        </p:txBody>
      </p:sp>
      <p:sp>
        <p:nvSpPr>
          <p:cNvPr id="329" name="Google Shape;329;p22"/>
          <p:cNvSpPr txBox="1"/>
          <p:nvPr/>
        </p:nvSpPr>
        <p:spPr>
          <a:xfrm>
            <a:off x="7050024" y="254386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0" i="0" u="none">
                <a:solidFill>
                  <a:srgbClr val="172331"/>
                </a:solidFill>
                <a:latin typeface="Noto Sans KR"/>
              </a:rPr>
              <a:t>한글·영문 표현의 대응 확인</a:t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5010912" y="3081528"/>
            <a:ext cx="3328416" cy="345643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5166360" y="3166018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" b="1" i="0" u="none">
                <a:solidFill>
                  <a:srgbClr val="0C2F61"/>
                </a:solidFill>
                <a:latin typeface="Noto Sans KR"/>
              </a:rPr>
              <a:t>공식 자료  →  이전 검수 결과  →  필요한 경우 AI 확인</a:t>
            </a:r>
            <a:endParaRPr/>
          </a:p>
        </p:txBody>
      </p:sp>
      <p:sp>
        <p:nvSpPr>
          <p:cNvPr id="332" name="Google Shape;332;p22"/>
          <p:cNvSpPr txBox="1"/>
          <p:nvPr/>
        </p:nvSpPr>
        <p:spPr>
          <a:xfrm>
            <a:off x="566928" y="3857304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결과 상태</a:t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566928" y="4087733"/>
            <a:ext cx="2432304" cy="468538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676656" y="418758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5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335" name="Google Shape;335;p22"/>
          <p:cNvSpPr txBox="1"/>
          <p:nvPr/>
        </p:nvSpPr>
        <p:spPr>
          <a:xfrm>
            <a:off x="676656" y="418758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/>
          </a:p>
        </p:txBody>
      </p:sp>
      <p:sp>
        <p:nvSpPr>
          <p:cNvPr id="336" name="Google Shape;336;p22"/>
          <p:cNvSpPr txBox="1"/>
          <p:nvPr/>
        </p:nvSpPr>
        <p:spPr>
          <a:xfrm>
            <a:off x="1042416" y="4141499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정상</a:t>
            </a:r>
            <a:endParaRPr/>
          </a:p>
        </p:txBody>
      </p:sp>
      <p:sp>
        <p:nvSpPr>
          <p:cNvPr id="337" name="Google Shape;337;p22"/>
          <p:cNvSpPr txBox="1"/>
          <p:nvPr/>
        </p:nvSpPr>
        <p:spPr>
          <a:xfrm>
            <a:off x="1042416" y="4318162"/>
            <a:ext cx="18105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172331"/>
                </a:solidFill>
                <a:latin typeface="Noto Sans KR"/>
              </a:rPr>
              <a:t>검수 결과에서 문제 없음</a:t>
            </a:r>
            <a:endParaRPr/>
          </a:p>
        </p:txBody>
      </p:sp>
      <p:sp>
        <p:nvSpPr>
          <p:cNvPr id="338" name="Google Shape;338;p22"/>
          <p:cNvSpPr/>
          <p:nvPr/>
        </p:nvSpPr>
        <p:spPr>
          <a:xfrm>
            <a:off x="3355848" y="4087733"/>
            <a:ext cx="2432304" cy="468538"/>
          </a:xfrm>
          <a:prstGeom prst="rect">
            <a:avLst/>
          </a:prstGeom>
          <a:solidFill>
            <a:srgbClr val="FFF4DE"/>
          </a:solidFill>
          <a:ln cap="flat" cmpd="sng" w="10150">
            <a:solidFill>
              <a:srgbClr val="B978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3465576" y="418758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5" u="none" cap="none" strike="noStrike">
                <a:solidFill>
                  <a:srgbClr val="B97818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3465576" y="418758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3831335" y="4141499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B97818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3831335" y="4318162"/>
            <a:ext cx="18105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172331"/>
                </a:solidFill>
                <a:latin typeface="Noto Sans KR"/>
              </a:rPr>
              <a:t>담당자가 내용을 보고 판단</a:t>
            </a:r>
            <a:endParaRPr/>
          </a:p>
        </p:txBody>
      </p:sp>
      <p:sp>
        <p:nvSpPr>
          <p:cNvPr id="343" name="Google Shape;343;p22"/>
          <p:cNvSpPr/>
          <p:nvPr/>
        </p:nvSpPr>
        <p:spPr>
          <a:xfrm>
            <a:off x="6144768" y="4087733"/>
            <a:ext cx="2432304" cy="468538"/>
          </a:xfrm>
          <a:prstGeom prst="rect">
            <a:avLst/>
          </a:prstGeom>
          <a:solidFill>
            <a:srgbClr val="FDECEF"/>
          </a:solidFill>
          <a:ln cap="flat" cmpd="sng" w="10150">
            <a:solidFill>
              <a:srgbClr val="C946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6254496" y="418758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5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6254496" y="418758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6620256" y="4141499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</a:t>
            </a:r>
            <a:endParaRPr/>
          </a:p>
        </p:txBody>
      </p:sp>
      <p:sp>
        <p:nvSpPr>
          <p:cNvPr id="347" name="Google Shape;347;p22"/>
          <p:cNvSpPr txBox="1"/>
          <p:nvPr/>
        </p:nvSpPr>
        <p:spPr>
          <a:xfrm>
            <a:off x="6620256" y="4318162"/>
            <a:ext cx="18105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172331"/>
                </a:solidFill>
                <a:latin typeface="Noto Sans KR"/>
              </a:rPr>
              <a:t>계산 불일치 등 먼저 확인</a:t>
            </a:r>
            <a:endParaRPr/>
          </a:p>
        </p:txBody>
      </p:sp>
      <p:sp>
        <p:nvSpPr>
          <p:cNvPr id="348" name="클린 스타일 강조선_Google Shape;307;p22"/>
          <p:cNvSpPr/>
          <p:nvPr/>
        </p:nvSpPr>
        <p:spPr>
          <a:xfrm>
            <a:off x="475488" y="1783445"/>
            <a:ext cx="50292" cy="330281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클린 스타일 강조선_Google Shape;322;p22"/>
          <p:cNvSpPr/>
          <p:nvPr/>
        </p:nvSpPr>
        <p:spPr>
          <a:xfrm>
            <a:off x="4681728" y="1783445"/>
            <a:ext cx="50292" cy="330281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클린 스타일 강조선_Google Shape;309;p22"/>
          <p:cNvSpPr/>
          <p:nvPr/>
        </p:nvSpPr>
        <p:spPr>
          <a:xfrm>
            <a:off x="658368" y="2259665"/>
            <a:ext cx="32004" cy="491581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클린 스타일 강조선_Google Shape;312;p22"/>
          <p:cNvSpPr/>
          <p:nvPr/>
        </p:nvSpPr>
        <p:spPr>
          <a:xfrm>
            <a:off x="2532888" y="2259665"/>
            <a:ext cx="32004" cy="491581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클린 스타일 강조선_Google Shape;315;p22"/>
          <p:cNvSpPr/>
          <p:nvPr/>
        </p:nvSpPr>
        <p:spPr>
          <a:xfrm>
            <a:off x="658368" y="2904865"/>
            <a:ext cx="32004" cy="491581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클린 스타일 강조선_Google Shape;318;p22"/>
          <p:cNvSpPr/>
          <p:nvPr/>
        </p:nvSpPr>
        <p:spPr>
          <a:xfrm>
            <a:off x="2532888" y="2904865"/>
            <a:ext cx="32004" cy="491581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클린 스타일 강조선_Google Shape;330;p22"/>
          <p:cNvSpPr/>
          <p:nvPr/>
        </p:nvSpPr>
        <p:spPr>
          <a:xfrm>
            <a:off x="5010912" y="3081528"/>
            <a:ext cx="32004" cy="345643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클린 스타일 강조선_Google Shape;333;p22"/>
          <p:cNvSpPr/>
          <p:nvPr/>
        </p:nvSpPr>
        <p:spPr>
          <a:xfrm>
            <a:off x="566928" y="4087733"/>
            <a:ext cx="32004" cy="468538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3단계 · 검수 기준 준비</a:t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표마다 맞는 검수 기준 준비</a:t>
            </a:r>
            <a:endParaRPr/>
          </a:p>
        </p:txBody>
      </p:sp>
      <p:pic>
        <p:nvPicPr>
          <p:cNvPr descr="image.png" id="354" name="Google Shape;3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3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6" name="Google Shape;356;p23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시스템이 표 구조를 읽고, 어떤 셀을 더하고 무엇으로 나눌지 기준을 마련합니다.</a:t>
            </a:r>
            <a:endParaRPr/>
          </a:p>
        </p:txBody>
      </p:sp>
      <p:sp>
        <p:nvSpPr>
          <p:cNvPr id="357" name="Google Shape;357;p23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358" name="Google Shape;358;p23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9</a:t>
            </a:r>
            <a:endParaRPr/>
          </a:p>
        </p:txBody>
      </p:sp>
      <p:sp>
        <p:nvSpPr>
          <p:cNvPr id="359" name="Google Shape;359;p23"/>
          <p:cNvSpPr/>
          <p:nvPr/>
        </p:nvSpPr>
        <p:spPr>
          <a:xfrm>
            <a:off x="621792" y="1737360"/>
            <a:ext cx="7900416" cy="361005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804672" y="1814169"/>
            <a:ext cx="841248" cy="207385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1" name="Google Shape;361;p23"/>
          <p:cNvSpPr txBox="1"/>
          <p:nvPr/>
        </p:nvSpPr>
        <p:spPr>
          <a:xfrm>
            <a:off x="804672" y="1814169"/>
            <a:ext cx="8412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1" i="0" u="none">
                <a:solidFill>
                  <a:srgbClr val="FFFFFF"/>
                </a:solidFill>
                <a:latin typeface="Noto Sans KR"/>
              </a:rPr>
              <a:t>표 구조 확인</a:t>
            </a:r>
            <a:endParaRPr/>
          </a:p>
        </p:txBody>
      </p:sp>
      <p:sp>
        <p:nvSpPr>
          <p:cNvPr id="362" name="Google Shape;362;p23"/>
          <p:cNvSpPr txBox="1"/>
          <p:nvPr/>
        </p:nvSpPr>
        <p:spPr>
          <a:xfrm>
            <a:off x="1810512" y="1806488"/>
            <a:ext cx="64190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" b="1" i="0" u="none">
                <a:solidFill>
                  <a:srgbClr val="0C2F61"/>
                </a:solidFill>
                <a:latin typeface="Noto Sans KR"/>
              </a:rPr>
              <a:t>헤더 수 · 행/열 수 · 항목명 · 데이터 배치를 분석해 표마다 검수 기준을 준비</a:t>
            </a:r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502920" y="2259665"/>
            <a:ext cx="1938528" cy="1758939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502920" y="2259665"/>
            <a:ext cx="1938528" cy="32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5" name="Google Shape;365;p23"/>
          <p:cNvSpPr txBox="1"/>
          <p:nvPr/>
        </p:nvSpPr>
        <p:spPr>
          <a:xfrm>
            <a:off x="630936" y="233647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366" name="Google Shape;366;p23"/>
          <p:cNvSpPr txBox="1"/>
          <p:nvPr/>
        </p:nvSpPr>
        <p:spPr>
          <a:xfrm>
            <a:off x="1024127" y="2336474"/>
            <a:ext cx="12893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u="none">
                <a:solidFill>
                  <a:srgbClr val="172331"/>
                </a:solidFill>
                <a:latin typeface="Noto Sans KR"/>
              </a:rPr>
              <a:t>공통 기준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658368" y="2735884"/>
            <a:ext cx="1627632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>
                <a:solidFill>
                  <a:srgbClr val="0C2F61"/>
                </a:solidFill>
                <a:latin typeface="Noto Sans KR"/>
              </a:rPr>
              <a:t>• 모든 표에 기본 확인 적용</a:t>
            </a:r>
            <a:br/>
            <a:r>
              <a:rPr sz="800" b="1" i="0" u="none">
                <a:solidFill>
                  <a:srgbClr val="0C2F61"/>
                </a:solidFill>
                <a:latin typeface="Noto Sans KR"/>
              </a:rPr>
              <a:t>• 단위·기준일·출처 확인</a:t>
            </a:r>
            <a:br/>
            <a:r>
              <a:rPr sz="800" b="1" i="0" u="none">
                <a:solidFill>
                  <a:srgbClr val="0C2F61"/>
                </a:solidFill>
                <a:latin typeface="Noto Sans KR"/>
              </a:rPr>
              <a:t>• 숫자 열의 특이값 확인 가능성 판단</a:t>
            </a:r>
            <a:endParaRPr/>
          </a:p>
        </p:txBody>
      </p:sp>
      <p:sp>
        <p:nvSpPr>
          <p:cNvPr id="368" name="Google Shape;368;p23"/>
          <p:cNvSpPr/>
          <p:nvPr/>
        </p:nvSpPr>
        <p:spPr>
          <a:xfrm>
            <a:off x="2551176" y="2259665"/>
            <a:ext cx="1938528" cy="1758939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2551176" y="2259665"/>
            <a:ext cx="1938528" cy="32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0" name="Google Shape;370;p23"/>
          <p:cNvSpPr txBox="1"/>
          <p:nvPr/>
        </p:nvSpPr>
        <p:spPr>
          <a:xfrm>
            <a:off x="2679192" y="233647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371" name="Google Shape;371;p23"/>
          <p:cNvSpPr txBox="1"/>
          <p:nvPr/>
        </p:nvSpPr>
        <p:spPr>
          <a:xfrm>
            <a:off x="3072383" y="2336474"/>
            <a:ext cx="12893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u="none">
                <a:solidFill>
                  <a:srgbClr val="172331"/>
                </a:solidFill>
                <a:latin typeface="Noto Sans KR"/>
              </a:rPr>
              <a:t>표 유형별 기준</a:t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2706624" y="2735884"/>
            <a:ext cx="1627632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>
                <a:solidFill>
                  <a:srgbClr val="1F5A91"/>
                </a:solidFill>
                <a:latin typeface="Noto Sans KR"/>
              </a:rPr>
              <a:t>• 지역별·연도별 등 표 종류 파악</a:t>
            </a:r>
            <a:br/>
            <a:r>
              <a:rPr sz="800" b="1" i="0" u="none">
                <a:solidFill>
                  <a:srgbClr val="1F5A91"/>
                </a:solidFill>
                <a:latin typeface="Noto Sans KR"/>
              </a:rPr>
              <a:t>• 전국 합계와 지역 값의 관계 확인</a:t>
            </a:r>
            <a:br/>
            <a:r>
              <a:rPr sz="800" b="1" i="0" u="none">
                <a:solidFill>
                  <a:srgbClr val="1F5A91"/>
                </a:solidFill>
                <a:latin typeface="Noto Sans KR"/>
              </a:rPr>
              <a:t>• 헤더와 항목 배치를 기본 기준으로 사용</a:t>
            </a:r>
            <a:endParaRPr/>
          </a:p>
        </p:txBody>
      </p:sp>
      <p:sp>
        <p:nvSpPr>
          <p:cNvPr id="373" name="Google Shape;373;p23"/>
          <p:cNvSpPr/>
          <p:nvPr/>
        </p:nvSpPr>
        <p:spPr>
          <a:xfrm>
            <a:off x="4599432" y="2259665"/>
            <a:ext cx="1938528" cy="1758939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4599432" y="2259665"/>
            <a:ext cx="1938528" cy="32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5" name="Google Shape;375;p23"/>
          <p:cNvSpPr txBox="1"/>
          <p:nvPr/>
        </p:nvSpPr>
        <p:spPr>
          <a:xfrm>
            <a:off x="4727448" y="233647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5120639" y="2336474"/>
            <a:ext cx="12893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u="none">
                <a:solidFill>
                  <a:srgbClr val="172331"/>
                </a:solidFill>
                <a:latin typeface="Noto Sans KR"/>
              </a:rPr>
              <a:t>표별 자동 분석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4754880" y="2735884"/>
            <a:ext cx="1627632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>
                <a:solidFill>
                  <a:srgbClr val="1F5A91"/>
                </a:solidFill>
                <a:latin typeface="Noto Sans KR"/>
              </a:rPr>
              <a:t>• 계·합계·소계 항목 찾기</a:t>
            </a:r>
            <a:br/>
            <a:r>
              <a:rPr sz="800" b="1" i="0" u="none">
                <a:solidFill>
                  <a:srgbClr val="1F5A91"/>
                </a:solidFill>
                <a:latin typeface="Noto Sans KR"/>
              </a:rPr>
              <a:t>• 분자·분모·증감 관계 찾기</a:t>
            </a:r>
            <a:br/>
            <a:r>
              <a:rPr sz="800" b="1" i="0" u="none">
                <a:solidFill>
                  <a:srgbClr val="1F5A91"/>
                </a:solidFill>
                <a:latin typeface="Noto Sans KR"/>
              </a:rPr>
              <a:t>• 현재 값과 비교해 기준의 신뢰도 확인</a:t>
            </a:r>
            <a:endParaRPr/>
          </a:p>
        </p:txBody>
      </p:sp>
      <p:sp>
        <p:nvSpPr>
          <p:cNvPr id="378" name="Google Shape;378;p23"/>
          <p:cNvSpPr/>
          <p:nvPr/>
        </p:nvSpPr>
        <p:spPr>
          <a:xfrm>
            <a:off x="6647688" y="2259665"/>
            <a:ext cx="1938528" cy="1758939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6647688" y="2259665"/>
            <a:ext cx="1938528" cy="32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0" name="Google Shape;380;p23"/>
          <p:cNvSpPr txBox="1"/>
          <p:nvPr/>
        </p:nvSpPr>
        <p:spPr>
          <a:xfrm>
            <a:off x="6775704" y="233647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/>
          </a:p>
        </p:txBody>
      </p:sp>
      <p:sp>
        <p:nvSpPr>
          <p:cNvPr id="381" name="Google Shape;381;p23"/>
          <p:cNvSpPr txBox="1"/>
          <p:nvPr/>
        </p:nvSpPr>
        <p:spPr>
          <a:xfrm>
            <a:off x="7168895" y="2336474"/>
            <a:ext cx="12893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u="none">
                <a:solidFill>
                  <a:srgbClr val="172331"/>
                </a:solidFill>
                <a:latin typeface="Noto Sans KR"/>
              </a:rPr>
              <a:t>통계별 예외 기준</a:t>
            </a:r>
            <a:endParaRPr/>
          </a:p>
        </p:txBody>
      </p:sp>
      <p:sp>
        <p:nvSpPr>
          <p:cNvPr id="382" name="Google Shape;382;p23"/>
          <p:cNvSpPr txBox="1"/>
          <p:nvPr/>
        </p:nvSpPr>
        <p:spPr>
          <a:xfrm>
            <a:off x="6803136" y="2735884"/>
            <a:ext cx="1627632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>
                <a:solidFill>
                  <a:srgbClr val="2F7D68"/>
                </a:solidFill>
                <a:latin typeface="Noto Sans KR"/>
              </a:rPr>
              <a:t>• 담당자가 확인한 기존 기준 반영</a:t>
            </a:r>
            <a:br/>
            <a:r>
              <a:rPr sz="800" b="1" i="0" u="none">
                <a:solidFill>
                  <a:srgbClr val="2F7D68"/>
                </a:solidFill>
                <a:latin typeface="Noto Sans KR"/>
              </a:rPr>
              <a:t>• 잘못 찾은 관계는 제외·보정</a:t>
            </a:r>
            <a:br/>
            <a:r>
              <a:rPr sz="800" b="1" i="0" u="none">
                <a:solidFill>
                  <a:srgbClr val="2F7D68"/>
                </a:solidFill>
                <a:latin typeface="Noto Sans KR"/>
              </a:rPr>
              <a:t>• 나뉜 표·고정 셀 등 예외 처리</a:t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621792" y="4210628"/>
            <a:ext cx="7900416" cy="391728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4" name="Google Shape;384;p23"/>
          <p:cNvSpPr txBox="1"/>
          <p:nvPr/>
        </p:nvSpPr>
        <p:spPr>
          <a:xfrm>
            <a:off x="859536" y="4325843"/>
            <a:ext cx="10607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>
                <a:solidFill>
                  <a:srgbClr val="48A9C7"/>
                </a:solidFill>
                <a:latin typeface="Noto Sans KR"/>
              </a:rPr>
              <a:t>준비 결과</a:t>
            </a:r>
            <a:endParaRPr/>
          </a:p>
        </p:txBody>
      </p:sp>
      <p:sp>
        <p:nvSpPr>
          <p:cNvPr id="385" name="Google Shape;385;p23"/>
          <p:cNvSpPr txBox="1"/>
          <p:nvPr/>
        </p:nvSpPr>
        <p:spPr>
          <a:xfrm>
            <a:off x="1993392" y="4302800"/>
            <a:ext cx="6281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5" b="1" i="0" u="none">
                <a:solidFill>
                  <a:srgbClr val="FFFFFF"/>
                </a:solidFill>
                <a:latin typeface="Noto Sans KR"/>
              </a:rPr>
              <a:t>표마다 합계·비율 계산 기준을 저장  |  같은 구조는 재사용  |  구조가 바뀐 표만 다시 분석</a:t>
            </a:r>
            <a:endParaRPr/>
          </a:p>
        </p:txBody>
      </p:sp>
      <p:sp>
        <p:nvSpPr>
          <p:cNvPr id="386" name="클린 스타일 강조선_Google Shape;364;p23"/>
          <p:cNvSpPr/>
          <p:nvPr/>
        </p:nvSpPr>
        <p:spPr>
          <a:xfrm>
            <a:off x="502920" y="2259665"/>
            <a:ext cx="50292" cy="3226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클린 스타일 강조선_Google Shape;369;p23"/>
          <p:cNvSpPr/>
          <p:nvPr/>
        </p:nvSpPr>
        <p:spPr>
          <a:xfrm>
            <a:off x="2551176" y="2259665"/>
            <a:ext cx="50292" cy="3226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클린 스타일 강조선_Google Shape;374;p23"/>
          <p:cNvSpPr/>
          <p:nvPr/>
        </p:nvSpPr>
        <p:spPr>
          <a:xfrm>
            <a:off x="4599432" y="2259665"/>
            <a:ext cx="50292" cy="3226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클린 스타일 강조선_Google Shape;379;p23"/>
          <p:cNvSpPr/>
          <p:nvPr/>
        </p:nvSpPr>
        <p:spPr>
          <a:xfrm>
            <a:off x="6647688" y="2259665"/>
            <a:ext cx="50292" cy="32260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클린 스타일 강조선_Google Shape;359;p23"/>
          <p:cNvSpPr/>
          <p:nvPr/>
        </p:nvSpPr>
        <p:spPr>
          <a:xfrm>
            <a:off x="621792" y="1737360"/>
            <a:ext cx="32004" cy="361005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4단계 · 합계 확인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합계가 맞는지 확인</a:t>
            </a:r>
            <a:endParaRPr/>
          </a:p>
        </p:txBody>
      </p:sp>
      <p:pic>
        <p:nvPicPr>
          <p:cNvPr descr="image.png" id="392" name="Google Shape;3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4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4" name="Google Shape;394;p24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계·합계·소계 셀을 구성 항목에서 다시 더해 표시된 값과 비교합니다.</a:t>
            </a:r>
            <a:endParaRPr/>
          </a:p>
        </p:txBody>
      </p:sp>
      <p:sp>
        <p:nvSpPr>
          <p:cNvPr id="395" name="Google Shape;395;p24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10</a:t>
            </a:r>
            <a:endParaRPr/>
          </a:p>
        </p:txBody>
      </p:sp>
      <p:sp>
        <p:nvSpPr>
          <p:cNvPr id="397" name="Google Shape;397;p24"/>
          <p:cNvSpPr/>
          <p:nvPr/>
        </p:nvSpPr>
        <p:spPr>
          <a:xfrm>
            <a:off x="502920" y="1783080"/>
            <a:ext cx="2578608" cy="2880360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502920" y="1783080"/>
            <a:ext cx="257860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9" name="Google Shape;399;p24"/>
          <p:cNvSpPr txBox="1"/>
          <p:nvPr/>
        </p:nvSpPr>
        <p:spPr>
          <a:xfrm>
            <a:off x="685800" y="1901952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172331"/>
                </a:solidFill>
                <a:latin typeface="Noto Sans KR"/>
              </a:rPr>
              <a:t>어떤 합계를 확인하나</a:t>
            </a:r>
            <a:endParaRPr/>
          </a:p>
        </p:txBody>
      </p:sp>
      <p:sp>
        <p:nvSpPr>
          <p:cNvPr id="400" name="Google Shape;400;p24"/>
          <p:cNvSpPr/>
          <p:nvPr/>
        </p:nvSpPr>
        <p:spPr>
          <a:xfrm>
            <a:off x="694944" y="2331720"/>
            <a:ext cx="2194560" cy="38404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786384" y="2404872"/>
            <a:ext cx="365760" cy="2286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2" name="Google Shape;402;p24"/>
          <p:cNvSpPr txBox="1"/>
          <p:nvPr/>
        </p:nvSpPr>
        <p:spPr>
          <a:xfrm>
            <a:off x="786384" y="240487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03" name="Google Shape;403;p24"/>
          <p:cNvSpPr txBox="1"/>
          <p:nvPr/>
        </p:nvSpPr>
        <p:spPr>
          <a:xfrm>
            <a:off x="1243584" y="2372868"/>
            <a:ext cx="14813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C2F61"/>
                </a:solidFill>
                <a:latin typeface="Noto Sans KR"/>
              </a:rPr>
              <a:t>행 합계</a:t>
            </a:r>
            <a:endParaRPr/>
          </a:p>
        </p:txBody>
      </p:sp>
      <p:sp>
        <p:nvSpPr>
          <p:cNvPr id="404" name="Google Shape;404;p24"/>
          <p:cNvSpPr txBox="1"/>
          <p:nvPr/>
        </p:nvSpPr>
        <p:spPr>
          <a:xfrm>
            <a:off x="1243584" y="2537460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0" i="0" u="none">
                <a:solidFill>
                  <a:srgbClr val="667085"/>
                </a:solidFill>
                <a:latin typeface="Noto Sans KR"/>
              </a:rPr>
              <a:t>같은 행의 세부 열 더하기</a:t>
            </a:r>
            <a:endParaRPr/>
          </a:p>
        </p:txBody>
      </p:sp>
      <p:sp>
        <p:nvSpPr>
          <p:cNvPr id="405" name="Google Shape;405;p24"/>
          <p:cNvSpPr/>
          <p:nvPr/>
        </p:nvSpPr>
        <p:spPr>
          <a:xfrm>
            <a:off x="694944" y="2788920"/>
            <a:ext cx="2194560" cy="38404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6" name="Google Shape;406;p24"/>
          <p:cNvSpPr/>
          <p:nvPr/>
        </p:nvSpPr>
        <p:spPr>
          <a:xfrm>
            <a:off x="786384" y="2862072"/>
            <a:ext cx="365760" cy="2286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7" name="Google Shape;407;p24"/>
          <p:cNvSpPr txBox="1"/>
          <p:nvPr/>
        </p:nvSpPr>
        <p:spPr>
          <a:xfrm>
            <a:off x="786384" y="286207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08" name="Google Shape;408;p24"/>
          <p:cNvSpPr txBox="1"/>
          <p:nvPr/>
        </p:nvSpPr>
        <p:spPr>
          <a:xfrm>
            <a:off x="1243584" y="2830068"/>
            <a:ext cx="14813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C2F61"/>
                </a:solidFill>
                <a:latin typeface="Noto Sans KR"/>
              </a:rPr>
              <a:t>열 합계·소계</a:t>
            </a:r>
            <a:endParaRPr/>
          </a:p>
        </p:txBody>
      </p:sp>
      <p:sp>
        <p:nvSpPr>
          <p:cNvPr id="409" name="Google Shape;409;p24"/>
          <p:cNvSpPr txBox="1"/>
          <p:nvPr/>
        </p:nvSpPr>
        <p:spPr>
          <a:xfrm>
            <a:off x="1243584" y="2994660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0" i="0" u="none">
                <a:solidFill>
                  <a:srgbClr val="667085"/>
                </a:solidFill>
                <a:latin typeface="Noto Sans KR"/>
              </a:rPr>
              <a:t>세부 행·지역 값 더하기</a:t>
            </a:r>
            <a:endParaRPr/>
          </a:p>
        </p:txBody>
      </p:sp>
      <p:sp>
        <p:nvSpPr>
          <p:cNvPr id="410" name="Google Shape;410;p24"/>
          <p:cNvSpPr/>
          <p:nvPr/>
        </p:nvSpPr>
        <p:spPr>
          <a:xfrm>
            <a:off x="694944" y="3246120"/>
            <a:ext cx="2194560" cy="38404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786384" y="3319272"/>
            <a:ext cx="365760" cy="2286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2" name="Google Shape;412;p24"/>
          <p:cNvSpPr txBox="1"/>
          <p:nvPr/>
        </p:nvSpPr>
        <p:spPr>
          <a:xfrm>
            <a:off x="786384" y="331927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413" name="Google Shape;413;p24"/>
          <p:cNvSpPr txBox="1"/>
          <p:nvPr/>
        </p:nvSpPr>
        <p:spPr>
          <a:xfrm>
            <a:off x="1243584" y="3287268"/>
            <a:ext cx="14813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C2F61"/>
                </a:solidFill>
                <a:latin typeface="Noto Sans KR"/>
              </a:rPr>
              <a:t>표에 적힌 계산식</a:t>
            </a:r>
            <a:endParaRPr/>
          </a:p>
        </p:txBody>
      </p:sp>
      <p:sp>
        <p:nvSpPr>
          <p:cNvPr id="414" name="Google Shape;414;p24"/>
          <p:cNvSpPr txBox="1"/>
          <p:nvPr/>
        </p:nvSpPr>
        <p:spPr>
          <a:xfrm>
            <a:off x="1243584" y="3451860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0" i="0" u="none">
                <a:solidFill>
                  <a:srgbClr val="667085"/>
                </a:solidFill>
                <a:latin typeface="Noto Sans KR"/>
              </a:rPr>
              <a:t>a+b·a-b 관계 계산</a:t>
            </a:r>
            <a:endParaRPr/>
          </a:p>
        </p:txBody>
      </p:sp>
      <p:sp>
        <p:nvSpPr>
          <p:cNvPr id="415" name="Google Shape;415;p24"/>
          <p:cNvSpPr/>
          <p:nvPr/>
        </p:nvSpPr>
        <p:spPr>
          <a:xfrm>
            <a:off x="694944" y="3703320"/>
            <a:ext cx="2194560" cy="38404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786384" y="3776472"/>
            <a:ext cx="365760" cy="228600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7" name="Google Shape;417;p24"/>
          <p:cNvSpPr txBox="1"/>
          <p:nvPr/>
        </p:nvSpPr>
        <p:spPr>
          <a:xfrm>
            <a:off x="786384" y="377647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/>
          </a:p>
        </p:txBody>
      </p:sp>
      <p:sp>
        <p:nvSpPr>
          <p:cNvPr id="418" name="Google Shape;418;p24"/>
          <p:cNvSpPr txBox="1"/>
          <p:nvPr/>
        </p:nvSpPr>
        <p:spPr>
          <a:xfrm>
            <a:off x="1243584" y="3744468"/>
            <a:ext cx="14813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C2F61"/>
                </a:solidFill>
                <a:latin typeface="Noto Sans KR"/>
              </a:rPr>
              <a:t>나뉜 표·반복 구역</a:t>
            </a:r>
            <a:endParaRPr/>
          </a:p>
        </p:txBody>
      </p:sp>
      <p:sp>
        <p:nvSpPr>
          <p:cNvPr id="419" name="Google Shape;419;p24"/>
          <p:cNvSpPr txBox="1"/>
          <p:nvPr/>
        </p:nvSpPr>
        <p:spPr>
          <a:xfrm>
            <a:off x="1243584" y="3909059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0" i="0" u="none">
                <a:solidFill>
                  <a:srgbClr val="667085"/>
                </a:solidFill>
                <a:latin typeface="Noto Sans KR"/>
              </a:rPr>
              <a:t>연결된 셀 값 합산</a:t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694944" y="4242816"/>
            <a:ext cx="2194560" cy="25603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1" name="Google Shape;421;p24"/>
          <p:cNvSpPr txBox="1"/>
          <p:nvPr/>
        </p:nvSpPr>
        <p:spPr>
          <a:xfrm>
            <a:off x="822960" y="4297680"/>
            <a:ext cx="6949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 u="none">
                <a:solidFill>
                  <a:srgbClr val="1F5A91"/>
                </a:solidFill>
                <a:latin typeface="Noto Sans KR"/>
              </a:rPr>
              <a:t>확인 기준</a:t>
            </a:r>
            <a:endParaRPr/>
          </a:p>
        </p:txBody>
      </p:sp>
      <p:sp>
        <p:nvSpPr>
          <p:cNvPr id="422" name="Google Shape;422;p24"/>
          <p:cNvSpPr txBox="1"/>
          <p:nvPr/>
        </p:nvSpPr>
        <p:spPr>
          <a:xfrm>
            <a:off x="1444752" y="4288536"/>
            <a:ext cx="1307592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172331"/>
                </a:solidFill>
                <a:latin typeface="Noto Sans KR"/>
              </a:rPr>
              <a:t>평균 열 제외 · 허용 범위 비교</a:t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3310128" y="1783080"/>
            <a:ext cx="5330952" cy="2468880"/>
          </a:xfrm>
          <a:prstGeom prst="rect">
            <a:avLst/>
          </a:prstGeom>
          <a:solidFill>
            <a:srgbClr val="F7F9FB"/>
          </a:solidFill>
          <a:ln cap="flat" cmpd="sng" w="15225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4" name="Google Shape;424;p24"/>
          <p:cNvSpPr txBox="1"/>
          <p:nvPr/>
        </p:nvSpPr>
        <p:spPr>
          <a:xfrm>
            <a:off x="5719572" y="2542032"/>
            <a:ext cx="51206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425" name="Google Shape;425;p24"/>
          <p:cNvSpPr txBox="1"/>
          <p:nvPr/>
        </p:nvSpPr>
        <p:spPr>
          <a:xfrm>
            <a:off x="3529584" y="3035808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C2F61"/>
                </a:solidFill>
                <a:latin typeface="Noto Sans KR"/>
              </a:rPr>
              <a:t>합계 확인 화면 이미지 삽입</a:t>
            </a:r>
            <a:endParaRPr/>
          </a:p>
        </p:txBody>
      </p:sp>
      <p:sp>
        <p:nvSpPr>
          <p:cNvPr id="426" name="Google Shape;426;p24"/>
          <p:cNvSpPr txBox="1"/>
          <p:nvPr/>
        </p:nvSpPr>
        <p:spPr>
          <a:xfrm>
            <a:off x="3529584" y="3364991"/>
            <a:ext cx="4892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667085"/>
                </a:solidFill>
                <a:latin typeface="Noto Sans KR"/>
              </a:rPr>
              <a:t>오류 셀·현재값·다시 계산한 값·근거 셀이 보이는 화면 권장</a:t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3310128" y="4370832"/>
            <a:ext cx="5330952" cy="29260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8" name="Google Shape;428;p24"/>
          <p:cNvSpPr txBox="1"/>
          <p:nvPr/>
        </p:nvSpPr>
        <p:spPr>
          <a:xfrm>
            <a:off x="3529584" y="4443984"/>
            <a:ext cx="9875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1" i="0" u="none">
                <a:solidFill>
                  <a:srgbClr val="1F5A91"/>
                </a:solidFill>
                <a:latin typeface="Noto Sans KR"/>
              </a:rPr>
              <a:t>화면에서 볼 내용</a:t>
            </a:r>
            <a:endParaRPr/>
          </a:p>
        </p:txBody>
      </p:sp>
      <p:sp>
        <p:nvSpPr>
          <p:cNvPr id="429" name="Google Shape;429;p24"/>
          <p:cNvSpPr txBox="1"/>
          <p:nvPr/>
        </p:nvSpPr>
        <p:spPr>
          <a:xfrm>
            <a:off x="4590288" y="4434840"/>
            <a:ext cx="3776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>
                <a:solidFill>
                  <a:srgbClr val="172331"/>
                </a:solidFill>
                <a:latin typeface="Noto Sans KR"/>
              </a:rPr>
              <a:t>오류 위치  ·  현재값  ·  다시 계산한 값  ·  판정 근거</a:t>
            </a:r>
            <a:endParaRPr/>
          </a:p>
        </p:txBody>
      </p:sp>
      <p:sp>
        <p:nvSpPr>
          <p:cNvPr id="430" name="클린 스타일 강조선_Google Shape;398;p24"/>
          <p:cNvSpPr/>
          <p:nvPr/>
        </p:nvSpPr>
        <p:spPr>
          <a:xfrm>
            <a:off x="502920" y="1783080"/>
            <a:ext cx="50292" cy="420624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5단계 · 비율·증감 확인</a:t>
            </a:r>
            <a:endParaRPr/>
          </a:p>
        </p:txBody>
      </p:sp>
      <p:sp>
        <p:nvSpPr>
          <p:cNvPr id="435" name="Google Shape;435;p25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비율과 증감 값이 맞는지 확인</a:t>
            </a:r>
            <a:endParaRPr/>
          </a:p>
        </p:txBody>
      </p:sp>
      <p:pic>
        <p:nvPicPr>
          <p:cNvPr descr="image.png" id="436" name="Google Shape;4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5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8" name="Google Shape;438;p25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분자·분모와 전년·당해 값을 다시 계산해 표시된 값과 비교합니다.</a:t>
            </a:r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440" name="Google Shape;440;p25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11</a:t>
            </a: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502920" y="1783080"/>
            <a:ext cx="2578608" cy="2880360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502920" y="1783080"/>
            <a:ext cx="257860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3" name="Google Shape;443;p25"/>
          <p:cNvSpPr txBox="1"/>
          <p:nvPr/>
        </p:nvSpPr>
        <p:spPr>
          <a:xfrm>
            <a:off x="685800" y="1901952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172331"/>
                </a:solidFill>
                <a:latin typeface="Noto Sans KR"/>
              </a:rPr>
              <a:t>어떤 값을 확인하나</a:t>
            </a:r>
            <a:endParaRPr/>
          </a:p>
        </p:txBody>
      </p:sp>
      <p:sp>
        <p:nvSpPr>
          <p:cNvPr id="444" name="Google Shape;444;p25"/>
          <p:cNvSpPr/>
          <p:nvPr/>
        </p:nvSpPr>
        <p:spPr>
          <a:xfrm>
            <a:off x="694944" y="2331720"/>
            <a:ext cx="2194560" cy="38404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786384" y="2404872"/>
            <a:ext cx="365760" cy="22860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6" name="Google Shape;446;p25"/>
          <p:cNvSpPr txBox="1"/>
          <p:nvPr/>
        </p:nvSpPr>
        <p:spPr>
          <a:xfrm>
            <a:off x="786384" y="240487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47" name="Google Shape;447;p25"/>
          <p:cNvSpPr txBox="1"/>
          <p:nvPr/>
        </p:nvSpPr>
        <p:spPr>
          <a:xfrm>
            <a:off x="1243584" y="2372868"/>
            <a:ext cx="14813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C2F61"/>
                </a:solidFill>
                <a:latin typeface="Noto Sans KR"/>
              </a:rPr>
              <a:t>비율</a:t>
            </a:r>
            <a:endParaRPr/>
          </a:p>
        </p:txBody>
      </p:sp>
      <p:sp>
        <p:nvSpPr>
          <p:cNvPr id="448" name="Google Shape;448;p25"/>
          <p:cNvSpPr txBox="1"/>
          <p:nvPr/>
        </p:nvSpPr>
        <p:spPr>
          <a:xfrm>
            <a:off x="1243584" y="2537460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0" i="0" u="none">
                <a:solidFill>
                  <a:srgbClr val="667085"/>
                </a:solidFill>
                <a:latin typeface="Noto Sans KR"/>
              </a:rPr>
              <a:t>분자 ÷ 분모 × 100</a:t>
            </a:r>
            <a:endParaRPr/>
          </a:p>
        </p:txBody>
      </p:sp>
      <p:sp>
        <p:nvSpPr>
          <p:cNvPr id="449" name="Google Shape;449;p25"/>
          <p:cNvSpPr/>
          <p:nvPr/>
        </p:nvSpPr>
        <p:spPr>
          <a:xfrm>
            <a:off x="694944" y="2788920"/>
            <a:ext cx="2194560" cy="38404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0" name="Google Shape;450;p25"/>
          <p:cNvSpPr/>
          <p:nvPr/>
        </p:nvSpPr>
        <p:spPr>
          <a:xfrm>
            <a:off x="786384" y="2862072"/>
            <a:ext cx="365760" cy="22860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1" name="Google Shape;451;p25"/>
          <p:cNvSpPr txBox="1"/>
          <p:nvPr/>
        </p:nvSpPr>
        <p:spPr>
          <a:xfrm>
            <a:off x="786384" y="286207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52" name="Google Shape;452;p25"/>
          <p:cNvSpPr txBox="1"/>
          <p:nvPr/>
        </p:nvSpPr>
        <p:spPr>
          <a:xfrm>
            <a:off x="1243584" y="2830068"/>
            <a:ext cx="14813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C2F61"/>
                </a:solidFill>
                <a:latin typeface="Noto Sans KR"/>
              </a:rPr>
              <a:t>전체 대비 구성비</a:t>
            </a:r>
            <a:endParaRPr/>
          </a:p>
        </p:txBody>
      </p:sp>
      <p:sp>
        <p:nvSpPr>
          <p:cNvPr id="453" name="Google Shape;453;p25"/>
          <p:cNvSpPr txBox="1"/>
          <p:nvPr/>
        </p:nvSpPr>
        <p:spPr>
          <a:xfrm>
            <a:off x="1243584" y="2994660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0" i="0" u="none">
                <a:solidFill>
                  <a:srgbClr val="667085"/>
                </a:solidFill>
                <a:latin typeface="Noto Sans KR"/>
              </a:rPr>
              <a:t>항목 값 ÷ 전체 합계 × 100</a:t>
            </a:r>
            <a:endParaRPr/>
          </a:p>
        </p:txBody>
      </p:sp>
      <p:sp>
        <p:nvSpPr>
          <p:cNvPr id="454" name="Google Shape;454;p25"/>
          <p:cNvSpPr/>
          <p:nvPr/>
        </p:nvSpPr>
        <p:spPr>
          <a:xfrm>
            <a:off x="694944" y="3246120"/>
            <a:ext cx="2194560" cy="38404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5" name="Google Shape;455;p25"/>
          <p:cNvSpPr/>
          <p:nvPr/>
        </p:nvSpPr>
        <p:spPr>
          <a:xfrm>
            <a:off x="786384" y="3319272"/>
            <a:ext cx="365760" cy="22860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6" name="Google Shape;456;p25"/>
          <p:cNvSpPr txBox="1"/>
          <p:nvPr/>
        </p:nvSpPr>
        <p:spPr>
          <a:xfrm>
            <a:off x="786384" y="331927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457" name="Google Shape;457;p25"/>
          <p:cNvSpPr txBox="1"/>
          <p:nvPr/>
        </p:nvSpPr>
        <p:spPr>
          <a:xfrm>
            <a:off x="1243584" y="3287268"/>
            <a:ext cx="14813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C2F61"/>
                </a:solidFill>
                <a:latin typeface="Noto Sans KR"/>
              </a:rPr>
              <a:t>건당·인당 값</a:t>
            </a:r>
            <a:endParaRPr/>
          </a:p>
        </p:txBody>
      </p:sp>
      <p:sp>
        <p:nvSpPr>
          <p:cNvPr id="458" name="Google Shape;458;p25"/>
          <p:cNvSpPr txBox="1"/>
          <p:nvPr/>
        </p:nvSpPr>
        <p:spPr>
          <a:xfrm>
            <a:off x="1243584" y="3451860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0" i="0" u="none">
                <a:solidFill>
                  <a:srgbClr val="667085"/>
                </a:solidFill>
                <a:latin typeface="Noto Sans KR"/>
              </a:rPr>
              <a:t>건수·인원 기준 재계산</a:t>
            </a:r>
            <a:endParaRPr/>
          </a:p>
        </p:txBody>
      </p:sp>
      <p:sp>
        <p:nvSpPr>
          <p:cNvPr id="459" name="Google Shape;459;p25"/>
          <p:cNvSpPr/>
          <p:nvPr/>
        </p:nvSpPr>
        <p:spPr>
          <a:xfrm>
            <a:off x="694944" y="3703320"/>
            <a:ext cx="2194560" cy="38404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786384" y="3776472"/>
            <a:ext cx="365760" cy="228600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1" name="Google Shape;461;p25"/>
          <p:cNvSpPr txBox="1"/>
          <p:nvPr/>
        </p:nvSpPr>
        <p:spPr>
          <a:xfrm>
            <a:off x="786384" y="377647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/>
          </a:p>
        </p:txBody>
      </p:sp>
      <p:sp>
        <p:nvSpPr>
          <p:cNvPr id="462" name="Google Shape;462;p25"/>
          <p:cNvSpPr txBox="1"/>
          <p:nvPr/>
        </p:nvSpPr>
        <p:spPr>
          <a:xfrm>
            <a:off x="1243584" y="3744468"/>
            <a:ext cx="1481328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C2F61"/>
                </a:solidFill>
                <a:latin typeface="Noto Sans KR"/>
              </a:rPr>
              <a:t>증감 값</a:t>
            </a:r>
            <a:endParaRPr/>
          </a:p>
        </p:txBody>
      </p:sp>
      <p:sp>
        <p:nvSpPr>
          <p:cNvPr id="463" name="Google Shape;463;p25"/>
          <p:cNvSpPr txBox="1"/>
          <p:nvPr/>
        </p:nvSpPr>
        <p:spPr>
          <a:xfrm>
            <a:off x="1243584" y="3909059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0" i="0" u="none">
                <a:solidFill>
                  <a:srgbClr val="667085"/>
                </a:solidFill>
                <a:latin typeface="Noto Sans KR"/>
              </a:rPr>
              <a:t>당해-전년·증감률 재계산</a:t>
            </a:r>
            <a:endParaRPr/>
          </a:p>
        </p:txBody>
      </p:sp>
      <p:sp>
        <p:nvSpPr>
          <p:cNvPr id="464" name="Google Shape;464;p25"/>
          <p:cNvSpPr/>
          <p:nvPr/>
        </p:nvSpPr>
        <p:spPr>
          <a:xfrm>
            <a:off x="694944" y="4242816"/>
            <a:ext cx="2194560" cy="25603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5" name="Google Shape;465;p25"/>
          <p:cNvSpPr txBox="1"/>
          <p:nvPr/>
        </p:nvSpPr>
        <p:spPr>
          <a:xfrm>
            <a:off x="822960" y="4297680"/>
            <a:ext cx="6949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 u="none">
                <a:solidFill>
                  <a:srgbClr val="2F7D68"/>
                </a:solidFill>
                <a:latin typeface="Noto Sans KR"/>
              </a:rPr>
              <a:t>확인 기준</a:t>
            </a:r>
            <a:endParaRPr/>
          </a:p>
        </p:txBody>
      </p:sp>
      <p:sp>
        <p:nvSpPr>
          <p:cNvPr id="466" name="Google Shape;466;p25"/>
          <p:cNvSpPr txBox="1"/>
          <p:nvPr/>
        </p:nvSpPr>
        <p:spPr>
          <a:xfrm>
            <a:off x="1444752" y="4288536"/>
            <a:ext cx="1307592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172331"/>
                </a:solidFill>
                <a:latin typeface="Noto Sans KR"/>
              </a:rPr>
              <a:t>총계는 다시 계산 · 분모 0 제외</a:t>
            </a:r>
            <a:endParaRPr/>
          </a:p>
        </p:txBody>
      </p:sp>
      <p:sp>
        <p:nvSpPr>
          <p:cNvPr id="467" name="Google Shape;467;p25"/>
          <p:cNvSpPr/>
          <p:nvPr/>
        </p:nvSpPr>
        <p:spPr>
          <a:xfrm>
            <a:off x="3310128" y="1783080"/>
            <a:ext cx="5330952" cy="2468880"/>
          </a:xfrm>
          <a:prstGeom prst="rect">
            <a:avLst/>
          </a:prstGeom>
          <a:solidFill>
            <a:srgbClr val="F7F9FB"/>
          </a:solidFill>
          <a:ln cap="flat" cmpd="sng" w="15225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8" name="Google Shape;468;p25"/>
          <p:cNvSpPr txBox="1"/>
          <p:nvPr/>
        </p:nvSpPr>
        <p:spPr>
          <a:xfrm>
            <a:off x="5719572" y="2542032"/>
            <a:ext cx="51206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469" name="Google Shape;469;p25"/>
          <p:cNvSpPr txBox="1"/>
          <p:nvPr/>
        </p:nvSpPr>
        <p:spPr>
          <a:xfrm>
            <a:off x="3529584" y="3035808"/>
            <a:ext cx="4892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C2F61"/>
                </a:solidFill>
                <a:latin typeface="Noto Sans KR"/>
              </a:rPr>
              <a:t>비율·증감 확인 화면 이미지 삽입</a:t>
            </a:r>
            <a:endParaRPr/>
          </a:p>
        </p:txBody>
      </p:sp>
      <p:sp>
        <p:nvSpPr>
          <p:cNvPr id="470" name="Google Shape;470;p25"/>
          <p:cNvSpPr txBox="1"/>
          <p:nvPr/>
        </p:nvSpPr>
        <p:spPr>
          <a:xfrm>
            <a:off x="3529584" y="3364991"/>
            <a:ext cx="4892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667085"/>
                </a:solidFill>
                <a:latin typeface="Noto Sans KR"/>
              </a:rPr>
              <a:t>분자·분모·전년값·당해값과 판정 결과가 보이는 화면 권장</a:t>
            </a:r>
            <a:endParaRPr/>
          </a:p>
        </p:txBody>
      </p:sp>
      <p:sp>
        <p:nvSpPr>
          <p:cNvPr id="471" name="Google Shape;471;p25"/>
          <p:cNvSpPr/>
          <p:nvPr/>
        </p:nvSpPr>
        <p:spPr>
          <a:xfrm>
            <a:off x="3310128" y="4370832"/>
            <a:ext cx="5330952" cy="29260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2" name="Google Shape;472;p25"/>
          <p:cNvSpPr txBox="1"/>
          <p:nvPr/>
        </p:nvSpPr>
        <p:spPr>
          <a:xfrm>
            <a:off x="3529584" y="4443984"/>
            <a:ext cx="9875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1" i="0" u="none">
                <a:solidFill>
                  <a:srgbClr val="2F7D68"/>
                </a:solidFill>
                <a:latin typeface="Noto Sans KR"/>
              </a:rPr>
              <a:t>화면에서 볼 내용</a:t>
            </a:r>
            <a:endParaRPr/>
          </a:p>
        </p:txBody>
      </p:sp>
      <p:sp>
        <p:nvSpPr>
          <p:cNvPr id="473" name="Google Shape;473;p25"/>
          <p:cNvSpPr txBox="1"/>
          <p:nvPr/>
        </p:nvSpPr>
        <p:spPr>
          <a:xfrm>
            <a:off x="4590288" y="4434840"/>
            <a:ext cx="3776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>
                <a:solidFill>
                  <a:srgbClr val="172331"/>
                </a:solidFill>
                <a:latin typeface="Noto Sans KR"/>
              </a:rPr>
              <a:t>오류 위치  ·  현재값  ·  다시 계산한 값  ·  판정 근거</a:t>
            </a:r>
            <a:endParaRPr/>
          </a:p>
        </p:txBody>
      </p:sp>
      <p:sp>
        <p:nvSpPr>
          <p:cNvPr id="474" name="클린 스타일 강조선_Google Shape;442;p25"/>
          <p:cNvSpPr/>
          <p:nvPr/>
        </p:nvSpPr>
        <p:spPr>
          <a:xfrm>
            <a:off x="502920" y="1783080"/>
            <a:ext cx="50292" cy="420624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6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6단계 · 오탈자·번역 확인</a:t>
            </a:r>
            <a:endParaRPr/>
          </a:p>
        </p:txBody>
      </p:sp>
      <p:sp>
        <p:nvSpPr>
          <p:cNvPr id="479" name="Google Shape;479;p26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오탈자·번역 후보 찾기</a:t>
            </a:r>
            <a:endParaRPr/>
          </a:p>
        </p:txBody>
      </p:sp>
      <p:pic>
        <p:nvPicPr>
          <p:cNvPr descr="image.png" id="480" name="Google Shape;48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6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2" name="Google Shape;482;p26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표 제목과 한글·영문 표현을 살펴 담당자가 확인할 문구만 추립니다.</a:t>
            </a:r>
            <a:endParaRPr/>
          </a:p>
        </p:txBody>
      </p:sp>
      <p:sp>
        <p:nvSpPr>
          <p:cNvPr id="483" name="Google Shape;483;p26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484" name="Google Shape;484;p26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12</a:t>
            </a:r>
            <a:endParaRPr/>
          </a:p>
        </p:txBody>
      </p:sp>
      <p:sp>
        <p:nvSpPr>
          <p:cNvPr id="485" name="Google Shape;485;p26"/>
          <p:cNvSpPr/>
          <p:nvPr/>
        </p:nvSpPr>
        <p:spPr>
          <a:xfrm>
            <a:off x="548640" y="1814169"/>
            <a:ext cx="8046720" cy="476219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6" name="Google Shape;486;p26"/>
          <p:cNvSpPr txBox="1"/>
          <p:nvPr/>
        </p:nvSpPr>
        <p:spPr>
          <a:xfrm>
            <a:off x="694944" y="19293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487" name="Google Shape;487;p26"/>
          <p:cNvSpPr txBox="1"/>
          <p:nvPr/>
        </p:nvSpPr>
        <p:spPr>
          <a:xfrm>
            <a:off x="694944" y="19293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/>
          </a:p>
        </p:txBody>
      </p:sp>
      <p:sp>
        <p:nvSpPr>
          <p:cNvPr id="488" name="Google Shape;488;p26"/>
          <p:cNvSpPr txBox="1"/>
          <p:nvPr/>
        </p:nvSpPr>
        <p:spPr>
          <a:xfrm>
            <a:off x="1078992" y="1906341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0" b="1" i="0" u="none">
                <a:solidFill>
                  <a:srgbClr val="0C2F61"/>
                </a:solidFill>
                <a:latin typeface="Noto Sans KR"/>
              </a:rPr>
              <a:t>검수할 문구 모으기</a:t>
            </a:r>
            <a:endParaRPr/>
          </a:p>
        </p:txBody>
      </p:sp>
      <p:sp>
        <p:nvSpPr>
          <p:cNvPr id="489" name="Google Shape;489;p26"/>
          <p:cNvSpPr txBox="1"/>
          <p:nvPr/>
        </p:nvSpPr>
        <p:spPr>
          <a:xfrm>
            <a:off x="2432304" y="1883298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 u="none">
                <a:solidFill>
                  <a:srgbClr val="172331"/>
                </a:solidFill>
                <a:latin typeface="Noto Sans KR"/>
              </a:rPr>
              <a:t>표 제목 · 대제목 · 하위 표 제목 · 헤더 · 한글/영문이 있는 셀</a:t>
            </a:r>
            <a:endParaRPr/>
          </a:p>
        </p:txBody>
      </p:sp>
      <p:sp>
        <p:nvSpPr>
          <p:cNvPr id="490" name="Google Shape;490;p26"/>
          <p:cNvSpPr/>
          <p:nvPr/>
        </p:nvSpPr>
        <p:spPr>
          <a:xfrm>
            <a:off x="4425696" y="2328793"/>
            <a:ext cx="292608" cy="19970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932688" y="2551541"/>
            <a:ext cx="7278624" cy="476219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2" name="Google Shape;492;p26"/>
          <p:cNvSpPr txBox="1"/>
          <p:nvPr/>
        </p:nvSpPr>
        <p:spPr>
          <a:xfrm>
            <a:off x="1078992" y="26667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493" name="Google Shape;493;p26"/>
          <p:cNvSpPr txBox="1"/>
          <p:nvPr/>
        </p:nvSpPr>
        <p:spPr>
          <a:xfrm>
            <a:off x="1078992" y="26667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494" name="Google Shape;494;p26"/>
          <p:cNvSpPr txBox="1"/>
          <p:nvPr/>
        </p:nvSpPr>
        <p:spPr>
          <a:xfrm>
            <a:off x="1463040" y="2643713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0" b="1" i="0" u="none">
                <a:solidFill>
                  <a:srgbClr val="1F5A91"/>
                </a:solidFill>
                <a:latin typeface="Noto Sans KR"/>
              </a:rPr>
              <a:t>확인 대상만 추리기</a:t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2999232" y="2620670"/>
            <a:ext cx="4956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>
                <a:solidFill>
                  <a:srgbClr val="172331"/>
                </a:solidFill>
                <a:latin typeface="Noto Sans KR"/>
              </a:rPr>
              <a:t>숫자만 있는 값은 제외하고, 긴 문장은 확인하기 좋은 길이로 나눔</a:t>
            </a:r>
            <a:endParaRPr/>
          </a:p>
        </p:txBody>
      </p:sp>
      <p:sp>
        <p:nvSpPr>
          <p:cNvPr id="496" name="Google Shape;496;p26"/>
          <p:cNvSpPr/>
          <p:nvPr/>
        </p:nvSpPr>
        <p:spPr>
          <a:xfrm>
            <a:off x="4425696" y="3066166"/>
            <a:ext cx="292608" cy="19970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7" name="Google Shape;497;p26"/>
          <p:cNvSpPr/>
          <p:nvPr/>
        </p:nvSpPr>
        <p:spPr>
          <a:xfrm>
            <a:off x="1005840" y="3311956"/>
            <a:ext cx="3383280" cy="860267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8" name="Google Shape;498;p26"/>
          <p:cNvSpPr txBox="1"/>
          <p:nvPr/>
        </p:nvSpPr>
        <p:spPr>
          <a:xfrm>
            <a:off x="1170432" y="3711366"/>
            <a:ext cx="2971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1" i="0" u="none">
                <a:solidFill>
                  <a:srgbClr val="1F5A91"/>
                </a:solidFill>
                <a:latin typeface="Noto Sans KR"/>
              </a:rPr>
              <a:t>• 철자·깨진 문자·중복 문장부호 확인</a:t>
            </a:r>
            <a:br/>
            <a:r>
              <a:rPr sz="830" b="1" i="0" u="none">
                <a:solidFill>
                  <a:srgbClr val="1F5A91"/>
                </a:solidFill>
                <a:latin typeface="Noto Sans KR"/>
              </a:rPr>
              <a:t>• 숫자 구분기호·단위 표기 확인</a:t>
            </a:r>
            <a:endParaRPr/>
          </a:p>
        </p:txBody>
      </p:sp>
      <p:sp>
        <p:nvSpPr>
          <p:cNvPr id="499" name="Google Shape;499;p26"/>
          <p:cNvSpPr/>
          <p:nvPr/>
        </p:nvSpPr>
        <p:spPr>
          <a:xfrm>
            <a:off x="4754880" y="3311956"/>
            <a:ext cx="3383280" cy="860267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0" name="Google Shape;500;p26"/>
          <p:cNvSpPr txBox="1"/>
          <p:nvPr/>
        </p:nvSpPr>
        <p:spPr>
          <a:xfrm>
            <a:off x="4919472" y="3711366"/>
            <a:ext cx="2971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1" i="0" u="none">
                <a:solidFill>
                  <a:srgbClr val="2F78B7"/>
                </a:solidFill>
                <a:latin typeface="Noto Sans KR"/>
              </a:rPr>
              <a:t>• 한글과 영문이 함께 있는 표현의 대응 확인</a:t>
            </a:r>
            <a:br/>
            <a:r>
              <a:rPr sz="830" b="1" i="0" u="none">
                <a:solidFill>
                  <a:srgbClr val="2F78B7"/>
                </a:solidFill>
                <a:latin typeface="Noto Sans KR"/>
              </a:rPr>
              <a:t>• 한국어만 있는 셀을 영문 누락으로 판단하지 않음</a:t>
            </a:r>
            <a:endParaRPr/>
          </a:p>
        </p:txBody>
      </p:sp>
      <p:sp>
        <p:nvSpPr>
          <p:cNvPr id="501" name="Google Shape;501;p26"/>
          <p:cNvSpPr/>
          <p:nvPr/>
        </p:nvSpPr>
        <p:spPr>
          <a:xfrm>
            <a:off x="1005840" y="3373404"/>
            <a:ext cx="3383280" cy="268833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2" name="Google Shape;502;p26"/>
          <p:cNvSpPr txBox="1"/>
          <p:nvPr/>
        </p:nvSpPr>
        <p:spPr>
          <a:xfrm>
            <a:off x="1188720" y="3442533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오탈자 후보</a:t>
            </a:r>
            <a:endParaRPr/>
          </a:p>
        </p:txBody>
      </p:sp>
      <p:sp>
        <p:nvSpPr>
          <p:cNvPr id="503" name="Google Shape;503;p26"/>
          <p:cNvSpPr/>
          <p:nvPr/>
        </p:nvSpPr>
        <p:spPr>
          <a:xfrm>
            <a:off x="4754880" y="3373404"/>
            <a:ext cx="3383280" cy="268833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4" name="Google Shape;504;p26"/>
          <p:cNvSpPr txBox="1"/>
          <p:nvPr/>
        </p:nvSpPr>
        <p:spPr>
          <a:xfrm>
            <a:off x="4937760" y="3442533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번역 후보</a:t>
            </a:r>
            <a:endParaRPr/>
          </a:p>
        </p:txBody>
      </p:sp>
      <p:sp>
        <p:nvSpPr>
          <p:cNvPr id="505" name="클린 스타일 강조선_Google Shape;485;p26"/>
          <p:cNvSpPr/>
          <p:nvPr/>
        </p:nvSpPr>
        <p:spPr>
          <a:xfrm>
            <a:off x="548640" y="1814169"/>
            <a:ext cx="32004" cy="476219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클린 스타일 강조선_Google Shape;491;p26"/>
          <p:cNvSpPr/>
          <p:nvPr/>
        </p:nvSpPr>
        <p:spPr>
          <a:xfrm>
            <a:off x="932688" y="2551541"/>
            <a:ext cx="32004" cy="476219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7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6단계 · 오탈자·번역 확인</a:t>
            </a:r>
            <a:endParaRPr/>
          </a:p>
        </p:txBody>
      </p:sp>
      <p:sp>
        <p:nvSpPr>
          <p:cNvPr id="510" name="Google Shape;510;p27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오탈자·번역을 확인하는 순서</a:t>
            </a:r>
            <a:endParaRPr/>
          </a:p>
        </p:txBody>
      </p:sp>
      <p:pic>
        <p:nvPicPr>
          <p:cNvPr descr="image.png" id="511" name="Google Shape;5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7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3" name="Google Shape;513;p27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검증된 표현을 먼저 적용하고, 판단이 필요한 문구만 AI가 보조합니다.</a:t>
            </a:r>
            <a:endParaRPr/>
          </a:p>
        </p:txBody>
      </p:sp>
      <p:sp>
        <p:nvSpPr>
          <p:cNvPr id="514" name="Google Shape;514;p27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515" name="Google Shape;515;p27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13</a:t>
            </a:r>
            <a:endParaRPr/>
          </a:p>
        </p:txBody>
      </p:sp>
      <p:sp>
        <p:nvSpPr>
          <p:cNvPr id="516" name="Google Shape;516;p27"/>
          <p:cNvSpPr/>
          <p:nvPr/>
        </p:nvSpPr>
        <p:spPr>
          <a:xfrm>
            <a:off x="493776" y="1814169"/>
            <a:ext cx="3218688" cy="468538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7" name="Google Shape;517;p27"/>
          <p:cNvSpPr txBox="1"/>
          <p:nvPr/>
        </p:nvSpPr>
        <p:spPr>
          <a:xfrm>
            <a:off x="621792" y="1914021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72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518" name="Google Shape;518;p27"/>
          <p:cNvSpPr txBox="1"/>
          <p:nvPr/>
        </p:nvSpPr>
        <p:spPr>
          <a:xfrm>
            <a:off x="621792" y="1914021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/>
          </a:p>
        </p:txBody>
      </p:sp>
      <p:sp>
        <p:nvSpPr>
          <p:cNvPr id="519" name="Google Shape;519;p27"/>
          <p:cNvSpPr txBox="1"/>
          <p:nvPr/>
        </p:nvSpPr>
        <p:spPr>
          <a:xfrm>
            <a:off x="1005840" y="1890979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>
                <a:solidFill>
                  <a:srgbClr val="0C2F61"/>
                </a:solidFill>
                <a:latin typeface="Noto Sans KR"/>
              </a:rPr>
              <a:t>공식 명칭·기본 용어 확인</a:t>
            </a:r>
            <a:endParaRPr/>
          </a:p>
        </p:txBody>
      </p:sp>
      <p:sp>
        <p:nvSpPr>
          <p:cNvPr id="520" name="Google Shape;520;p27"/>
          <p:cNvSpPr txBox="1"/>
          <p:nvPr/>
        </p:nvSpPr>
        <p:spPr>
          <a:xfrm>
            <a:off x="1005840" y="2067641"/>
            <a:ext cx="248716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0" i="0" u="none">
                <a:solidFill>
                  <a:srgbClr val="172331"/>
                </a:solidFill>
                <a:latin typeface="Noto Sans KR"/>
              </a:rPr>
              <a:t>정확히 일치하는 표현을 먼저 처리</a:t>
            </a:r>
            <a:endParaRPr/>
          </a:p>
        </p:txBody>
      </p:sp>
      <p:sp>
        <p:nvSpPr>
          <p:cNvPr id="521" name="Google Shape;521;p27"/>
          <p:cNvSpPr/>
          <p:nvPr/>
        </p:nvSpPr>
        <p:spPr>
          <a:xfrm>
            <a:off x="1929384" y="2290389"/>
            <a:ext cx="256032" cy="138257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493776" y="2444007"/>
            <a:ext cx="3218688" cy="468538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3" name="Google Shape;523;p27"/>
          <p:cNvSpPr txBox="1"/>
          <p:nvPr/>
        </p:nvSpPr>
        <p:spPr>
          <a:xfrm>
            <a:off x="621792" y="2543859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72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524" name="Google Shape;524;p27"/>
          <p:cNvSpPr txBox="1"/>
          <p:nvPr/>
        </p:nvSpPr>
        <p:spPr>
          <a:xfrm>
            <a:off x="621792" y="2543859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525" name="Google Shape;525;p27"/>
          <p:cNvSpPr txBox="1"/>
          <p:nvPr/>
        </p:nvSpPr>
        <p:spPr>
          <a:xfrm>
            <a:off x="1005840" y="2520817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>
                <a:solidFill>
                  <a:srgbClr val="1F5A91"/>
                </a:solidFill>
                <a:latin typeface="Noto Sans KR"/>
              </a:rPr>
              <a:t>이전 검수 결과 재사용</a:t>
            </a:r>
            <a:endParaRPr/>
          </a:p>
        </p:txBody>
      </p:sp>
      <p:sp>
        <p:nvSpPr>
          <p:cNvPr id="526" name="Google Shape;526;p27"/>
          <p:cNvSpPr txBox="1"/>
          <p:nvPr/>
        </p:nvSpPr>
        <p:spPr>
          <a:xfrm>
            <a:off x="1005840" y="2697480"/>
            <a:ext cx="248716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0" i="0" u="none">
                <a:solidFill>
                  <a:srgbClr val="172331"/>
                </a:solidFill>
                <a:latin typeface="Noto Sans KR"/>
              </a:rPr>
              <a:t>같은 위치와 문맥의 확인 결과 활용</a:t>
            </a:r>
            <a:endParaRPr/>
          </a:p>
        </p:txBody>
      </p:sp>
      <p:sp>
        <p:nvSpPr>
          <p:cNvPr id="527" name="Google Shape;527;p27"/>
          <p:cNvSpPr/>
          <p:nvPr/>
        </p:nvSpPr>
        <p:spPr>
          <a:xfrm>
            <a:off x="1929384" y="2920227"/>
            <a:ext cx="256032" cy="138257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8" name="Google Shape;528;p27"/>
          <p:cNvSpPr/>
          <p:nvPr/>
        </p:nvSpPr>
        <p:spPr>
          <a:xfrm>
            <a:off x="493776" y="3073847"/>
            <a:ext cx="3218688" cy="468538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9" name="Google Shape;529;p27"/>
          <p:cNvSpPr txBox="1"/>
          <p:nvPr/>
        </p:nvSpPr>
        <p:spPr>
          <a:xfrm>
            <a:off x="621792" y="3173699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72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530" name="Google Shape;530;p27"/>
          <p:cNvSpPr txBox="1"/>
          <p:nvPr/>
        </p:nvSpPr>
        <p:spPr>
          <a:xfrm>
            <a:off x="621792" y="3173699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/>
          </a:p>
        </p:txBody>
      </p:sp>
      <p:sp>
        <p:nvSpPr>
          <p:cNvPr id="531" name="Google Shape;531;p27"/>
          <p:cNvSpPr txBox="1"/>
          <p:nvPr/>
        </p:nvSpPr>
        <p:spPr>
          <a:xfrm>
            <a:off x="1005840" y="3150656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>
                <a:solidFill>
                  <a:srgbClr val="1F5A91"/>
                </a:solidFill>
                <a:latin typeface="Noto Sans KR"/>
              </a:rPr>
              <a:t>남은 문구만 AI 확인</a:t>
            </a:r>
            <a:endParaRPr/>
          </a:p>
        </p:txBody>
      </p:sp>
      <p:sp>
        <p:nvSpPr>
          <p:cNvPr id="532" name="Google Shape;532;p27"/>
          <p:cNvSpPr txBox="1"/>
          <p:nvPr/>
        </p:nvSpPr>
        <p:spPr>
          <a:xfrm>
            <a:off x="1005840" y="3327318"/>
            <a:ext cx="248716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0" i="0" u="none">
                <a:solidFill>
                  <a:srgbClr val="172331"/>
                </a:solidFill>
                <a:latin typeface="Noto Sans KR"/>
              </a:rPr>
              <a:t>표 제목·행·열 문맥을 함께 제공</a:t>
            </a:r>
            <a:endParaRPr/>
          </a:p>
        </p:txBody>
      </p:sp>
      <p:sp>
        <p:nvSpPr>
          <p:cNvPr id="533" name="Google Shape;533;p27"/>
          <p:cNvSpPr/>
          <p:nvPr/>
        </p:nvSpPr>
        <p:spPr>
          <a:xfrm>
            <a:off x="1929384" y="3550066"/>
            <a:ext cx="256032" cy="138257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493776" y="3703685"/>
            <a:ext cx="3218688" cy="468538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5" name="Google Shape;535;p27"/>
          <p:cNvSpPr txBox="1"/>
          <p:nvPr/>
        </p:nvSpPr>
        <p:spPr>
          <a:xfrm>
            <a:off x="621792" y="380353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72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536" name="Google Shape;536;p27"/>
          <p:cNvSpPr txBox="1"/>
          <p:nvPr/>
        </p:nvSpPr>
        <p:spPr>
          <a:xfrm>
            <a:off x="621792" y="380353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1005840" y="3780495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>
                <a:solidFill>
                  <a:srgbClr val="2F7D68"/>
                </a:solidFill>
                <a:latin typeface="Noto Sans KR"/>
              </a:rPr>
              <a:t>담당자 확인 후 확정</a:t>
            </a:r>
            <a:endParaRPr/>
          </a:p>
        </p:txBody>
      </p:sp>
      <p:sp>
        <p:nvSpPr>
          <p:cNvPr id="538" name="Google Shape;538;p27"/>
          <p:cNvSpPr txBox="1"/>
          <p:nvPr/>
        </p:nvSpPr>
        <p:spPr>
          <a:xfrm>
            <a:off x="1005840" y="3957156"/>
            <a:ext cx="248716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0" i="0" u="none">
                <a:solidFill>
                  <a:srgbClr val="172331"/>
                </a:solidFill>
                <a:latin typeface="Noto Sans KR"/>
              </a:rPr>
              <a:t>현재 원문과 제안 내용을 함께 확인</a:t>
            </a: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4023360" y="1814169"/>
            <a:ext cx="4617720" cy="937077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0" name="Google Shape;540;p27"/>
          <p:cNvSpPr txBox="1"/>
          <p:nvPr/>
        </p:nvSpPr>
        <p:spPr>
          <a:xfrm>
            <a:off x="4224528" y="1952426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1" i="0" u="none">
                <a:solidFill>
                  <a:srgbClr val="1F5A91"/>
                </a:solidFill>
                <a:latin typeface="Noto Sans KR"/>
              </a:rPr>
              <a:t>표현 기준 준비</a:t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5504688" y="1952426"/>
            <a:ext cx="28529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u="none">
                <a:solidFill>
                  <a:srgbClr val="667085"/>
                </a:solidFill>
                <a:latin typeface="Noto Sans KR"/>
              </a:rPr>
              <a:t>검수할 때 다음 자료를 모아 출처와 상태를 함께 관리</a:t>
            </a:r>
            <a:endParaRPr/>
          </a:p>
        </p:txBody>
      </p:sp>
      <p:sp>
        <p:nvSpPr>
          <p:cNvPr id="542" name="Google Shape;542;p27"/>
          <p:cNvSpPr/>
          <p:nvPr/>
        </p:nvSpPr>
        <p:spPr>
          <a:xfrm>
            <a:off x="4242816" y="2321112"/>
            <a:ext cx="841248" cy="222747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9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3" name="Google Shape;543;p27"/>
          <p:cNvSpPr txBox="1"/>
          <p:nvPr/>
        </p:nvSpPr>
        <p:spPr>
          <a:xfrm>
            <a:off x="4242816" y="2321112"/>
            <a:ext cx="841248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기본 용어</a:t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5248656" y="2321112"/>
            <a:ext cx="1078992" cy="222747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9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5" name="Google Shape;545;p27"/>
          <p:cNvSpPr txBox="1"/>
          <p:nvPr/>
        </p:nvSpPr>
        <p:spPr>
          <a:xfrm>
            <a:off x="5248656" y="2321112"/>
            <a:ext cx="107899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공식 번역</a:t>
            </a:r>
            <a:endParaRPr/>
          </a:p>
        </p:txBody>
      </p:sp>
      <p:sp>
        <p:nvSpPr>
          <p:cNvPr id="546" name="Google Shape;546;p27"/>
          <p:cNvSpPr/>
          <p:nvPr/>
        </p:nvSpPr>
        <p:spPr>
          <a:xfrm>
            <a:off x="6492240" y="2321112"/>
            <a:ext cx="987552" cy="222747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9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7" name="Google Shape;547;p27"/>
          <p:cNvSpPr txBox="1"/>
          <p:nvPr/>
        </p:nvSpPr>
        <p:spPr>
          <a:xfrm>
            <a:off x="6492240" y="2321112"/>
            <a:ext cx="98755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기관·행정구역</a:t>
            </a:r>
            <a:endParaRPr/>
          </a:p>
        </p:txBody>
      </p:sp>
      <p:sp>
        <p:nvSpPr>
          <p:cNvPr id="548" name="Google Shape;548;p27"/>
          <p:cNvSpPr/>
          <p:nvPr/>
        </p:nvSpPr>
        <p:spPr>
          <a:xfrm>
            <a:off x="7626096" y="2321112"/>
            <a:ext cx="804672" cy="222747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9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9" name="Google Shape;549;p27"/>
          <p:cNvSpPr txBox="1"/>
          <p:nvPr/>
        </p:nvSpPr>
        <p:spPr>
          <a:xfrm>
            <a:off x="7626096" y="2321112"/>
            <a:ext cx="80467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한·영 병기</a:t>
            </a:r>
            <a:endParaRPr/>
          </a:p>
        </p:txBody>
      </p:sp>
      <p:sp>
        <p:nvSpPr>
          <p:cNvPr id="550" name="Google Shape;550;p27"/>
          <p:cNvSpPr/>
          <p:nvPr/>
        </p:nvSpPr>
        <p:spPr>
          <a:xfrm>
            <a:off x="4023360" y="2920227"/>
            <a:ext cx="4617720" cy="1413296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1" name="Google Shape;551;p27"/>
          <p:cNvSpPr txBox="1"/>
          <p:nvPr/>
        </p:nvSpPr>
        <p:spPr>
          <a:xfrm>
            <a:off x="4224528" y="3058485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 u="none">
                <a:solidFill>
                  <a:srgbClr val="1F5A91"/>
                </a:solidFill>
                <a:latin typeface="Noto Sans KR"/>
              </a:rPr>
              <a:t>이전 결과를 다시 사용하는 조건</a:t>
            </a:r>
            <a:endParaRPr/>
          </a:p>
        </p:txBody>
      </p:sp>
      <p:sp>
        <p:nvSpPr>
          <p:cNvPr id="552" name="Google Shape;552;p27"/>
          <p:cNvSpPr/>
          <p:nvPr/>
        </p:nvSpPr>
        <p:spPr>
          <a:xfrm>
            <a:off x="4242816" y="3411809"/>
            <a:ext cx="768096" cy="222747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9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3" name="Google Shape;553;p27"/>
          <p:cNvSpPr txBox="1"/>
          <p:nvPr/>
        </p:nvSpPr>
        <p:spPr>
          <a:xfrm>
            <a:off x="4242816" y="3411809"/>
            <a:ext cx="76809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70" b="1" i="0" u="none">
                <a:solidFill>
                  <a:srgbClr val="1F5A91"/>
                </a:solidFill>
                <a:latin typeface="Noto Sans KR"/>
              </a:rPr>
              <a:t>검수 항목</a:t>
            </a:r>
            <a:endParaRPr/>
          </a:p>
        </p:txBody>
      </p:sp>
      <p:sp>
        <p:nvSpPr>
          <p:cNvPr id="554" name="Google Shape;554;p27"/>
          <p:cNvSpPr/>
          <p:nvPr/>
        </p:nvSpPr>
        <p:spPr>
          <a:xfrm>
            <a:off x="5157216" y="3411809"/>
            <a:ext cx="786384" cy="222747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9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5" name="Google Shape;555;p27"/>
          <p:cNvSpPr txBox="1"/>
          <p:nvPr/>
        </p:nvSpPr>
        <p:spPr>
          <a:xfrm>
            <a:off x="5157216" y="3411809"/>
            <a:ext cx="78638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70" b="1" i="0" u="none">
                <a:solidFill>
                  <a:srgbClr val="1F5A91"/>
                </a:solidFill>
                <a:latin typeface="Noto Sans KR"/>
              </a:rPr>
              <a:t>원문·위치</a:t>
            </a:r>
            <a:endParaRPr/>
          </a:p>
        </p:txBody>
      </p:sp>
      <p:sp>
        <p:nvSpPr>
          <p:cNvPr id="556" name="Google Shape;556;p27"/>
          <p:cNvSpPr/>
          <p:nvPr/>
        </p:nvSpPr>
        <p:spPr>
          <a:xfrm>
            <a:off x="6108192" y="3411809"/>
            <a:ext cx="932688" cy="222747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9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7" name="Google Shape;557;p27"/>
          <p:cNvSpPr txBox="1"/>
          <p:nvPr/>
        </p:nvSpPr>
        <p:spPr>
          <a:xfrm>
            <a:off x="6108192" y="3411809"/>
            <a:ext cx="932688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70" b="1" i="0" u="none">
                <a:solidFill>
                  <a:srgbClr val="1F5A91"/>
                </a:solidFill>
                <a:latin typeface="Noto Sans KR"/>
              </a:rPr>
              <a:t>표 제목·단위</a:t>
            </a:r>
            <a:endParaRPr/>
          </a:p>
        </p:txBody>
      </p:sp>
      <p:sp>
        <p:nvSpPr>
          <p:cNvPr id="558" name="Google Shape;558;p27"/>
          <p:cNvSpPr/>
          <p:nvPr/>
        </p:nvSpPr>
        <p:spPr>
          <a:xfrm>
            <a:off x="7159752" y="3411809"/>
            <a:ext cx="877824" cy="222747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9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9" name="Google Shape;559;p27"/>
          <p:cNvSpPr txBox="1"/>
          <p:nvPr/>
        </p:nvSpPr>
        <p:spPr>
          <a:xfrm>
            <a:off x="7159752" y="3411809"/>
            <a:ext cx="87782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70" b="1" i="0" u="none">
                <a:solidFill>
                  <a:srgbClr val="1F5A91"/>
                </a:solidFill>
                <a:latin typeface="Noto Sans KR"/>
              </a:rPr>
              <a:t>행·열 항목</a:t>
            </a:r>
            <a:endParaRPr/>
          </a:p>
        </p:txBody>
      </p:sp>
      <p:sp>
        <p:nvSpPr>
          <p:cNvPr id="560" name="Google Shape;560;p27"/>
          <p:cNvSpPr/>
          <p:nvPr/>
        </p:nvSpPr>
        <p:spPr>
          <a:xfrm>
            <a:off x="4242816" y="3742090"/>
            <a:ext cx="850392" cy="222747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9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1" name="Google Shape;561;p27"/>
          <p:cNvSpPr txBox="1"/>
          <p:nvPr/>
        </p:nvSpPr>
        <p:spPr>
          <a:xfrm>
            <a:off x="4242816" y="3742090"/>
            <a:ext cx="85039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70" b="1" i="0" u="none">
                <a:solidFill>
                  <a:srgbClr val="1F5A91"/>
                </a:solidFill>
                <a:latin typeface="Noto Sans KR"/>
              </a:rPr>
              <a:t>주변 문맥</a:t>
            </a:r>
            <a:endParaRPr/>
          </a:p>
        </p:txBody>
      </p:sp>
      <p:sp>
        <p:nvSpPr>
          <p:cNvPr id="562" name="Google Shape;562;p27"/>
          <p:cNvSpPr/>
          <p:nvPr/>
        </p:nvSpPr>
        <p:spPr>
          <a:xfrm>
            <a:off x="5257800" y="3742090"/>
            <a:ext cx="1097280" cy="222747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9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3" name="Google Shape;563;p27"/>
          <p:cNvSpPr txBox="1"/>
          <p:nvPr/>
        </p:nvSpPr>
        <p:spPr>
          <a:xfrm>
            <a:off x="5257800" y="3742090"/>
            <a:ext cx="109728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70" b="1" i="0" u="none">
                <a:solidFill>
                  <a:srgbClr val="1F5A91"/>
                </a:solidFill>
                <a:latin typeface="Noto Sans KR"/>
              </a:rPr>
              <a:t>사용한 AI</a:t>
            </a:r>
            <a:endParaRPr/>
          </a:p>
        </p:txBody>
      </p:sp>
      <p:sp>
        <p:nvSpPr>
          <p:cNvPr id="564" name="Google Shape;564;p27"/>
          <p:cNvSpPr/>
          <p:nvPr/>
        </p:nvSpPr>
        <p:spPr>
          <a:xfrm>
            <a:off x="6519672" y="3742090"/>
            <a:ext cx="749808" cy="222747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9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5" name="Google Shape;565;p27"/>
          <p:cNvSpPr txBox="1"/>
          <p:nvPr/>
        </p:nvSpPr>
        <p:spPr>
          <a:xfrm>
            <a:off x="6519672" y="3742090"/>
            <a:ext cx="749808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70" b="1" i="0" u="none">
                <a:solidFill>
                  <a:srgbClr val="1F5A91"/>
                </a:solidFill>
                <a:latin typeface="Noto Sans KR"/>
              </a:rPr>
              <a:t>적용 기준</a:t>
            </a:r>
            <a:endParaRPr/>
          </a:p>
        </p:txBody>
      </p:sp>
      <p:sp>
        <p:nvSpPr>
          <p:cNvPr id="566" name="Google Shape;566;p27"/>
          <p:cNvSpPr txBox="1"/>
          <p:nvPr/>
        </p:nvSpPr>
        <p:spPr>
          <a:xfrm>
            <a:off x="4242816" y="4103095"/>
            <a:ext cx="416966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90" b="0" i="0" u="none">
                <a:solidFill>
                  <a:srgbClr val="667085"/>
                </a:solidFill>
                <a:latin typeface="Noto Sans KR"/>
              </a:rPr>
              <a:t>같은 문구라도 위치와 문맥이 다르면 새로 확인합니다.</a:t>
            </a:r>
            <a:endParaRPr/>
          </a:p>
        </p:txBody>
      </p:sp>
      <p:sp>
        <p:nvSpPr>
          <p:cNvPr id="567" name="Google Shape;567;p27"/>
          <p:cNvSpPr/>
          <p:nvPr/>
        </p:nvSpPr>
        <p:spPr>
          <a:xfrm>
            <a:off x="877824" y="4471781"/>
            <a:ext cx="7388352" cy="184343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8" name="Google Shape;568;p27"/>
          <p:cNvSpPr txBox="1"/>
          <p:nvPr/>
        </p:nvSpPr>
        <p:spPr>
          <a:xfrm>
            <a:off x="1078992" y="4487143"/>
            <a:ext cx="6986016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B97818"/>
                </a:solidFill>
                <a:latin typeface="Noto Sans KR"/>
              </a:rPr>
              <a:t>AI를 사용하지 못하거나 응답이 없으면 ‘재검수 필요’로 남기며, 원문을 자동으로 바꾸지 않습니다.</a:t>
            </a:r>
            <a:endParaRPr/>
          </a:p>
        </p:txBody>
      </p:sp>
      <p:sp>
        <p:nvSpPr>
          <p:cNvPr id="569" name="클린 스타일 강조선_Google Shape;516;p27"/>
          <p:cNvSpPr/>
          <p:nvPr/>
        </p:nvSpPr>
        <p:spPr>
          <a:xfrm>
            <a:off x="493776" y="1814169"/>
            <a:ext cx="32004" cy="468538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클린 스타일 강조선_Google Shape;522;p27"/>
          <p:cNvSpPr/>
          <p:nvPr/>
        </p:nvSpPr>
        <p:spPr>
          <a:xfrm>
            <a:off x="493776" y="2444007"/>
            <a:ext cx="32004" cy="468538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클린 스타일 강조선_Google Shape;528;p27"/>
          <p:cNvSpPr/>
          <p:nvPr/>
        </p:nvSpPr>
        <p:spPr>
          <a:xfrm>
            <a:off x="493776" y="3073847"/>
            <a:ext cx="32004" cy="468538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클린 스타일 강조선_Google Shape;534;p27"/>
          <p:cNvSpPr/>
          <p:nvPr/>
        </p:nvSpPr>
        <p:spPr>
          <a:xfrm>
            <a:off x="493776" y="3703685"/>
            <a:ext cx="32004" cy="468538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8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7단계 · 표 정보·특이값 확인</a:t>
            </a:r>
            <a:endParaRPr/>
          </a:p>
        </p:txBody>
      </p:sp>
      <p:sp>
        <p:nvSpPr>
          <p:cNvPr id="574" name="Google Shape;574;p28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표 정보와 특이값 확인</a:t>
            </a:r>
            <a:endParaRPr/>
          </a:p>
        </p:txBody>
      </p:sp>
      <p:pic>
        <p:nvPicPr>
          <p:cNvPr descr="image.png" id="575" name="Google Shape;5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8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7" name="Google Shape;577;p28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필수 정보가 빠졌는지, 다른 값과 차이가 큰 숫자가 있는지 알려줍니다.</a:t>
            </a:r>
            <a:endParaRPr/>
          </a:p>
        </p:txBody>
      </p:sp>
      <p:sp>
        <p:nvSpPr>
          <p:cNvPr id="578" name="Google Shape;578;p28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579" name="Google Shape;579;p28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14</a:t>
            </a:r>
            <a:endParaRPr/>
          </a:p>
        </p:txBody>
      </p:sp>
      <p:sp>
        <p:nvSpPr>
          <p:cNvPr id="580" name="Google Shape;580;p28"/>
          <p:cNvSpPr/>
          <p:nvPr/>
        </p:nvSpPr>
        <p:spPr>
          <a:xfrm>
            <a:off x="502920" y="1798807"/>
            <a:ext cx="3840480" cy="2626888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1" name="Google Shape;581;p28"/>
          <p:cNvSpPr/>
          <p:nvPr/>
        </p:nvSpPr>
        <p:spPr>
          <a:xfrm>
            <a:off x="502920" y="1798807"/>
            <a:ext cx="3840480" cy="345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2" name="Google Shape;582;p28"/>
          <p:cNvSpPr txBox="1"/>
          <p:nvPr/>
        </p:nvSpPr>
        <p:spPr>
          <a:xfrm>
            <a:off x="685800" y="1890979"/>
            <a:ext cx="3529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1" i="0" u="none">
                <a:solidFill>
                  <a:srgbClr val="172331"/>
                </a:solidFill>
                <a:latin typeface="Noto Sans KR"/>
              </a:rPr>
              <a:t>표 정보 확인</a:t>
            </a:r>
            <a:endParaRPr/>
          </a:p>
        </p:txBody>
      </p:sp>
      <p:sp>
        <p:nvSpPr>
          <p:cNvPr id="583" name="Google Shape;583;p28"/>
          <p:cNvSpPr/>
          <p:nvPr/>
        </p:nvSpPr>
        <p:spPr>
          <a:xfrm>
            <a:off x="731520" y="2313431"/>
            <a:ext cx="3383280" cy="414771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4" name="Google Shape;584;p28"/>
          <p:cNvSpPr/>
          <p:nvPr/>
        </p:nvSpPr>
        <p:spPr>
          <a:xfrm>
            <a:off x="868680" y="2405603"/>
            <a:ext cx="640080" cy="230428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5" name="Google Shape;585;p28"/>
          <p:cNvSpPr txBox="1"/>
          <p:nvPr/>
        </p:nvSpPr>
        <p:spPr>
          <a:xfrm>
            <a:off x="868680" y="2405603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단위</a:t>
            </a:r>
            <a:endParaRPr/>
          </a:p>
        </p:txBody>
      </p:sp>
      <p:sp>
        <p:nvSpPr>
          <p:cNvPr id="586" name="Google Shape;586;p28"/>
          <p:cNvSpPr txBox="1"/>
          <p:nvPr/>
        </p:nvSpPr>
        <p:spPr>
          <a:xfrm>
            <a:off x="1664208" y="2382559"/>
            <a:ext cx="22677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0" i="0" u="none">
                <a:solidFill>
                  <a:srgbClr val="172331"/>
                </a:solidFill>
                <a:latin typeface="Noto Sans KR"/>
              </a:rPr>
              <a:t>단위 누락 또는 기존 기준과의 차이 확인</a:t>
            </a:r>
            <a:endParaRPr/>
          </a:p>
        </p:txBody>
      </p:sp>
      <p:sp>
        <p:nvSpPr>
          <p:cNvPr id="587" name="Google Shape;587;p28"/>
          <p:cNvSpPr/>
          <p:nvPr/>
        </p:nvSpPr>
        <p:spPr>
          <a:xfrm>
            <a:off x="731520" y="2866460"/>
            <a:ext cx="3383280" cy="414771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8" name="Google Shape;588;p28"/>
          <p:cNvSpPr/>
          <p:nvPr/>
        </p:nvSpPr>
        <p:spPr>
          <a:xfrm>
            <a:off x="868680" y="2958631"/>
            <a:ext cx="640080" cy="230428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9" name="Google Shape;589;p28"/>
          <p:cNvSpPr txBox="1"/>
          <p:nvPr/>
        </p:nvSpPr>
        <p:spPr>
          <a:xfrm>
            <a:off x="868680" y="2958631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기준일</a:t>
            </a:r>
            <a:endParaRPr/>
          </a:p>
        </p:txBody>
      </p:sp>
      <p:sp>
        <p:nvSpPr>
          <p:cNvPr id="590" name="Google Shape;590;p28"/>
          <p:cNvSpPr txBox="1"/>
          <p:nvPr/>
        </p:nvSpPr>
        <p:spPr>
          <a:xfrm>
            <a:off x="1664208" y="2935588"/>
            <a:ext cx="22677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0" i="0" u="none">
                <a:solidFill>
                  <a:srgbClr val="172331"/>
                </a:solidFill>
                <a:latin typeface="Noto Sans KR"/>
              </a:rPr>
              <a:t>기준일 입력 여부 확인</a:t>
            </a:r>
            <a:endParaRPr/>
          </a:p>
        </p:txBody>
      </p:sp>
      <p:sp>
        <p:nvSpPr>
          <p:cNvPr id="591" name="Google Shape;591;p28"/>
          <p:cNvSpPr/>
          <p:nvPr/>
        </p:nvSpPr>
        <p:spPr>
          <a:xfrm>
            <a:off x="731520" y="3419490"/>
            <a:ext cx="3383280" cy="414771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868680" y="3511661"/>
            <a:ext cx="640080" cy="230428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3" name="Google Shape;593;p28"/>
          <p:cNvSpPr txBox="1"/>
          <p:nvPr/>
        </p:nvSpPr>
        <p:spPr>
          <a:xfrm>
            <a:off x="868680" y="3511661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출처</a:t>
            </a:r>
            <a:endParaRPr/>
          </a:p>
        </p:txBody>
      </p:sp>
      <p:sp>
        <p:nvSpPr>
          <p:cNvPr id="594" name="Google Shape;594;p28"/>
          <p:cNvSpPr txBox="1"/>
          <p:nvPr/>
        </p:nvSpPr>
        <p:spPr>
          <a:xfrm>
            <a:off x="1664208" y="3488618"/>
            <a:ext cx="22677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0" i="0" u="none">
                <a:solidFill>
                  <a:srgbClr val="172331"/>
                </a:solidFill>
                <a:latin typeface="Noto Sans KR"/>
              </a:rPr>
              <a:t>출처 입력 여부 확인</a:t>
            </a:r>
            <a:endParaRPr/>
          </a:p>
        </p:txBody>
      </p:sp>
      <p:sp>
        <p:nvSpPr>
          <p:cNvPr id="595" name="Google Shape;595;p28"/>
          <p:cNvSpPr/>
          <p:nvPr/>
        </p:nvSpPr>
        <p:spPr>
          <a:xfrm>
            <a:off x="804672" y="4087733"/>
            <a:ext cx="3236976" cy="192024"/>
          </a:xfrm>
          <a:prstGeom prst="rect">
            <a:avLst/>
          </a:prstGeom>
          <a:solidFill>
            <a:srgbClr val="FFF4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6" name="Google Shape;596;p28"/>
          <p:cNvSpPr txBox="1"/>
          <p:nvPr/>
        </p:nvSpPr>
        <p:spPr>
          <a:xfrm>
            <a:off x="932688" y="4110775"/>
            <a:ext cx="29809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90" b="1" i="0" u="none">
                <a:solidFill>
                  <a:srgbClr val="B97818"/>
                </a:solidFill>
                <a:latin typeface="Noto Sans KR"/>
              </a:rPr>
              <a:t>현재 자동 확인 범위: 단위·기준일·출처의 누락과 단위 기준</a:t>
            </a:r>
            <a:endParaRPr/>
          </a:p>
        </p:txBody>
      </p:sp>
      <p:sp>
        <p:nvSpPr>
          <p:cNvPr id="597" name="Google Shape;597;p28"/>
          <p:cNvSpPr/>
          <p:nvPr/>
        </p:nvSpPr>
        <p:spPr>
          <a:xfrm>
            <a:off x="4617720" y="1798807"/>
            <a:ext cx="4023360" cy="2626888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8" name="Google Shape;598;p28"/>
          <p:cNvSpPr/>
          <p:nvPr/>
        </p:nvSpPr>
        <p:spPr>
          <a:xfrm>
            <a:off x="4617720" y="1798807"/>
            <a:ext cx="4023360" cy="345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9" name="Google Shape;599;p28"/>
          <p:cNvSpPr txBox="1"/>
          <p:nvPr/>
        </p:nvSpPr>
        <p:spPr>
          <a:xfrm>
            <a:off x="4800600" y="1890979"/>
            <a:ext cx="3712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1" i="0" u="none">
                <a:solidFill>
                  <a:srgbClr val="172331"/>
                </a:solidFill>
                <a:latin typeface="Noto Sans KR"/>
              </a:rPr>
              <a:t>특이값 확인</a:t>
            </a:r>
            <a:endParaRPr/>
          </a:p>
        </p:txBody>
      </p:sp>
      <p:sp>
        <p:nvSpPr>
          <p:cNvPr id="600" name="Google Shape;600;p28"/>
          <p:cNvSpPr txBox="1"/>
          <p:nvPr/>
        </p:nvSpPr>
        <p:spPr>
          <a:xfrm>
            <a:off x="4882896" y="2298069"/>
            <a:ext cx="3493008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u="none">
                <a:solidFill>
                  <a:srgbClr val="0C2F61"/>
                </a:solidFill>
                <a:latin typeface="Noto Sans KR"/>
              </a:rPr>
              <a:t>같은 숫자 열의 값들을 비교</a:t>
            </a:r>
            <a:endParaRPr/>
          </a:p>
        </p:txBody>
      </p:sp>
      <p:sp>
        <p:nvSpPr>
          <p:cNvPr id="601" name="Google Shape;601;p28"/>
          <p:cNvSpPr/>
          <p:nvPr/>
        </p:nvSpPr>
        <p:spPr>
          <a:xfrm>
            <a:off x="5102352" y="3104570"/>
            <a:ext cx="2907792" cy="18288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2" name="Google Shape;602;p28"/>
          <p:cNvSpPr txBox="1"/>
          <p:nvPr/>
        </p:nvSpPr>
        <p:spPr>
          <a:xfrm>
            <a:off x="5376672" y="2950951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2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603" name="Google Shape;603;p28"/>
          <p:cNvSpPr txBox="1"/>
          <p:nvPr/>
        </p:nvSpPr>
        <p:spPr>
          <a:xfrm>
            <a:off x="5321808" y="318138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endParaRPr/>
          </a:p>
        </p:txBody>
      </p:sp>
      <p:sp>
        <p:nvSpPr>
          <p:cNvPr id="604" name="Google Shape;604;p28"/>
          <p:cNvSpPr txBox="1"/>
          <p:nvPr/>
        </p:nvSpPr>
        <p:spPr>
          <a:xfrm>
            <a:off x="5806440" y="2950951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2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605" name="Google Shape;605;p28"/>
          <p:cNvSpPr txBox="1"/>
          <p:nvPr/>
        </p:nvSpPr>
        <p:spPr>
          <a:xfrm>
            <a:off x="5751576" y="318138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606" name="Google Shape;606;p28"/>
          <p:cNvSpPr txBox="1"/>
          <p:nvPr/>
        </p:nvSpPr>
        <p:spPr>
          <a:xfrm>
            <a:off x="6236208" y="2950951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2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607" name="Google Shape;607;p28"/>
          <p:cNvSpPr txBox="1"/>
          <p:nvPr/>
        </p:nvSpPr>
        <p:spPr>
          <a:xfrm>
            <a:off x="6181344" y="318138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608" name="Google Shape;608;p28"/>
          <p:cNvSpPr txBox="1"/>
          <p:nvPr/>
        </p:nvSpPr>
        <p:spPr>
          <a:xfrm>
            <a:off x="6665976" y="2950951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2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609" name="Google Shape;609;p28"/>
          <p:cNvSpPr txBox="1"/>
          <p:nvPr/>
        </p:nvSpPr>
        <p:spPr>
          <a:xfrm>
            <a:off x="6611112" y="318138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/>
          </a:p>
        </p:txBody>
      </p:sp>
      <p:sp>
        <p:nvSpPr>
          <p:cNvPr id="610" name="Google Shape;610;p28"/>
          <p:cNvSpPr txBox="1"/>
          <p:nvPr/>
        </p:nvSpPr>
        <p:spPr>
          <a:xfrm>
            <a:off x="7699248" y="2950951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2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611" name="Google Shape;611;p28"/>
          <p:cNvSpPr txBox="1"/>
          <p:nvPr/>
        </p:nvSpPr>
        <p:spPr>
          <a:xfrm>
            <a:off x="7644383" y="318138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43</a:t>
            </a:r>
            <a:endParaRPr/>
          </a:p>
        </p:txBody>
      </p:sp>
      <p:sp>
        <p:nvSpPr>
          <p:cNvPr id="612" name="Google Shape;612;p28"/>
          <p:cNvSpPr txBox="1"/>
          <p:nvPr/>
        </p:nvSpPr>
        <p:spPr>
          <a:xfrm>
            <a:off x="5897880" y="2689799"/>
            <a:ext cx="685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>
                <a:solidFill>
                  <a:srgbClr val="2F7D68"/>
                </a:solidFill>
                <a:latin typeface="Noto Sans KR"/>
              </a:rPr>
              <a:t>일반 범위</a:t>
            </a:r>
            <a:endParaRPr/>
          </a:p>
        </p:txBody>
      </p:sp>
      <p:sp>
        <p:nvSpPr>
          <p:cNvPr id="613" name="Google Shape;613;p28"/>
          <p:cNvSpPr/>
          <p:nvPr/>
        </p:nvSpPr>
        <p:spPr>
          <a:xfrm>
            <a:off x="6089904" y="2816534"/>
            <a:ext cx="219456" cy="138257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4" name="Google Shape;614;p28"/>
          <p:cNvSpPr/>
          <p:nvPr/>
        </p:nvSpPr>
        <p:spPr>
          <a:xfrm>
            <a:off x="7351775" y="2589946"/>
            <a:ext cx="841248" cy="230428"/>
          </a:xfrm>
          <a:prstGeom prst="rect">
            <a:avLst/>
          </a:prstGeom>
          <a:solidFill>
            <a:srgbClr val="FDECEF"/>
          </a:solidFill>
          <a:ln cap="flat" cmpd="sng" w="10150">
            <a:solidFill>
              <a:srgbClr val="C946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5" name="Google Shape;615;p28"/>
          <p:cNvSpPr txBox="1"/>
          <p:nvPr/>
        </p:nvSpPr>
        <p:spPr>
          <a:xfrm>
            <a:off x="7351775" y="2589946"/>
            <a:ext cx="8412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1" i="0" u="none">
                <a:solidFill>
                  <a:srgbClr val="C94655"/>
                </a:solidFill>
                <a:latin typeface="Noto Sans KR"/>
              </a:rPr>
              <a:t>차이 큰 값</a:t>
            </a:r>
            <a:endParaRPr/>
          </a:p>
        </p:txBody>
      </p:sp>
      <p:sp>
        <p:nvSpPr>
          <p:cNvPr id="616" name="Google Shape;616;p28"/>
          <p:cNvSpPr txBox="1"/>
          <p:nvPr/>
        </p:nvSpPr>
        <p:spPr>
          <a:xfrm>
            <a:off x="4956048" y="3550066"/>
            <a:ext cx="33284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1F5A91"/>
                </a:solidFill>
                <a:latin typeface="Noto Sans KR"/>
              </a:rPr>
              <a:t>• 합계·소계는 비교 대상에서 제외</a:t>
            </a:r>
            <a:br/>
            <a:r>
              <a:rPr sz="819" b="1" i="0" u="none">
                <a:solidFill>
                  <a:srgbClr val="1F5A91"/>
                </a:solidFill>
                <a:latin typeface="Noto Sans KR"/>
              </a:rPr>
              <a:t>• 값이 5개 이상인 숫자 열에서 차이가 큰 값 제시</a:t>
            </a:r>
            <a:endParaRPr/>
          </a:p>
        </p:txBody>
      </p:sp>
      <p:sp>
        <p:nvSpPr>
          <p:cNvPr id="617" name="Google Shape;617;p28"/>
          <p:cNvSpPr/>
          <p:nvPr/>
        </p:nvSpPr>
        <p:spPr>
          <a:xfrm>
            <a:off x="4956048" y="4087733"/>
            <a:ext cx="3328416" cy="19202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8" name="Google Shape;618;p28"/>
          <p:cNvSpPr txBox="1"/>
          <p:nvPr/>
        </p:nvSpPr>
        <p:spPr>
          <a:xfrm>
            <a:off x="5157216" y="4110775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>
                <a:solidFill>
                  <a:srgbClr val="2F7D68"/>
                </a:solidFill>
                <a:latin typeface="Noto Sans KR"/>
              </a:rPr>
              <a:t>특이값은 오류 확정이 아니라 담당자가 확인할 후보</a:t>
            </a:r>
            <a:endParaRPr/>
          </a:p>
        </p:txBody>
      </p:sp>
      <p:sp>
        <p:nvSpPr>
          <p:cNvPr id="619" name="Google Shape;619;p28"/>
          <p:cNvSpPr txBox="1"/>
          <p:nvPr/>
        </p:nvSpPr>
        <p:spPr>
          <a:xfrm>
            <a:off x="1508760" y="4548591"/>
            <a:ext cx="6126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667085"/>
                </a:solidFill>
                <a:latin typeface="Noto Sans KR"/>
              </a:rPr>
              <a:t>담당자는 출처·단위·업무 맥락을 함께 보고 최종 판단합니다.</a:t>
            </a:r>
            <a:endParaRPr/>
          </a:p>
        </p:txBody>
      </p:sp>
      <p:sp>
        <p:nvSpPr>
          <p:cNvPr id="620" name="클린 스타일 강조선_Google Shape;581;p28"/>
          <p:cNvSpPr/>
          <p:nvPr/>
        </p:nvSpPr>
        <p:spPr>
          <a:xfrm>
            <a:off x="502920" y="1798807"/>
            <a:ext cx="50292" cy="345643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클린 스타일 강조선_Google Shape;598;p28"/>
          <p:cNvSpPr/>
          <p:nvPr/>
        </p:nvSpPr>
        <p:spPr>
          <a:xfrm>
            <a:off x="4617720" y="1798807"/>
            <a:ext cx="50292" cy="345643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클린 스타일 강조선_Google Shape;583;p28"/>
          <p:cNvSpPr/>
          <p:nvPr/>
        </p:nvSpPr>
        <p:spPr>
          <a:xfrm>
            <a:off x="731520" y="2313431"/>
            <a:ext cx="32004" cy="414771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클린 스타일 강조선_Google Shape;587;p28"/>
          <p:cNvSpPr/>
          <p:nvPr/>
        </p:nvSpPr>
        <p:spPr>
          <a:xfrm>
            <a:off x="731520" y="2866460"/>
            <a:ext cx="32004" cy="414771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클린 스타일 강조선_Google Shape;591;p28"/>
          <p:cNvSpPr/>
          <p:nvPr/>
        </p:nvSpPr>
        <p:spPr>
          <a:xfrm>
            <a:off x="731520" y="3419490"/>
            <a:ext cx="32004" cy="414771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9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8단계 · 수정·재검수</a:t>
            </a:r>
            <a:endParaRPr/>
          </a:p>
        </p:txBody>
      </p:sp>
      <p:sp>
        <p:nvSpPr>
          <p:cNvPr id="625" name="Google Shape;625;p29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결과를 수정하고 다시 검수</a:t>
            </a:r>
            <a:endParaRPr/>
          </a:p>
        </p:txBody>
      </p:sp>
      <p:pic>
        <p:nvPicPr>
          <p:cNvPr descr="image.png" id="626" name="Google Shape;62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29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8" name="Google Shape;628;p29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문제 위치를 확인해 수정하고, 바뀐 표만 다시 확인합니다.</a:t>
            </a:r>
            <a:endParaRPr/>
          </a:p>
        </p:txBody>
      </p:sp>
      <p:sp>
        <p:nvSpPr>
          <p:cNvPr id="629" name="Google Shape;629;p29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630" name="Google Shape;630;p29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15</a:t>
            </a:r>
            <a:endParaRPr/>
          </a:p>
        </p:txBody>
      </p:sp>
      <p:sp>
        <p:nvSpPr>
          <p:cNvPr id="631" name="Google Shape;631;p29"/>
          <p:cNvSpPr/>
          <p:nvPr/>
        </p:nvSpPr>
        <p:spPr>
          <a:xfrm>
            <a:off x="475488" y="1798807"/>
            <a:ext cx="3840480" cy="1659087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2" name="Google Shape;632;p29"/>
          <p:cNvSpPr/>
          <p:nvPr/>
        </p:nvSpPr>
        <p:spPr>
          <a:xfrm>
            <a:off x="475488" y="1798807"/>
            <a:ext cx="3840480" cy="330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3" name="Google Shape;633;p29"/>
          <p:cNvSpPr txBox="1"/>
          <p:nvPr/>
        </p:nvSpPr>
        <p:spPr>
          <a:xfrm>
            <a:off x="658368" y="1883298"/>
            <a:ext cx="3529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172331"/>
                </a:solidFill>
                <a:latin typeface="Noto Sans KR"/>
              </a:rPr>
              <a:t>수정할 수 있는 내용</a:t>
            </a:r>
            <a:endParaRPr/>
          </a:p>
        </p:txBody>
      </p:sp>
      <p:sp>
        <p:nvSpPr>
          <p:cNvPr id="634" name="Google Shape;634;p29"/>
          <p:cNvSpPr/>
          <p:nvPr/>
        </p:nvSpPr>
        <p:spPr>
          <a:xfrm>
            <a:off x="694944" y="2305751"/>
            <a:ext cx="1591056" cy="430133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5" name="Google Shape;635;p29"/>
          <p:cNvSpPr txBox="1"/>
          <p:nvPr/>
        </p:nvSpPr>
        <p:spPr>
          <a:xfrm>
            <a:off x="777240" y="2374879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기본정보</a:t>
            </a:r>
            <a:endParaRPr/>
          </a:p>
        </p:txBody>
      </p:sp>
      <p:sp>
        <p:nvSpPr>
          <p:cNvPr id="636" name="Google Shape;636;p29"/>
          <p:cNvSpPr txBox="1"/>
          <p:nvPr/>
        </p:nvSpPr>
        <p:spPr>
          <a:xfrm>
            <a:off x="1426464" y="2344155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u="none">
                <a:solidFill>
                  <a:srgbClr val="172331"/>
                </a:solidFill>
                <a:latin typeface="Noto Sans KR"/>
              </a:rPr>
              <a:t>통계 코드·제목·분류</a:t>
            </a:r>
            <a:endParaRPr/>
          </a:p>
        </p:txBody>
      </p:sp>
      <p:sp>
        <p:nvSpPr>
          <p:cNvPr id="637" name="Google Shape;637;p29"/>
          <p:cNvSpPr/>
          <p:nvPr/>
        </p:nvSpPr>
        <p:spPr>
          <a:xfrm>
            <a:off x="2468880" y="2305751"/>
            <a:ext cx="1591056" cy="430133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8" name="Google Shape;638;p29"/>
          <p:cNvSpPr txBox="1"/>
          <p:nvPr/>
        </p:nvSpPr>
        <p:spPr>
          <a:xfrm>
            <a:off x="2551176" y="2374879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표 구조</a:t>
            </a:r>
            <a:endParaRPr/>
          </a:p>
        </p:txBody>
      </p:sp>
      <p:sp>
        <p:nvSpPr>
          <p:cNvPr id="639" name="Google Shape;639;p29"/>
          <p:cNvSpPr txBox="1"/>
          <p:nvPr/>
        </p:nvSpPr>
        <p:spPr>
          <a:xfrm>
            <a:off x="3200400" y="2344155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u="none">
                <a:solidFill>
                  <a:srgbClr val="172331"/>
                </a:solidFill>
                <a:latin typeface="Noto Sans KR"/>
              </a:rPr>
              <a:t>헤더·행·열 추가·삭제·순서</a:t>
            </a:r>
            <a:endParaRPr/>
          </a:p>
        </p:txBody>
      </p:sp>
      <p:sp>
        <p:nvSpPr>
          <p:cNvPr id="640" name="Google Shape;640;p29"/>
          <p:cNvSpPr/>
          <p:nvPr/>
        </p:nvSpPr>
        <p:spPr>
          <a:xfrm>
            <a:off x="694944" y="2858780"/>
            <a:ext cx="1591056" cy="430133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1" name="Google Shape;641;p29"/>
          <p:cNvSpPr txBox="1"/>
          <p:nvPr/>
        </p:nvSpPr>
        <p:spPr>
          <a:xfrm>
            <a:off x="777240" y="2927907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내용</a:t>
            </a:r>
            <a:endParaRPr/>
          </a:p>
        </p:txBody>
      </p:sp>
      <p:sp>
        <p:nvSpPr>
          <p:cNvPr id="642" name="Google Shape;642;p29"/>
          <p:cNvSpPr txBox="1"/>
          <p:nvPr/>
        </p:nvSpPr>
        <p:spPr>
          <a:xfrm>
            <a:off x="1426464" y="28971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u="none">
                <a:solidFill>
                  <a:srgbClr val="172331"/>
                </a:solidFill>
                <a:latin typeface="Noto Sans KR"/>
              </a:rPr>
              <a:t>한글·영문 셀 값·각주</a:t>
            </a:r>
            <a:endParaRPr/>
          </a:p>
        </p:txBody>
      </p:sp>
      <p:sp>
        <p:nvSpPr>
          <p:cNvPr id="643" name="Google Shape;643;p29"/>
          <p:cNvSpPr/>
          <p:nvPr/>
        </p:nvSpPr>
        <p:spPr>
          <a:xfrm>
            <a:off x="2468880" y="2858780"/>
            <a:ext cx="1591056" cy="430133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4" name="Google Shape;644;p29"/>
          <p:cNvSpPr txBox="1"/>
          <p:nvPr/>
        </p:nvSpPr>
        <p:spPr>
          <a:xfrm>
            <a:off x="2551176" y="2927907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>
                <a:solidFill>
                  <a:srgbClr val="1F5A91"/>
                </a:solidFill>
                <a:latin typeface="Noto Sans KR"/>
              </a:rPr>
              <a:t>표 정보</a:t>
            </a:r>
            <a:endParaRPr/>
          </a:p>
        </p:txBody>
      </p:sp>
      <p:sp>
        <p:nvSpPr>
          <p:cNvPr id="645" name="Google Shape;645;p29"/>
          <p:cNvSpPr txBox="1"/>
          <p:nvPr/>
        </p:nvSpPr>
        <p:spPr>
          <a:xfrm>
            <a:off x="3200400" y="2897184"/>
            <a:ext cx="7680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u="none">
                <a:solidFill>
                  <a:srgbClr val="172331"/>
                </a:solidFill>
                <a:latin typeface="Noto Sans KR"/>
              </a:rPr>
              <a:t>단위·기준일·출처·담당 정보</a:t>
            </a:r>
            <a:endParaRPr/>
          </a:p>
        </p:txBody>
      </p:sp>
      <p:sp>
        <p:nvSpPr>
          <p:cNvPr id="646" name="Google Shape;646;p29"/>
          <p:cNvSpPr/>
          <p:nvPr/>
        </p:nvSpPr>
        <p:spPr>
          <a:xfrm>
            <a:off x="4590288" y="1798807"/>
            <a:ext cx="4078224" cy="1659087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7" name="Google Shape;647;p29"/>
          <p:cNvSpPr/>
          <p:nvPr/>
        </p:nvSpPr>
        <p:spPr>
          <a:xfrm>
            <a:off x="4590288" y="1798807"/>
            <a:ext cx="4078224" cy="330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8" name="Google Shape;648;p29"/>
          <p:cNvSpPr txBox="1"/>
          <p:nvPr/>
        </p:nvSpPr>
        <p:spPr>
          <a:xfrm>
            <a:off x="4773168" y="1883298"/>
            <a:ext cx="3767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172331"/>
                </a:solidFill>
                <a:latin typeface="Noto Sans KR"/>
              </a:rPr>
              <a:t>통계별 수정 보호</a:t>
            </a:r>
            <a:endParaRPr/>
          </a:p>
        </p:txBody>
      </p:sp>
      <p:sp>
        <p:nvSpPr>
          <p:cNvPr id="649" name="Google Shape;649;p29"/>
          <p:cNvSpPr/>
          <p:nvPr/>
        </p:nvSpPr>
        <p:spPr>
          <a:xfrm>
            <a:off x="4846320" y="2351836"/>
            <a:ext cx="1024128" cy="430133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0" name="Google Shape;650;p29"/>
          <p:cNvSpPr txBox="1"/>
          <p:nvPr/>
        </p:nvSpPr>
        <p:spPr>
          <a:xfrm>
            <a:off x="4901183" y="2474731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>
                <a:solidFill>
                  <a:srgbClr val="1F5A91"/>
                </a:solidFill>
                <a:latin typeface="Noto Sans KR"/>
              </a:rPr>
              <a:t>비밀번호 확인</a:t>
            </a:r>
            <a:endParaRPr/>
          </a:p>
        </p:txBody>
      </p:sp>
      <p:sp>
        <p:nvSpPr>
          <p:cNvPr id="651" name="Google Shape;651;p29"/>
          <p:cNvSpPr/>
          <p:nvPr/>
        </p:nvSpPr>
        <p:spPr>
          <a:xfrm>
            <a:off x="5934456" y="2459370"/>
            <a:ext cx="182880" cy="1997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2" name="Google Shape;652;p29"/>
          <p:cNvSpPr/>
          <p:nvPr/>
        </p:nvSpPr>
        <p:spPr>
          <a:xfrm>
            <a:off x="6199632" y="2351836"/>
            <a:ext cx="1024128" cy="430133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3" name="Google Shape;653;p29"/>
          <p:cNvSpPr txBox="1"/>
          <p:nvPr/>
        </p:nvSpPr>
        <p:spPr>
          <a:xfrm>
            <a:off x="6254496" y="2474731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>
                <a:solidFill>
                  <a:srgbClr val="1F5A91"/>
                </a:solidFill>
                <a:latin typeface="Noto Sans KR"/>
              </a:rPr>
              <a:t>수정 화면 열기</a:t>
            </a:r>
            <a:endParaRPr/>
          </a:p>
        </p:txBody>
      </p:sp>
      <p:sp>
        <p:nvSpPr>
          <p:cNvPr id="654" name="Google Shape;654;p29"/>
          <p:cNvSpPr/>
          <p:nvPr/>
        </p:nvSpPr>
        <p:spPr>
          <a:xfrm>
            <a:off x="7287768" y="2459370"/>
            <a:ext cx="182880" cy="1997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5" name="Google Shape;655;p29"/>
          <p:cNvSpPr/>
          <p:nvPr/>
        </p:nvSpPr>
        <p:spPr>
          <a:xfrm>
            <a:off x="7552944" y="2351836"/>
            <a:ext cx="1024128" cy="430133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6" name="Google Shape;656;p29"/>
          <p:cNvSpPr txBox="1"/>
          <p:nvPr/>
        </p:nvSpPr>
        <p:spPr>
          <a:xfrm>
            <a:off x="7607808" y="2474731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>
                <a:solidFill>
                  <a:srgbClr val="2F7D68"/>
                </a:solidFill>
                <a:latin typeface="Noto Sans KR"/>
              </a:rPr>
              <a:t>변경 내용 저장</a:t>
            </a:r>
            <a:endParaRPr/>
          </a:p>
        </p:txBody>
      </p:sp>
      <p:sp>
        <p:nvSpPr>
          <p:cNvPr id="657" name="Google Shape;657;p29"/>
          <p:cNvSpPr txBox="1"/>
          <p:nvPr/>
        </p:nvSpPr>
        <p:spPr>
          <a:xfrm>
            <a:off x="5010912" y="2997037"/>
            <a:ext cx="32369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0" i="0" u="none">
                <a:solidFill>
                  <a:srgbClr val="667085"/>
                </a:solidFill>
                <a:latin typeface="Noto Sans KR"/>
              </a:rPr>
              <a:t>통계별 비밀번호를 확인한 뒤 수정 화면을 사용할 수 있습니다.</a:t>
            </a:r>
            <a:endParaRPr/>
          </a:p>
        </p:txBody>
      </p:sp>
      <p:sp>
        <p:nvSpPr>
          <p:cNvPr id="658" name="Google Shape;658;p29"/>
          <p:cNvSpPr txBox="1"/>
          <p:nvPr/>
        </p:nvSpPr>
        <p:spPr>
          <a:xfrm>
            <a:off x="4956048" y="3204423"/>
            <a:ext cx="33467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90" b="0" i="0" u="none">
                <a:solidFill>
                  <a:srgbClr val="B97818"/>
                </a:solidFill>
                <a:latin typeface="Noto Sans KR"/>
              </a:rPr>
              <a:t>※ 기관 계정·역할별 권한 관리는 향후 보완 예정</a:t>
            </a:r>
            <a:endParaRPr/>
          </a:p>
        </p:txBody>
      </p:sp>
      <p:sp>
        <p:nvSpPr>
          <p:cNvPr id="659" name="Google Shape;659;p29"/>
          <p:cNvSpPr txBox="1"/>
          <p:nvPr/>
        </p:nvSpPr>
        <p:spPr>
          <a:xfrm>
            <a:off x="512064" y="3626876"/>
            <a:ext cx="16642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 u="none">
                <a:solidFill>
                  <a:srgbClr val="0C2F61"/>
                </a:solidFill>
                <a:latin typeface="Noto Sans KR"/>
              </a:rPr>
              <a:t>수정 후 다시 확인하는 순서</a:t>
            </a:r>
            <a:endParaRPr/>
          </a:p>
        </p:txBody>
      </p:sp>
      <p:sp>
        <p:nvSpPr>
          <p:cNvPr id="660" name="Google Shape;660;p29"/>
          <p:cNvSpPr/>
          <p:nvPr/>
        </p:nvSpPr>
        <p:spPr>
          <a:xfrm>
            <a:off x="530352" y="3888027"/>
            <a:ext cx="1234440" cy="476219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0C2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1" name="Google Shape;661;p29"/>
          <p:cNvSpPr txBox="1"/>
          <p:nvPr/>
        </p:nvSpPr>
        <p:spPr>
          <a:xfrm>
            <a:off x="585215" y="3964838"/>
            <a:ext cx="1124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u="none">
                <a:solidFill>
                  <a:srgbClr val="0C2F61"/>
                </a:solidFill>
                <a:latin typeface="Noto Sans KR"/>
              </a:rPr>
              <a:t>결과 확인</a:t>
            </a:r>
            <a:endParaRPr/>
          </a:p>
        </p:txBody>
      </p:sp>
      <p:sp>
        <p:nvSpPr>
          <p:cNvPr id="662" name="Google Shape;662;p29"/>
          <p:cNvSpPr/>
          <p:nvPr/>
        </p:nvSpPr>
        <p:spPr>
          <a:xfrm>
            <a:off x="1856232" y="4010924"/>
            <a:ext cx="265175" cy="2304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2212848" y="3888027"/>
            <a:ext cx="1417320" cy="476219"/>
          </a:xfrm>
          <a:prstGeom prst="rect">
            <a:avLst/>
          </a:prstGeom>
          <a:solidFill>
            <a:srgbClr val="FFFFFF"/>
          </a:solidFill>
          <a:ln cap="flat" cmpd="sng" w="139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4" name="Google Shape;664;p29"/>
          <p:cNvSpPr txBox="1"/>
          <p:nvPr/>
        </p:nvSpPr>
        <p:spPr>
          <a:xfrm>
            <a:off x="2267712" y="3964838"/>
            <a:ext cx="13075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u="none">
                <a:solidFill>
                  <a:srgbClr val="B97818"/>
                </a:solidFill>
                <a:latin typeface="Noto Sans KR"/>
              </a:rPr>
              <a:t>문제 내용 수정</a:t>
            </a:r>
            <a:endParaRPr/>
          </a:p>
        </p:txBody>
      </p:sp>
      <p:sp>
        <p:nvSpPr>
          <p:cNvPr id="665" name="Google Shape;665;p29"/>
          <p:cNvSpPr/>
          <p:nvPr/>
        </p:nvSpPr>
        <p:spPr>
          <a:xfrm>
            <a:off x="3721607" y="4010924"/>
            <a:ext cx="283464" cy="2304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6" name="Google Shape;666;p29"/>
          <p:cNvSpPr/>
          <p:nvPr/>
        </p:nvSpPr>
        <p:spPr>
          <a:xfrm>
            <a:off x="4096512" y="3888027"/>
            <a:ext cx="1417320" cy="476219"/>
          </a:xfrm>
          <a:prstGeom prst="rect">
            <a:avLst/>
          </a:prstGeom>
          <a:solidFill>
            <a:srgbClr val="FFFFFF"/>
          </a:solidFill>
          <a:ln cap="flat" cmpd="sng" w="139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7" name="Google Shape;667;p29"/>
          <p:cNvSpPr txBox="1"/>
          <p:nvPr/>
        </p:nvSpPr>
        <p:spPr>
          <a:xfrm>
            <a:off x="4151376" y="3964838"/>
            <a:ext cx="13075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u="none">
                <a:solidFill>
                  <a:srgbClr val="1F5A91"/>
                </a:solidFill>
                <a:latin typeface="Noto Sans KR"/>
              </a:rPr>
              <a:t>‘재검수 필요’</a:t>
            </a:r>
            <a:br/>
            <a:r>
              <a:rPr sz="880" b="1" i="0" u="none">
                <a:solidFill>
                  <a:srgbClr val="1F5A91"/>
                </a:solidFill>
                <a:latin typeface="Noto Sans KR"/>
              </a:rPr>
              <a:t>표시</a:t>
            </a:r>
            <a:endParaRPr/>
          </a:p>
        </p:txBody>
      </p:sp>
      <p:sp>
        <p:nvSpPr>
          <p:cNvPr id="668" name="Google Shape;668;p29"/>
          <p:cNvSpPr/>
          <p:nvPr/>
        </p:nvSpPr>
        <p:spPr>
          <a:xfrm>
            <a:off x="5605272" y="4010924"/>
            <a:ext cx="301751" cy="2304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9" name="Google Shape;669;p29"/>
          <p:cNvSpPr/>
          <p:nvPr/>
        </p:nvSpPr>
        <p:spPr>
          <a:xfrm>
            <a:off x="5998464" y="3888027"/>
            <a:ext cx="1261872" cy="476219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1F5A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0" name="Google Shape;670;p29"/>
          <p:cNvSpPr txBox="1"/>
          <p:nvPr/>
        </p:nvSpPr>
        <p:spPr>
          <a:xfrm>
            <a:off x="6053327" y="3964838"/>
            <a:ext cx="1152143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u="none">
                <a:solidFill>
                  <a:srgbClr val="1F5A91"/>
                </a:solidFill>
                <a:latin typeface="Noto Sans KR"/>
              </a:rPr>
              <a:t>재검수</a:t>
            </a:r>
            <a:br/>
            <a:r>
              <a:rPr sz="880" b="1" i="0" u="none">
                <a:solidFill>
                  <a:srgbClr val="1F5A91"/>
                </a:solidFill>
                <a:latin typeface="Noto Sans KR"/>
              </a:rPr>
              <a:t>실행</a:t>
            </a:r>
            <a:endParaRPr/>
          </a:p>
        </p:txBody>
      </p:sp>
      <p:sp>
        <p:nvSpPr>
          <p:cNvPr id="671" name="Google Shape;671;p29"/>
          <p:cNvSpPr/>
          <p:nvPr/>
        </p:nvSpPr>
        <p:spPr>
          <a:xfrm>
            <a:off x="7351775" y="4010924"/>
            <a:ext cx="146304" cy="2304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2" name="Google Shape;672;p29"/>
          <p:cNvSpPr/>
          <p:nvPr/>
        </p:nvSpPr>
        <p:spPr>
          <a:xfrm>
            <a:off x="7498079" y="3888027"/>
            <a:ext cx="1097280" cy="476219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2F7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3" name="Google Shape;673;p29"/>
          <p:cNvSpPr txBox="1"/>
          <p:nvPr/>
        </p:nvSpPr>
        <p:spPr>
          <a:xfrm>
            <a:off x="7552944" y="3964838"/>
            <a:ext cx="9875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u="none">
                <a:solidFill>
                  <a:srgbClr val="2F7D68"/>
                </a:solidFill>
                <a:latin typeface="Noto Sans KR"/>
              </a:rPr>
              <a:t>새 결과로</a:t>
            </a:r>
            <a:br/>
            <a:r>
              <a:rPr sz="880" b="1" i="0" u="none">
                <a:solidFill>
                  <a:srgbClr val="2F7D68"/>
                </a:solidFill>
                <a:latin typeface="Noto Sans KR"/>
              </a:rPr>
              <a:t>갱신</a:t>
            </a:r>
            <a:endParaRPr/>
          </a:p>
        </p:txBody>
      </p:sp>
      <p:sp>
        <p:nvSpPr>
          <p:cNvPr id="674" name="Google Shape;674;p29"/>
          <p:cNvSpPr/>
          <p:nvPr/>
        </p:nvSpPr>
        <p:spPr>
          <a:xfrm>
            <a:off x="1005840" y="4479462"/>
            <a:ext cx="7132320" cy="199704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5" name="Google Shape;675;p29"/>
          <p:cNvSpPr txBox="1"/>
          <p:nvPr/>
        </p:nvSpPr>
        <p:spPr>
          <a:xfrm>
            <a:off x="1170432" y="4502505"/>
            <a:ext cx="68031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1" i="0" u="none">
                <a:solidFill>
                  <a:srgbClr val="1F5A91"/>
                </a:solidFill>
                <a:latin typeface="Noto Sans KR"/>
              </a:rPr>
              <a:t>값 변경: 기존 계산 기준으로 다시 확인   |   구조 변경: 검수 기준을 새로 준비   |   동일 표: 이전 결과 활용</a:t>
            </a:r>
            <a:endParaRPr/>
          </a:p>
        </p:txBody>
      </p:sp>
      <p:sp>
        <p:nvSpPr>
          <p:cNvPr id="676" name="클린 스타일 강조선_Google Shape;632;p29"/>
          <p:cNvSpPr/>
          <p:nvPr/>
        </p:nvSpPr>
        <p:spPr>
          <a:xfrm>
            <a:off x="475488" y="1798807"/>
            <a:ext cx="50292" cy="330281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클린 스타일 강조선_Google Shape;647;p29"/>
          <p:cNvSpPr/>
          <p:nvPr/>
        </p:nvSpPr>
        <p:spPr>
          <a:xfrm>
            <a:off x="4590288" y="1798807"/>
            <a:ext cx="50292" cy="330281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클린 스타일 강조선_Google Shape;634;p29"/>
          <p:cNvSpPr/>
          <p:nvPr/>
        </p:nvSpPr>
        <p:spPr>
          <a:xfrm>
            <a:off x="694944" y="2305751"/>
            <a:ext cx="32004" cy="430133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클린 스타일 강조선_Google Shape;637;p29"/>
          <p:cNvSpPr/>
          <p:nvPr/>
        </p:nvSpPr>
        <p:spPr>
          <a:xfrm>
            <a:off x="2468880" y="2305751"/>
            <a:ext cx="32004" cy="430133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클린 스타일 강조선_Google Shape;640;p29"/>
          <p:cNvSpPr/>
          <p:nvPr/>
        </p:nvSpPr>
        <p:spPr>
          <a:xfrm>
            <a:off x="694944" y="2858780"/>
            <a:ext cx="32004" cy="430133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클린 스타일 강조선_Google Shape;643;p29"/>
          <p:cNvSpPr/>
          <p:nvPr/>
        </p:nvSpPr>
        <p:spPr>
          <a:xfrm>
            <a:off x="2468880" y="2858780"/>
            <a:ext cx="32004" cy="430133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클린 스타일 강조선_Google Shape;663;p29"/>
          <p:cNvSpPr/>
          <p:nvPr/>
        </p:nvSpPr>
        <p:spPr>
          <a:xfrm>
            <a:off x="2212848" y="3888027"/>
            <a:ext cx="32004" cy="476219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클린 스타일 강조선_Google Shape;666;p29"/>
          <p:cNvSpPr/>
          <p:nvPr/>
        </p:nvSpPr>
        <p:spPr>
          <a:xfrm>
            <a:off x="4096512" y="3888027"/>
            <a:ext cx="32004" cy="476219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0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9단계 · 결과 내려받기</a:t>
            </a:r>
            <a:endParaRPr/>
          </a:p>
        </p:txBody>
      </p:sp>
      <p:sp>
        <p:nvSpPr>
          <p:cNvPr id="681" name="Google Shape;681;p30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검수 결과 내려받기</a:t>
            </a:r>
            <a:endParaRPr/>
          </a:p>
        </p:txBody>
      </p:sp>
      <p:pic>
        <p:nvPicPr>
          <p:cNvPr descr="image.png" id="682" name="Google Shape;68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30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4" name="Google Shape;684;p30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검수 목적에 맞춰 표·연보·검수 보고서 형태로 저장합니다.</a:t>
            </a:r>
            <a:endParaRPr/>
          </a:p>
        </p:txBody>
      </p:sp>
      <p:sp>
        <p:nvSpPr>
          <p:cNvPr id="685" name="Google Shape;685;p30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686" name="Google Shape;686;p30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16</a:t>
            </a:r>
            <a:endParaRPr/>
          </a:p>
        </p:txBody>
      </p:sp>
      <p:sp>
        <p:nvSpPr>
          <p:cNvPr id="687" name="Google Shape;687;p30"/>
          <p:cNvSpPr/>
          <p:nvPr/>
        </p:nvSpPr>
        <p:spPr>
          <a:xfrm>
            <a:off x="502920" y="1875617"/>
            <a:ext cx="2450592" cy="2304288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8" name="Google Shape;688;p30"/>
          <p:cNvSpPr/>
          <p:nvPr/>
        </p:nvSpPr>
        <p:spPr>
          <a:xfrm>
            <a:off x="502920" y="1875617"/>
            <a:ext cx="2450592" cy="399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9" name="Google Shape;689;p30"/>
          <p:cNvSpPr txBox="1"/>
          <p:nvPr/>
        </p:nvSpPr>
        <p:spPr>
          <a:xfrm>
            <a:off x="630936" y="1975469"/>
            <a:ext cx="3474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690" name="Google Shape;690;p30"/>
          <p:cNvSpPr txBox="1"/>
          <p:nvPr/>
        </p:nvSpPr>
        <p:spPr>
          <a:xfrm>
            <a:off x="1024127" y="1967788"/>
            <a:ext cx="180136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 단위</a:t>
            </a:r>
            <a:endParaRPr/>
          </a:p>
        </p:txBody>
      </p:sp>
      <p:sp>
        <p:nvSpPr>
          <p:cNvPr id="691" name="Google Shape;691;p30"/>
          <p:cNvSpPr txBox="1"/>
          <p:nvPr/>
        </p:nvSpPr>
        <p:spPr>
          <a:xfrm>
            <a:off x="740664" y="2459370"/>
            <a:ext cx="19751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1F5A91"/>
                </a:solidFill>
                <a:latin typeface="Noto Sans KR"/>
              </a:rPr>
              <a:t>선택한 표 검토·공유</a:t>
            </a:r>
            <a:endParaRPr/>
          </a:p>
        </p:txBody>
      </p:sp>
      <p:sp>
        <p:nvSpPr>
          <p:cNvPr id="692" name="Google Shape;692;p30"/>
          <p:cNvSpPr/>
          <p:nvPr/>
        </p:nvSpPr>
        <p:spPr>
          <a:xfrm>
            <a:off x="758952" y="2835737"/>
            <a:ext cx="1938528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3" name="Google Shape;693;p30"/>
          <p:cNvSpPr txBox="1"/>
          <p:nvPr/>
        </p:nvSpPr>
        <p:spPr>
          <a:xfrm>
            <a:off x="758952" y="3027761"/>
            <a:ext cx="1938528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>
                <a:solidFill>
                  <a:srgbClr val="1F5A91"/>
                </a:solidFill>
                <a:latin typeface="Noto Sans KR"/>
              </a:rPr>
              <a:t>• 선택한 통계표와 하위 표</a:t>
            </a:r>
            <a:br/>
            <a:r>
              <a:rPr sz="900" b="1" i="0" u="none">
                <a:solidFill>
                  <a:srgbClr val="1F5A91"/>
                </a:solidFill>
                <a:latin typeface="Noto Sans KR"/>
              </a:rPr>
              <a:t>• 한글·영문 헤더와 셀 내용</a:t>
            </a:r>
            <a:br/>
            <a:r>
              <a:rPr sz="900" b="1" i="0" u="none">
                <a:solidFill>
                  <a:srgbClr val="1F5A91"/>
                </a:solidFill>
                <a:latin typeface="Noto Sans KR"/>
              </a:rPr>
              <a:t>• 단위·기준일·출처 등 표 정보</a:t>
            </a:r>
            <a:endParaRPr/>
          </a:p>
        </p:txBody>
      </p:sp>
      <p:sp>
        <p:nvSpPr>
          <p:cNvPr id="694" name="Google Shape;694;p30"/>
          <p:cNvSpPr/>
          <p:nvPr/>
        </p:nvSpPr>
        <p:spPr>
          <a:xfrm>
            <a:off x="3346704" y="1875617"/>
            <a:ext cx="2450592" cy="2304288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5" name="Google Shape;695;p30"/>
          <p:cNvSpPr/>
          <p:nvPr/>
        </p:nvSpPr>
        <p:spPr>
          <a:xfrm>
            <a:off x="3346704" y="1875617"/>
            <a:ext cx="2450592" cy="399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6" name="Google Shape;696;p30"/>
          <p:cNvSpPr txBox="1"/>
          <p:nvPr/>
        </p:nvSpPr>
        <p:spPr>
          <a:xfrm>
            <a:off x="3474720" y="1975469"/>
            <a:ext cx="3474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697" name="Google Shape;697;p30"/>
          <p:cNvSpPr txBox="1"/>
          <p:nvPr/>
        </p:nvSpPr>
        <p:spPr>
          <a:xfrm>
            <a:off x="3867911" y="1967788"/>
            <a:ext cx="180136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단위</a:t>
            </a:r>
            <a:endParaRPr/>
          </a:p>
        </p:txBody>
      </p:sp>
      <p:sp>
        <p:nvSpPr>
          <p:cNvPr id="698" name="Google Shape;698;p30"/>
          <p:cNvSpPr txBox="1"/>
          <p:nvPr/>
        </p:nvSpPr>
        <p:spPr>
          <a:xfrm>
            <a:off x="3584448" y="2459370"/>
            <a:ext cx="19751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1F5A91"/>
                </a:solidFill>
                <a:latin typeface="Noto Sans KR"/>
              </a:rPr>
              <a:t>전체 연보 취합·분석</a:t>
            </a:r>
            <a:endParaRPr/>
          </a:p>
        </p:txBody>
      </p:sp>
      <p:sp>
        <p:nvSpPr>
          <p:cNvPr id="699" name="Google Shape;699;p30"/>
          <p:cNvSpPr/>
          <p:nvPr/>
        </p:nvSpPr>
        <p:spPr>
          <a:xfrm>
            <a:off x="3602736" y="2835737"/>
            <a:ext cx="1938528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0" name="Google Shape;700;p30"/>
          <p:cNvSpPr txBox="1"/>
          <p:nvPr/>
        </p:nvSpPr>
        <p:spPr>
          <a:xfrm>
            <a:off x="3602736" y="3027761"/>
            <a:ext cx="1938528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>
                <a:solidFill>
                  <a:srgbClr val="1F5A91"/>
                </a:solidFill>
                <a:latin typeface="Noto Sans KR"/>
              </a:rPr>
              <a:t>• 전체 또는 선택한 통계표</a:t>
            </a:r>
            <a:br/>
            <a:r>
              <a:rPr sz="900" b="1" i="0" u="none">
                <a:solidFill>
                  <a:srgbClr val="1F5A91"/>
                </a:solidFill>
                <a:latin typeface="Noto Sans KR"/>
              </a:rPr>
              <a:t>• 통계표를 찾기 위한 목차</a:t>
            </a:r>
            <a:br/>
            <a:r>
              <a:rPr sz="900" b="1" i="0" u="none">
                <a:solidFill>
                  <a:srgbClr val="1F5A91"/>
                </a:solidFill>
                <a:latin typeface="Noto Sans KR"/>
              </a:rPr>
              <a:t>• 통계표·하위 표별 개별 시트</a:t>
            </a:r>
            <a:endParaRPr/>
          </a:p>
        </p:txBody>
      </p:sp>
      <p:sp>
        <p:nvSpPr>
          <p:cNvPr id="701" name="Google Shape;701;p30"/>
          <p:cNvSpPr/>
          <p:nvPr/>
        </p:nvSpPr>
        <p:spPr>
          <a:xfrm>
            <a:off x="6190488" y="1875617"/>
            <a:ext cx="2450592" cy="2304288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2" name="Google Shape;702;p30"/>
          <p:cNvSpPr/>
          <p:nvPr/>
        </p:nvSpPr>
        <p:spPr>
          <a:xfrm>
            <a:off x="6190488" y="1875617"/>
            <a:ext cx="2450592" cy="399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3" name="Google Shape;703;p30"/>
          <p:cNvSpPr txBox="1"/>
          <p:nvPr/>
        </p:nvSpPr>
        <p:spPr>
          <a:xfrm>
            <a:off x="6318504" y="1975469"/>
            <a:ext cx="3474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704" name="Google Shape;704;p30"/>
          <p:cNvSpPr txBox="1"/>
          <p:nvPr/>
        </p:nvSpPr>
        <p:spPr>
          <a:xfrm>
            <a:off x="6711695" y="1967788"/>
            <a:ext cx="180136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리포트</a:t>
            </a:r>
            <a:endParaRPr/>
          </a:p>
        </p:txBody>
      </p:sp>
      <p:sp>
        <p:nvSpPr>
          <p:cNvPr id="705" name="Google Shape;705;p30"/>
          <p:cNvSpPr txBox="1"/>
          <p:nvPr/>
        </p:nvSpPr>
        <p:spPr>
          <a:xfrm>
            <a:off x="6428231" y="2459370"/>
            <a:ext cx="19751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1F5A91"/>
                </a:solidFill>
                <a:latin typeface="Noto Sans KR"/>
              </a:rPr>
              <a:t>오류 확인·결과 보고</a:t>
            </a:r>
            <a:endParaRPr/>
          </a:p>
        </p:txBody>
      </p:sp>
      <p:sp>
        <p:nvSpPr>
          <p:cNvPr id="706" name="Google Shape;706;p30"/>
          <p:cNvSpPr/>
          <p:nvPr/>
        </p:nvSpPr>
        <p:spPr>
          <a:xfrm>
            <a:off x="6446520" y="2835737"/>
            <a:ext cx="1938528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7" name="Google Shape;707;p30"/>
          <p:cNvSpPr txBox="1"/>
          <p:nvPr/>
        </p:nvSpPr>
        <p:spPr>
          <a:xfrm>
            <a:off x="6446520" y="3027761"/>
            <a:ext cx="1938528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>
                <a:solidFill>
                  <a:srgbClr val="1F5A91"/>
                </a:solidFill>
                <a:latin typeface="Noto Sans KR"/>
              </a:rPr>
              <a:t>• 확인할 문제와 판정 근거</a:t>
            </a:r>
            <a:br/>
            <a:r>
              <a:rPr sz="900" b="1" i="0" u="none">
                <a:solidFill>
                  <a:srgbClr val="1F5A91"/>
                </a:solidFill>
                <a:latin typeface="Noto Sans KR"/>
              </a:rPr>
              <a:t>• 문제 위치가 표시된 표</a:t>
            </a:r>
            <a:br/>
            <a:r>
              <a:rPr sz="900" b="1" i="0" u="none">
                <a:solidFill>
                  <a:srgbClr val="1F5A91"/>
                </a:solidFill>
                <a:latin typeface="Noto Sans KR"/>
              </a:rPr>
              <a:t>• 표 정보 확인 자료</a:t>
            </a:r>
            <a:endParaRPr/>
          </a:p>
        </p:txBody>
      </p:sp>
      <p:sp>
        <p:nvSpPr>
          <p:cNvPr id="708" name="Google Shape;708;p30"/>
          <p:cNvSpPr/>
          <p:nvPr/>
        </p:nvSpPr>
        <p:spPr>
          <a:xfrm>
            <a:off x="877824" y="4348886"/>
            <a:ext cx="7388352" cy="261152"/>
          </a:xfrm>
          <a:prstGeom prst="rect">
            <a:avLst/>
          </a:prstGeom>
          <a:solidFill>
            <a:srgbClr val="F7F9FB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9" name="Google Shape;709;p30"/>
          <p:cNvSpPr txBox="1"/>
          <p:nvPr/>
        </p:nvSpPr>
        <p:spPr>
          <a:xfrm>
            <a:off x="1115568" y="4394972"/>
            <a:ext cx="69128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>
                <a:solidFill>
                  <a:srgbClr val="0C2F61"/>
                </a:solidFill>
                <a:latin typeface="Noto Sans KR"/>
              </a:rPr>
              <a:t>필요한 범위와 검수 상태를 선택해 업무 목적에 맞는 결과물을 만듭니다.</a:t>
            </a:r>
            <a:endParaRPr/>
          </a:p>
        </p:txBody>
      </p:sp>
      <p:sp>
        <p:nvSpPr>
          <p:cNvPr id="710" name="클린 스타일 강조선_Google Shape;688;p30"/>
          <p:cNvSpPr/>
          <p:nvPr/>
        </p:nvSpPr>
        <p:spPr>
          <a:xfrm>
            <a:off x="502920" y="1875617"/>
            <a:ext cx="50292" cy="399409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클린 스타일 강조선_Google Shape;695;p30"/>
          <p:cNvSpPr/>
          <p:nvPr/>
        </p:nvSpPr>
        <p:spPr>
          <a:xfrm>
            <a:off x="3346704" y="1875617"/>
            <a:ext cx="50292" cy="399409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클린 스타일 강조선_Google Shape;702;p30"/>
          <p:cNvSpPr/>
          <p:nvPr/>
        </p:nvSpPr>
        <p:spPr>
          <a:xfrm>
            <a:off x="6190488" y="1875617"/>
            <a:ext cx="50292" cy="399409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1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기대효과</a:t>
            </a:r>
            <a:endParaRPr/>
          </a:p>
        </p:txBody>
      </p:sp>
      <p:sp>
        <p:nvSpPr>
          <p:cNvPr id="715" name="Google Shape;715;p31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서비스를 사용하면 달라지는 점</a:t>
            </a:r>
            <a:endParaRPr/>
          </a:p>
        </p:txBody>
      </p:sp>
      <p:pic>
        <p:nvPicPr>
          <p:cNvPr descr="image.png" id="716" name="Google Shape;7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31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8" name="Google Shape;718;p31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반복 계산은 시스템이 돕고, 담당자는 판단과 최종 확인에 집중합니다.</a:t>
            </a:r>
            <a:endParaRPr/>
          </a:p>
        </p:txBody>
      </p:sp>
      <p:sp>
        <p:nvSpPr>
          <p:cNvPr id="719" name="Google Shape;719;p31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720" name="Google Shape;720;p31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17</a:t>
            </a:r>
            <a:endParaRPr/>
          </a:p>
        </p:txBody>
      </p:sp>
      <p:sp>
        <p:nvSpPr>
          <p:cNvPr id="721" name="Google Shape;721;p31"/>
          <p:cNvSpPr/>
          <p:nvPr/>
        </p:nvSpPr>
        <p:spPr>
          <a:xfrm>
            <a:off x="493776" y="1837212"/>
            <a:ext cx="5084064" cy="522305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2" name="Google Shape;722;p31"/>
          <p:cNvSpPr/>
          <p:nvPr/>
        </p:nvSpPr>
        <p:spPr>
          <a:xfrm>
            <a:off x="493776" y="1837212"/>
            <a:ext cx="50292" cy="522305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3" name="Google Shape;723;p31"/>
          <p:cNvSpPr txBox="1"/>
          <p:nvPr/>
        </p:nvSpPr>
        <p:spPr>
          <a:xfrm>
            <a:off x="694944" y="196778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724" name="Google Shape;724;p31"/>
          <p:cNvSpPr txBox="1"/>
          <p:nvPr/>
        </p:nvSpPr>
        <p:spPr>
          <a:xfrm>
            <a:off x="1097280" y="1914022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0" b="1" i="0" u="none">
                <a:solidFill>
                  <a:srgbClr val="172331"/>
                </a:solidFill>
                <a:latin typeface="Noto Sans KR"/>
              </a:rPr>
              <a:t>반복 작업 감소</a:t>
            </a:r>
            <a:endParaRPr/>
          </a:p>
        </p:txBody>
      </p:sp>
      <p:sp>
        <p:nvSpPr>
          <p:cNvPr id="725" name="Google Shape;725;p31"/>
          <p:cNvSpPr txBox="1"/>
          <p:nvPr/>
        </p:nvSpPr>
        <p:spPr>
          <a:xfrm>
            <a:off x="1097280" y="2121407"/>
            <a:ext cx="416966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>
                <a:solidFill>
                  <a:srgbClr val="667085"/>
                </a:solidFill>
                <a:latin typeface="Noto Sans KR"/>
              </a:rPr>
              <a:t>합계·비율·증감 값을 같은 방식으로 반복 확인</a:t>
            </a:r>
            <a:endParaRPr/>
          </a:p>
        </p:txBody>
      </p:sp>
      <p:sp>
        <p:nvSpPr>
          <p:cNvPr id="726" name="Google Shape;726;p31"/>
          <p:cNvSpPr/>
          <p:nvPr/>
        </p:nvSpPr>
        <p:spPr>
          <a:xfrm>
            <a:off x="493776" y="2497775"/>
            <a:ext cx="5084064" cy="522305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7" name="Google Shape;727;p31"/>
          <p:cNvSpPr/>
          <p:nvPr/>
        </p:nvSpPr>
        <p:spPr>
          <a:xfrm>
            <a:off x="493776" y="2497775"/>
            <a:ext cx="50292" cy="522305"/>
          </a:xfrm>
          <a:prstGeom prst="rect">
            <a:avLst/>
          </a:prstGeom>
          <a:solidFill>
            <a:srgbClr val="2F7D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8" name="Google Shape;728;p31"/>
          <p:cNvSpPr txBox="1"/>
          <p:nvPr/>
        </p:nvSpPr>
        <p:spPr>
          <a:xfrm>
            <a:off x="694944" y="2628351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2F7D68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729" name="Google Shape;729;p31"/>
          <p:cNvSpPr txBox="1"/>
          <p:nvPr/>
        </p:nvSpPr>
        <p:spPr>
          <a:xfrm>
            <a:off x="1097280" y="257458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0" b="1" i="0" u="none">
                <a:solidFill>
                  <a:srgbClr val="172331"/>
                </a:solidFill>
                <a:latin typeface="Noto Sans KR"/>
              </a:rPr>
              <a:t>검수 기준 통일</a:t>
            </a:r>
            <a:endParaRPr/>
          </a:p>
        </p:txBody>
      </p:sp>
      <p:sp>
        <p:nvSpPr>
          <p:cNvPr id="730" name="Google Shape;730;p31"/>
          <p:cNvSpPr txBox="1"/>
          <p:nvPr/>
        </p:nvSpPr>
        <p:spPr>
          <a:xfrm>
            <a:off x="1097280" y="2781970"/>
            <a:ext cx="416966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>
                <a:solidFill>
                  <a:srgbClr val="667085"/>
                </a:solidFill>
                <a:latin typeface="Noto Sans KR"/>
              </a:rPr>
              <a:t>확인한 계산 기준과 용어를 다음 연도에 활용</a:t>
            </a:r>
            <a:endParaRPr/>
          </a:p>
        </p:txBody>
      </p:sp>
      <p:sp>
        <p:nvSpPr>
          <p:cNvPr id="731" name="Google Shape;731;p31"/>
          <p:cNvSpPr/>
          <p:nvPr/>
        </p:nvSpPr>
        <p:spPr>
          <a:xfrm>
            <a:off x="493776" y="3158337"/>
            <a:ext cx="5084064" cy="522305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2" name="Google Shape;732;p31"/>
          <p:cNvSpPr/>
          <p:nvPr/>
        </p:nvSpPr>
        <p:spPr>
          <a:xfrm>
            <a:off x="493776" y="3158337"/>
            <a:ext cx="50292" cy="522305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3" name="Google Shape;733;p31"/>
          <p:cNvSpPr txBox="1"/>
          <p:nvPr/>
        </p:nvSpPr>
        <p:spPr>
          <a:xfrm>
            <a:off x="694944" y="3288913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734" name="Google Shape;734;p31"/>
          <p:cNvSpPr txBox="1"/>
          <p:nvPr/>
        </p:nvSpPr>
        <p:spPr>
          <a:xfrm>
            <a:off x="1097280" y="3235147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0" b="1" i="0" u="none">
                <a:solidFill>
                  <a:srgbClr val="172331"/>
                </a:solidFill>
                <a:latin typeface="Noto Sans KR"/>
              </a:rPr>
              <a:t>문제 위치를 쉽게 추적</a:t>
            </a:r>
            <a:endParaRPr/>
          </a:p>
        </p:txBody>
      </p:sp>
      <p:sp>
        <p:nvSpPr>
          <p:cNvPr id="735" name="Google Shape;735;p31"/>
          <p:cNvSpPr txBox="1"/>
          <p:nvPr/>
        </p:nvSpPr>
        <p:spPr>
          <a:xfrm>
            <a:off x="1097280" y="3442533"/>
            <a:ext cx="416966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>
                <a:solidFill>
                  <a:srgbClr val="667085"/>
                </a:solidFill>
                <a:latin typeface="Noto Sans KR"/>
              </a:rPr>
              <a:t>문제 셀·근거 셀·현재값·다시 계산한 값을 함께 확인</a:t>
            </a:r>
            <a:endParaRPr/>
          </a:p>
        </p:txBody>
      </p:sp>
      <p:sp>
        <p:nvSpPr>
          <p:cNvPr id="736" name="Google Shape;736;p31"/>
          <p:cNvSpPr/>
          <p:nvPr/>
        </p:nvSpPr>
        <p:spPr>
          <a:xfrm>
            <a:off x="493776" y="3818900"/>
            <a:ext cx="5084064" cy="522305"/>
          </a:xfrm>
          <a:prstGeom prst="rect">
            <a:avLst/>
          </a:prstGeom>
          <a:solidFill>
            <a:srgbClr val="FFFFFF"/>
          </a:solidFill>
          <a:ln cap="flat" cmpd="sng" w="10150">
            <a:noFill/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7" name="Google Shape;737;p31"/>
          <p:cNvSpPr/>
          <p:nvPr/>
        </p:nvSpPr>
        <p:spPr>
          <a:xfrm>
            <a:off x="493776" y="3818900"/>
            <a:ext cx="50292" cy="522305"/>
          </a:xfrm>
          <a:prstGeom prst="rect">
            <a:avLst/>
          </a:prstGeom>
          <a:solidFill>
            <a:srgbClr val="B978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8" name="Google Shape;738;p31"/>
          <p:cNvSpPr txBox="1"/>
          <p:nvPr/>
        </p:nvSpPr>
        <p:spPr>
          <a:xfrm>
            <a:off x="694944" y="394947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B97818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/>
          </a:p>
        </p:txBody>
      </p:sp>
      <p:sp>
        <p:nvSpPr>
          <p:cNvPr id="739" name="Google Shape;739;p31"/>
          <p:cNvSpPr txBox="1"/>
          <p:nvPr/>
        </p:nvSpPr>
        <p:spPr>
          <a:xfrm>
            <a:off x="1097280" y="389570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0" b="1" i="0" u="none">
                <a:solidFill>
                  <a:srgbClr val="172331"/>
                </a:solidFill>
                <a:latin typeface="Noto Sans KR"/>
              </a:rPr>
              <a:t>수정 결과를 최신 상태로 관리</a:t>
            </a:r>
            <a:endParaRPr/>
          </a:p>
        </p:txBody>
      </p:sp>
      <p:sp>
        <p:nvSpPr>
          <p:cNvPr id="740" name="Google Shape;740;p31"/>
          <p:cNvSpPr txBox="1"/>
          <p:nvPr/>
        </p:nvSpPr>
        <p:spPr>
          <a:xfrm>
            <a:off x="1097280" y="4103095"/>
            <a:ext cx="416966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>
                <a:solidFill>
                  <a:srgbClr val="667085"/>
                </a:solidFill>
                <a:latin typeface="Noto Sans KR"/>
              </a:rPr>
              <a:t>수정 전 결과와 구분하고 바뀐 표를 중심으로 재검수</a:t>
            </a:r>
            <a:endParaRPr/>
          </a:p>
        </p:txBody>
      </p:sp>
      <p:sp>
        <p:nvSpPr>
          <p:cNvPr id="741" name="Google Shape;741;p31"/>
          <p:cNvSpPr/>
          <p:nvPr/>
        </p:nvSpPr>
        <p:spPr>
          <a:xfrm>
            <a:off x="5879592" y="1837212"/>
            <a:ext cx="2761488" cy="264225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2" name="Google Shape;742;p31"/>
          <p:cNvSpPr txBox="1"/>
          <p:nvPr/>
        </p:nvSpPr>
        <p:spPr>
          <a:xfrm>
            <a:off x="6126480" y="2106046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B7CCE6"/>
                </a:solidFill>
                <a:latin typeface="Noto Sans KR"/>
              </a:rPr>
              <a:t>담당자의 역할</a:t>
            </a:r>
            <a:endParaRPr/>
          </a:p>
        </p:txBody>
      </p:sp>
      <p:sp>
        <p:nvSpPr>
          <p:cNvPr id="743" name="Google Shape;743;p31"/>
          <p:cNvSpPr txBox="1"/>
          <p:nvPr/>
        </p:nvSpPr>
        <p:spPr>
          <a:xfrm>
            <a:off x="6199632" y="2497775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FFFFFF"/>
                </a:solidFill>
                <a:latin typeface="Noto Sans KR"/>
              </a:rPr>
              <a:t>오류 후보 확인</a:t>
            </a:r>
            <a:br/>
            <a:r>
              <a:rPr sz="1800" b="1" i="0" u="none">
                <a:solidFill>
                  <a:srgbClr val="FFFFFF"/>
                </a:solidFill>
                <a:latin typeface="Noto Sans KR"/>
              </a:rPr>
              <a:t>→ 원문 수정</a:t>
            </a:r>
            <a:br/>
            <a:r>
              <a:rPr sz="1800" b="1" i="0" u="none">
                <a:solidFill>
                  <a:srgbClr val="FFFFFF"/>
                </a:solidFill>
                <a:latin typeface="Noto Sans KR"/>
              </a:rPr>
              <a:t>→ 최종 승인</a:t>
            </a:r>
            <a:endParaRPr/>
          </a:p>
        </p:txBody>
      </p:sp>
      <p:sp>
        <p:nvSpPr>
          <p:cNvPr id="744" name="Google Shape;744;p31"/>
          <p:cNvSpPr/>
          <p:nvPr/>
        </p:nvSpPr>
        <p:spPr>
          <a:xfrm>
            <a:off x="6720840" y="3703685"/>
            <a:ext cx="1078992" cy="18288"/>
          </a:xfrm>
          <a:prstGeom prst="rect">
            <a:avLst/>
          </a:prstGeom>
          <a:solidFill>
            <a:srgbClr val="48A9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5" name="Google Shape;745;p31"/>
          <p:cNvSpPr txBox="1"/>
          <p:nvPr/>
        </p:nvSpPr>
        <p:spPr>
          <a:xfrm>
            <a:off x="6254496" y="3872666"/>
            <a:ext cx="1993392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0" i="0" u="none">
                <a:solidFill>
                  <a:srgbClr val="DCE8F5"/>
                </a:solidFill>
                <a:latin typeface="Noto Sans KR"/>
              </a:rPr>
              <a:t>시스템은 반복 확인과</a:t>
            </a:r>
            <a:br/>
            <a:r>
              <a:rPr sz="819" b="0" i="0" u="none">
                <a:solidFill>
                  <a:srgbClr val="DCE8F5"/>
                </a:solidFill>
                <a:latin typeface="Noto Sans KR"/>
              </a:rPr>
              <a:t>우선 검토 대상 제시를 지원합니다.</a:t>
            </a:r>
            <a:endParaRPr/>
          </a:p>
        </p:txBody>
      </p:sp>
      <p:sp>
        <p:nvSpPr>
          <p:cNvPr id="746" name="Google Shape;746;p31"/>
          <p:cNvSpPr txBox="1"/>
          <p:nvPr/>
        </p:nvSpPr>
        <p:spPr>
          <a:xfrm>
            <a:off x="768096" y="4502505"/>
            <a:ext cx="46085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667085"/>
                </a:solidFill>
                <a:latin typeface="Noto Sans KR"/>
              </a:rPr>
              <a:t>※ 실제 운영 자료를 쌓은 뒤 시간 절감과 정확도 개선 효과를 측정합니다.</a:t>
            </a:r>
            <a:endParaRPr/>
          </a:p>
        </p:txBody>
      </p:sp>
      <p:sp>
        <p:nvSpPr>
          <p:cNvPr id="747" name="클린 스타일 강조선_Google Shape;721;p31"/>
          <p:cNvSpPr/>
          <p:nvPr/>
        </p:nvSpPr>
        <p:spPr>
          <a:xfrm>
            <a:off x="493776" y="1837212"/>
            <a:ext cx="32004" cy="522305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클린 스타일 강조선_Google Shape;726;p31"/>
          <p:cNvSpPr/>
          <p:nvPr/>
        </p:nvSpPr>
        <p:spPr>
          <a:xfrm>
            <a:off x="493776" y="2497775"/>
            <a:ext cx="32004" cy="522305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클린 스타일 강조선_Google Shape;731;p31"/>
          <p:cNvSpPr/>
          <p:nvPr/>
        </p:nvSpPr>
        <p:spPr>
          <a:xfrm>
            <a:off x="493776" y="3158337"/>
            <a:ext cx="32004" cy="522305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클린 스타일 강조선_Google Shape;736;p31"/>
          <p:cNvSpPr/>
          <p:nvPr/>
        </p:nvSpPr>
        <p:spPr>
          <a:xfrm>
            <a:off x="493776" y="3818900"/>
            <a:ext cx="32004" cy="522305"/>
          </a:xfrm>
          <a:prstGeom prst="rect">
            <a:avLst/>
          </a:prstGeom>
          <a:solidFill>
            <a:srgbClr val="1F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2"/>
          <p:cNvSpPr txBox="1"/>
          <p:nvPr/>
        </p:nvSpPr>
        <p:spPr>
          <a:xfrm>
            <a:off x="457200" y="21945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F78B7"/>
                </a:solidFill>
                <a:latin typeface="Noto Sans KR"/>
              </a:rPr>
              <a:t>향후 개선</a:t>
            </a:r>
            <a:endParaRPr/>
          </a:p>
        </p:txBody>
      </p:sp>
      <p:sp>
        <p:nvSpPr>
          <p:cNvPr id="752" name="Google Shape;752;p32"/>
          <p:cNvSpPr txBox="1"/>
          <p:nvPr/>
        </p:nvSpPr>
        <p:spPr>
          <a:xfrm>
            <a:off x="457200" y="493776"/>
            <a:ext cx="749807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72331"/>
                </a:solidFill>
                <a:latin typeface="Noto Sans KR"/>
              </a:rPr>
              <a:t>운영 전에 더 보완할 점</a:t>
            </a:r>
            <a:endParaRPr/>
          </a:p>
        </p:txBody>
      </p:sp>
      <p:pic>
        <p:nvPicPr>
          <p:cNvPr descr="image.png" id="753" name="Google Shape;75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73152"/>
            <a:ext cx="1371600" cy="390646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32"/>
          <p:cNvSpPr/>
          <p:nvPr/>
        </p:nvSpPr>
        <p:spPr>
          <a:xfrm>
            <a:off x="457200" y="1225296"/>
            <a:ext cx="8229600" cy="13716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5" name="Google Shape;755;p32"/>
          <p:cNvSpPr txBox="1"/>
          <p:nvPr/>
        </p:nvSpPr>
        <p:spPr>
          <a:xfrm>
            <a:off x="457200" y="131673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667085"/>
                </a:solidFill>
                <a:latin typeface="Noto Sans KR"/>
              </a:rPr>
              <a:t>안정적인 기관 운영을 위해 권한·이력·검수 범위를 단계적으로 강화합니다.</a:t>
            </a:r>
            <a:endParaRPr/>
          </a:p>
        </p:txBody>
      </p:sp>
      <p:sp>
        <p:nvSpPr>
          <p:cNvPr id="756" name="Google Shape;756;p32"/>
          <p:cNvSpPr txBox="1"/>
          <p:nvPr/>
        </p:nvSpPr>
        <p:spPr>
          <a:xfrm>
            <a:off x="457200" y="4855464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중간보고  |  행정안전부 데이터정보화담당관</a:t>
            </a:r>
            <a:endParaRPr/>
          </a:p>
        </p:txBody>
      </p:sp>
      <p:sp>
        <p:nvSpPr>
          <p:cNvPr id="757" name="Google Shape;757;p32"/>
          <p:cNvSpPr txBox="1"/>
          <p:nvPr/>
        </p:nvSpPr>
        <p:spPr>
          <a:xfrm>
            <a:off x="8394192" y="4818888"/>
            <a:ext cx="3017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 u="none">
                <a:solidFill>
                  <a:srgbClr val="667085"/>
                </a:solidFill>
                <a:latin typeface="Noto Sans KR"/>
              </a:rPr>
              <a:t>18</a:t>
            </a:r>
            <a:endParaRPr/>
          </a:p>
        </p:txBody>
      </p:sp>
      <p:graphicFrame>
        <p:nvGraphicFramePr>
          <p:cNvPr id="758" name="Google Shape;758;p32"/>
          <p:cNvGraphicFramePr/>
          <p:nvPr/>
        </p:nvGraphicFramePr>
        <p:xfrm>
          <a:off x="457200" y="1768083"/>
          <a:ext cx="3000000" cy="2569464"/>
        </p:xfrm>
        <a:graphic>
          <a:graphicData uri="http://schemas.openxmlformats.org/drawingml/2006/table">
            <a:tbl>
              <a:tblPr bandRow="1" firstRow="1">
                <a:noFill/>
                <a:tableStyleId>{6D466A9C-AF73-4E76-8EC6-081741966E7C}</a:tableStyleId>
              </a:tblPr>
              <a:tblGrid>
                <a:gridCol w="1170425"/>
                <a:gridCol w="1874525"/>
                <a:gridCol w="4416550"/>
                <a:gridCol w="768100"/>
              </a:tblGrid>
              <a:tr h="420624">
                <a:tc>
                  <a:txBody>
                    <a:bodyPr/>
                    <a:lstStyle/>
                    <a:p>
                      <a:pPr indent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3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개선 영역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0C2F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3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현재 제공 범위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0C2F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3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추가로 보완할 내용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0C2F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3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우선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0C2F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1" i="0" u="none">
                          <a:solidFill>
                            <a:srgbClr val="172331"/>
                          </a:solidFill>
                          <a:latin typeface="Noto Sans KR"/>
                        </a:rPr>
                        <a:t>권한·보안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10" b="0" i="0" u="none">
                          <a:solidFill>
                            <a:srgbClr val="172331"/>
                          </a:solidFill>
                          <a:latin typeface="Noto Sans KR"/>
                        </a:rPr>
                        <a:t>통계별 비밀번호로 수정 보호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10" b="0" i="0" u="none">
                          <a:solidFill>
                            <a:srgbClr val="172331"/>
                          </a:solidFill>
                          <a:latin typeface="Noto Sans KR"/>
                        </a:rPr>
                        <a:t>기관 계정 연계, 역할별 권한, 세션 만료와 접속 제한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1" i="0" u="none">
                          <a:solidFill>
                            <a:srgbClr val="C94655"/>
                          </a:solidFill>
                          <a:latin typeface="Noto Sans KR"/>
                        </a:rPr>
                        <a:t>높음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7F9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1" i="0" u="none">
                          <a:solidFill>
                            <a:srgbClr val="172331"/>
                          </a:solidFill>
                          <a:latin typeface="Noto Sans KR"/>
                        </a:rPr>
                        <a:t>검수 기준 관리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10" b="0" i="0" u="none">
                          <a:solidFill>
                            <a:srgbClr val="172331"/>
                          </a:solidFill>
                          <a:latin typeface="Noto Sans KR"/>
                        </a:rPr>
                        <a:t>결과와 판정 근거 표시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10" b="0" i="0" u="none">
                          <a:solidFill>
                            <a:srgbClr val="172331"/>
                          </a:solidFill>
                          <a:latin typeface="Noto Sans KR"/>
                        </a:rPr>
                        <a:t>검수 기준의 담당자 확인·승인, 적용 범위와 변경 이력 관리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1" i="0" u="none">
                          <a:solidFill>
                            <a:srgbClr val="C94655"/>
                          </a:solidFill>
                          <a:latin typeface="Noto Sans KR"/>
                        </a:rPr>
                        <a:t>높음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1" i="0" u="none">
                          <a:solidFill>
                            <a:srgbClr val="172331"/>
                          </a:solidFill>
                          <a:latin typeface="Noto Sans KR"/>
                        </a:rPr>
                        <a:t>확인 범위 확대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10" b="0" i="0" u="none">
                          <a:solidFill>
                            <a:srgbClr val="172331"/>
                          </a:solidFill>
                          <a:latin typeface="Noto Sans KR"/>
                        </a:rPr>
                        <a:t>단위·기준일·출처와 숫자 특이값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10" b="0" i="0" u="none">
                          <a:solidFill>
                            <a:srgbClr val="172331"/>
                          </a:solidFill>
                          <a:latin typeface="Noto Sans KR"/>
                        </a:rPr>
                        <a:t>날짜 형식·출처 품질·연도별 변화 등 추가 확인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1" i="0" u="none">
                          <a:solidFill>
                            <a:srgbClr val="B97818"/>
                          </a:solidFill>
                          <a:latin typeface="Noto Sans KR"/>
                        </a:rPr>
                        <a:t>중간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7F9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1" i="0" u="none">
                          <a:solidFill>
                            <a:srgbClr val="172331"/>
                          </a:solidFill>
                          <a:latin typeface="Noto Sans KR"/>
                        </a:rPr>
                        <a:t>수정·재검수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10" b="0" i="0" u="none">
                          <a:solidFill>
                            <a:srgbClr val="172331"/>
                          </a:solidFill>
                          <a:latin typeface="Noto Sans KR"/>
                        </a:rPr>
                        <a:t>수정 후 담당자가 재검수 실행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10" b="0" i="0" u="none">
                          <a:solidFill>
                            <a:srgbClr val="172331"/>
                          </a:solidFill>
                          <a:latin typeface="Noto Sans KR"/>
                        </a:rPr>
                        <a:t>변경 전후 이력, 되돌리기, 한 번에 재검수와 알림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1" i="0" u="none">
                          <a:solidFill>
                            <a:srgbClr val="B97818"/>
                          </a:solidFill>
                          <a:latin typeface="Noto Sans KR"/>
                        </a:rPr>
                        <a:t>중간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1" i="0" u="none">
                          <a:solidFill>
                            <a:srgbClr val="172331"/>
                          </a:solidFill>
                          <a:latin typeface="Noto Sans KR"/>
                        </a:rPr>
                        <a:t>운영·결과물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10" b="0" i="0" u="none">
                          <a:solidFill>
                            <a:srgbClr val="172331"/>
                          </a:solidFill>
                          <a:latin typeface="Noto Sans KR"/>
                        </a:rPr>
                        <a:t>대규모 처리와 발간 출력 지원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10" b="0" i="0" u="none">
                          <a:solidFill>
                            <a:srgbClr val="172331"/>
                          </a:solidFill>
                          <a:latin typeface="Noto Sans KR"/>
                        </a:rPr>
                        <a:t>진행 상태·실패 사유 안내, 공식 발간 형식 지원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60" b="1" i="0" u="none">
                          <a:solidFill>
                            <a:srgbClr val="B97818"/>
                          </a:solidFill>
                          <a:latin typeface="Noto Sans KR"/>
                        </a:rPr>
                        <a:t>중간</a:t>
                      </a:r>
                      <a:endParaRPr/>
                    </a:p>
                  </a:txBody>
                  <a:tcPr marT="22850" marB="22850" marR="54875" marL="54875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59" name="Google Shape;759;p32"/>
          <p:cNvSpPr/>
          <p:nvPr/>
        </p:nvSpPr>
        <p:spPr>
          <a:xfrm>
            <a:off x="1042415" y="4407408"/>
            <a:ext cx="7059168" cy="219456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60" name="Google Shape;760;p32"/>
          <p:cNvSpPr txBox="1"/>
          <p:nvPr/>
        </p:nvSpPr>
        <p:spPr>
          <a:xfrm>
            <a:off x="1261872" y="4443984"/>
            <a:ext cx="66202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1" i="0" u="none">
                <a:solidFill>
                  <a:srgbClr val="FFFFFF"/>
                </a:solidFill>
                <a:latin typeface="Noto Sans KR"/>
              </a:rPr>
              <a:t>공통 운영 기준을 먼저 마련하고, 담당자 의견을 반영해 단계적으로 확대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통계연보 검수 보조 시스템</dc:title>
  <cp:lastModifiedBy>python-pptx</cp:lastModifiedBy>
  <cp:revision>1</cp:revision>
  <dcterms:modified xsi:type="dcterms:W3CDTF">2026-08-21T05:55:01Z</dcterms:modified>
  <dc:subject>처음 사용하는 담당자를 위한 서비스 소개 및 검수 흐름</dc:subject>
</cp:coreProperties>
</file>
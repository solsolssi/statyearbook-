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font" Target="fonts/NotoSansKR-regular.fntdata"/><Relationship Id="rId24" Type="http://schemas.openxmlformats.org/officeDocument/2006/relationships/font" Target="fonts/NotoSansKR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KR"/>
      <a:defRPr b="0" i="0" spc="0" sz="1400" u="none" cap="none" strike="noStrike">
        <a:solidFill>
          <a:srgbClr val="000000"/>
        </a:solidFill>
        <a:latin typeface="Noto Sans KR"/>
        <a:ea typeface="Noto Sans KR"/>
        <a:cs typeface="Noto Sans KR"/>
        <a:sym typeface="Noto Sans KR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Noto Sans KR"/>
        <a:defRPr b="0" i="0" spc="0" sz="1400" u="none" cap="none" strike="noStrike">
          <a:solidFill>
            <a:srgbClr val="000000"/>
          </a:solidFill>
          <a:latin typeface="Noto Sans KR"/>
          <a:ea typeface="Noto Sans KR"/>
          <a:cs typeface="Noto Sans KR"/>
          <a:sym typeface="Noto Sans KR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53" name="Google Shape;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527" y="109728"/>
            <a:ext cx="1325880" cy="37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658368" y="1115568"/>
            <a:ext cx="36576" cy="25603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786384" y="113385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87B7DD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지원  |  26-1 청년인턴 완료보고</a:t>
            </a:r>
            <a:endParaRPr/>
          </a:p>
        </p:txBody>
      </p:sp>
      <p:sp>
        <p:nvSpPr>
          <p:cNvPr id="56" name="Google Shape;56;p15"/>
          <p:cNvSpPr txBox="1"/>
          <p:nvPr/>
        </p:nvSpPr>
        <p:spPr>
          <a:xfrm>
            <a:off x="658368" y="1554480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/>
          </a:p>
        </p:txBody>
      </p:sp>
      <p:sp>
        <p:nvSpPr>
          <p:cNvPr id="57" name="Google Shape;57;p15"/>
          <p:cNvSpPr txBox="1"/>
          <p:nvPr/>
        </p:nvSpPr>
        <p:spPr>
          <a:xfrm>
            <a:off x="676656" y="2450592"/>
            <a:ext cx="6720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검수는 줄이고, 오류 확인과 수정은 한 흐름으로</a:t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" y="2962656"/>
            <a:ext cx="6217920" cy="13716"/>
          </a:xfrm>
          <a:prstGeom prst="rect">
            <a:avLst/>
          </a:prstGeom>
          <a:solidFill>
            <a:srgbClr val="4C75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76656" y="3182112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FB2D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검수·수정·재검수·결과 공유를 하나의 플랫폼에서 지원</a:t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  |  2026. 8.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8439912" y="460857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발간과 검수</a:t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</a:t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통계 정보를 제공하기 위해 발간 전 검수는 반드시 필요합니다.</a:t>
            </a:r>
            <a:endParaRPr/>
          </a:p>
        </p:txBody>
      </p:sp>
      <p:pic>
        <p:nvPicPr>
          <p:cNvPr descr="imag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38912" y="1417320"/>
            <a:ext cx="5138928" cy="3127248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38912" y="1417320"/>
            <a:ext cx="50292" cy="312724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798064" y="2596896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67512" y="3008375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예시 이미지 삽입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67512" y="3300984"/>
            <a:ext cx="4681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표지 또는 여러 통계표가 보이는 화면 권장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과정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961888" y="1755648"/>
            <a:ext cx="26974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61888" y="175564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6"/>
          <p:cNvSpPr/>
          <p:nvPr/>
        </p:nvSpPr>
        <p:spPr>
          <a:xfrm flipH="1">
            <a:off x="6161303" y="1938526"/>
            <a:ext cx="10500" cy="1572900"/>
          </a:xfrm>
          <a:prstGeom prst="rect">
            <a:avLst/>
          </a:prstGeom>
          <a:solidFill>
            <a:srgbClr val="BCD2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16752" y="1847088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016752" y="1883664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455664" y="1837944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데이터 취합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455664" y="2093976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</a:t>
            </a: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부서·기관 자료를 한 권으로 정리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016752" y="2560320"/>
            <a:ext cx="274320" cy="27432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016752" y="2596896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455664" y="2551176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검수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455664" y="2807208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정보 제공을 위한 확인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016752" y="3273552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016752" y="3310128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69314" y="3312171"/>
            <a:ext cx="203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발간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업무의 어려움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검수의 어려움과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개선 방향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300개 이상의 표를 반복 확인하고 오류를 공유·수정하는 과정은 시간이 많이 듭니다.</a:t>
            </a:r>
            <a:endParaRPr/>
          </a:p>
        </p:txBody>
      </p:sp>
      <p:pic>
        <p:nvPicPr>
          <p:cNvPr descr="image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681725" y="1335025"/>
            <a:ext cx="4023300" cy="25713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75488" y="144475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234440" y="1417320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사람이 반복 확인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4956048" y="1444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760720" y="141732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서비스가 반복 업무 지원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7548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41832" y="1874519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300개+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941832" y="2121408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표를 하나씩 반복 확인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75488" y="2395727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95604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422392" y="1874519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계산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422392" y="2121408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합계·비율을 구성값에서 다시 계산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956048" y="2395727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7548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941832" y="2624327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위험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41832" y="2871215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오류·오탈자를 놓치기 쉬움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75488" y="3145535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5604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422392" y="2624327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근거 확인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422392" y="2871215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판정 근거를 한눈에 확인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956048" y="3145535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7548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41832" y="3374135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공유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41832" y="3621023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전달·수정 반영·재확인이 분산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5488" y="3895344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95604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22392" y="3374135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 곳에서 협업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422392" y="3621023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수정·재검수·결과 공유까지 연결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956048" y="3895344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279392" y="277063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681725" y="4198892"/>
            <a:ext cx="4023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885700" y="4018113"/>
            <a:ext cx="35055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13174" y="4155063"/>
            <a:ext cx="3850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계산은 서비스가 처리하고, 담당자는 판단·수정·공유에 집중</a:t>
            </a:r>
            <a:endParaRPr b="1" sz="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①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연보·검수 현황 한눈에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연보를 등록하고 검수를 실행한 뒤, 오류가 있는 통계와 전체 현황을 확인합니다.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 이미지 삽입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목록·검수 실행·상태 요약이 보이는 화면 권장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하는 일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등록·검수 시작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연보 선택 후 검수 실행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 자동 분류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확인이 필요한 통계를 우선 표시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현황 요약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정상·확인 필요·오류 의심 집계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②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 확인부터 수정까지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화면에서 문제 위치와 근거를 확인하고 바로 수정할 수 있습니다.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페이지 이미지 삽입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하이라이트 셀·검수 내역·수정 화면이 보이는 화면 권장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화면에서 확인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20256" y="1965960"/>
            <a:ext cx="347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919">
              <a:solidFill>
                <a:srgbClr val="C946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 하이라이트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위치에 문제가 있는지 표시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내역·근거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현재값·기대값·근거 셀 확인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값·구조를 화면에서 편집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 흐름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등록부터 재검수까지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결과에 문제가 있으면 수정·재검수를 반복하고, 오류가 없으면 결과를 내려받습니다.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210" name="Rectangle 209"/>
          <p:cNvSpPr/>
          <p:nvPr/>
        </p:nvSpPr>
        <p:spPr>
          <a:xfrm>
            <a:off x="1170432" y="1938528"/>
            <a:ext cx="6144768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이용 흐름_01"/>
          <p:cNvSpPr/>
          <p:nvPr/>
        </p:nvSpPr>
        <p:spPr>
          <a:xfrm>
            <a:off x="969264" y="1728216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969264" y="1837943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76072" y="2340864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57200" y="2624328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파일·연도 선택</a:t>
            </a:r>
          </a:p>
        </p:txBody>
      </p:sp>
      <p:sp>
        <p:nvSpPr>
          <p:cNvPr id="215" name="이용 흐름_02"/>
          <p:cNvSpPr/>
          <p:nvPr/>
        </p:nvSpPr>
        <p:spPr>
          <a:xfrm>
            <a:off x="3017520" y="1728216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3017520" y="1837943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24327" y="2340864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505456" y="2624328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검수 항목 선택</a:t>
            </a:r>
          </a:p>
        </p:txBody>
      </p:sp>
      <p:sp>
        <p:nvSpPr>
          <p:cNvPr id="219" name="이용 흐름_03"/>
          <p:cNvSpPr/>
          <p:nvPr/>
        </p:nvSpPr>
        <p:spPr>
          <a:xfrm>
            <a:off x="5065776" y="1728216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065776" y="1837943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4672584" y="2340864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결과 확인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553712" y="2624328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위치·근거</a:t>
            </a:r>
          </a:p>
        </p:txBody>
      </p:sp>
      <p:sp>
        <p:nvSpPr>
          <p:cNvPr id="223" name="이용 흐름_04"/>
          <p:cNvSpPr/>
          <p:nvPr/>
        </p:nvSpPr>
        <p:spPr>
          <a:xfrm>
            <a:off x="7114032" y="1728216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7114032" y="1837943"/>
            <a:ext cx="42062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720840" y="2340864"/>
            <a:ext cx="1207008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완성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6601968" y="2624328"/>
            <a:ext cx="1444752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오류 없는 결과
표·검수 리포트 내려받기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126480" y="1655064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오류 없음?  →  예</a:t>
            </a:r>
          </a:p>
        </p:txBody>
      </p:sp>
      <p:sp>
        <p:nvSpPr>
          <p:cNvPr id="228" name="아래 흐름 화살표"/>
          <p:cNvSpPr/>
          <p:nvPr/>
        </p:nvSpPr>
        <p:spPr>
          <a:xfrm>
            <a:off x="5175504" y="2944368"/>
            <a:ext cx="219456" cy="310896"/>
          </a:xfrm>
          <a:prstGeom prst="downArrow">
            <a:avLst/>
          </a:prstGeom>
          <a:solidFill>
            <a:srgbClr val="C9465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590288" y="3236976"/>
            <a:ext cx="1371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94655"/>
                </a:solidFill>
                <a:latin typeface="Noto Sans KR"/>
                <a:ea typeface="Noto Sans KR"/>
                <a:cs typeface="Noto Sans KR"/>
              </a:rPr>
              <a:t>아니오  ·  오류 있음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4517136" y="3529584"/>
            <a:ext cx="1719072" cy="658368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4709160" y="3666744"/>
            <a:ext cx="133502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내용 수정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709160" y="3941063"/>
            <a:ext cx="1335024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문제 셀·표 정보</a:t>
            </a:r>
          </a:p>
        </p:txBody>
      </p:sp>
      <p:sp>
        <p:nvSpPr>
          <p:cNvPr id="233" name="수정에서 검수 실행으로"/>
          <p:cNvSpPr/>
          <p:nvPr/>
        </p:nvSpPr>
        <p:spPr>
          <a:xfrm>
            <a:off x="3822191" y="3712463"/>
            <a:ext cx="493776" cy="256032"/>
          </a:xfrm>
          <a:prstGeom prst="lef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검수 실행 복귀"/>
          <p:cNvSpPr/>
          <p:nvPr/>
        </p:nvSpPr>
        <p:spPr>
          <a:xfrm>
            <a:off x="3191256" y="2843784"/>
            <a:ext cx="347472" cy="1005840"/>
          </a:xfrm>
          <a:prstGeom prst="up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3410712" y="3383280"/>
            <a:ext cx="65836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재검수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3127248" y="4306824"/>
            <a:ext cx="3063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수정한 내용을 현재 기준으로 다시 검수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연보 등록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파일을 읽어 통계별 제목·번호·내용을 저장하고 플랫폼 화면으로 재구성합니다.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38912" y="4873752"/>
            <a:ext cx="324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566928" y="143560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33271" y="1389888"/>
            <a:ext cx="202996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파일 읽기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033271" y="1636776"/>
            <a:ext cx="202996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내용을 파싱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566928" y="1911095"/>
            <a:ext cx="25146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3355848" y="143560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3822191" y="1389888"/>
            <a:ext cx="202996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정보 저장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3822191" y="1636776"/>
            <a:ext cx="202996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제목·번호·표·기본 정보를 데이터베이스에 저장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3355848" y="1911095"/>
            <a:ext cx="25146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144768" y="1435608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611112" y="1389888"/>
            <a:ext cx="2029967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연보 등록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611112" y="1636776"/>
            <a:ext cx="2029967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연보는 독립된 게시물이며 수정 및 삭제 가능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144768" y="1911095"/>
            <a:ext cx="25146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이미지 삽입_연보 통계 예시"/>
          <p:cNvSpPr/>
          <p:nvPr/>
        </p:nvSpPr>
        <p:spPr>
          <a:xfrm>
            <a:off x="438912" y="2130552"/>
            <a:ext cx="2980944" cy="2267712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438912" y="2130552"/>
            <a:ext cx="50292" cy="22677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1719072" y="2880360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667512" y="3291840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실제 연보의 통계 예시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667512" y="3584448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연보 안의 통계표 이미지</a:t>
            </a:r>
          </a:p>
        </p:txBody>
      </p:sp>
      <p:sp>
        <p:nvSpPr>
          <p:cNvPr id="266" name="이미지 삽입_플랫폼 등록 통계"/>
          <p:cNvSpPr/>
          <p:nvPr/>
        </p:nvSpPr>
        <p:spPr>
          <a:xfrm>
            <a:off x="5724144" y="2130552"/>
            <a:ext cx="2980944" cy="2267712"/>
          </a:xfrm>
          <a:prstGeom prst="rect">
            <a:avLst/>
          </a:prstGeom>
          <a:solidFill>
            <a:srgbClr val="FBFCFD"/>
          </a:solidFill>
          <a:ln w="11430">
            <a:solidFill>
              <a:srgbClr val="C9D5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5724144" y="2130552"/>
            <a:ext cx="50292" cy="22677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004303" y="2880360"/>
            <a:ext cx="4206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952744" y="3291840"/>
            <a:ext cx="252374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플랫폼에 등록된 통계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5952744" y="3584448"/>
            <a:ext cx="2523744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제목·번호·표 내용이 재구성된 화면</a:t>
            </a:r>
          </a:p>
        </p:txBody>
      </p:sp>
      <p:sp>
        <p:nvSpPr>
          <p:cNvPr id="271" name="흐름 화살표"/>
          <p:cNvSpPr/>
          <p:nvPr/>
        </p:nvSpPr>
        <p:spPr>
          <a:xfrm>
            <a:off x="3566160" y="3063240"/>
            <a:ext cx="310896" cy="310896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968496" y="2523744"/>
            <a:ext cx="1207008" cy="1408176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4142232" y="2743200"/>
            <a:ext cx="85953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업로드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078224" y="3218688"/>
            <a:ext cx="98755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HWPX   ·   MD</a:t>
            </a:r>
          </a:p>
        </p:txBody>
      </p:sp>
      <p:sp>
        <p:nvSpPr>
          <p:cNvPr id="275" name="흐름 화살표"/>
          <p:cNvSpPr/>
          <p:nvPr/>
        </p:nvSpPr>
        <p:spPr>
          <a:xfrm>
            <a:off x="5285232" y="3063240"/>
            <a:ext cx="310896" cy="310896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검수 실행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검수 6종과 처리 방식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6가지 검수를 지원하며, 처리 방식과 결과 상태가 항목마다 다릅니다.</a:t>
            </a:r>
            <a:endParaRPr/>
          </a:p>
        </p:txBody>
      </p:sp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38912" y="1417320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4종  규칙·통계 기반 검수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438912" y="1728216"/>
            <a:ext cx="507492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3891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38912" y="1810512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계산 관계를 미리 구성한 기준으로 확인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30352" y="233904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530352" y="2649936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계·합계·소계를 다시 합산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1764792" y="2320752"/>
            <a:ext cx="822900" cy="23760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764792" y="2320752"/>
            <a:ext cx="8229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30352" y="308884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2761488" y="233904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2761488" y="2649936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비율·구성비·증감 값을 재계산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3995928" y="2320752"/>
            <a:ext cx="822900" cy="23760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3995928" y="2320752"/>
            <a:ext cx="8229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2761488" y="308884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30352" y="343632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530352" y="3747215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확인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1764792" y="3418032"/>
            <a:ext cx="859500" cy="237600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764792" y="3418032"/>
            <a:ext cx="8595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530352" y="418612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2761488" y="343632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2761488" y="3747215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값과 차이가 큰 수치 후보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3995928" y="3418032"/>
            <a:ext cx="859500" cy="237600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3995928" y="3418032"/>
            <a:ext cx="8595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2761488" y="418612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6016752" y="1417320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2종  LLM 기반 검수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6016752" y="1728216"/>
            <a:ext cx="239572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01675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6016752" y="1819656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용어·이전 결과를 먼저 적용하고</a:t>
            </a:r>
            <a:b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후보만 확인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6035040" y="249631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6035040" y="2807208"/>
            <a:ext cx="22128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철자·문자 깨짐·표기 불일치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6035040" y="315468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6035040" y="3456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035040" y="3767328"/>
            <a:ext cx="22128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한글·영문 의미 대응 확인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6035040" y="411480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기준 생성 방식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표마다 달라지는 검수 기준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통계 특성을 단계적으로 분석해 각 표에 적용할 검수를 결정합니다.</a:t>
            </a:r>
            <a:endParaRPr/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676656" y="1737360"/>
            <a:ext cx="7260336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45720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43891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기준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43891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표의 필수 정보 확인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숫자 열의 특이값 후보 생성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4389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43891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11247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112471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256032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256032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254203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유형별 기준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254203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지역별·연도별 등 구조 파악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전국계와 지역 값 관계 적용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254203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254203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4663440" y="1536192"/>
            <a:ext cx="411480" cy="41148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466344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464515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표별 자동 분석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64515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 항목 탐색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분자·분모·증감 관계 탐색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46451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64515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53309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533095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6766559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6766559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674827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예외 기준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674827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담당자가 확인한 규칙 반영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고정 셀·분할표 예외 처리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6748272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6748272" y="3209544"/>
            <a:ext cx="42062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7214616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7214616" y="3209544"/>
            <a:ext cx="42062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6766560" y="3486011"/>
            <a:ext cx="420600" cy="2559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6766560" y="3550019"/>
            <a:ext cx="420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7232904" y="3486011"/>
            <a:ext cx="420600" cy="2559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7232904" y="3550019"/>
            <a:ext cx="420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구성값으로 합계 재계산</a:t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계·합계·소계와 표에 표시된 산식을 구성값에서 다시 계산합니다.</a:t>
            </a:r>
            <a:endParaRPr/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 지역 값을 더해 전국계 확인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= 시·도 합</a:t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행·열 합계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행의 열 또는 세부 행 합산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계 = 남 + 여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명시 산식·분할표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a+b·a-b와 연결된 표 관계 계산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c = a + b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 예시 이미지 삽입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 또는 산식 오류가 보이는 화면 권장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분자·분모와 전년값 재계산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비율·구성비·건당 값과 증감액·증감률을 다시 계산합니다.</a:t>
            </a:r>
            <a:endParaRPr/>
          </a:p>
        </p:txBody>
      </p:sp>
      <p:pic>
        <p:nvPicPr>
          <p:cNvPr descr="image.png" id="414" name="Google Shape;4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항목 값과 전체 값을 분자·분모로 연결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÷ 전체 × 100</a:t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건당·인당 값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건수·인원을 기준으로 원단위 계산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건수 ÷ 인원</a:t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증감액·증감률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전년과 당해 값을 비교해 변화 계산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(당해-전년)÷전년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 예시 이미지 삽입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비율 또는 증감 산식 오류가 보이는 화면 권장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오탈자·번역 검수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후보를 줄인 뒤 LLM 검토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텍스트를 바로 LLM에 보내지 않고, 후보를 줄인 뒤 남은 항목만 검토합니다.</a:t>
            </a:r>
            <a:endParaRPr/>
          </a:p>
        </p:txBody>
      </p:sp>
      <p:pic>
        <p:nvPicPr>
          <p:cNvPr descr="image.png" id="449" name="Google Shape;4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/>
          </a:p>
        </p:txBody>
      </p:sp>
      <p:sp>
        <p:nvSpPr>
          <p:cNvPr id="452" name="Rectangle 451"/>
          <p:cNvSpPr/>
          <p:nvPr/>
        </p:nvSpPr>
        <p:spPr>
          <a:xfrm>
            <a:off x="566928" y="1344168"/>
            <a:ext cx="8010144" cy="39319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804672" y="1453896"/>
            <a:ext cx="9875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후보 수집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901952" y="1435608"/>
            <a:ext cx="6272784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표 제목 · 헤더 · 한글/영문 셀에서 검수할 문구를 수집</a:t>
            </a:r>
          </a:p>
        </p:txBody>
      </p:sp>
      <p:sp>
        <p:nvSpPr>
          <p:cNvPr id="455" name="아래 흐름 화살표"/>
          <p:cNvSpPr/>
          <p:nvPr/>
        </p:nvSpPr>
        <p:spPr>
          <a:xfrm>
            <a:off x="4425696" y="1801368"/>
            <a:ext cx="274320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1170432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609344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공식 용어·번역 DB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1170432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1243584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기관명  행정안전부
지역명  세종특별자치시·연기면</a:t>
            </a:r>
          </a:p>
        </p:txBody>
      </p:sp>
      <p:sp>
        <p:nvSpPr>
          <p:cNvPr id="460" name="아래 흐름 화살표"/>
          <p:cNvSpPr/>
          <p:nvPr/>
        </p:nvSpPr>
        <p:spPr>
          <a:xfrm>
            <a:off x="2633472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754880" y="215798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5193792" y="2112264"/>
            <a:ext cx="24871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반복 표현 DB</a:t>
            </a:r>
          </a:p>
        </p:txBody>
      </p:sp>
      <p:sp>
        <p:nvSpPr>
          <p:cNvPr id="463" name="Rectangle 462"/>
          <p:cNvSpPr/>
          <p:nvPr/>
        </p:nvSpPr>
        <p:spPr>
          <a:xfrm>
            <a:off x="4754880" y="2487168"/>
            <a:ext cx="3182112" cy="1463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4828032" y="2670048"/>
            <a:ext cx="3035808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계 · 합계 · 소계
연보 전체에서 자주 쓰는 표현</a:t>
            </a:r>
          </a:p>
        </p:txBody>
      </p:sp>
      <p:sp>
        <p:nvSpPr>
          <p:cNvPr id="465" name="아래 흐름 화살표"/>
          <p:cNvSpPr/>
          <p:nvPr/>
        </p:nvSpPr>
        <p:spPr>
          <a:xfrm>
            <a:off x="6217920" y="3136392"/>
            <a:ext cx="237744" cy="256032"/>
          </a:xfrm>
          <a:prstGeom prst="down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1883664" y="3493008"/>
            <a:ext cx="5376672" cy="9326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2212848" y="3621024"/>
            <a:ext cx="4718304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남은 후보만 LLM 검수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2194560" y="3941063"/>
            <a:ext cx="4754880" cy="12801"/>
          </a:xfrm>
          <a:prstGeom prst="rect">
            <a:avLst/>
          </a:prstGeom>
          <a:solidFill>
            <a:srgbClr val="C7D9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라벨_토큰 사용량 감소"/>
          <p:cNvSpPr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라벨 텍스트_토큰 사용량 감소"/>
          <p:cNvSpPr txBox="1"/>
          <p:nvPr/>
        </p:nvSpPr>
        <p:spPr>
          <a:xfrm>
            <a:off x="2432304" y="4069080"/>
            <a:ext cx="148132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토큰 사용량 감소</a:t>
            </a:r>
          </a:p>
        </p:txBody>
      </p:sp>
      <p:sp>
        <p:nvSpPr>
          <p:cNvPr id="471" name="라벨_공식 표현 일관성 확보"/>
          <p:cNvSpPr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라벨 텍스트_공식 표현 일관성 확보"/>
          <p:cNvSpPr txBox="1"/>
          <p:nvPr/>
        </p:nvSpPr>
        <p:spPr>
          <a:xfrm>
            <a:off x="4681728" y="4069080"/>
            <a:ext cx="199339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공식 표현 일관성 확보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메타데이터·이상치 검수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정보와 이상값 후보 확인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정보의 누락과 통계적으로 차이가 큰 값을 ‘확인 필요’로 제시합니다.</a:t>
            </a:r>
            <a:endParaRPr/>
          </a:p>
        </p:txBody>
      </p:sp>
      <p:pic>
        <p:nvPicPr>
          <p:cNvPr descr="image.png" id="479" name="Google Shape;4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438912" y="1399032"/>
            <a:ext cx="3675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검수</a:t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438912" y="1709928"/>
            <a:ext cx="3675887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438912" y="19476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905256" y="1901952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905256" y="2148840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여부 + 기존 기준 단위와 일치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438912" y="2423160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438912" y="266090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905256" y="2615184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905256" y="2862072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38912" y="3136392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438912" y="337413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905256" y="3328416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905256" y="3575304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438912" y="3849624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4617720" y="1399032"/>
            <a:ext cx="4087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검수</a:t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4617720" y="170992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617720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4736592" y="1901952"/>
            <a:ext cx="367588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숫자 열에서 값이 크게 벗어난 후보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956048" y="2889504"/>
            <a:ext cx="3429000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102352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5029200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687568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5614416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272784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6199632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858000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27"/>
          <p:cNvSpPr txBox="1"/>
          <p:nvPr/>
        </p:nvSpPr>
        <p:spPr>
          <a:xfrm>
            <a:off x="6784848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7882127" y="2468880"/>
            <a:ext cx="201168" cy="201168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7808975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4937760" y="3410712"/>
            <a:ext cx="338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값이 5개 이상인 숫자 열</a:t>
            </a:r>
            <a:b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합계·소계 제외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</a:t>
            </a:r>
            <a:endParaRPr/>
          </a:p>
        </p:txBody>
      </p:sp>
      <p:sp>
        <p:nvSpPr>
          <p:cNvPr id="520" name="Google Shape;520;p2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보호된 수정과 선택적 재검수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권한을 확인한 뒤 내용을 고치고, 변경 범위에 맞춰 다시 검수합니다.</a:t>
            </a:r>
            <a:endParaRPr/>
          </a:p>
        </p:txBody>
      </p:sp>
      <p:pic>
        <p:nvPicPr>
          <p:cNvPr descr="image.png"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/>
          </a:p>
        </p:txBody>
      </p:sp>
      <p:sp>
        <p:nvSpPr>
          <p:cNvPr id="526" name="Rectangle 525"/>
          <p:cNvSpPr/>
          <p:nvPr/>
        </p:nvSpPr>
        <p:spPr>
          <a:xfrm>
            <a:off x="566928" y="1362456"/>
            <a:ext cx="8010144" cy="566928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7" name="TextBox 526"/>
          <p:cNvSpPr txBox="1"/>
          <p:nvPr/>
        </p:nvSpPr>
        <p:spPr>
          <a:xfrm>
            <a:off x="841248" y="1554480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528" name="흐름 화살표"/>
          <p:cNvSpPr/>
          <p:nvPr/>
        </p:nvSpPr>
        <p:spPr>
          <a:xfrm>
            <a:off x="2231136" y="1517904"/>
            <a:ext cx="237744" cy="237744"/>
          </a:xfrm>
          <a:prstGeom prst="rightArrow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9" name="TextBox 528"/>
          <p:cNvSpPr txBox="1"/>
          <p:nvPr/>
        </p:nvSpPr>
        <p:spPr>
          <a:xfrm>
            <a:off x="2779776" y="1554480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재검수 필요</a:t>
            </a:r>
          </a:p>
        </p:txBody>
      </p:sp>
      <p:sp>
        <p:nvSpPr>
          <p:cNvPr id="530" name="흐름 화살표"/>
          <p:cNvSpPr/>
          <p:nvPr/>
        </p:nvSpPr>
        <p:spPr>
          <a:xfrm>
            <a:off x="4169664" y="1517904"/>
            <a:ext cx="237744" cy="237744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1" name="TextBox 530"/>
          <p:cNvSpPr txBox="1"/>
          <p:nvPr/>
        </p:nvSpPr>
        <p:spPr>
          <a:xfrm>
            <a:off x="4718304" y="1554480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검수 실행</a:t>
            </a:r>
          </a:p>
        </p:txBody>
      </p:sp>
      <p:sp>
        <p:nvSpPr>
          <p:cNvPr id="532" name="흐름 화살표"/>
          <p:cNvSpPr/>
          <p:nvPr/>
        </p:nvSpPr>
        <p:spPr>
          <a:xfrm>
            <a:off x="6108192" y="1517904"/>
            <a:ext cx="237744" cy="237744"/>
          </a:xfrm>
          <a:prstGeom prst="rightArrow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3" name="TextBox 532"/>
          <p:cNvSpPr txBox="1"/>
          <p:nvPr/>
        </p:nvSpPr>
        <p:spPr>
          <a:xfrm>
            <a:off x="6656832" y="1554480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90" b="1" i="0">
                <a:solidFill>
                  <a:srgbClr val="153E70"/>
                </a:solidFill>
                <a:latin typeface="Noto Sans KR"/>
                <a:ea typeface="Noto Sans KR"/>
                <a:cs typeface="Noto Sans KR"/>
              </a:rPr>
              <a:t>새 결과 갱신</a:t>
            </a:r>
          </a:p>
        </p:txBody>
      </p:sp>
      <p:sp>
        <p:nvSpPr>
          <p:cNvPr id="534" name="TextBox 533"/>
          <p:cNvSpPr txBox="1"/>
          <p:nvPr/>
        </p:nvSpPr>
        <p:spPr>
          <a:xfrm>
            <a:off x="438912" y="2176272"/>
            <a:ext cx="3712463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보호</a:t>
            </a:r>
          </a:p>
        </p:txBody>
      </p:sp>
      <p:sp>
        <p:nvSpPr>
          <p:cNvPr id="535" name="Rectangle 534"/>
          <p:cNvSpPr/>
          <p:nvPr/>
        </p:nvSpPr>
        <p:spPr>
          <a:xfrm>
            <a:off x="438912" y="2487168"/>
            <a:ext cx="3712463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438912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786384" y="2953512"/>
            <a:ext cx="2880360" cy="18288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8" name="수정 보호_01"/>
          <p:cNvSpPr/>
          <p:nvPr/>
        </p:nvSpPr>
        <p:spPr>
          <a:xfrm>
            <a:off x="548640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548640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329184" y="327355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비밀번호 확인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219456" y="3547872"/>
            <a:ext cx="10789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통계별 수정 권한 확인</a:t>
            </a:r>
          </a:p>
        </p:txBody>
      </p:sp>
      <p:sp>
        <p:nvSpPr>
          <p:cNvPr id="542" name="수정 보호_02"/>
          <p:cNvSpPr/>
          <p:nvPr/>
        </p:nvSpPr>
        <p:spPr>
          <a:xfrm>
            <a:off x="1773936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1773936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1554480" y="327355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편집 화면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1444752" y="3547872"/>
            <a:ext cx="10789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표 정보·셀 값·행/열 수정</a:t>
            </a:r>
          </a:p>
        </p:txBody>
      </p:sp>
      <p:sp>
        <p:nvSpPr>
          <p:cNvPr id="546" name="수정 보호_03"/>
          <p:cNvSpPr/>
          <p:nvPr/>
        </p:nvSpPr>
        <p:spPr>
          <a:xfrm>
            <a:off x="2999232" y="2752344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2999232" y="2852928"/>
            <a:ext cx="4023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2779776" y="3273552"/>
            <a:ext cx="85953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수정 저장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2670048" y="3547872"/>
            <a:ext cx="107899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변경 내용 반영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585216" y="4142232"/>
            <a:ext cx="3383280" cy="1920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저장 즉시 검수 자동 실행 X  ·  담당자가 재검수 실행</a:t>
            </a:r>
          </a:p>
        </p:txBody>
      </p:sp>
      <p:sp>
        <p:nvSpPr>
          <p:cNvPr id="551" name="TextBox 550"/>
          <p:cNvSpPr txBox="1"/>
          <p:nvPr/>
        </p:nvSpPr>
        <p:spPr>
          <a:xfrm>
            <a:off x="4617720" y="2176272"/>
            <a:ext cx="40873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재검수 원칙</a:t>
            </a:r>
          </a:p>
        </p:txBody>
      </p:sp>
      <p:sp>
        <p:nvSpPr>
          <p:cNvPr id="552" name="Rectangle 551"/>
          <p:cNvSpPr/>
          <p:nvPr/>
        </p:nvSpPr>
        <p:spPr>
          <a:xfrm>
            <a:off x="4617720" y="248716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4617720" y="248716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4617720" y="2651760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4617720" y="2651760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6" name="TextBox 555"/>
          <p:cNvSpPr txBox="1"/>
          <p:nvPr/>
        </p:nvSpPr>
        <p:spPr>
          <a:xfrm>
            <a:off x="4754880" y="2788920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557" name="TextBox 556"/>
          <p:cNvSpPr txBox="1"/>
          <p:nvPr/>
        </p:nvSpPr>
        <p:spPr>
          <a:xfrm>
            <a:off x="5212080" y="2724912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값 변경</a:t>
            </a:r>
          </a:p>
        </p:txBody>
      </p:sp>
      <p:sp>
        <p:nvSpPr>
          <p:cNvPr id="558" name="TextBox 557"/>
          <p:cNvSpPr txBox="1"/>
          <p:nvPr/>
        </p:nvSpPr>
        <p:spPr>
          <a:xfrm>
            <a:off x="5212080" y="2953512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 계산 기준으로 현재 값 재검수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4617720" y="3273552"/>
            <a:ext cx="4087368" cy="51206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4617720" y="3273552"/>
            <a:ext cx="45720" cy="512064"/>
          </a:xfrm>
          <a:prstGeom prst="rect">
            <a:avLst/>
          </a:prstGeom>
          <a:solidFill>
            <a:srgbClr val="C586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1" name="TextBox 560"/>
          <p:cNvSpPr txBox="1"/>
          <p:nvPr/>
        </p:nvSpPr>
        <p:spPr>
          <a:xfrm>
            <a:off x="4754880" y="3410712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C5861A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562" name="TextBox 561"/>
          <p:cNvSpPr txBox="1"/>
          <p:nvPr/>
        </p:nvSpPr>
        <p:spPr>
          <a:xfrm>
            <a:off x="5212080" y="3346704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구조 변경</a:t>
            </a:r>
          </a:p>
        </p:txBody>
      </p:sp>
      <p:sp>
        <p:nvSpPr>
          <p:cNvPr id="563" name="TextBox 562"/>
          <p:cNvSpPr txBox="1"/>
          <p:nvPr/>
        </p:nvSpPr>
        <p:spPr>
          <a:xfrm>
            <a:off x="5212080" y="3575304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새로운 표 구조에 맞춰 기준 재생성</a:t>
            </a:r>
          </a:p>
        </p:txBody>
      </p:sp>
      <p:sp>
        <p:nvSpPr>
          <p:cNvPr id="564" name="Rectangle 563"/>
          <p:cNvSpPr/>
          <p:nvPr/>
        </p:nvSpPr>
        <p:spPr>
          <a:xfrm>
            <a:off x="4617720" y="4398264"/>
            <a:ext cx="4087368" cy="12801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5" name="TextBox 564"/>
          <p:cNvSpPr txBox="1"/>
          <p:nvPr/>
        </p:nvSpPr>
        <p:spPr>
          <a:xfrm>
            <a:off x="4754880" y="4032504"/>
            <a:ext cx="3474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2F78B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566" name="TextBox 565"/>
          <p:cNvSpPr txBox="1"/>
          <p:nvPr/>
        </p:nvSpPr>
        <p:spPr>
          <a:xfrm>
            <a:off x="5212080" y="3968496"/>
            <a:ext cx="1225296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72331"/>
                </a:solidFill>
                <a:latin typeface="Noto Sans KR"/>
                <a:ea typeface="Noto Sans KR"/>
                <a:cs typeface="Noto Sans KR"/>
              </a:rPr>
              <a:t>변경 없음</a:t>
            </a:r>
          </a:p>
        </p:txBody>
      </p:sp>
      <p:sp>
        <p:nvSpPr>
          <p:cNvPr id="567" name="TextBox 566"/>
          <p:cNvSpPr txBox="1"/>
          <p:nvPr/>
        </p:nvSpPr>
        <p:spPr>
          <a:xfrm>
            <a:off x="5212080" y="4197096"/>
            <a:ext cx="32004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이전 검수 결과 재사용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활용</a:t>
            </a:r>
            <a:endParaRPr/>
          </a:p>
        </p:txBody>
      </p:sp>
      <p:sp>
        <p:nvSpPr>
          <p:cNvPr id="571" name="Google Shape;571;p29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표와 검수 리포트 내려받기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통계표와 검수 결과를 업무 목적에 맞춰 내려받습니다.</a:t>
            </a:r>
            <a:endParaRPr/>
          </a:p>
        </p:txBody>
      </p:sp>
      <p:pic>
        <p:nvPicPr>
          <p:cNvPr descr="image.png" id="574" name="Google Shape;5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76" name="Google Shape;576;p2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4572000" y="1389898"/>
            <a:ext cx="13800" cy="25533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566928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79" name="Google Shape;579;p29"/>
          <p:cNvSpPr txBox="1"/>
          <p:nvPr/>
        </p:nvSpPr>
        <p:spPr>
          <a:xfrm>
            <a:off x="1097280" y="1426464"/>
            <a:ext cx="1097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</a:t>
            </a:r>
            <a:endParaRPr/>
          </a:p>
        </p:txBody>
      </p:sp>
      <p:sp>
        <p:nvSpPr>
          <p:cNvPr id="580" name="Google Shape;580;p29"/>
          <p:cNvSpPr txBox="1"/>
          <p:nvPr/>
        </p:nvSpPr>
        <p:spPr>
          <a:xfrm>
            <a:off x="566928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통계표를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·공유</a:t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566928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626993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의 모든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하위 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헤더와 셀 내용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등 표 정보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Noto Sans KR"/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표 활용</a:t>
            </a:r>
            <a:endParaRPr/>
          </a:p>
        </p:txBody>
      </p:sp>
      <p:sp>
        <p:nvSpPr>
          <p:cNvPr id="583" name="Google Shape;583;p29"/>
          <p:cNvSpPr txBox="1"/>
          <p:nvPr/>
        </p:nvSpPr>
        <p:spPr>
          <a:xfrm>
            <a:off x="4992624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5522976" y="1426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</a:t>
            </a:r>
            <a:endParaRPr/>
          </a:p>
        </p:txBody>
      </p:sp>
      <p:sp>
        <p:nvSpPr>
          <p:cNvPr id="585" name="Google Shape;585;p29"/>
          <p:cNvSpPr txBox="1"/>
          <p:nvPr/>
        </p:nvSpPr>
        <p:spPr>
          <a:xfrm>
            <a:off x="4992624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내역과 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근거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4992624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5084064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의심·확인 필요 항목 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 셀 위치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현재값·재계산값·판정 사유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</a:t>
            </a: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공유·수정·결과 보고에 활용</a:t>
            </a:r>
            <a:endParaRPr sz="900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sp>
        <p:nvSpPr>
          <p:cNvPr id="593" name="Google Shape;593;p3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부담 감소, 협업 효율 향상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담당자·통계 담당자·검수 진행자가 같은 화면과 기준으로 협업합니다.</a:t>
            </a:r>
            <a:endParaRPr/>
          </a:p>
        </p:txBody>
      </p:sp>
      <p:pic>
        <p:nvPicPr>
          <p:cNvPr descr="image.png" id="596" name="Google Shape;5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566928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담당자</a:t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566928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진행 상황 관리</a:t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676656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30"/>
          <p:cNvSpPr txBox="1"/>
          <p:nvPr/>
        </p:nvSpPr>
        <p:spPr>
          <a:xfrm>
            <a:off x="676656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연보별 검수 상태 한눈에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통계와 수정 현황 공유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최종 결과 정리</a:t>
            </a:r>
            <a:endParaRPr/>
          </a:p>
        </p:txBody>
      </p:sp>
      <p:sp>
        <p:nvSpPr>
          <p:cNvPr id="603" name="Google Shape;603;p30"/>
          <p:cNvSpPr txBox="1"/>
          <p:nvPr/>
        </p:nvSpPr>
        <p:spPr>
          <a:xfrm>
            <a:off x="3364992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각 통계 담당자</a:t>
            </a:r>
            <a:endParaRPr/>
          </a:p>
        </p:txBody>
      </p:sp>
      <p:sp>
        <p:nvSpPr>
          <p:cNvPr id="604" name="Google Shape;604;p30"/>
          <p:cNvSpPr txBox="1"/>
          <p:nvPr/>
        </p:nvSpPr>
        <p:spPr>
          <a:xfrm>
            <a:off x="3364992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 통계의 문제를 바로 수정</a:t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3474720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6" name="Google Shape;606;p30"/>
          <p:cNvSpPr txBox="1"/>
          <p:nvPr/>
        </p:nvSpPr>
        <p:spPr>
          <a:xfrm>
            <a:off x="3474720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근거를 빠르게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화면에서 직접 수정·저장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변경된 표 중심으로 재검수</a:t>
            </a:r>
            <a:endParaRPr/>
          </a:p>
        </p:txBody>
      </p:sp>
      <p:sp>
        <p:nvSpPr>
          <p:cNvPr id="607" name="Google Shape;607;p30"/>
          <p:cNvSpPr txBox="1"/>
          <p:nvPr/>
        </p:nvSpPr>
        <p:spPr>
          <a:xfrm>
            <a:off x="6163056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진행자</a:t>
            </a:r>
            <a:endParaRPr/>
          </a:p>
        </p:txBody>
      </p:sp>
      <p:sp>
        <p:nvSpPr>
          <p:cNvPr id="608" name="Google Shape;608;p30"/>
          <p:cNvSpPr txBox="1"/>
          <p:nvPr/>
        </p:nvSpPr>
        <p:spPr>
          <a:xfrm>
            <a:off x="6163056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 대신 판단에 집중</a:t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6272784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0" name="Google Shape;610;p30"/>
          <p:cNvSpPr txBox="1"/>
          <p:nvPr/>
        </p:nvSpPr>
        <p:spPr>
          <a:xfrm>
            <a:off x="6272784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 자동 재계산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우선순위와 근거 제시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리포트로 결과 공유</a:t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2201075" y="4187950"/>
            <a:ext cx="44151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2" name="Google Shape;612;p30"/>
          <p:cNvSpPr txBox="1"/>
          <p:nvPr/>
        </p:nvSpPr>
        <p:spPr>
          <a:xfrm>
            <a:off x="1005792" y="4324902"/>
            <a:ext cx="6986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시간 단축  ·  오류 누락 위험 감소  ·  공유·수정·재검수 흐름 단순화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보완점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 기관 운영을 위한 보완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운영을 위해 권한·이력·AI 환경을 단계적으로 보완해야 합니다.</a:t>
            </a:r>
            <a:endParaRPr/>
          </a:p>
        </p:txBody>
      </p:sp>
      <p:pic>
        <p:nvPicPr>
          <p:cNvPr descr="image.png" id="621" name="Google Shape;6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1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623" name="Google Shape;623;p3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987552" y="1737360"/>
            <a:ext cx="6172200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1444752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6" name="Google Shape;626;p31"/>
          <p:cNvSpPr txBox="1"/>
          <p:nvPr/>
        </p:nvSpPr>
        <p:spPr>
          <a:xfrm>
            <a:off x="1444752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566928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권한·보안</a:t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676656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9" name="Google Shape;629;p31"/>
          <p:cNvSpPr txBox="1"/>
          <p:nvPr/>
        </p:nvSpPr>
        <p:spPr>
          <a:xfrm>
            <a:off x="676656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계정과 통합 로그인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담당자별 역할·수정 권한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세션 만료·접속 제한</a:t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4242816" y="1527048"/>
            <a:ext cx="438912" cy="438912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p31"/>
          <p:cNvSpPr txBox="1"/>
          <p:nvPr/>
        </p:nvSpPr>
        <p:spPr>
          <a:xfrm>
            <a:off x="4242816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632" name="Google Shape;632;p31"/>
          <p:cNvSpPr txBox="1"/>
          <p:nvPr/>
        </p:nvSpPr>
        <p:spPr>
          <a:xfrm>
            <a:off x="3364992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이력 기록</a:t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3474720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3474720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셀 단위 변경 전·후 기록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수정자·시간·사유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되돌리기·변경 알림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7040880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7040880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637" name="Google Shape;637;p31"/>
          <p:cNvSpPr txBox="1"/>
          <p:nvPr/>
        </p:nvSpPr>
        <p:spPr>
          <a:xfrm>
            <a:off x="6163056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내부망·내부 LLM</a:t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6272784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9" name="Google Shape;639;p31"/>
          <p:cNvSpPr txBox="1"/>
          <p:nvPr/>
        </p:nvSpPr>
        <p:spPr>
          <a:xfrm>
            <a:off x="6272784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내부망 환경에 서비스 도입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LLM을 내부 모델로 전환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민감 정보와 사용 이력 관리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ajorFont>
      <a:minorFont>
        <a:latin typeface="Noto Sans KR"/>
        <a:ea typeface="Noto Sans KR"/>
        <a:cs typeface="Noto Sans KR"/>
        <a:font script="Jpan" typeface="Noto Sans KR"/>
        <a:font script="Hang" typeface="Noto Sans KR"/>
        <a:font script="Hans" typeface="Noto Sans KR"/>
        <a:font script="Hant" typeface="Noto Sans KR"/>
        <a:font script="Arab" typeface="Noto Sans KR"/>
        <a:font script="Hebr" typeface="Noto Sans KR"/>
        <a:font script="Thai" typeface="Noto Sans KR"/>
        <a:font script="Ethi" typeface="Noto Sans KR"/>
        <a:font script="Beng" typeface="Noto Sans KR"/>
        <a:font script="Gujr" typeface="Noto Sans KR"/>
        <a:font script="Khmr" typeface="Noto Sans KR"/>
        <a:font script="Knda" typeface="Noto Sans KR"/>
        <a:font script="Guru" typeface="Noto Sans KR"/>
        <a:font script="Cans" typeface="Noto Sans KR"/>
        <a:font script="Cher" typeface="Noto Sans KR"/>
        <a:font script="Yiii" typeface="Noto Sans KR"/>
        <a:font script="Tibt" typeface="Noto Sans KR"/>
        <a:font script="Thaa" typeface="Noto Sans KR"/>
        <a:font script="Deva" typeface="Noto Sans KR"/>
        <a:font script="Telu" typeface="Noto Sans KR"/>
        <a:font script="Taml" typeface="Noto Sans KR"/>
        <a:font script="Syrc" typeface="Noto Sans KR"/>
        <a:font script="Orya" typeface="Noto Sans KR"/>
        <a:font script="Mlym" typeface="Noto Sans KR"/>
        <a:font script="Laoo" typeface="Noto Sans KR"/>
        <a:font script="Sinh" typeface="Noto Sans KR"/>
        <a:font script="Mong" typeface="Noto Sans KR"/>
        <a:font script="Viet" typeface="Noto Sans KR"/>
        <a:font script="Uigh" typeface="Noto Sans KR"/>
        <a:font script="Geor" typeface="Noto Sans K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
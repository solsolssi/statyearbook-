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254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82880" cy="6858000"/>
          </a:xfrm>
          <a:prstGeom prst="rect">
            <a:avLst/>
          </a:prstGeom>
          <a:solidFill>
            <a:srgbClr val="2E78B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49808" y="713232"/>
            <a:ext cx="2331720" cy="310896"/>
          </a:xfrm>
          <a:prstGeom prst="roundRect">
            <a:avLst/>
          </a:prstGeom>
          <a:solidFill>
            <a:srgbClr val="173C6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86384" y="749808"/>
            <a:ext cx="2258568" cy="21945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8ED2FF"/>
                </a:solidFill>
                <a:latin typeface="맑은 고딕"/>
                <a:ea typeface="맑은 고딕"/>
                <a:cs typeface="맑은 고딕"/>
              </a:rPr>
              <a:t>PROJECT HANDOVER · 2026.08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49808" y="1508760"/>
            <a:ext cx="9966960" cy="43891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A8C4DC"/>
                </a:solidFill>
                <a:latin typeface="맑은 고딕"/>
                <a:ea typeface="맑은 고딕"/>
                <a:cs typeface="맑은 고딕"/>
              </a:rPr>
              <a:t>통계연보 검수 보조 시스템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49808" y="2066543"/>
            <a:ext cx="9784080" cy="141732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7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프로젝트 인수인계
실행·수정·운영 가이드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3822191"/>
            <a:ext cx="10241280" cy="38404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90B9D8"/>
                </a:solidFill>
                <a:latin typeface="맑은 고딕"/>
                <a:ea typeface="맑은 고딕"/>
                <a:cs typeface="맑은 고딕"/>
              </a:rPr>
              <a:t>macOS에서 Windows로 — 처음 받는 사람도 그대로 따라 하는 실무 절차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68096" y="4800600"/>
            <a:ext cx="10607040" cy="749808"/>
          </a:xfrm>
          <a:prstGeom prst="roundRect">
            <a:avLst/>
          </a:prstGeom>
          <a:solidFill>
            <a:srgbClr val="122F4D"/>
          </a:solidFill>
          <a:ln w="10160">
            <a:solidFill>
              <a:srgbClr val="274E71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24128" y="5020056"/>
            <a:ext cx="9966960" cy="27432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8ED2FF"/>
                </a:solidFill>
                <a:latin typeface="맑은 고딕"/>
                <a:ea typeface="맑은 고딕"/>
                <a:cs typeface="맑은 고딕"/>
              </a:rPr>
              <a:t>시작점  </a:t>
            </a:r>
            <a:r>
              <a:rPr sz="14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설치 → 실행 → 사용 → 수정 → 테스트 → 배포 → 복구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68096" y="6263640"/>
            <a:ext cx="859536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789AB6"/>
                </a:solidFill>
                <a:latin typeface="맑은 고딕"/>
                <a:ea typeface="맑은 고딕"/>
                <a:cs typeface="맑은 고딕"/>
              </a:rPr>
              <a:t>기준일 2026-08-27  |  상세본: docs/PROJECT_HANDOVER_GUIDE.md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082528" y="6263640"/>
            <a:ext cx="50292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789AB6"/>
                </a:solidFill>
                <a:latin typeface="맑은 고딕"/>
                <a:ea typeface="맑은 고딕"/>
                <a:cs typeface="맑은 고딕"/>
              </a:rPr>
              <a:t>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D5F9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47472"/>
            <a:ext cx="292608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50" b="1">
                <a:solidFill>
                  <a:srgbClr val="1D5F9A"/>
                </a:solidFill>
                <a:latin typeface="맑은 고딕"/>
                <a:ea typeface="맑은 고딕"/>
                <a:cs typeface="맑은 고딕"/>
              </a:rPr>
              <a:t>ORIENTATION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85800"/>
            <a:ext cx="10972800" cy="5029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500" b="1">
                <a:solidFill>
                  <a:srgbClr val="0B2545"/>
                </a:solidFill>
                <a:latin typeface="맑은 고딕"/>
                <a:ea typeface="맑은 고딕"/>
                <a:cs typeface="맑은 고딕"/>
              </a:rPr>
              <a:t>이 자료를 끝까지 보면 할 수 있는 것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85216" y="1225296"/>
            <a:ext cx="10881360" cy="32004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617181"/>
                </a:solidFill>
                <a:latin typeface="맑은 고딕"/>
                <a:ea typeface="맑은 고딕"/>
                <a:cs typeface="맑은 고딕"/>
              </a:rPr>
              <a:t>소스 전달을 넘어 실제 운영 가능한 상태까지 만든다.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566928" y="1664208"/>
            <a:ext cx="11055096" cy="0"/>
          </a:xfrm>
          <a:prstGeom prst="line">
            <a:avLst/>
          </a:prstGeom>
          <a:ln w="10160">
            <a:solidFill>
              <a:srgbClr val="D8E1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566928" y="6510528"/>
            <a:ext cx="7040880" cy="182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19" b="0">
                <a:solidFill>
                  <a:srgbClr val="8B99A7"/>
                </a:solidFill>
                <a:latin typeface="맑은 고딕"/>
                <a:ea typeface="맑은 고딕"/>
                <a:cs typeface="맑은 고딕"/>
              </a:rPr>
              <a:t>통계연보 검수 보조 시스템  |  프로젝트 인수인계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109960" y="6492240"/>
            <a:ext cx="502920" cy="182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850" b="1">
                <a:solidFill>
                  <a:srgbClr val="8B99A7"/>
                </a:solidFill>
                <a:latin typeface="맑은 고딕"/>
                <a:ea typeface="맑은 고딕"/>
                <a:cs typeface="맑은 고딕"/>
              </a:rPr>
              <a:t>2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94360" y="1993392"/>
            <a:ext cx="3502152" cy="1261872"/>
          </a:xfrm>
          <a:prstGeom prst="roundRect">
            <a:avLst/>
          </a:prstGeom>
          <a:solidFill>
            <a:srgbClr val="EAF3F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77240" y="2157984"/>
            <a:ext cx="502920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1D5F9A"/>
                </a:solidFill>
                <a:latin typeface="맑은 고딕"/>
                <a:ea typeface="맑은 고딕"/>
                <a:cs typeface="맑은 고딕"/>
              </a:rPr>
              <a:t>01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44168" y="2139696"/>
            <a:ext cx="2542032" cy="30175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172432"/>
                </a:solidFill>
                <a:latin typeface="맑은 고딕"/>
                <a:ea typeface="맑은 고딕"/>
                <a:cs typeface="맑은 고딕"/>
              </a:rPr>
              <a:t>설치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95528" y="2578608"/>
            <a:ext cx="3099816" cy="47548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20" b="0">
                <a:solidFill>
                  <a:srgbClr val="617181"/>
                </a:solidFill>
                <a:latin typeface="맑은 고딕"/>
                <a:ea typeface="맑은 고딕"/>
                <a:cs typeface="맑은 고딕"/>
              </a:rPr>
              <a:t>macOS와 Windows에서 같은 개발 환경을 만든다.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389120" y="1993392"/>
            <a:ext cx="3502152" cy="1261872"/>
          </a:xfrm>
          <a:prstGeom prst="roundRect">
            <a:avLst/>
          </a:prstGeom>
          <a:solidFill>
            <a:srgbClr val="E8F5F3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72000" y="2157984"/>
            <a:ext cx="502920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177A74"/>
                </a:solidFill>
                <a:latin typeface="맑은 고딕"/>
                <a:ea typeface="맑은 고딕"/>
                <a:cs typeface="맑은 고딕"/>
              </a:rPr>
              <a:t>02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138928" y="2139696"/>
            <a:ext cx="2542032" cy="30175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172432"/>
                </a:solidFill>
                <a:latin typeface="맑은 고딕"/>
                <a:ea typeface="맑은 고딕"/>
                <a:cs typeface="맑은 고딕"/>
              </a:rPr>
              <a:t>실행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90288" y="2578608"/>
            <a:ext cx="3099816" cy="47548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20" b="0">
                <a:solidFill>
                  <a:srgbClr val="617181"/>
                </a:solidFill>
                <a:latin typeface="맑은 고딕"/>
                <a:ea typeface="맑은 고딕"/>
                <a:cs typeface="맑은 고딕"/>
              </a:rPr>
              <a:t>프론트·백엔드·DB를 올리고 정상 여부를 판단한다.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183880" y="1993392"/>
            <a:ext cx="3502152" cy="1261872"/>
          </a:xfrm>
          <a:prstGeom prst="roundRect">
            <a:avLst/>
          </a:prstGeom>
          <a:solidFill>
            <a:srgbClr val="FFF3D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366760" y="2157984"/>
            <a:ext cx="502920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B76E00"/>
                </a:solidFill>
                <a:latin typeface="맑은 고딕"/>
                <a:ea typeface="맑은 고딕"/>
                <a:cs typeface="맑은 고딕"/>
              </a:rPr>
              <a:t>03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933688" y="2139696"/>
            <a:ext cx="2542032" cy="30175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172432"/>
                </a:solidFill>
                <a:latin typeface="맑은 고딕"/>
                <a:ea typeface="맑은 고딕"/>
                <a:cs typeface="맑은 고딕"/>
              </a:rPr>
              <a:t>수정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385048" y="2578608"/>
            <a:ext cx="3099816" cy="47548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20" b="0">
                <a:solidFill>
                  <a:srgbClr val="617181"/>
                </a:solidFill>
                <a:latin typeface="맑은 고딕"/>
                <a:ea typeface="맑은 고딕"/>
                <a:cs typeface="맑은 고딕"/>
              </a:rPr>
              <a:t>기능별 코드 위치를 찾고 안전한 순서로 변경한다.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94360" y="3566160"/>
            <a:ext cx="5394960" cy="1261872"/>
          </a:xfrm>
          <a:prstGeom prst="roundRect">
            <a:avLst/>
          </a:prstGeom>
          <a:solidFill>
            <a:srgbClr val="FCECE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77240" y="3730752"/>
            <a:ext cx="502920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B83A4B"/>
                </a:solidFill>
                <a:latin typeface="맑은 고딕"/>
                <a:ea typeface="맑은 고딕"/>
                <a:cs typeface="맑은 고딕"/>
              </a:rPr>
              <a:t>04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44168" y="3712464"/>
            <a:ext cx="4434840" cy="30175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172432"/>
                </a:solidFill>
                <a:latin typeface="맑은 고딕"/>
                <a:ea typeface="맑은 고딕"/>
                <a:cs typeface="맑은 고딕"/>
              </a:rPr>
              <a:t>검증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95528" y="4151376"/>
            <a:ext cx="4992624" cy="47548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20" b="0">
                <a:solidFill>
                  <a:srgbClr val="617181"/>
                </a:solidFill>
                <a:latin typeface="맑은 고딕"/>
                <a:ea typeface="맑은 고딕"/>
                <a:cs typeface="맑은 고딕"/>
              </a:rPr>
              <a:t>테스트 기준선과 알려진 실패를 구분한다.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217920" y="3566160"/>
            <a:ext cx="5394960" cy="1261872"/>
          </a:xfrm>
          <a:prstGeom prst="roundRect">
            <a:avLst/>
          </a:prstGeom>
          <a:solidFill>
            <a:srgbClr val="E9F6E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400800" y="3730752"/>
            <a:ext cx="502920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2C7A55"/>
                </a:solidFill>
                <a:latin typeface="맑은 고딕"/>
                <a:ea typeface="맑은 고딕"/>
                <a:cs typeface="맑은 고딕"/>
              </a:rPr>
              <a:t>05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967728" y="3712464"/>
            <a:ext cx="4434840" cy="30175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172432"/>
                </a:solidFill>
                <a:latin typeface="맑은 고딕"/>
                <a:ea typeface="맑은 고딕"/>
                <a:cs typeface="맑은 고딕"/>
              </a:rPr>
              <a:t>운영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419088" y="4151376"/>
            <a:ext cx="4992624" cy="47548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20" b="0">
                <a:solidFill>
                  <a:srgbClr val="617181"/>
                </a:solidFill>
                <a:latin typeface="맑은 고딕"/>
                <a:ea typeface="맑은 고딕"/>
                <a:cs typeface="맑은 고딕"/>
              </a:rPr>
              <a:t>배포·백업·복구·계정 인계를 수행한다.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D5F9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47472"/>
            <a:ext cx="292608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50" b="1">
                <a:solidFill>
                  <a:srgbClr val="1D5F9A"/>
                </a:solidFill>
                <a:latin typeface="맑은 고딕"/>
                <a:ea typeface="맑은 고딕"/>
                <a:cs typeface="맑은 고딕"/>
              </a:rPr>
              <a:t>ORIENTATION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85800"/>
            <a:ext cx="10972800" cy="5029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500" b="1">
                <a:solidFill>
                  <a:srgbClr val="0B2545"/>
                </a:solidFill>
                <a:latin typeface="맑은 고딕"/>
                <a:ea typeface="맑은 고딕"/>
                <a:cs typeface="맑은 고딕"/>
              </a:rPr>
              <a:t>시작 전에 기억할 다섯 가지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85216" y="1225296"/>
            <a:ext cx="10881360" cy="32004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617181"/>
                </a:solidFill>
                <a:latin typeface="맑은 고딕"/>
                <a:ea typeface="맑은 고딕"/>
                <a:cs typeface="맑은 고딕"/>
              </a:rPr>
              <a:t>문제의 대부분은 프로세스·데이터·환경을 섞을 때 생긴다.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566928" y="1664208"/>
            <a:ext cx="11055096" cy="0"/>
          </a:xfrm>
          <a:prstGeom prst="line">
            <a:avLst/>
          </a:prstGeom>
          <a:ln w="10160">
            <a:solidFill>
              <a:srgbClr val="D8E1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566928" y="6510528"/>
            <a:ext cx="7040880" cy="182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19" b="0">
                <a:solidFill>
                  <a:srgbClr val="8B99A7"/>
                </a:solidFill>
                <a:latin typeface="맑은 고딕"/>
                <a:ea typeface="맑은 고딕"/>
                <a:cs typeface="맑은 고딕"/>
              </a:rPr>
              <a:t>통계연보 검수 보조 시스템  |  프로젝트 인수인계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109960" y="6492240"/>
            <a:ext cx="502920" cy="182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850" b="1">
                <a:solidFill>
                  <a:srgbClr val="8B99A7"/>
                </a:solidFill>
                <a:latin typeface="맑은 고딕"/>
                <a:ea typeface="맑은 고딕"/>
                <a:cs typeface="맑은 고딕"/>
              </a:rPr>
              <a:t>3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58368" y="1901952"/>
            <a:ext cx="10863072" cy="658368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8E1E8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804672" y="2020824"/>
            <a:ext cx="420624" cy="420624"/>
          </a:xfrm>
          <a:prstGeom prst="roundRect">
            <a:avLst/>
          </a:prstGeom>
          <a:solidFill>
            <a:srgbClr val="1D5F9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04672" y="2057400"/>
            <a:ext cx="420624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444752" y="2029968"/>
            <a:ext cx="1508760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0B2545"/>
                </a:solidFill>
                <a:latin typeface="맑은 고딕"/>
                <a:ea typeface="맑은 고딕"/>
                <a:cs typeface="맑은 고딕"/>
              </a:rPr>
              <a:t>두 서버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944368" y="2039112"/>
            <a:ext cx="8183879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20" b="0">
                <a:solidFill>
                  <a:srgbClr val="617181"/>
                </a:solidFill>
                <a:latin typeface="맑은 고딕"/>
                <a:ea typeface="맑은 고딕"/>
                <a:cs typeface="맑은 고딕"/>
              </a:rPr>
              <a:t>React :5173 + FastAPI :8000을 각각 실행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58368" y="2724912"/>
            <a:ext cx="10863072" cy="658368"/>
          </a:xfrm>
          <a:prstGeom prst="roundRect">
            <a:avLst/>
          </a:prstGeom>
          <a:solidFill>
            <a:srgbClr val="F5F9FC"/>
          </a:solidFill>
          <a:ln w="10160">
            <a:solidFill>
              <a:srgbClr val="D8E1E8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804672" y="2843784"/>
            <a:ext cx="420624" cy="420624"/>
          </a:xfrm>
          <a:prstGeom prst="roundRect">
            <a:avLst/>
          </a:prstGeom>
          <a:solidFill>
            <a:srgbClr val="1D5F9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04672" y="2880360"/>
            <a:ext cx="420624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444752" y="2852928"/>
            <a:ext cx="1508760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0B2545"/>
                </a:solidFill>
                <a:latin typeface="맑은 고딕"/>
                <a:ea typeface="맑은 고딕"/>
                <a:cs typeface="맑은 고딕"/>
              </a:rPr>
              <a:t>별도 인계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944368" y="2862072"/>
            <a:ext cx="8183879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20" b="0">
                <a:solidFill>
                  <a:srgbClr val="617181"/>
                </a:solidFill>
                <a:latin typeface="맑은 고딕"/>
                <a:ea typeface="맑은 고딕"/>
                <a:cs typeface="맑은 고딕"/>
              </a:rPr>
              <a:t>Git 밖의 DB·uploads·비밀값은 따로 전달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58368" y="3547872"/>
            <a:ext cx="10863072" cy="658368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8E1E8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804672" y="3666744"/>
            <a:ext cx="420624" cy="420624"/>
          </a:xfrm>
          <a:prstGeom prst="roundRect">
            <a:avLst/>
          </a:prstGeom>
          <a:solidFill>
            <a:srgbClr val="1D5F9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04672" y="3703320"/>
            <a:ext cx="420624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444752" y="3675887"/>
            <a:ext cx="1508760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0B2545"/>
                </a:solidFill>
                <a:latin typeface="맑은 고딕"/>
                <a:ea typeface="맑은 고딕"/>
                <a:cs typeface="맑은 고딕"/>
              </a:rPr>
              <a:t>안전한 시작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944368" y="3685032"/>
            <a:ext cx="8183879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20" b="0">
                <a:solidFill>
                  <a:srgbClr val="617181"/>
                </a:solidFill>
                <a:latin typeface="맑은 고딕"/>
                <a:ea typeface="맑은 고딕"/>
                <a:cs typeface="맑은 고딕"/>
              </a:rPr>
              <a:t>처음은 빈 테스트 DB + LLM OFF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58368" y="4370832"/>
            <a:ext cx="10863072" cy="658368"/>
          </a:xfrm>
          <a:prstGeom prst="roundRect">
            <a:avLst/>
          </a:prstGeom>
          <a:solidFill>
            <a:srgbClr val="F5F9FC"/>
          </a:solidFill>
          <a:ln w="10160">
            <a:solidFill>
              <a:srgbClr val="D8E1E8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804672" y="4489704"/>
            <a:ext cx="420624" cy="420624"/>
          </a:xfrm>
          <a:prstGeom prst="roundRect">
            <a:avLst/>
          </a:prstGeom>
          <a:solidFill>
            <a:srgbClr val="1D5F9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04672" y="4526280"/>
            <a:ext cx="420624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4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444752" y="4498848"/>
            <a:ext cx="1508760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0B2545"/>
                </a:solidFill>
                <a:latin typeface="맑은 고딕"/>
                <a:ea typeface="맑은 고딕"/>
                <a:cs typeface="맑은 고딕"/>
              </a:rPr>
              <a:t>루트 실행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944368" y="4507992"/>
            <a:ext cx="8183879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20" b="0">
                <a:solidFill>
                  <a:srgbClr val="617181"/>
                </a:solidFill>
                <a:latin typeface="맑은 고딕"/>
                <a:ea typeface="맑은 고딕"/>
                <a:cs typeface="맑은 고딕"/>
              </a:rPr>
              <a:t>백엔드는 저장소 루트에서 실행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58368" y="5193792"/>
            <a:ext cx="10863072" cy="658368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8E1E8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0" name="Rounded Rectangle 29"/>
          <p:cNvSpPr/>
          <p:nvPr/>
        </p:nvSpPr>
        <p:spPr>
          <a:xfrm>
            <a:off x="804672" y="5312664"/>
            <a:ext cx="420624" cy="420624"/>
          </a:xfrm>
          <a:prstGeom prst="roundRect">
            <a:avLst/>
          </a:prstGeom>
          <a:solidFill>
            <a:srgbClr val="B83A4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04672" y="5349240"/>
            <a:ext cx="420624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5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444752" y="5321807"/>
            <a:ext cx="1508760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0B2545"/>
                </a:solidFill>
                <a:latin typeface="맑은 고딕"/>
                <a:ea typeface="맑은 고딕"/>
                <a:cs typeface="맑은 고딕"/>
              </a:rPr>
              <a:t>먼저 백업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2944368" y="5330952"/>
            <a:ext cx="8183879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20" b="0">
                <a:solidFill>
                  <a:srgbClr val="617181"/>
                </a:solidFill>
                <a:latin typeface="맑은 고딕"/>
                <a:ea typeface="맑은 고딕"/>
                <a:cs typeface="맑은 고딕"/>
              </a:rPr>
              <a:t>실제 DB는 최초 실행 전 반드시 복사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D5F9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47472"/>
            <a:ext cx="292608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50" b="1">
                <a:solidFill>
                  <a:srgbClr val="1D5F9A"/>
                </a:solidFill>
                <a:latin typeface="맑은 고딕"/>
                <a:ea typeface="맑은 고딕"/>
                <a:cs typeface="맑은 고딕"/>
              </a:rPr>
              <a:t>HANDOVER RISK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85800"/>
            <a:ext cx="10972800" cy="5029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500" b="1">
                <a:solidFill>
                  <a:srgbClr val="0B2545"/>
                </a:solidFill>
                <a:latin typeface="맑은 고딕"/>
                <a:ea typeface="맑은 고딕"/>
                <a:cs typeface="맑은 고딕"/>
              </a:rPr>
              <a:t>현재 작업 트리: 그냥 clone하면 같은 상태가 아니다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85216" y="1225296"/>
            <a:ext cx="10881360" cy="32004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617181"/>
                </a:solidFill>
                <a:latin typeface="맑은 고딕"/>
                <a:ea typeface="맑은 고딕"/>
                <a:cs typeface="맑은 고딕"/>
              </a:rPr>
              <a:t>2026-08-27 점검 스냅샷 — 인계 직전에 다시 측정해야 한다.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566928" y="1664208"/>
            <a:ext cx="11055096" cy="0"/>
          </a:xfrm>
          <a:prstGeom prst="line">
            <a:avLst/>
          </a:prstGeom>
          <a:ln w="10160">
            <a:solidFill>
              <a:srgbClr val="D8E1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566928" y="6510528"/>
            <a:ext cx="7040880" cy="182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19" b="0">
                <a:solidFill>
                  <a:srgbClr val="8B99A7"/>
                </a:solidFill>
                <a:latin typeface="맑은 고딕"/>
                <a:ea typeface="맑은 고딕"/>
                <a:cs typeface="맑은 고딕"/>
              </a:rPr>
              <a:t>통계연보 검수 보조 시스템  |  프로젝트 인수인계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109960" y="6492240"/>
            <a:ext cx="502920" cy="182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850" b="1">
                <a:solidFill>
                  <a:srgbClr val="8B99A7"/>
                </a:solidFill>
                <a:latin typeface="맑은 고딕"/>
                <a:ea typeface="맑은 고딕"/>
                <a:cs typeface="맑은 고딕"/>
              </a:rPr>
              <a:t>4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" y="1947672"/>
            <a:ext cx="2542032" cy="1298448"/>
          </a:xfrm>
          <a:prstGeom prst="roundRect">
            <a:avLst/>
          </a:prstGeom>
          <a:solidFill>
            <a:srgbClr val="FFF3D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04672" y="2148840"/>
            <a:ext cx="2176272" cy="4114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400" b="1">
                <a:solidFill>
                  <a:srgbClr val="B76E00"/>
                </a:solidFill>
                <a:latin typeface="맑은 고딕"/>
                <a:ea typeface="맑은 고딕"/>
                <a:cs typeface="맑은 고딕"/>
              </a:rPr>
              <a:t>32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86384" y="2660904"/>
            <a:ext cx="2212848" cy="283464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172432"/>
                </a:solidFill>
                <a:latin typeface="맑은 고딕"/>
                <a:ea typeface="맑은 고딕"/>
                <a:cs typeface="맑은 고딕"/>
              </a:rPr>
              <a:t>미커밋/스테이징 전 변경 파일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410712" y="1947672"/>
            <a:ext cx="2542032" cy="1298448"/>
          </a:xfrm>
          <a:prstGeom prst="roundRect">
            <a:avLst/>
          </a:prstGeom>
          <a:solidFill>
            <a:srgbClr val="FCECE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593592" y="2148840"/>
            <a:ext cx="2176272" cy="4114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400" b="1">
                <a:solidFill>
                  <a:srgbClr val="B83A4B"/>
                </a:solidFill>
                <a:latin typeface="맑은 고딕"/>
                <a:ea typeface="맑은 고딕"/>
                <a:cs typeface="맑은 고딕"/>
              </a:rPr>
              <a:t>10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575304" y="2660904"/>
            <a:ext cx="2212848" cy="283464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172432"/>
                </a:solidFill>
                <a:latin typeface="맑은 고딕"/>
                <a:ea typeface="맑은 고딕"/>
                <a:cs typeface="맑은 고딕"/>
              </a:rPr>
              <a:t>Git 미추적 최상위 항목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199631" y="1947672"/>
            <a:ext cx="2542032" cy="1298448"/>
          </a:xfrm>
          <a:prstGeom prst="roundRect">
            <a:avLst/>
          </a:prstGeom>
          <a:solidFill>
            <a:srgbClr val="EAF3F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382512" y="2148840"/>
            <a:ext cx="2176272" cy="4114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400" b="1">
                <a:solidFill>
                  <a:srgbClr val="1D5F9A"/>
                </a:solidFill>
                <a:latin typeface="맑은 고딕"/>
                <a:ea typeface="맑은 고딕"/>
                <a:cs typeface="맑은 고딕"/>
              </a:rPr>
              <a:t>4.1GB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364223" y="2660904"/>
            <a:ext cx="2212848" cy="283464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172432"/>
                </a:solidFill>
                <a:latin typeface="맑은 고딕"/>
                <a:ea typeface="맑은 고딕"/>
                <a:cs typeface="맑은 고딕"/>
              </a:rPr>
              <a:t>로컬 주 SQLite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988551" y="1947672"/>
            <a:ext cx="2542032" cy="1298448"/>
          </a:xfrm>
          <a:prstGeom prst="roundRect">
            <a:avLst/>
          </a:prstGeom>
          <a:solidFill>
            <a:srgbClr val="E8F5F3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171431" y="2148840"/>
            <a:ext cx="2176272" cy="4114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400" b="1">
                <a:solidFill>
                  <a:srgbClr val="177A74"/>
                </a:solidFill>
                <a:latin typeface="맑은 고딕"/>
                <a:ea typeface="맑은 고딕"/>
                <a:cs typeface="맑은 고딕"/>
              </a:rPr>
              <a:t>1.3GB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153143" y="2660904"/>
            <a:ext cx="2212848" cy="283464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172432"/>
                </a:solidFill>
                <a:latin typeface="맑은 고딕"/>
                <a:ea typeface="맑은 고딕"/>
                <a:cs typeface="맑은 고딕"/>
              </a:rPr>
              <a:t>로컬 업로드 원본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40080" y="3675887"/>
            <a:ext cx="5394960" cy="1417320"/>
          </a:xfrm>
          <a:prstGeom prst="roundRect">
            <a:avLst/>
          </a:prstGeom>
          <a:solidFill>
            <a:srgbClr val="FCECEF"/>
          </a:solidFill>
          <a:ln w="10160">
            <a:solidFill>
              <a:srgbClr val="D8E1E8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40080" y="3675887"/>
            <a:ext cx="73152" cy="1417320"/>
          </a:xfrm>
          <a:prstGeom prst="rect">
            <a:avLst/>
          </a:prstGeom>
          <a:solidFill>
            <a:srgbClr val="B83A4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68680" y="3803903"/>
            <a:ext cx="4983480" cy="29260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172432"/>
                </a:solidFill>
                <a:latin typeface="맑은 고딕"/>
                <a:ea typeface="맑은 고딕"/>
                <a:cs typeface="맑은 고딕"/>
              </a:rPr>
              <a:t>왜 위험한가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68680" y="4187952"/>
            <a:ext cx="4983480" cy="80467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617181"/>
                </a:solidFill>
                <a:latin typeface="맑은 고딕"/>
                <a:ea typeface="맑은 고딕"/>
                <a:cs typeface="맑은 고딕"/>
              </a:rPr>
              <a:t>SQLite와 backend/uploads는 .gitignore 대상이다. 소스만 전달하면 기존 연보·검수 run·재시도 가능한 원본이 사라진다.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172200" y="3675887"/>
            <a:ext cx="5376672" cy="1417320"/>
          </a:xfrm>
          <a:prstGeom prst="roundRect">
            <a:avLst/>
          </a:prstGeom>
          <a:solidFill>
            <a:srgbClr val="E9F6EF"/>
          </a:solidFill>
          <a:ln w="10160">
            <a:solidFill>
              <a:srgbClr val="D8E1E8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6172200" y="3675887"/>
            <a:ext cx="73152" cy="1417320"/>
          </a:xfrm>
          <a:prstGeom prst="rect">
            <a:avLst/>
          </a:prstGeom>
          <a:solidFill>
            <a:srgbClr val="2C7A5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400800" y="3803903"/>
            <a:ext cx="4965192" cy="29260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172432"/>
                </a:solidFill>
                <a:latin typeface="맑은 고딕"/>
                <a:ea typeface="맑은 고딕"/>
                <a:cs typeface="맑은 고딕"/>
              </a:rPr>
              <a:t>인계 직전 조치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400800" y="4187952"/>
            <a:ext cx="4965192" cy="80467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617181"/>
                </a:solidFill>
                <a:latin typeface="맑은 고딕"/>
                <a:ea typeface="맑은 고딕"/>
                <a:cs typeface="맑은 고딕"/>
              </a:rPr>
              <a:t>git status를 정리하고, 최종 커밋·DB 백업 시각·uploads 백업 시각·각 SHA-256을 한 장의 인계 기록으로 남긴다.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94944" y="5596128"/>
            <a:ext cx="10744200" cy="32004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617181"/>
                </a:solidFill>
                <a:latin typeface="맑은 고딕"/>
                <a:ea typeface="맑은 고딕"/>
                <a:cs typeface="맑은 고딕"/>
              </a:rPr>
              <a:t>기준 브랜치 master  |  마지막 커밋 6292d55 이후 로컬 변경 포함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D5F9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47472"/>
            <a:ext cx="292608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50" b="1">
                <a:solidFill>
                  <a:srgbClr val="1D5F9A"/>
                </a:solidFill>
                <a:latin typeface="맑은 고딕"/>
                <a:ea typeface="맑은 고딕"/>
                <a:cs typeface="맑은 고딕"/>
              </a:rPr>
              <a:t>HANDOVER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85800"/>
            <a:ext cx="10972800" cy="5029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500" b="1">
                <a:solidFill>
                  <a:srgbClr val="0B2545"/>
                </a:solidFill>
                <a:latin typeface="맑은 고딕"/>
                <a:ea typeface="맑은 고딕"/>
                <a:cs typeface="맑은 고딕"/>
              </a:rPr>
              <a:t>받아야 할 것은 여섯 묶음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85216" y="1225296"/>
            <a:ext cx="10881360" cy="32004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617181"/>
                </a:solidFill>
                <a:latin typeface="맑은 고딕"/>
                <a:ea typeface="맑은 고딕"/>
                <a:cs typeface="맑은 고딕"/>
              </a:rPr>
              <a:t>코드·데이터·비밀·계정·기준·문서를 분리하면 누락과 유출을 동시에 줄인다.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566928" y="1664208"/>
            <a:ext cx="11055096" cy="0"/>
          </a:xfrm>
          <a:prstGeom prst="line">
            <a:avLst/>
          </a:prstGeom>
          <a:ln w="10160">
            <a:solidFill>
              <a:srgbClr val="D8E1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566928" y="6510528"/>
            <a:ext cx="7040880" cy="182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19" b="0">
                <a:solidFill>
                  <a:srgbClr val="8B99A7"/>
                </a:solidFill>
                <a:latin typeface="맑은 고딕"/>
                <a:ea typeface="맑은 고딕"/>
                <a:cs typeface="맑은 고딕"/>
              </a:rPr>
              <a:t>통계연보 검수 보조 시스템  |  프로젝트 인수인계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109960" y="6492240"/>
            <a:ext cx="502920" cy="182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850" b="1">
                <a:solidFill>
                  <a:srgbClr val="8B99A7"/>
                </a:solidFill>
                <a:latin typeface="맑은 고딕"/>
                <a:ea typeface="맑은 고딕"/>
                <a:cs typeface="맑은 고딕"/>
              </a:rPr>
              <a:t>5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1920240"/>
            <a:ext cx="3493008" cy="1261872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8E1E8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2959" y="2075688"/>
            <a:ext cx="502920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D5F9A"/>
                </a:solidFill>
                <a:latin typeface="맑은 고딕"/>
                <a:ea typeface="맑은 고딕"/>
                <a:cs typeface="맑은 고딕"/>
              </a:rPr>
              <a:t>01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89888" y="2057400"/>
            <a:ext cx="2395728" cy="29260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50" b="1">
                <a:solidFill>
                  <a:srgbClr val="0B2545"/>
                </a:solidFill>
                <a:latin typeface="맑은 고딕"/>
                <a:ea typeface="맑은 고딕"/>
                <a:cs typeface="맑은 고딕"/>
              </a:rPr>
              <a:t>SOURCE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59" y="2542032"/>
            <a:ext cx="3090672" cy="36576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617181"/>
                </a:solidFill>
                <a:latin typeface="맑은 고딕"/>
                <a:ea typeface="맑은 고딕"/>
                <a:cs typeface="맑은 고딕"/>
              </a:rPr>
              <a:t>최종 commit / branch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407408" y="1920240"/>
            <a:ext cx="3493008" cy="1261872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8E1E8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90288" y="2075688"/>
            <a:ext cx="502920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77A74"/>
                </a:solidFill>
                <a:latin typeface="맑은 고딕"/>
                <a:ea typeface="맑은 고딕"/>
                <a:cs typeface="맑은 고딕"/>
              </a:rPr>
              <a:t>02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157216" y="2057400"/>
            <a:ext cx="2395728" cy="29260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50" b="1">
                <a:solidFill>
                  <a:srgbClr val="0B2545"/>
                </a:solidFill>
                <a:latin typeface="맑은 고딕"/>
                <a:ea typeface="맑은 고딕"/>
                <a:cs typeface="맑은 고딕"/>
              </a:rPr>
              <a:t>DATABASE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90288" y="2542032"/>
            <a:ext cx="3090672" cy="36576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617181"/>
                </a:solidFill>
                <a:latin typeface="맑은 고딕"/>
                <a:ea typeface="맑은 고딕"/>
                <a:cs typeface="맑은 고딕"/>
              </a:rPr>
              <a:t>SQLite 또는 PostgreSQL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174736" y="1920240"/>
            <a:ext cx="3493008" cy="1261872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8E1E8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357615" y="2075688"/>
            <a:ext cx="502920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2E78B7"/>
                </a:solidFill>
                <a:latin typeface="맑은 고딕"/>
                <a:ea typeface="맑은 고딕"/>
                <a:cs typeface="맑은 고딕"/>
              </a:rPr>
              <a:t>03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924544" y="2057400"/>
            <a:ext cx="2395728" cy="29260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50" b="1">
                <a:solidFill>
                  <a:srgbClr val="0B2545"/>
                </a:solidFill>
                <a:latin typeface="맑은 고딕"/>
                <a:ea typeface="맑은 고딕"/>
                <a:cs typeface="맑은 고딕"/>
              </a:rPr>
              <a:t>UPLOADS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357615" y="2542032"/>
            <a:ext cx="3090672" cy="36576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617181"/>
                </a:solidFill>
                <a:latin typeface="맑은 고딕"/>
                <a:ea typeface="맑은 고딕"/>
                <a:cs typeface="맑은 고딕"/>
              </a:rPr>
              <a:t>원본 + 같은 시점 백업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40080" y="3493008"/>
            <a:ext cx="3493008" cy="1261872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8E1E8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22959" y="3648456"/>
            <a:ext cx="502920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B83A4B"/>
                </a:solidFill>
                <a:latin typeface="맑은 고딕"/>
                <a:ea typeface="맑은 고딕"/>
                <a:cs typeface="맑은 고딕"/>
              </a:rPr>
              <a:t>04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89888" y="3630168"/>
            <a:ext cx="2395728" cy="29260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50" b="1">
                <a:solidFill>
                  <a:srgbClr val="0B2545"/>
                </a:solidFill>
                <a:latin typeface="맑은 고딕"/>
                <a:ea typeface="맑은 고딕"/>
                <a:cs typeface="맑은 고딕"/>
              </a:rPr>
              <a:t>SECRETS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22959" y="4114800"/>
            <a:ext cx="3090672" cy="36576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617181"/>
                </a:solidFill>
                <a:latin typeface="맑은 고딕"/>
                <a:ea typeface="맑은 고딕"/>
                <a:cs typeface="맑은 고딕"/>
              </a:rPr>
              <a:t>비밀관리 채널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4407408" y="3493008"/>
            <a:ext cx="3493008" cy="1261872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8E1E8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590288" y="3648456"/>
            <a:ext cx="502920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B76E00"/>
                </a:solidFill>
                <a:latin typeface="맑은 고딕"/>
                <a:ea typeface="맑은 고딕"/>
                <a:cs typeface="맑은 고딕"/>
              </a:rPr>
              <a:t>05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157216" y="3630168"/>
            <a:ext cx="2395728" cy="29260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50" b="1">
                <a:solidFill>
                  <a:srgbClr val="0B2545"/>
                </a:solidFill>
                <a:latin typeface="맑은 고딕"/>
                <a:ea typeface="맑은 고딕"/>
                <a:cs typeface="맑은 고딕"/>
              </a:rPr>
              <a:t>ACCOUNTS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590288" y="4114800"/>
            <a:ext cx="3090672" cy="36576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617181"/>
                </a:solidFill>
                <a:latin typeface="맑은 고딕"/>
                <a:ea typeface="맑은 고딕"/>
                <a:cs typeface="맑은 고딕"/>
              </a:rPr>
              <a:t>GitHub·Vercel·Railway·R2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8174736" y="3493008"/>
            <a:ext cx="3493008" cy="1261872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8E1E8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357615" y="3648456"/>
            <a:ext cx="502920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2C7A55"/>
                </a:solidFill>
                <a:latin typeface="맑은 고딕"/>
                <a:ea typeface="맑은 고딕"/>
                <a:cs typeface="맑은 고딕"/>
              </a:rPr>
              <a:t>06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924544" y="3630168"/>
            <a:ext cx="2395728" cy="29260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50" b="1">
                <a:solidFill>
                  <a:srgbClr val="0B2545"/>
                </a:solidFill>
                <a:latin typeface="맑은 고딕"/>
                <a:ea typeface="맑은 고딕"/>
                <a:cs typeface="맑은 고딕"/>
              </a:rPr>
              <a:t>BASELINE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357615" y="4114800"/>
            <a:ext cx="3090672" cy="36576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617181"/>
                </a:solidFill>
                <a:latin typeface="맑은 고딕"/>
                <a:ea typeface="맑은 고딕"/>
                <a:cs typeface="맑은 고딕"/>
              </a:rPr>
              <a:t>승인된 검수 기준·대표 파일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640080" y="5248656"/>
            <a:ext cx="10972800" cy="621792"/>
          </a:xfrm>
          <a:prstGeom prst="roundRect">
            <a:avLst/>
          </a:prstGeom>
          <a:solidFill>
            <a:srgbClr val="0B254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896112" y="5440680"/>
            <a:ext cx="10451592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금지: .env/API 키를 DB·uploads 압축 안에 함께 넣어 일반 메신저로 전송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D5F9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47472"/>
            <a:ext cx="292608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50" b="1">
                <a:solidFill>
                  <a:srgbClr val="1D5F9A"/>
                </a:solidFill>
                <a:latin typeface="맑은 고딕"/>
                <a:ea typeface="맑은 고딕"/>
                <a:cs typeface="맑은 고딕"/>
              </a:rPr>
              <a:t>PROJECT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85800"/>
            <a:ext cx="10972800" cy="5029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500" b="1">
                <a:solidFill>
                  <a:srgbClr val="0B2545"/>
                </a:solidFill>
                <a:latin typeface="맑은 고딕"/>
                <a:ea typeface="맑은 고딕"/>
                <a:cs typeface="맑은 고딕"/>
              </a:rPr>
              <a:t>이 시스템이 하는 일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85216" y="1225296"/>
            <a:ext cx="10881360" cy="32004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617181"/>
                </a:solidFill>
                <a:latin typeface="맑은 고딕"/>
                <a:ea typeface="맑은 고딕"/>
                <a:cs typeface="맑은 고딕"/>
              </a:rPr>
              <a:t>연보 업로드부터 검수·수정·다음 연도 생성까지 한 흐름으로 잇는다.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566928" y="1664208"/>
            <a:ext cx="11055096" cy="0"/>
          </a:xfrm>
          <a:prstGeom prst="line">
            <a:avLst/>
          </a:prstGeom>
          <a:ln w="10160">
            <a:solidFill>
              <a:srgbClr val="D8E1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566928" y="6510528"/>
            <a:ext cx="7040880" cy="182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19" b="0">
                <a:solidFill>
                  <a:srgbClr val="8B99A7"/>
                </a:solidFill>
                <a:latin typeface="맑은 고딕"/>
                <a:ea typeface="맑은 고딕"/>
                <a:cs typeface="맑은 고딕"/>
              </a:rPr>
              <a:t>통계연보 검수 보조 시스템  |  프로젝트 인수인계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109960" y="6492240"/>
            <a:ext cx="502920" cy="182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850" b="1">
                <a:solidFill>
                  <a:srgbClr val="8B99A7"/>
                </a:solidFill>
                <a:latin typeface="맑은 고딕"/>
                <a:ea typeface="맑은 고딕"/>
                <a:cs typeface="맑은 고딕"/>
              </a:rPr>
              <a:t>6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2648" y="1920240"/>
            <a:ext cx="3538728" cy="123444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8E1E8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12648" y="1920240"/>
            <a:ext cx="73152" cy="1234440"/>
          </a:xfrm>
          <a:prstGeom prst="rect">
            <a:avLst/>
          </a:prstGeom>
          <a:solidFill>
            <a:srgbClr val="1D5F9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41248" y="2048256"/>
            <a:ext cx="3127248" cy="29260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50" b="1">
                <a:solidFill>
                  <a:srgbClr val="172432"/>
                </a:solidFill>
                <a:latin typeface="맑은 고딕"/>
                <a:ea typeface="맑은 고딕"/>
                <a:cs typeface="맑은 고딕"/>
              </a:rPr>
              <a:t>업로드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41248" y="2432304"/>
            <a:ext cx="3127248" cy="62179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40" b="0">
                <a:solidFill>
                  <a:srgbClr val="617181"/>
                </a:solidFill>
                <a:latin typeface="맑은 고딕"/>
                <a:ea typeface="맑은 고딕"/>
                <a:cs typeface="맑은 고딕"/>
              </a:rPr>
              <a:t>HWPX · Markdown · Excel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434840" y="1920240"/>
            <a:ext cx="3538728" cy="1234440"/>
          </a:xfrm>
          <a:prstGeom prst="roundRect">
            <a:avLst/>
          </a:prstGeom>
          <a:solidFill>
            <a:srgbClr val="F5F9FC"/>
          </a:solidFill>
          <a:ln w="10160">
            <a:solidFill>
              <a:srgbClr val="D8E1E8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434840" y="1920240"/>
            <a:ext cx="73152" cy="1234440"/>
          </a:xfrm>
          <a:prstGeom prst="rect">
            <a:avLst/>
          </a:prstGeom>
          <a:solidFill>
            <a:srgbClr val="177A7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663440" y="2048256"/>
            <a:ext cx="3127248" cy="29260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50" b="1">
                <a:solidFill>
                  <a:srgbClr val="172432"/>
                </a:solidFill>
                <a:latin typeface="맑은 고딕"/>
                <a:ea typeface="맑은 고딕"/>
                <a:cs typeface="맑은 고딕"/>
              </a:rPr>
              <a:t>구조화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663440" y="2432304"/>
            <a:ext cx="3127248" cy="62179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40" b="0">
                <a:solidFill>
                  <a:srgbClr val="617181"/>
                </a:solidFill>
                <a:latin typeface="맑은 고딕"/>
                <a:ea typeface="맑은 고딕"/>
                <a:cs typeface="맑은 고딕"/>
              </a:rPr>
              <a:t>표 · 셀 · 메타정보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257031" y="1920240"/>
            <a:ext cx="3538728" cy="123444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8E1E8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8257031" y="1920240"/>
            <a:ext cx="73152" cy="1234440"/>
          </a:xfrm>
          <a:prstGeom prst="rect">
            <a:avLst/>
          </a:prstGeom>
          <a:solidFill>
            <a:srgbClr val="B76E0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485632" y="2048256"/>
            <a:ext cx="3127248" cy="29260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50" b="1">
                <a:solidFill>
                  <a:srgbClr val="172432"/>
                </a:solidFill>
                <a:latin typeface="맑은 고딕"/>
                <a:ea typeface="맑은 고딕"/>
                <a:cs typeface="맑은 고딕"/>
              </a:rPr>
              <a:t>자동 검수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485632" y="2432304"/>
            <a:ext cx="3127248" cy="62179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40" b="0">
                <a:solidFill>
                  <a:srgbClr val="617181"/>
                </a:solidFill>
                <a:latin typeface="맑은 고딕"/>
                <a:ea typeface="맑은 고딕"/>
                <a:cs typeface="맑은 고딕"/>
              </a:rPr>
              <a:t>합계 · 비율 · 증감 · 언어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12648" y="3474720"/>
            <a:ext cx="3538728" cy="1234440"/>
          </a:xfrm>
          <a:prstGeom prst="roundRect">
            <a:avLst/>
          </a:prstGeom>
          <a:solidFill>
            <a:srgbClr val="F5F9FC"/>
          </a:solidFill>
          <a:ln w="10160">
            <a:solidFill>
              <a:srgbClr val="D8E1E8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12648" y="3474720"/>
            <a:ext cx="73152" cy="1234440"/>
          </a:xfrm>
          <a:prstGeom prst="rect">
            <a:avLst/>
          </a:prstGeom>
          <a:solidFill>
            <a:srgbClr val="B83A4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41248" y="3602736"/>
            <a:ext cx="3127248" cy="29260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50" b="1">
                <a:solidFill>
                  <a:srgbClr val="172432"/>
                </a:solidFill>
                <a:latin typeface="맑은 고딕"/>
                <a:ea typeface="맑은 고딕"/>
                <a:cs typeface="맑은 고딕"/>
              </a:rPr>
              <a:t>결과 확인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41248" y="3986783"/>
            <a:ext cx="3127248" cy="62179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40" b="0">
                <a:solidFill>
                  <a:srgbClr val="617181"/>
                </a:solidFill>
                <a:latin typeface="맑은 고딕"/>
                <a:ea typeface="맑은 고딕"/>
                <a:cs typeface="맑은 고딕"/>
              </a:rPr>
              <a:t>상태 · 근거 · 하이라이트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4434840" y="3474720"/>
            <a:ext cx="3538728" cy="123444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8E1E8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4434840" y="3474720"/>
            <a:ext cx="73152" cy="1234440"/>
          </a:xfrm>
          <a:prstGeom prst="rect">
            <a:avLst/>
          </a:prstGeom>
          <a:solidFill>
            <a:srgbClr val="2E78B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663440" y="3602736"/>
            <a:ext cx="3127248" cy="29260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50" b="1">
                <a:solidFill>
                  <a:srgbClr val="172432"/>
                </a:solidFill>
                <a:latin typeface="맑은 고딕"/>
                <a:ea typeface="맑은 고딕"/>
                <a:cs typeface="맑은 고딕"/>
              </a:rPr>
              <a:t>웹 수정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663440" y="3986783"/>
            <a:ext cx="3127248" cy="62179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40" b="0">
                <a:solidFill>
                  <a:srgbClr val="617181"/>
                </a:solidFill>
                <a:latin typeface="맑은 고딕"/>
                <a:ea typeface="맑은 고딕"/>
                <a:cs typeface="맑은 고딕"/>
              </a:rPr>
              <a:t>인증 후 수정 · 재검수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8257031" y="3474720"/>
            <a:ext cx="3538728" cy="1234440"/>
          </a:xfrm>
          <a:prstGeom prst="roundRect">
            <a:avLst/>
          </a:prstGeom>
          <a:solidFill>
            <a:srgbClr val="F5F9FC"/>
          </a:solidFill>
          <a:ln w="10160">
            <a:solidFill>
              <a:srgbClr val="D8E1E8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8257031" y="3474720"/>
            <a:ext cx="73152" cy="1234440"/>
          </a:xfrm>
          <a:prstGeom prst="rect">
            <a:avLst/>
          </a:prstGeom>
          <a:solidFill>
            <a:srgbClr val="2C7A5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485632" y="3602736"/>
            <a:ext cx="3127248" cy="29260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50" b="1">
                <a:solidFill>
                  <a:srgbClr val="172432"/>
                </a:solidFill>
                <a:latin typeface="맑은 고딕"/>
                <a:ea typeface="맑은 고딕"/>
                <a:cs typeface="맑은 고딕"/>
              </a:rPr>
              <a:t>다음 연도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485632" y="3986783"/>
            <a:ext cx="3127248" cy="62179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40" b="0">
                <a:solidFill>
                  <a:srgbClr val="617181"/>
                </a:solidFill>
                <a:latin typeface="맑은 고딕"/>
                <a:ea typeface="맑은 고딕"/>
                <a:cs typeface="맑은 고딕"/>
              </a:rPr>
              <a:t>원장 3종 + 기준 연보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85800" y="5330952"/>
            <a:ext cx="10789920" cy="4114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0B2545"/>
                </a:solidFill>
                <a:latin typeface="맑은 고딕"/>
                <a:ea typeface="맑은 고딕"/>
                <a:cs typeface="맑은 고딕"/>
              </a:rPr>
              <a:t>핵심 가치: 반복 계산은 시스템이, 최종 판단은 담당자가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D5F9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47472"/>
            <a:ext cx="292608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50" b="1">
                <a:solidFill>
                  <a:srgbClr val="1D5F9A"/>
                </a:solidFill>
                <a:latin typeface="맑은 고딕"/>
                <a:ea typeface="맑은 고딕"/>
                <a:cs typeface="맑은 고딕"/>
              </a:rPr>
              <a:t>ARCHITECTURE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85800"/>
            <a:ext cx="10972800" cy="5029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500" b="1">
                <a:solidFill>
                  <a:srgbClr val="0B2545"/>
                </a:solidFill>
                <a:latin typeface="맑은 고딕"/>
                <a:ea typeface="맑은 고딕"/>
                <a:cs typeface="맑은 고딕"/>
              </a:rPr>
              <a:t>다섯 구성요소와 연결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85216" y="1225296"/>
            <a:ext cx="10881360" cy="32004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617181"/>
                </a:solidFill>
                <a:latin typeface="맑은 고딕"/>
                <a:ea typeface="맑은 고딕"/>
                <a:cs typeface="맑은 고딕"/>
              </a:rPr>
              <a:t>문제가 생기면 화살표 순서대로 어느 경계에서 끊겼는지 본다.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566928" y="1664208"/>
            <a:ext cx="11055096" cy="0"/>
          </a:xfrm>
          <a:prstGeom prst="line">
            <a:avLst/>
          </a:prstGeom>
          <a:ln w="10160">
            <a:solidFill>
              <a:srgbClr val="D8E1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566928" y="6510528"/>
            <a:ext cx="7040880" cy="182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19" b="0">
                <a:solidFill>
                  <a:srgbClr val="8B99A7"/>
                </a:solidFill>
                <a:latin typeface="맑은 고딕"/>
                <a:ea typeface="맑은 고딕"/>
                <a:cs typeface="맑은 고딕"/>
              </a:rPr>
              <a:t>통계연보 검수 보조 시스템  |  프로젝트 인수인계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109960" y="6492240"/>
            <a:ext cx="502920" cy="182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850" b="1">
                <a:solidFill>
                  <a:srgbClr val="8B99A7"/>
                </a:solidFill>
                <a:latin typeface="맑은 고딕"/>
                <a:ea typeface="맑은 고딕"/>
                <a:cs typeface="맑은 고딕"/>
              </a:rPr>
              <a:t>7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30352" y="2340864"/>
            <a:ext cx="1920240" cy="1078992"/>
          </a:xfrm>
          <a:prstGeom prst="roundRect">
            <a:avLst/>
          </a:prstGeom>
          <a:solidFill>
            <a:srgbClr val="EAF3F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" y="2505456"/>
            <a:ext cx="1700784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1D5F9A"/>
                </a:solidFill>
                <a:latin typeface="맑은 고딕"/>
                <a:ea typeface="맑은 고딕"/>
                <a:cs typeface="맑은 고딕"/>
              </a:rPr>
              <a:t>브라우저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2907792"/>
            <a:ext cx="1700784" cy="21945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172432"/>
                </a:solidFill>
                <a:latin typeface="맑은 고딕"/>
                <a:ea typeface="맑은 고딕"/>
                <a:cs typeface="맑은 고딕"/>
              </a:rPr>
              <a:t>사용자 화면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2816352" y="2340864"/>
            <a:ext cx="1938528" cy="1078992"/>
          </a:xfrm>
          <a:prstGeom prst="roundRect">
            <a:avLst/>
          </a:prstGeom>
          <a:solidFill>
            <a:srgbClr val="EAF3F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926080" y="2505456"/>
            <a:ext cx="1719072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1D5F9A"/>
                </a:solidFill>
                <a:latin typeface="맑은 고딕"/>
                <a:ea typeface="맑은 고딕"/>
                <a:cs typeface="맑은 고딕"/>
              </a:rPr>
              <a:t>React + Vite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926080" y="2907792"/>
            <a:ext cx="1719072" cy="21945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172432"/>
                </a:solidFill>
                <a:latin typeface="맑은 고딕"/>
                <a:ea typeface="맑은 고딕"/>
                <a:cs typeface="맑은 고딕"/>
              </a:rPr>
              <a:t>frontend :5173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138928" y="2340864"/>
            <a:ext cx="1938528" cy="1078992"/>
          </a:xfrm>
          <a:prstGeom prst="roundRect">
            <a:avLst/>
          </a:prstGeom>
          <a:solidFill>
            <a:srgbClr val="E8F5F3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248656" y="2505456"/>
            <a:ext cx="1719072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177A74"/>
                </a:solidFill>
                <a:latin typeface="맑은 고딕"/>
                <a:ea typeface="맑은 고딕"/>
                <a:cs typeface="맑은 고딕"/>
              </a:rPr>
              <a:t>FastAPI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248656" y="2907792"/>
            <a:ext cx="1719072" cy="21945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172432"/>
                </a:solidFill>
                <a:latin typeface="맑은 고딕"/>
                <a:ea typeface="맑은 고딕"/>
                <a:cs typeface="맑은 고딕"/>
              </a:rPr>
              <a:t>backend :8000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461504" y="1901952"/>
            <a:ext cx="1965960" cy="1078992"/>
          </a:xfrm>
          <a:prstGeom prst="roundRect">
            <a:avLst/>
          </a:prstGeom>
          <a:solidFill>
            <a:srgbClr val="FFF3D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571231" y="2066544"/>
            <a:ext cx="1746504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B76E00"/>
                </a:solidFill>
                <a:latin typeface="맑은 고딕"/>
                <a:ea typeface="맑은 고딕"/>
                <a:cs typeface="맑은 고딕"/>
              </a:rPr>
              <a:t>DB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571231" y="2468880"/>
            <a:ext cx="1746504" cy="21945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172432"/>
                </a:solidFill>
                <a:latin typeface="맑은 고딕"/>
                <a:ea typeface="맑은 고딕"/>
                <a:cs typeface="맑은 고딕"/>
              </a:rPr>
              <a:t>SQLite / PostgreSQL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461504" y="3255264"/>
            <a:ext cx="1965960" cy="1078992"/>
          </a:xfrm>
          <a:prstGeom prst="roundRect">
            <a:avLst/>
          </a:prstGeom>
          <a:solidFill>
            <a:srgbClr val="E9F6E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571231" y="3419856"/>
            <a:ext cx="1746504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2C7A55"/>
                </a:solidFill>
                <a:latin typeface="맑은 고딕"/>
                <a:ea typeface="맑은 고딕"/>
                <a:cs typeface="맑은 고딕"/>
              </a:rPr>
              <a:t>원본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571231" y="3822191"/>
            <a:ext cx="1746504" cy="21945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172432"/>
                </a:solidFill>
                <a:latin typeface="맑은 고딕"/>
                <a:ea typeface="맑은 고딕"/>
                <a:cs typeface="맑은 고딕"/>
              </a:rPr>
              <a:t>local / S3·R2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9784080" y="2340864"/>
            <a:ext cx="1874519" cy="1078992"/>
          </a:xfrm>
          <a:prstGeom prst="roundRect">
            <a:avLst/>
          </a:prstGeom>
          <a:solidFill>
            <a:srgbClr val="FCECE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893807" y="2505456"/>
            <a:ext cx="1655063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B83A4B"/>
                </a:solidFill>
                <a:latin typeface="맑은 고딕"/>
                <a:ea typeface="맑은 고딕"/>
                <a:cs typeface="맑은 고딕"/>
              </a:rPr>
              <a:t>LLM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893807" y="2907792"/>
            <a:ext cx="1655063" cy="21945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172432"/>
                </a:solidFill>
                <a:latin typeface="맑은 고딕"/>
                <a:ea typeface="맑은 고딕"/>
                <a:cs typeface="맑은 고딕"/>
              </a:rPr>
              <a:t>선택적 외부 호출</a:t>
            </a:r>
          </a:p>
        </p:txBody>
      </p:sp>
      <p:cxnSp>
        <p:nvCxnSpPr>
          <p:cNvPr id="27" name="Connector 26"/>
          <p:cNvCxnSpPr/>
          <p:nvPr/>
        </p:nvCxnSpPr>
        <p:spPr>
          <a:xfrm>
            <a:off x="2450592" y="2880360"/>
            <a:ext cx="365760" cy="0"/>
          </a:xfrm>
          <a:prstGeom prst="line">
            <a:avLst/>
          </a:prstGeom>
          <a:ln w="25400">
            <a:solidFill>
              <a:srgbClr val="1D5F9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or 27"/>
          <p:cNvCxnSpPr/>
          <p:nvPr/>
        </p:nvCxnSpPr>
        <p:spPr>
          <a:xfrm>
            <a:off x="4754880" y="2880360"/>
            <a:ext cx="384048" cy="0"/>
          </a:xfrm>
          <a:prstGeom prst="line">
            <a:avLst/>
          </a:prstGeom>
          <a:ln w="25400">
            <a:solidFill>
              <a:srgbClr val="1D5F9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Connector 28"/>
          <p:cNvCxnSpPr/>
          <p:nvPr/>
        </p:nvCxnSpPr>
        <p:spPr>
          <a:xfrm flipV="1">
            <a:off x="7077456" y="2441448"/>
            <a:ext cx="384048" cy="164592"/>
          </a:xfrm>
          <a:prstGeom prst="line">
            <a:avLst/>
          </a:prstGeom>
          <a:ln w="25400">
            <a:solidFill>
              <a:srgbClr val="1D5F9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/>
          <p:nvPr/>
        </p:nvCxnSpPr>
        <p:spPr>
          <a:xfrm>
            <a:off x="7077456" y="3154680"/>
            <a:ext cx="384048" cy="566928"/>
          </a:xfrm>
          <a:prstGeom prst="line">
            <a:avLst/>
          </a:prstGeom>
          <a:ln w="25400">
            <a:solidFill>
              <a:srgbClr val="1D5F9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0"/>
          <p:cNvCxnSpPr/>
          <p:nvPr/>
        </p:nvCxnSpPr>
        <p:spPr>
          <a:xfrm>
            <a:off x="9427464" y="2441448"/>
            <a:ext cx="356616" cy="438912"/>
          </a:xfrm>
          <a:prstGeom prst="line">
            <a:avLst/>
          </a:prstGeom>
          <a:ln w="25400">
            <a:solidFill>
              <a:srgbClr val="1D5F9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Rounded Rectangle 31"/>
          <p:cNvSpPr/>
          <p:nvPr/>
        </p:nvSpPr>
        <p:spPr>
          <a:xfrm>
            <a:off x="658368" y="4773168"/>
            <a:ext cx="10972800" cy="749808"/>
          </a:xfrm>
          <a:prstGeom prst="roundRect">
            <a:avLst/>
          </a:prstGeom>
          <a:solidFill>
            <a:srgbClr val="F7F9FB"/>
          </a:solidFill>
          <a:ln w="10160">
            <a:solidFill>
              <a:srgbClr val="D8E1E8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896112" y="5001768"/>
            <a:ext cx="10469880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250" b="1">
                <a:solidFill>
                  <a:srgbClr val="0B2545"/>
                </a:solidFill>
                <a:latin typeface="맑은 고딕"/>
                <a:ea typeface="맑은 고딕"/>
                <a:cs typeface="맑은 고딕"/>
              </a:rPr>
              <a:t>운영 worker는 FastAPI와 같은 PostgreSQL·S3/R2를 사용해 queued 작업을 처리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D5F9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47472"/>
            <a:ext cx="292608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50" b="1">
                <a:solidFill>
                  <a:srgbClr val="1D5F9A"/>
                </a:solidFill>
                <a:latin typeface="맑은 고딕"/>
                <a:ea typeface="맑은 고딕"/>
                <a:cs typeface="맑은 고딕"/>
              </a:rPr>
              <a:t>ARCHITECTURE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85800"/>
            <a:ext cx="10972800" cy="5029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500" b="1">
                <a:solidFill>
                  <a:srgbClr val="0B2545"/>
                </a:solidFill>
                <a:latin typeface="맑은 고딕"/>
                <a:ea typeface="맑은 고딕"/>
                <a:cs typeface="맑은 고딕"/>
              </a:rPr>
              <a:t>업로드와 검수는 작업 상태로 이어진다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85216" y="1225296"/>
            <a:ext cx="10881360" cy="32004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617181"/>
                </a:solidFill>
                <a:latin typeface="맑은 고딕"/>
                <a:ea typeface="맑은 고딕"/>
                <a:cs typeface="맑은 고딕"/>
              </a:rPr>
              <a:t>실패해도 단계·오류가 DB에 남고, 조건이 맞으면 재시도할 수 있다.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566928" y="1664208"/>
            <a:ext cx="11055096" cy="0"/>
          </a:xfrm>
          <a:prstGeom prst="line">
            <a:avLst/>
          </a:prstGeom>
          <a:ln w="10160">
            <a:solidFill>
              <a:srgbClr val="D8E1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566928" y="6510528"/>
            <a:ext cx="7040880" cy="182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19" b="0">
                <a:solidFill>
                  <a:srgbClr val="8B99A7"/>
                </a:solidFill>
                <a:latin typeface="맑은 고딕"/>
                <a:ea typeface="맑은 고딕"/>
                <a:cs typeface="맑은 고딕"/>
              </a:rPr>
              <a:t>통계연보 검수 보조 시스템  |  프로젝트 인수인계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109960" y="6492240"/>
            <a:ext cx="502920" cy="182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850" b="1">
                <a:solidFill>
                  <a:srgbClr val="8B99A7"/>
                </a:solidFill>
                <a:latin typeface="맑은 고딕"/>
                <a:ea typeface="맑은 고딕"/>
                <a:cs typeface="맑은 고딕"/>
              </a:rPr>
              <a:t>8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2920" y="2267712"/>
            <a:ext cx="1572768" cy="1389888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8E1E8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12648" y="2432304"/>
            <a:ext cx="384048" cy="21945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1">
                <a:solidFill>
                  <a:srgbClr val="1D5F9A"/>
                </a:solidFill>
                <a:latin typeface="맑은 고딕"/>
                <a:ea typeface="맑은 고딕"/>
                <a:cs typeface="맑은 고딕"/>
              </a:rPr>
              <a:t>01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12648" y="2761488"/>
            <a:ext cx="1353312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250" b="1">
                <a:solidFill>
                  <a:srgbClr val="0B2545"/>
                </a:solidFill>
                <a:latin typeface="맑은 고딕"/>
                <a:ea typeface="맑은 고딕"/>
                <a:cs typeface="맑은 고딕"/>
              </a:rPr>
              <a:t>원본 저장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12648" y="3182112"/>
            <a:ext cx="1353312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19" b="0">
                <a:solidFill>
                  <a:srgbClr val="617181"/>
                </a:solidFill>
                <a:latin typeface="맑은 고딕"/>
                <a:ea typeface="맑은 고딕"/>
                <a:cs typeface="맑은 고딕"/>
              </a:rPr>
              <a:t>크기·SHA-256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084832" y="2761488"/>
            <a:ext cx="329184" cy="29260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1D5F9A"/>
                </a:solidFill>
                <a:latin typeface="맑은 고딕"/>
                <a:ea typeface="맑은 고딕"/>
                <a:cs typeface="맑은 고딕"/>
              </a:rPr>
              <a:t>→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2423160" y="2267712"/>
            <a:ext cx="1572768" cy="1389888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8E1E8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2532888" y="2432304"/>
            <a:ext cx="384048" cy="21945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1">
                <a:solidFill>
                  <a:srgbClr val="177A74"/>
                </a:solidFill>
                <a:latin typeface="맑은 고딕"/>
                <a:ea typeface="맑은 고딕"/>
                <a:cs typeface="맑은 고딕"/>
              </a:rPr>
              <a:t>02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532888" y="2761488"/>
            <a:ext cx="1353312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250" b="1">
                <a:solidFill>
                  <a:srgbClr val="0B2545"/>
                </a:solidFill>
                <a:latin typeface="맑은 고딕"/>
                <a:ea typeface="맑은 고딕"/>
                <a:cs typeface="맑은 고딕"/>
              </a:rPr>
              <a:t>파싱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532888" y="3182112"/>
            <a:ext cx="1353312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19" b="0">
                <a:solidFill>
                  <a:srgbClr val="617181"/>
                </a:solidFill>
                <a:latin typeface="맑은 고딕"/>
                <a:ea typeface="맑은 고딕"/>
                <a:cs typeface="맑은 고딕"/>
              </a:rPr>
              <a:t>표·셀·메타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005072" y="2761488"/>
            <a:ext cx="329184" cy="29260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1D5F9A"/>
                </a:solidFill>
                <a:latin typeface="맑은 고딕"/>
                <a:ea typeface="맑은 고딕"/>
                <a:cs typeface="맑은 고딕"/>
              </a:rPr>
              <a:t>→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343400" y="2267712"/>
            <a:ext cx="1572768" cy="1389888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8E1E8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453128" y="2432304"/>
            <a:ext cx="384048" cy="21945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1">
                <a:solidFill>
                  <a:srgbClr val="2C7A55"/>
                </a:solidFill>
                <a:latin typeface="맑은 고딕"/>
                <a:ea typeface="맑은 고딕"/>
                <a:cs typeface="맑은 고딕"/>
              </a:rPr>
              <a:t>03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453128" y="2761488"/>
            <a:ext cx="1353312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250" b="1">
                <a:solidFill>
                  <a:srgbClr val="0B2545"/>
                </a:solidFill>
                <a:latin typeface="맑은 고딕"/>
                <a:ea typeface="맑은 고딕"/>
                <a:cs typeface="맑은 고딕"/>
              </a:rPr>
              <a:t>DB 저장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453128" y="3182112"/>
            <a:ext cx="1353312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19" b="0">
                <a:solidFill>
                  <a:srgbClr val="617181"/>
                </a:solidFill>
                <a:latin typeface="맑은 고딕"/>
                <a:ea typeface="맑은 고딕"/>
                <a:cs typeface="맑은 고딕"/>
              </a:rPr>
              <a:t>연보 snapshot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925312" y="2761488"/>
            <a:ext cx="329184" cy="29260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1D5F9A"/>
                </a:solidFill>
                <a:latin typeface="맑은 고딕"/>
                <a:ea typeface="맑은 고딕"/>
                <a:cs typeface="맑은 고딕"/>
              </a:rPr>
              <a:t>→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263640" y="2267712"/>
            <a:ext cx="1572768" cy="1389888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8E1E8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373368" y="2432304"/>
            <a:ext cx="384048" cy="21945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1">
                <a:solidFill>
                  <a:srgbClr val="B76E00"/>
                </a:solidFill>
                <a:latin typeface="맑은 고딕"/>
                <a:ea typeface="맑은 고딕"/>
                <a:cs typeface="맑은 고딕"/>
              </a:rPr>
              <a:t>04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373368" y="2761488"/>
            <a:ext cx="1353312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250" b="1">
                <a:solidFill>
                  <a:srgbClr val="0B2545"/>
                </a:solidFill>
                <a:latin typeface="맑은 고딕"/>
                <a:ea typeface="맑은 고딕"/>
                <a:cs typeface="맑은 고딕"/>
              </a:rPr>
              <a:t>계산 검수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373368" y="3182112"/>
            <a:ext cx="1353312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19" b="0">
                <a:solidFill>
                  <a:srgbClr val="617181"/>
                </a:solidFill>
                <a:latin typeface="맑은 고딕"/>
                <a:ea typeface="맑은 고딕"/>
                <a:cs typeface="맑은 고딕"/>
              </a:rPr>
              <a:t>규칙·profile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845552" y="2761488"/>
            <a:ext cx="329184" cy="29260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1D5F9A"/>
                </a:solidFill>
                <a:latin typeface="맑은 고딕"/>
                <a:ea typeface="맑은 고딕"/>
                <a:cs typeface="맑은 고딕"/>
              </a:rPr>
              <a:t>→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8183880" y="2267712"/>
            <a:ext cx="1572768" cy="1389888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8E1E8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293608" y="2432304"/>
            <a:ext cx="384048" cy="21945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1">
                <a:solidFill>
                  <a:srgbClr val="B83A4B"/>
                </a:solidFill>
                <a:latin typeface="맑은 고딕"/>
                <a:ea typeface="맑은 고딕"/>
                <a:cs typeface="맑은 고딕"/>
              </a:rPr>
              <a:t>05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293608" y="2761488"/>
            <a:ext cx="1353312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250" b="1">
                <a:solidFill>
                  <a:srgbClr val="0B2545"/>
                </a:solidFill>
                <a:latin typeface="맑은 고딕"/>
                <a:ea typeface="맑은 고딕"/>
                <a:cs typeface="맑은 고딕"/>
              </a:rPr>
              <a:t>언어 검수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293608" y="3182112"/>
            <a:ext cx="1353312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19" b="0">
                <a:solidFill>
                  <a:srgbClr val="617181"/>
                </a:solidFill>
                <a:latin typeface="맑은 고딕"/>
                <a:ea typeface="맑은 고딕"/>
                <a:cs typeface="맑은 고딕"/>
              </a:rPr>
              <a:t>사전·캐시·LLM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765792" y="2761488"/>
            <a:ext cx="329184" cy="29260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1D5F9A"/>
                </a:solidFill>
                <a:latin typeface="맑은 고딕"/>
                <a:ea typeface="맑은 고딕"/>
                <a:cs typeface="맑은 고딕"/>
              </a:rPr>
              <a:t>→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10104120" y="2267712"/>
            <a:ext cx="1572768" cy="1389888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8E1E8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10213848" y="2432304"/>
            <a:ext cx="384048" cy="21945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1">
                <a:solidFill>
                  <a:srgbClr val="2E78B7"/>
                </a:solidFill>
                <a:latin typeface="맑은 고딕"/>
                <a:ea typeface="맑은 고딕"/>
                <a:cs typeface="맑은 고딕"/>
              </a:rPr>
              <a:t>06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0213848" y="2761488"/>
            <a:ext cx="1353312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250" b="1">
                <a:solidFill>
                  <a:srgbClr val="0B2545"/>
                </a:solidFill>
                <a:latin typeface="맑은 고딕"/>
                <a:ea typeface="맑은 고딕"/>
                <a:cs typeface="맑은 고딕"/>
              </a:rPr>
              <a:t>완료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0213848" y="3182112"/>
            <a:ext cx="1353312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19" b="0">
                <a:solidFill>
                  <a:srgbClr val="617181"/>
                </a:solidFill>
                <a:latin typeface="맑은 고딕"/>
                <a:ea typeface="맑은 고딕"/>
                <a:cs typeface="맑은 고딕"/>
              </a:rPr>
              <a:t>화면·export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658368" y="4279392"/>
            <a:ext cx="5257800" cy="987552"/>
          </a:xfrm>
          <a:prstGeom prst="roundRect">
            <a:avLst/>
          </a:prstGeom>
          <a:solidFill>
            <a:srgbClr val="EAF3FA"/>
          </a:solidFill>
          <a:ln w="10160">
            <a:solidFill>
              <a:srgbClr val="D8E1E8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658368" y="4279392"/>
            <a:ext cx="73152" cy="987552"/>
          </a:xfrm>
          <a:prstGeom prst="rect">
            <a:avLst/>
          </a:prstGeom>
          <a:solidFill>
            <a:srgbClr val="1D5F9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886968" y="4407407"/>
            <a:ext cx="4846320" cy="29260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172432"/>
                </a:solidFill>
                <a:latin typeface="맑은 고딕"/>
                <a:ea typeface="맑은 고딕"/>
                <a:cs typeface="맑은 고딕"/>
              </a:rPr>
              <a:t>inprocess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86968" y="4791456"/>
            <a:ext cx="4846320" cy="374904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617181"/>
                </a:solidFill>
                <a:latin typeface="맑은 고딕"/>
                <a:ea typeface="맑은 고딕"/>
                <a:cs typeface="맑은 고딕"/>
              </a:rPr>
              <a:t>로컬 기본. API 프로세스가 백그라운드 작업 실행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6263640" y="4279392"/>
            <a:ext cx="5257800" cy="987552"/>
          </a:xfrm>
          <a:prstGeom prst="roundRect">
            <a:avLst/>
          </a:prstGeom>
          <a:solidFill>
            <a:srgbClr val="E8F5F3"/>
          </a:solidFill>
          <a:ln w="10160">
            <a:solidFill>
              <a:srgbClr val="D8E1E8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6263640" y="4279392"/>
            <a:ext cx="73152" cy="987552"/>
          </a:xfrm>
          <a:prstGeom prst="rect">
            <a:avLst/>
          </a:prstGeom>
          <a:solidFill>
            <a:srgbClr val="177A7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6492240" y="4407407"/>
            <a:ext cx="4846320" cy="29260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172432"/>
                </a:solidFill>
                <a:latin typeface="맑은 고딕"/>
                <a:ea typeface="맑은 고딕"/>
                <a:cs typeface="맑은 고딕"/>
              </a:rPr>
              <a:t>worker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492240" y="4791456"/>
            <a:ext cx="4846320" cy="374904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617181"/>
                </a:solidFill>
                <a:latin typeface="맑은 고딕"/>
                <a:ea typeface="맑은 고딕"/>
                <a:cs typeface="맑은 고딕"/>
              </a:rPr>
              <a:t>운영 분리. persisted queue + lease + heartbeat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D5F9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47472"/>
            <a:ext cx="292608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50" b="1">
                <a:solidFill>
                  <a:srgbClr val="1D5F9A"/>
                </a:solidFill>
                <a:latin typeface="맑은 고딕"/>
                <a:ea typeface="맑은 고딕"/>
                <a:cs typeface="맑은 고딕"/>
              </a:rPr>
              <a:t>CODE MAP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85800"/>
            <a:ext cx="10972800" cy="5029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500" b="1">
                <a:solidFill>
                  <a:srgbClr val="0B2545"/>
                </a:solidFill>
                <a:latin typeface="맑은 고딕"/>
                <a:ea typeface="맑은 고딕"/>
                <a:cs typeface="맑은 고딕"/>
              </a:rPr>
              <a:t>폴더를 보면 책임이 보인다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85216" y="1225296"/>
            <a:ext cx="10881360" cy="32004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617181"/>
                </a:solidFill>
                <a:latin typeface="맑은 고딕"/>
                <a:ea typeface="맑은 고딕"/>
                <a:cs typeface="맑은 고딕"/>
              </a:rPr>
              <a:t>처음부터 모든 파일을 읽지 말고 변경하려는 기능의 경계부터 좁힌다.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566928" y="1664208"/>
            <a:ext cx="11055096" cy="0"/>
          </a:xfrm>
          <a:prstGeom prst="line">
            <a:avLst/>
          </a:prstGeom>
          <a:ln w="10160">
            <a:solidFill>
              <a:srgbClr val="D8E1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566928" y="6510528"/>
            <a:ext cx="7040880" cy="182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19" b="0">
                <a:solidFill>
                  <a:srgbClr val="8B99A7"/>
                </a:solidFill>
                <a:latin typeface="맑은 고딕"/>
                <a:ea typeface="맑은 고딕"/>
                <a:cs typeface="맑은 고딕"/>
              </a:rPr>
              <a:t>통계연보 검수 보조 시스템  |  프로젝트 인수인계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109960" y="6492240"/>
            <a:ext cx="502920" cy="182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850" b="1">
                <a:solidFill>
                  <a:srgbClr val="8B99A7"/>
                </a:solidFill>
                <a:latin typeface="맑은 고딕"/>
                <a:ea typeface="맑은 고딕"/>
                <a:cs typeface="맑은 고딕"/>
              </a:rPr>
              <a:t>9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1920240"/>
            <a:ext cx="5349240" cy="3584448"/>
          </a:xfrm>
          <a:prstGeom prst="roundRect">
            <a:avLst/>
          </a:prstGeom>
          <a:solidFill>
            <a:srgbClr val="0B254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2959" y="2020824"/>
            <a:ext cx="4983479" cy="237744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90D4FF"/>
                </a:solidFill>
                <a:latin typeface="맑은 고딕"/>
                <a:ea typeface="맑은 고딕"/>
                <a:cs typeface="맑은 고딕"/>
              </a:rPr>
              <a:t>BACKEND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04671" y="2313432"/>
            <a:ext cx="5020055" cy="308152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20" b="0">
                <a:solidFill>
                  <a:srgbClr val="F5F9FC"/>
                </a:solidFill>
                <a:latin typeface="Consolas"/>
                <a:ea typeface="Consolas"/>
                <a:cs typeface="Consolas"/>
              </a:rPr>
              <a:t>backend/app/
├─ main.py        시작·CORS·health
├─ api/           HTTP 경계
├─ application/   유스케이스 연결
├─ services/      업무 규칙
├─ ingest/        HWPX·MD·Excel 파서
├─ validation/    검수 엔진·언어
├─ db/            schema·migration
├─ storage/       local·S3/R2
├─ workflows/     job·worker
└─ yearbook_data/ 원장·재현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90488" y="1920240"/>
            <a:ext cx="5349240" cy="3584448"/>
          </a:xfrm>
          <a:prstGeom prst="roundRect">
            <a:avLst/>
          </a:prstGeom>
          <a:solidFill>
            <a:srgbClr val="0B254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373368" y="2020824"/>
            <a:ext cx="4983479" cy="237744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90D4FF"/>
                </a:solidFill>
                <a:latin typeface="맑은 고딕"/>
                <a:ea typeface="맑은 고딕"/>
                <a:cs typeface="맑은 고딕"/>
              </a:rPr>
              <a:t>FRONTEND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355079" y="2313432"/>
            <a:ext cx="5020055" cy="308152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20" b="0">
                <a:solidFill>
                  <a:srgbClr val="F5F9FC"/>
                </a:solidFill>
                <a:latin typeface="Consolas"/>
                <a:ea typeface="Consolas"/>
                <a:cs typeface="Consolas"/>
              </a:rPr>
              <a:t>frontend/src/
├─ App.tsx        최상위 화면
├─ api/           백엔드 호출
├─ components/    화면 조각
├─ hooks/         상태·비동기 흐름
├─ types.ts       API 타입 계약
├─ utils/         표시·다운로드
└─ styles/        전역 디자인
tests/
├─ backend/tests  unittest
└─ *.test.tsx     Vitest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13232" y="5760720"/>
            <a:ext cx="10716768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B83A4B"/>
                </a:solidFill>
                <a:latin typeface="맑은 고딕"/>
                <a:ea typeface="맑은 고딕"/>
                <a:cs typeface="맑은 고딕"/>
              </a:rPr>
              <a:t>API 계약을 바꾸면 backend models/routes와 frontend types/api를 함께 확인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D5F9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47472"/>
            <a:ext cx="292608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50" b="1">
                <a:solidFill>
                  <a:srgbClr val="1D5F9A"/>
                </a:solidFill>
                <a:latin typeface="맑은 고딕"/>
                <a:ea typeface="맑은 고딕"/>
                <a:cs typeface="맑은 고딕"/>
              </a:rPr>
              <a:t>SETUP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85800"/>
            <a:ext cx="10972800" cy="5029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500" b="1">
                <a:solidFill>
                  <a:srgbClr val="0B2545"/>
                </a:solidFill>
                <a:latin typeface="맑은 고딕"/>
                <a:ea typeface="맑은 고딕"/>
                <a:cs typeface="맑은 고딕"/>
              </a:rPr>
              <a:t>고정해야 할 도구 버전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85216" y="1225296"/>
            <a:ext cx="10881360" cy="32004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617181"/>
                </a:solidFill>
                <a:latin typeface="맑은 고딕"/>
                <a:ea typeface="맑은 고딕"/>
                <a:cs typeface="맑은 고딕"/>
              </a:rPr>
              <a:t>macOS와 Windows의 차이보다 런타임 버전 차이가 더 큰 문제를 만든다.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566928" y="1664208"/>
            <a:ext cx="11055096" cy="0"/>
          </a:xfrm>
          <a:prstGeom prst="line">
            <a:avLst/>
          </a:prstGeom>
          <a:ln w="10160">
            <a:solidFill>
              <a:srgbClr val="D8E1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566928" y="6510528"/>
            <a:ext cx="7040880" cy="182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19" b="0">
                <a:solidFill>
                  <a:srgbClr val="8B99A7"/>
                </a:solidFill>
                <a:latin typeface="맑은 고딕"/>
                <a:ea typeface="맑은 고딕"/>
                <a:cs typeface="맑은 고딕"/>
              </a:rPr>
              <a:t>통계연보 검수 보조 시스템  |  프로젝트 인수인계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109960" y="6492240"/>
            <a:ext cx="502920" cy="182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850" b="1">
                <a:solidFill>
                  <a:srgbClr val="8B99A7"/>
                </a:solidFill>
                <a:latin typeface="맑은 고딕"/>
                <a:ea typeface="맑은 고딕"/>
                <a:cs typeface="맑은 고딕"/>
              </a:rPr>
              <a:t>10</a:t>
            </a:r>
          </a:p>
        </p:txBody>
      </p:sp>
      <p:sp>
        <p:nvSpPr>
          <p:cNvPr id="9" name="Rectangle 8"/>
          <p:cNvSpPr/>
          <p:nvPr/>
        </p:nvSpPr>
        <p:spPr>
          <a:xfrm>
            <a:off x="841248" y="1975104"/>
            <a:ext cx="1828800" cy="548640"/>
          </a:xfrm>
          <a:prstGeom prst="rect">
            <a:avLst/>
          </a:prstGeom>
          <a:solidFill>
            <a:srgbClr val="0B2545"/>
          </a:solidFill>
          <a:ln w="7620">
            <a:solidFill>
              <a:srgbClr val="D8E1E8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2029968"/>
            <a:ext cx="1682496" cy="4389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1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도구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670048" y="1975104"/>
            <a:ext cx="2331720" cy="548640"/>
          </a:xfrm>
          <a:prstGeom prst="rect">
            <a:avLst/>
          </a:prstGeom>
          <a:solidFill>
            <a:srgbClr val="0B2545"/>
          </a:solidFill>
          <a:ln w="7620">
            <a:solidFill>
              <a:srgbClr val="D8E1E8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743200" y="2029968"/>
            <a:ext cx="2185415" cy="4389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1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권장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001768" y="1975104"/>
            <a:ext cx="6355080" cy="548640"/>
          </a:xfrm>
          <a:prstGeom prst="rect">
            <a:avLst/>
          </a:prstGeom>
          <a:solidFill>
            <a:srgbClr val="0B2545"/>
          </a:solidFill>
          <a:ln w="7620">
            <a:solidFill>
              <a:srgbClr val="D8E1E8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074920" y="2029968"/>
            <a:ext cx="6208776" cy="4389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1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프로젝트 기준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41248" y="2523744"/>
            <a:ext cx="1828800" cy="548640"/>
          </a:xfrm>
          <a:prstGeom prst="rect">
            <a:avLst/>
          </a:prstGeom>
          <a:solidFill>
            <a:srgbClr val="FFFFFF"/>
          </a:solidFill>
          <a:ln w="7620">
            <a:solidFill>
              <a:srgbClr val="D8E1E8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14400" y="2578608"/>
            <a:ext cx="1682496" cy="4389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30" b="0">
                <a:solidFill>
                  <a:srgbClr val="172432"/>
                </a:solidFill>
                <a:latin typeface="맑은 고딕"/>
                <a:ea typeface="맑은 고딕"/>
                <a:cs typeface="맑은 고딕"/>
              </a:rPr>
              <a:t>Python</a:t>
            </a:r>
          </a:p>
        </p:txBody>
      </p:sp>
      <p:sp>
        <p:nvSpPr>
          <p:cNvPr id="17" name="Rectangle 16"/>
          <p:cNvSpPr/>
          <p:nvPr/>
        </p:nvSpPr>
        <p:spPr>
          <a:xfrm>
            <a:off x="2670048" y="2523744"/>
            <a:ext cx="2331720" cy="548640"/>
          </a:xfrm>
          <a:prstGeom prst="rect">
            <a:avLst/>
          </a:prstGeom>
          <a:solidFill>
            <a:srgbClr val="FFFFFF"/>
          </a:solidFill>
          <a:ln w="7620">
            <a:solidFill>
              <a:srgbClr val="D8E1E8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2743200" y="2578608"/>
            <a:ext cx="2185415" cy="4389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30" b="0">
                <a:solidFill>
                  <a:srgbClr val="172432"/>
                </a:solidFill>
                <a:latin typeface="맑은 고딕"/>
                <a:ea typeface="맑은 고딕"/>
                <a:cs typeface="맑은 고딕"/>
              </a:rPr>
              <a:t>3.12.x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001768" y="2523744"/>
            <a:ext cx="6355080" cy="548640"/>
          </a:xfrm>
          <a:prstGeom prst="rect">
            <a:avLst/>
          </a:prstGeom>
          <a:solidFill>
            <a:srgbClr val="FFFFFF"/>
          </a:solidFill>
          <a:ln w="7620">
            <a:solidFill>
              <a:srgbClr val="D8E1E8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074920" y="2578608"/>
            <a:ext cx="6208776" cy="4389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30" b="0">
                <a:solidFill>
                  <a:srgbClr val="172432"/>
                </a:solidFill>
                <a:latin typeface="맑은 고딕"/>
                <a:ea typeface="맑은 고딕"/>
                <a:cs typeface="맑은 고딕"/>
              </a:rPr>
              <a:t>Dockerfile이 python:3.12-slim</a:t>
            </a:r>
          </a:p>
        </p:txBody>
      </p:sp>
      <p:sp>
        <p:nvSpPr>
          <p:cNvPr id="21" name="Rectangle 20"/>
          <p:cNvSpPr/>
          <p:nvPr/>
        </p:nvSpPr>
        <p:spPr>
          <a:xfrm>
            <a:off x="841248" y="3072384"/>
            <a:ext cx="1828800" cy="548640"/>
          </a:xfrm>
          <a:prstGeom prst="rect">
            <a:avLst/>
          </a:prstGeom>
          <a:solidFill>
            <a:srgbClr val="F5F9FC"/>
          </a:solidFill>
          <a:ln w="7620">
            <a:solidFill>
              <a:srgbClr val="D8E1E8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14400" y="3127248"/>
            <a:ext cx="1682496" cy="4389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30" b="0">
                <a:solidFill>
                  <a:srgbClr val="172432"/>
                </a:solidFill>
                <a:latin typeface="맑은 고딕"/>
                <a:ea typeface="맑은 고딕"/>
                <a:cs typeface="맑은 고딕"/>
              </a:rPr>
              <a:t>Node.js</a:t>
            </a:r>
          </a:p>
        </p:txBody>
      </p:sp>
      <p:sp>
        <p:nvSpPr>
          <p:cNvPr id="23" name="Rectangle 22"/>
          <p:cNvSpPr/>
          <p:nvPr/>
        </p:nvSpPr>
        <p:spPr>
          <a:xfrm>
            <a:off x="2670048" y="3072384"/>
            <a:ext cx="2331720" cy="548640"/>
          </a:xfrm>
          <a:prstGeom prst="rect">
            <a:avLst/>
          </a:prstGeom>
          <a:solidFill>
            <a:srgbClr val="F5F9FC"/>
          </a:solidFill>
          <a:ln w="7620">
            <a:solidFill>
              <a:srgbClr val="D8E1E8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2743200" y="3127248"/>
            <a:ext cx="2185415" cy="4389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30" b="0">
                <a:solidFill>
                  <a:srgbClr val="172432"/>
                </a:solidFill>
                <a:latin typeface="맑은 고딕"/>
                <a:ea typeface="맑은 고딕"/>
                <a:cs typeface="맑은 고딕"/>
              </a:rPr>
              <a:t>22.12+ / 22 LTS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001768" y="3072384"/>
            <a:ext cx="6355080" cy="548640"/>
          </a:xfrm>
          <a:prstGeom prst="rect">
            <a:avLst/>
          </a:prstGeom>
          <a:solidFill>
            <a:srgbClr val="F5F9FC"/>
          </a:solidFill>
          <a:ln w="7620">
            <a:solidFill>
              <a:srgbClr val="D8E1E8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074920" y="3127248"/>
            <a:ext cx="6208776" cy="4389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30" b="0">
                <a:solidFill>
                  <a:srgbClr val="172432"/>
                </a:solidFill>
                <a:latin typeface="맑은 고딕"/>
                <a:ea typeface="맑은 고딕"/>
                <a:cs typeface="맑은 고딕"/>
              </a:rPr>
              <a:t>Vite 8: ^20.19 또는 &gt;=22.12</a:t>
            </a:r>
          </a:p>
        </p:txBody>
      </p:sp>
      <p:sp>
        <p:nvSpPr>
          <p:cNvPr id="27" name="Rectangle 26"/>
          <p:cNvSpPr/>
          <p:nvPr/>
        </p:nvSpPr>
        <p:spPr>
          <a:xfrm>
            <a:off x="841248" y="3621024"/>
            <a:ext cx="1828800" cy="548640"/>
          </a:xfrm>
          <a:prstGeom prst="rect">
            <a:avLst/>
          </a:prstGeom>
          <a:solidFill>
            <a:srgbClr val="FFFFFF"/>
          </a:solidFill>
          <a:ln w="7620">
            <a:solidFill>
              <a:srgbClr val="D8E1E8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14400" y="3675887"/>
            <a:ext cx="1682496" cy="4389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30" b="0">
                <a:solidFill>
                  <a:srgbClr val="172432"/>
                </a:solidFill>
                <a:latin typeface="맑은 고딕"/>
                <a:ea typeface="맑은 고딕"/>
                <a:cs typeface="맑은 고딕"/>
              </a:rPr>
              <a:t>npm</a:t>
            </a:r>
          </a:p>
        </p:txBody>
      </p:sp>
      <p:sp>
        <p:nvSpPr>
          <p:cNvPr id="29" name="Rectangle 28"/>
          <p:cNvSpPr/>
          <p:nvPr/>
        </p:nvSpPr>
        <p:spPr>
          <a:xfrm>
            <a:off x="2670048" y="3621024"/>
            <a:ext cx="2331720" cy="548640"/>
          </a:xfrm>
          <a:prstGeom prst="rect">
            <a:avLst/>
          </a:prstGeom>
          <a:solidFill>
            <a:srgbClr val="FFFFFF"/>
          </a:solidFill>
          <a:ln w="7620">
            <a:solidFill>
              <a:srgbClr val="D8E1E8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2743200" y="3675887"/>
            <a:ext cx="2185415" cy="4389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30" b="0">
                <a:solidFill>
                  <a:srgbClr val="172432"/>
                </a:solidFill>
                <a:latin typeface="맑은 고딕"/>
                <a:ea typeface="맑은 고딕"/>
                <a:cs typeface="맑은 고딕"/>
              </a:rPr>
              <a:t>Node 포함 버전</a:t>
            </a:r>
          </a:p>
        </p:txBody>
      </p:sp>
      <p:sp>
        <p:nvSpPr>
          <p:cNvPr id="31" name="Rectangle 30"/>
          <p:cNvSpPr/>
          <p:nvPr/>
        </p:nvSpPr>
        <p:spPr>
          <a:xfrm>
            <a:off x="5001768" y="3621024"/>
            <a:ext cx="6355080" cy="548640"/>
          </a:xfrm>
          <a:prstGeom prst="rect">
            <a:avLst/>
          </a:prstGeom>
          <a:solidFill>
            <a:srgbClr val="FFFFFF"/>
          </a:solidFill>
          <a:ln w="7620">
            <a:solidFill>
              <a:srgbClr val="D8E1E8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074920" y="3675887"/>
            <a:ext cx="6208776" cy="4389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30" b="0">
                <a:solidFill>
                  <a:srgbClr val="172432"/>
                </a:solidFill>
                <a:latin typeface="맑은 고딕"/>
                <a:ea typeface="맑은 고딕"/>
                <a:cs typeface="맑은 고딕"/>
              </a:rPr>
              <a:t>package-lock v3 + npm ci</a:t>
            </a:r>
          </a:p>
        </p:txBody>
      </p:sp>
      <p:sp>
        <p:nvSpPr>
          <p:cNvPr id="33" name="Rectangle 32"/>
          <p:cNvSpPr/>
          <p:nvPr/>
        </p:nvSpPr>
        <p:spPr>
          <a:xfrm>
            <a:off x="841248" y="4169664"/>
            <a:ext cx="1828800" cy="548640"/>
          </a:xfrm>
          <a:prstGeom prst="rect">
            <a:avLst/>
          </a:prstGeom>
          <a:solidFill>
            <a:srgbClr val="F5F9FC"/>
          </a:solidFill>
          <a:ln w="7620">
            <a:solidFill>
              <a:srgbClr val="D8E1E8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914400" y="4224528"/>
            <a:ext cx="1682496" cy="4389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30" b="0">
                <a:solidFill>
                  <a:srgbClr val="172432"/>
                </a:solidFill>
                <a:latin typeface="맑은 고딕"/>
                <a:ea typeface="맑은 고딕"/>
                <a:cs typeface="맑은 고딕"/>
              </a:rPr>
              <a:t>Git</a:t>
            </a:r>
          </a:p>
        </p:txBody>
      </p:sp>
      <p:sp>
        <p:nvSpPr>
          <p:cNvPr id="35" name="Rectangle 34"/>
          <p:cNvSpPr/>
          <p:nvPr/>
        </p:nvSpPr>
        <p:spPr>
          <a:xfrm>
            <a:off x="2670048" y="4169664"/>
            <a:ext cx="2331720" cy="548640"/>
          </a:xfrm>
          <a:prstGeom prst="rect">
            <a:avLst/>
          </a:prstGeom>
          <a:solidFill>
            <a:srgbClr val="F5F9FC"/>
          </a:solidFill>
          <a:ln w="7620">
            <a:solidFill>
              <a:srgbClr val="D8E1E8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2743200" y="4224528"/>
            <a:ext cx="2185415" cy="4389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30" b="0">
                <a:solidFill>
                  <a:srgbClr val="172432"/>
                </a:solidFill>
                <a:latin typeface="맑은 고딕"/>
                <a:ea typeface="맑은 고딕"/>
                <a:cs typeface="맑은 고딕"/>
              </a:rPr>
              <a:t>최신 안정</a:t>
            </a:r>
          </a:p>
        </p:txBody>
      </p:sp>
      <p:sp>
        <p:nvSpPr>
          <p:cNvPr id="37" name="Rectangle 36"/>
          <p:cNvSpPr/>
          <p:nvPr/>
        </p:nvSpPr>
        <p:spPr>
          <a:xfrm>
            <a:off x="5001768" y="4169664"/>
            <a:ext cx="6355080" cy="548640"/>
          </a:xfrm>
          <a:prstGeom prst="rect">
            <a:avLst/>
          </a:prstGeom>
          <a:solidFill>
            <a:srgbClr val="F5F9FC"/>
          </a:solidFill>
          <a:ln w="7620">
            <a:solidFill>
              <a:srgbClr val="D8E1E8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5074920" y="4224528"/>
            <a:ext cx="6208776" cy="4389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30" b="0">
                <a:solidFill>
                  <a:srgbClr val="172432"/>
                </a:solidFill>
                <a:latin typeface="맑은 고딕"/>
                <a:ea typeface="맑은 고딕"/>
                <a:cs typeface="맑은 고딕"/>
              </a:rPr>
              <a:t>Windows longpaths / LF 주의</a:t>
            </a:r>
          </a:p>
        </p:txBody>
      </p:sp>
      <p:sp>
        <p:nvSpPr>
          <p:cNvPr id="39" name="Rectangle 38"/>
          <p:cNvSpPr/>
          <p:nvPr/>
        </p:nvSpPr>
        <p:spPr>
          <a:xfrm>
            <a:off x="841248" y="4718304"/>
            <a:ext cx="1828800" cy="548640"/>
          </a:xfrm>
          <a:prstGeom prst="rect">
            <a:avLst/>
          </a:prstGeom>
          <a:solidFill>
            <a:srgbClr val="FFFFFF"/>
          </a:solidFill>
          <a:ln w="7620">
            <a:solidFill>
              <a:srgbClr val="D8E1E8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914400" y="4773168"/>
            <a:ext cx="1682496" cy="4389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30" b="0">
                <a:solidFill>
                  <a:srgbClr val="172432"/>
                </a:solidFill>
                <a:latin typeface="맑은 고딕"/>
                <a:ea typeface="맑은 고딕"/>
                <a:cs typeface="맑은 고딕"/>
              </a:rPr>
              <a:t>Editor</a:t>
            </a:r>
          </a:p>
        </p:txBody>
      </p:sp>
      <p:sp>
        <p:nvSpPr>
          <p:cNvPr id="41" name="Rectangle 40"/>
          <p:cNvSpPr/>
          <p:nvPr/>
        </p:nvSpPr>
        <p:spPr>
          <a:xfrm>
            <a:off x="2670048" y="4718304"/>
            <a:ext cx="2331720" cy="548640"/>
          </a:xfrm>
          <a:prstGeom prst="rect">
            <a:avLst/>
          </a:prstGeom>
          <a:solidFill>
            <a:srgbClr val="FFFFFF"/>
          </a:solidFill>
          <a:ln w="7620">
            <a:solidFill>
              <a:srgbClr val="D8E1E8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2743200" y="4773168"/>
            <a:ext cx="2185415" cy="4389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30" b="0">
                <a:solidFill>
                  <a:srgbClr val="172432"/>
                </a:solidFill>
                <a:latin typeface="맑은 고딕"/>
                <a:ea typeface="맑은 고딕"/>
                <a:cs typeface="맑은 고딕"/>
              </a:rPr>
              <a:t>VS Code 권장</a:t>
            </a:r>
          </a:p>
        </p:txBody>
      </p:sp>
      <p:sp>
        <p:nvSpPr>
          <p:cNvPr id="43" name="Rectangle 42"/>
          <p:cNvSpPr/>
          <p:nvPr/>
        </p:nvSpPr>
        <p:spPr>
          <a:xfrm>
            <a:off x="5001768" y="4718304"/>
            <a:ext cx="6355080" cy="548640"/>
          </a:xfrm>
          <a:prstGeom prst="rect">
            <a:avLst/>
          </a:prstGeom>
          <a:solidFill>
            <a:srgbClr val="FFFFFF"/>
          </a:solidFill>
          <a:ln w="7620">
            <a:solidFill>
              <a:srgbClr val="D8E1E8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5074920" y="4773168"/>
            <a:ext cx="6208776" cy="4389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30" b="0">
                <a:solidFill>
                  <a:srgbClr val="172432"/>
                </a:solidFill>
                <a:latin typeface="맑은 고딕"/>
                <a:ea typeface="맑은 고딕"/>
                <a:cs typeface="맑은 고딕"/>
              </a:rPr>
              <a:t>Python + TypeScript + PowerShell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841248" y="5541264"/>
            <a:ext cx="10515600" cy="512064"/>
          </a:xfrm>
          <a:prstGeom prst="roundRect">
            <a:avLst/>
          </a:prstGeom>
          <a:solidFill>
            <a:srgbClr val="FFF3D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1051560" y="5696712"/>
            <a:ext cx="10104120" cy="21031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80" b="1">
                <a:solidFill>
                  <a:srgbClr val="B76E00"/>
                </a:solidFill>
                <a:latin typeface="맑은 고딕"/>
                <a:ea typeface="맑은 고딕"/>
                <a:cs typeface="맑은 고딕"/>
              </a:rPr>
              <a:t>다른 OS의 .venv와 node_modules를 복사하지 말고 새 PC에서 다시 만든다.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D5F9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47472"/>
            <a:ext cx="292608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50" b="1">
                <a:solidFill>
                  <a:srgbClr val="1D5F9A"/>
                </a:solidFill>
                <a:latin typeface="맑은 고딕"/>
                <a:ea typeface="맑은 고딕"/>
                <a:cs typeface="맑은 고딕"/>
              </a:rPr>
              <a:t>SETUP · MACOS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85800"/>
            <a:ext cx="10972800" cy="5029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500" b="1">
                <a:solidFill>
                  <a:srgbClr val="0B2545"/>
                </a:solidFill>
                <a:latin typeface="맑은 고딕"/>
                <a:ea typeface="맑은 고딕"/>
                <a:cs typeface="맑은 고딕"/>
              </a:rPr>
              <a:t>macOS 첫 설치 — 저장소 루트에서 시작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85216" y="1225296"/>
            <a:ext cx="10881360" cy="32004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617181"/>
                </a:solidFill>
                <a:latin typeface="맑은 고딕"/>
                <a:ea typeface="맑은 고딕"/>
                <a:cs typeface="맑은 고딕"/>
              </a:rPr>
              <a:t>빈 테스트 DB와 LLM OFF가 안전한 첫 실행 기준이다.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566928" y="1664208"/>
            <a:ext cx="11055096" cy="0"/>
          </a:xfrm>
          <a:prstGeom prst="line">
            <a:avLst/>
          </a:prstGeom>
          <a:ln w="10160">
            <a:solidFill>
              <a:srgbClr val="D8E1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566928" y="6510528"/>
            <a:ext cx="7040880" cy="182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19" b="0">
                <a:solidFill>
                  <a:srgbClr val="8B99A7"/>
                </a:solidFill>
                <a:latin typeface="맑은 고딕"/>
                <a:ea typeface="맑은 고딕"/>
                <a:cs typeface="맑은 고딕"/>
              </a:rPr>
              <a:t>통계연보 검수 보조 시스템  |  프로젝트 인수인계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109960" y="6492240"/>
            <a:ext cx="502920" cy="182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850" b="1">
                <a:solidFill>
                  <a:srgbClr val="8B99A7"/>
                </a:solidFill>
                <a:latin typeface="맑은 고딕"/>
                <a:ea typeface="맑은 고딕"/>
                <a:cs typeface="맑은 고딕"/>
              </a:rPr>
              <a:t>11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" y="1920240"/>
            <a:ext cx="5532120" cy="3429000"/>
          </a:xfrm>
          <a:prstGeom prst="roundRect">
            <a:avLst/>
          </a:prstGeom>
          <a:solidFill>
            <a:srgbClr val="0B254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04672" y="2020824"/>
            <a:ext cx="5166359" cy="237744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90D4FF"/>
                </a:solidFill>
                <a:latin typeface="맑은 고딕"/>
                <a:ea typeface="맑은 고딕"/>
                <a:cs typeface="맑은 고딕"/>
              </a:rPr>
              <a:t>1 · CODE + BACKEND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86384" y="2313432"/>
            <a:ext cx="5202936" cy="292607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80" b="0">
                <a:solidFill>
                  <a:srgbClr val="F5F9FC"/>
                </a:solidFill>
                <a:latin typeface="Consolas"/>
                <a:ea typeface="Consolas"/>
                <a:cs typeface="Consolas"/>
              </a:rPr>
              <a:t>git clone https://github.com/wtdnrr/statyearbook.git
cd statyearbook
cp .env.example .env
python3.12 -m venv .venv
./.venv/bin/python -m pip install --upgrade pip
./.venv/bin/python -m pip install -r backend/requirements.txt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327648" y="1920240"/>
            <a:ext cx="5230368" cy="3429000"/>
          </a:xfrm>
          <a:prstGeom prst="roundRect">
            <a:avLst/>
          </a:prstGeom>
          <a:solidFill>
            <a:srgbClr val="0B254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510528" y="2020824"/>
            <a:ext cx="4864607" cy="237744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90D4FF"/>
                </a:solidFill>
                <a:latin typeface="맑은 고딕"/>
                <a:ea typeface="맑은 고딕"/>
                <a:cs typeface="맑은 고딕"/>
              </a:rPr>
              <a:t>2 · FRONTEND + RUN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92240" y="2313432"/>
            <a:ext cx="4901183" cy="292607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40" b="0">
                <a:solidFill>
                  <a:srgbClr val="F5F9FC"/>
                </a:solidFill>
                <a:latin typeface="Consolas"/>
                <a:ea typeface="Consolas"/>
                <a:cs typeface="Consolas"/>
              </a:rPr>
              <a:t>cd frontend
npm ci
npm run build
cd ..
# Terminal 1
./.venv/bin/python -m uvicorn app.main:app \
  --app-dir backend --reload
# Terminal 2
cd frontend &amp;&amp; npm run dev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85800" y="5687568"/>
            <a:ext cx="10771632" cy="32004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250" b="1">
                <a:solidFill>
                  <a:srgbClr val="1D5F9A"/>
                </a:solidFill>
                <a:latin typeface="맑은 고딕"/>
                <a:ea typeface="맑은 고딕"/>
                <a:cs typeface="맑은 고딕"/>
              </a:rPr>
              <a:t>확인  http://127.0.0.1:5173  ·  /health  ·  /ready  ·  /docs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D5F9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47472"/>
            <a:ext cx="292608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50" b="1">
                <a:solidFill>
                  <a:srgbClr val="1D5F9A"/>
                </a:solidFill>
                <a:latin typeface="맑은 고딕"/>
                <a:ea typeface="맑은 고딕"/>
                <a:cs typeface="맑은 고딕"/>
              </a:rPr>
              <a:t>SETUP · WINDOWS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85800"/>
            <a:ext cx="10972800" cy="5029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500" b="1">
                <a:solidFill>
                  <a:srgbClr val="0B2545"/>
                </a:solidFill>
                <a:latin typeface="맑은 고딕"/>
                <a:ea typeface="맑은 고딕"/>
                <a:cs typeface="맑은 고딕"/>
              </a:rPr>
              <a:t>Windows 첫 설치 — 짧은 로컬 경로를 사용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85216" y="1225296"/>
            <a:ext cx="10881360" cy="32004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617181"/>
                </a:solidFill>
                <a:latin typeface="맑은 고딕"/>
                <a:ea typeface="맑은 고딕"/>
                <a:cs typeface="맑은 고딕"/>
              </a:rPr>
              <a:t>권장 위치 C:\work\statyearbook · OneDrive/네트워크 드라이브는 피한다.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566928" y="1664208"/>
            <a:ext cx="11055096" cy="0"/>
          </a:xfrm>
          <a:prstGeom prst="line">
            <a:avLst/>
          </a:prstGeom>
          <a:ln w="10160">
            <a:solidFill>
              <a:srgbClr val="D8E1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566928" y="6510528"/>
            <a:ext cx="7040880" cy="182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19" b="0">
                <a:solidFill>
                  <a:srgbClr val="8B99A7"/>
                </a:solidFill>
                <a:latin typeface="맑은 고딕"/>
                <a:ea typeface="맑은 고딕"/>
                <a:cs typeface="맑은 고딕"/>
              </a:rPr>
              <a:t>통계연보 검수 보조 시스템  |  프로젝트 인수인계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109960" y="6492240"/>
            <a:ext cx="502920" cy="182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850" b="1">
                <a:solidFill>
                  <a:srgbClr val="8B99A7"/>
                </a:solidFill>
                <a:latin typeface="맑은 고딕"/>
                <a:ea typeface="맑은 고딕"/>
                <a:cs typeface="맑은 고딕"/>
              </a:rPr>
              <a:t>12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" y="1920240"/>
            <a:ext cx="5559552" cy="3474720"/>
          </a:xfrm>
          <a:prstGeom prst="roundRect">
            <a:avLst/>
          </a:prstGeom>
          <a:solidFill>
            <a:srgbClr val="0B254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04672" y="2020824"/>
            <a:ext cx="5193792" cy="237744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90D4FF"/>
                </a:solidFill>
                <a:latin typeface="맑은 고딕"/>
                <a:ea typeface="맑은 고딕"/>
                <a:cs typeface="맑은 고딕"/>
              </a:rPr>
              <a:t>1 · CODE + BACKEND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86384" y="2313432"/>
            <a:ext cx="5230368" cy="297179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69" b="0">
                <a:solidFill>
                  <a:srgbClr val="F5F9FC"/>
                </a:solidFill>
                <a:latin typeface="Consolas"/>
                <a:ea typeface="Consolas"/>
                <a:cs typeface="Consolas"/>
              </a:rPr>
              <a:t>Set-Location C:\work
git -c core.longpaths=true -c core.autocrlf=false clone `
  https://github.com/wtdnrr/statyearbook.git
Set-Location .\statyearbook
Copy-Item .env.example .env
py -3.12 -m venv .venv
&amp; .\.venv\Scripts\python.exe -m pip install `
  -r backend\requirements.txt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355080" y="1920240"/>
            <a:ext cx="5193792" cy="3474720"/>
          </a:xfrm>
          <a:prstGeom prst="roundRect">
            <a:avLst/>
          </a:prstGeom>
          <a:solidFill>
            <a:srgbClr val="0B254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537960" y="2020824"/>
            <a:ext cx="4828031" cy="237744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90D4FF"/>
                </a:solidFill>
                <a:latin typeface="맑은 고딕"/>
                <a:ea typeface="맑은 고딕"/>
                <a:cs typeface="맑은 고딕"/>
              </a:rPr>
              <a:t>2 · FRONTEND + RUN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19672" y="2313432"/>
            <a:ext cx="4864607" cy="297179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69" b="0">
                <a:solidFill>
                  <a:srgbClr val="F5F9FC"/>
                </a:solidFill>
                <a:latin typeface="Consolas"/>
                <a:ea typeface="Consolas"/>
                <a:cs typeface="Consolas"/>
              </a:rPr>
              <a:t>Set-Location frontend
npm ci
npm run build
Set-Location ..
# PowerShell 1
&amp; .\.venv\Scripts\python.exe -m uvicorn `
  app.main:app --app-dir backend --reload
# PowerShell 2
Set-Location frontend
npm run dev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85800" y="5696712"/>
            <a:ext cx="10771632" cy="30175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177A74"/>
                </a:solidFill>
                <a:latin typeface="맑은 고딕"/>
                <a:ea typeface="맑은 고딕"/>
                <a:cs typeface="맑은 고딕"/>
              </a:rPr>
              <a:t>Activate.ps1이 막혀도 python.exe 직접 실행 방식은 정상 동작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D5F9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47472"/>
            <a:ext cx="292608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50" b="1">
                <a:solidFill>
                  <a:srgbClr val="1D5F9A"/>
                </a:solidFill>
                <a:latin typeface="맑은 고딕"/>
                <a:ea typeface="맑은 고딕"/>
                <a:cs typeface="맑은 고딕"/>
              </a:rPr>
              <a:t>SETUP · WINDOWS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85800"/>
            <a:ext cx="10972800" cy="5029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500" b="1">
                <a:solidFill>
                  <a:srgbClr val="0B2545"/>
                </a:solidFill>
                <a:latin typeface="맑은 고딕"/>
                <a:ea typeface="맑은 고딕"/>
                <a:cs typeface="맑은 고딕"/>
              </a:rPr>
              <a:t>Windows에서 꼭 지킬 네 가지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85216" y="1225296"/>
            <a:ext cx="10881360" cy="32004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617181"/>
                </a:solidFill>
                <a:latin typeface="맑은 고딕"/>
                <a:ea typeface="맑은 고딕"/>
                <a:cs typeface="맑은 고딕"/>
              </a:rPr>
              <a:t>OS 차이로 생기는 가짜 오류를 먼저 제거한다.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566928" y="1664208"/>
            <a:ext cx="11055096" cy="0"/>
          </a:xfrm>
          <a:prstGeom prst="line">
            <a:avLst/>
          </a:prstGeom>
          <a:ln w="10160">
            <a:solidFill>
              <a:srgbClr val="D8E1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566928" y="6510528"/>
            <a:ext cx="7040880" cy="182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19" b="0">
                <a:solidFill>
                  <a:srgbClr val="8B99A7"/>
                </a:solidFill>
                <a:latin typeface="맑은 고딕"/>
                <a:ea typeface="맑은 고딕"/>
                <a:cs typeface="맑은 고딕"/>
              </a:rPr>
              <a:t>통계연보 검수 보조 시스템  |  프로젝트 인수인계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109960" y="6492240"/>
            <a:ext cx="502920" cy="182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850" b="1">
                <a:solidFill>
                  <a:srgbClr val="8B99A7"/>
                </a:solidFill>
                <a:latin typeface="맑은 고딕"/>
                <a:ea typeface="맑은 고딕"/>
                <a:cs typeface="맑은 고딕"/>
              </a:rPr>
              <a:t>13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58368" y="1993392"/>
            <a:ext cx="5266944" cy="1307592"/>
          </a:xfrm>
          <a:prstGeom prst="roundRect">
            <a:avLst/>
          </a:prstGeom>
          <a:solidFill>
            <a:srgbClr val="EAF3F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59536" y="2157984"/>
            <a:ext cx="1024128" cy="29260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1D5F9A"/>
                </a:solidFill>
                <a:latin typeface="맑은 고딕"/>
                <a:ea typeface="맑은 고딕"/>
                <a:cs typeface="맑은 고딕"/>
              </a:rPr>
              <a:t>경로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892808" y="2139696"/>
            <a:ext cx="3730752" cy="32004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0B2545"/>
                </a:solidFill>
                <a:latin typeface="Consolas"/>
                <a:ea typeface="Consolas"/>
                <a:cs typeface="Consolas"/>
              </a:rPr>
              <a:t>C:\work\statyearbook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59536" y="2679192"/>
            <a:ext cx="4846320" cy="31089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80" b="0">
                <a:solidFill>
                  <a:srgbClr val="617181"/>
                </a:solidFill>
                <a:latin typeface="맑은 고딕"/>
                <a:ea typeface="맑은 고딕"/>
                <a:cs typeface="맑은 고딕"/>
              </a:rPr>
              <a:t>짧은 ASCII 경로 · OneDrive 밖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17920" y="1993392"/>
            <a:ext cx="5266944" cy="1307592"/>
          </a:xfrm>
          <a:prstGeom prst="roundRect">
            <a:avLst/>
          </a:prstGeom>
          <a:solidFill>
            <a:srgbClr val="E8F5F3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19088" y="2157984"/>
            <a:ext cx="1024128" cy="29260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177A74"/>
                </a:solidFill>
                <a:latin typeface="맑은 고딕"/>
                <a:ea typeface="맑은 고딕"/>
                <a:cs typeface="맑은 고딕"/>
              </a:rPr>
              <a:t>Python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452360" y="2139696"/>
            <a:ext cx="3730752" cy="32004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0B2545"/>
                </a:solidFill>
                <a:latin typeface="Consolas"/>
                <a:ea typeface="Consolas"/>
                <a:cs typeface="Consolas"/>
              </a:rPr>
              <a:t>.venv\Scripts\python.exe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19088" y="2679192"/>
            <a:ext cx="4846320" cy="31089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80" b="0">
                <a:solidFill>
                  <a:srgbClr val="617181"/>
                </a:solidFill>
                <a:latin typeface="맑은 고딕"/>
                <a:ea typeface="맑은 고딕"/>
                <a:cs typeface="맑은 고딕"/>
              </a:rPr>
              <a:t>활성화 없이 직접 실행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58368" y="3593592"/>
            <a:ext cx="5266944" cy="1307592"/>
          </a:xfrm>
          <a:prstGeom prst="roundRect">
            <a:avLst/>
          </a:prstGeom>
          <a:solidFill>
            <a:srgbClr val="FFF3D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59536" y="3758184"/>
            <a:ext cx="1024128" cy="29260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B76E00"/>
                </a:solidFill>
                <a:latin typeface="맑은 고딕"/>
                <a:ea typeface="맑은 고딕"/>
                <a:cs typeface="맑은 고딕"/>
              </a:rPr>
              <a:t>Git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892808" y="3739896"/>
            <a:ext cx="3730752" cy="32004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0B2545"/>
                </a:solidFill>
                <a:latin typeface="Consolas"/>
                <a:ea typeface="Consolas"/>
                <a:cs typeface="Consolas"/>
              </a:rPr>
              <a:t>longpaths=true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59536" y="4279392"/>
            <a:ext cx="4846320" cy="31089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80" b="0">
                <a:solidFill>
                  <a:srgbClr val="617181"/>
                </a:solidFill>
                <a:latin typeface="맑은 고딕"/>
                <a:ea typeface="맑은 고딕"/>
                <a:cs typeface="맑은 고딕"/>
              </a:rPr>
              <a:t>core.autocrlf=false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217920" y="3593592"/>
            <a:ext cx="5266944" cy="1307592"/>
          </a:xfrm>
          <a:prstGeom prst="roundRect">
            <a:avLst/>
          </a:prstGeom>
          <a:solidFill>
            <a:srgbClr val="FCECE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19088" y="3758184"/>
            <a:ext cx="1024128" cy="29260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B83A4B"/>
                </a:solidFill>
                <a:latin typeface="맑은 고딕"/>
                <a:ea typeface="맑은 고딕"/>
                <a:cs typeface="맑은 고딕"/>
              </a:rPr>
              <a:t>데이터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452360" y="3739896"/>
            <a:ext cx="3730752" cy="32004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0B2545"/>
                </a:solidFill>
                <a:latin typeface="Consolas"/>
                <a:ea typeface="Consolas"/>
                <a:cs typeface="Consolas"/>
              </a:rPr>
              <a:t>로컬 디스크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19088" y="4279392"/>
            <a:ext cx="4846320" cy="31089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80" b="0">
                <a:solidFill>
                  <a:srgbClr val="617181"/>
                </a:solidFill>
                <a:latin typeface="맑은 고딕"/>
                <a:ea typeface="맑은 고딕"/>
                <a:cs typeface="맑은 고딕"/>
              </a:rPr>
              <a:t>대용량 SQLite를 공유 드라이브에서 열지 않음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58368" y="5440680"/>
            <a:ext cx="10826496" cy="512064"/>
          </a:xfrm>
          <a:prstGeom prst="roundRect">
            <a:avLst/>
          </a:prstGeom>
          <a:solidFill>
            <a:srgbClr val="0B254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96112" y="5596128"/>
            <a:ext cx="10332720" cy="21945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8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다른 OS에서 만든 .venv · node_modules · dist를 복사하지 않는다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D5F9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47472"/>
            <a:ext cx="292608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50" b="1">
                <a:solidFill>
                  <a:srgbClr val="1D5F9A"/>
                </a:solidFill>
                <a:latin typeface="맑은 고딕"/>
                <a:ea typeface="맑은 고딕"/>
                <a:cs typeface="맑은 고딕"/>
              </a:rPr>
              <a:t>CONFIG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85800"/>
            <a:ext cx="10972800" cy="5029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500" b="1">
                <a:solidFill>
                  <a:srgbClr val="0B2545"/>
                </a:solidFill>
                <a:latin typeface="맑은 고딕"/>
                <a:ea typeface="맑은 고딕"/>
                <a:cs typeface="맑은 고딕"/>
              </a:rPr>
              <a:t>환경변수는 두 군데, 읽는 시점도 다르다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85216" y="1225296"/>
            <a:ext cx="10881360" cy="32004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617181"/>
                </a:solidFill>
                <a:latin typeface="맑은 고딕"/>
                <a:ea typeface="맑은 고딕"/>
                <a:cs typeface="맑은 고딕"/>
              </a:rPr>
              <a:t>값을 바꿨는데 반영되지 않으면 파일 위치와 재시작/재배포 여부를 본다.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566928" y="1664208"/>
            <a:ext cx="11055096" cy="0"/>
          </a:xfrm>
          <a:prstGeom prst="line">
            <a:avLst/>
          </a:prstGeom>
          <a:ln w="10160">
            <a:solidFill>
              <a:srgbClr val="D8E1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566928" y="6510528"/>
            <a:ext cx="7040880" cy="182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19" b="0">
                <a:solidFill>
                  <a:srgbClr val="8B99A7"/>
                </a:solidFill>
                <a:latin typeface="맑은 고딕"/>
                <a:ea typeface="맑은 고딕"/>
                <a:cs typeface="맑은 고딕"/>
              </a:rPr>
              <a:t>통계연보 검수 보조 시스템  |  프로젝트 인수인계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109960" y="6492240"/>
            <a:ext cx="502920" cy="182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850" b="1">
                <a:solidFill>
                  <a:srgbClr val="8B99A7"/>
                </a:solidFill>
                <a:latin typeface="맑은 고딕"/>
                <a:ea typeface="맑은 고딕"/>
                <a:cs typeface="맑은 고딕"/>
              </a:rPr>
              <a:t>14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85800" y="1993392"/>
            <a:ext cx="5257800" cy="2084831"/>
          </a:xfrm>
          <a:prstGeom prst="roundRect">
            <a:avLst/>
          </a:prstGeom>
          <a:solidFill>
            <a:srgbClr val="EAF3FA"/>
          </a:solidFill>
          <a:ln w="10160">
            <a:solidFill>
              <a:srgbClr val="D8E1E8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85800" y="1993392"/>
            <a:ext cx="73152" cy="2084831"/>
          </a:xfrm>
          <a:prstGeom prst="rect">
            <a:avLst/>
          </a:prstGeom>
          <a:solidFill>
            <a:srgbClr val="1D5F9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4400" y="2121408"/>
            <a:ext cx="4846320" cy="29260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172432"/>
                </a:solidFill>
                <a:latin typeface="맑은 고딕"/>
                <a:ea typeface="맑은 고딕"/>
                <a:cs typeface="맑은 고딕"/>
              </a:rPr>
              <a:t>ROOT / .env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2505456"/>
            <a:ext cx="4846320" cy="1472184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617181"/>
                </a:solidFill>
                <a:latin typeface="맑은 고딕"/>
                <a:ea typeface="맑은 고딕"/>
                <a:cs typeface="맑은 고딕"/>
              </a:rPr>
              <a:t>FastAPI가 시작할 때 읽음
DB · CORS · storage · worker · LLM
변경 후 백엔드 재시작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45352" y="1993392"/>
            <a:ext cx="5257800" cy="2084831"/>
          </a:xfrm>
          <a:prstGeom prst="roundRect">
            <a:avLst/>
          </a:prstGeom>
          <a:solidFill>
            <a:srgbClr val="E8F5F3"/>
          </a:solidFill>
          <a:ln w="10160">
            <a:solidFill>
              <a:srgbClr val="D8E1E8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245352" y="1993392"/>
            <a:ext cx="73152" cy="2084831"/>
          </a:xfrm>
          <a:prstGeom prst="rect">
            <a:avLst/>
          </a:prstGeom>
          <a:solidFill>
            <a:srgbClr val="177A7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73952" y="2121408"/>
            <a:ext cx="4846320" cy="29260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172432"/>
                </a:solidFill>
                <a:latin typeface="맑은 고딕"/>
                <a:ea typeface="맑은 고딕"/>
                <a:cs typeface="맑은 고딕"/>
              </a:rPr>
              <a:t>frontend / .env.local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73952" y="2505456"/>
            <a:ext cx="4846320" cy="1472184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617181"/>
                </a:solidFill>
                <a:latin typeface="맑은 고딕"/>
                <a:ea typeface="맑은 고딕"/>
                <a:cs typeface="맑은 고딕"/>
              </a:rPr>
              <a:t>Vite가 개발/빌드 시 읽음
VITE_API_BASE_URL 하나
변경 후 Vite 재시작 또는 재배포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87552" y="4754880"/>
            <a:ext cx="1828800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50" b="1">
                <a:solidFill>
                  <a:srgbClr val="B83A4B"/>
                </a:solidFill>
                <a:latin typeface="맑은 고딕"/>
                <a:ea typeface="맑은 고딕"/>
                <a:cs typeface="맑은 고딕"/>
              </a:rPr>
              <a:t>OS 환경변수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907792" y="4754880"/>
            <a:ext cx="8046720" cy="32004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20" b="0">
                <a:solidFill>
                  <a:srgbClr val="617181"/>
                </a:solidFill>
                <a:latin typeface="맑은 고딕"/>
                <a:ea typeface="맑은 고딕"/>
                <a:cs typeface="맑은 고딕"/>
              </a:rPr>
              <a:t>이미 설정되어 있으면 .env보다 우선 — 테스트 실패의 숨은 원인이 될 수 있음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58952" y="5522976"/>
            <a:ext cx="10652760" cy="29260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0B2545"/>
                </a:solidFill>
                <a:latin typeface="맑은 고딕"/>
                <a:ea typeface="맑은 고딕"/>
                <a:cs typeface="맑은 고딕"/>
              </a:rPr>
              <a:t>프론트 API URL 뒤에는 /api를 붙이지 않는다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D5F9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47472"/>
            <a:ext cx="292608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50" b="1">
                <a:solidFill>
                  <a:srgbClr val="1D5F9A"/>
                </a:solidFill>
                <a:latin typeface="맑은 고딕"/>
                <a:ea typeface="맑은 고딕"/>
                <a:cs typeface="맑은 고딕"/>
              </a:rPr>
              <a:t>CONFIG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85800"/>
            <a:ext cx="10972800" cy="5029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500" b="1">
                <a:solidFill>
                  <a:srgbClr val="0B2545"/>
                </a:solidFill>
                <a:latin typeface="맑은 고딕"/>
                <a:ea typeface="맑은 고딕"/>
                <a:cs typeface="맑은 고딕"/>
              </a:rPr>
              <a:t>처음 실행용 안전 설정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85216" y="1225296"/>
            <a:ext cx="10881360" cy="32004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617181"/>
                </a:solidFill>
                <a:latin typeface="맑은 고딕"/>
                <a:ea typeface="맑은 고딕"/>
                <a:cs typeface="맑은 고딕"/>
              </a:rPr>
              <a:t>운영 연결 문자열과 키는 빈 값으로 두고 기능 플래그를 끈다.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566928" y="1664208"/>
            <a:ext cx="11055096" cy="0"/>
          </a:xfrm>
          <a:prstGeom prst="line">
            <a:avLst/>
          </a:prstGeom>
          <a:ln w="10160">
            <a:solidFill>
              <a:srgbClr val="D8E1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566928" y="6510528"/>
            <a:ext cx="7040880" cy="182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19" b="0">
                <a:solidFill>
                  <a:srgbClr val="8B99A7"/>
                </a:solidFill>
                <a:latin typeface="맑은 고딕"/>
                <a:ea typeface="맑은 고딕"/>
                <a:cs typeface="맑은 고딕"/>
              </a:rPr>
              <a:t>통계연보 검수 보조 시스템  |  프로젝트 인수인계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109960" y="6492240"/>
            <a:ext cx="502920" cy="182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850" b="1">
                <a:solidFill>
                  <a:srgbClr val="8B99A7"/>
                </a:solidFill>
                <a:latin typeface="맑은 고딕"/>
                <a:ea typeface="맑은 고딕"/>
                <a:cs typeface="맑은 고딕"/>
              </a:rPr>
              <a:t>15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67512" y="1938528"/>
            <a:ext cx="5715000" cy="3401568"/>
          </a:xfrm>
          <a:prstGeom prst="roundRect">
            <a:avLst/>
          </a:prstGeom>
          <a:solidFill>
            <a:srgbClr val="0B254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50392" y="2039112"/>
            <a:ext cx="5349240" cy="237744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90D4FF"/>
                </a:solidFill>
                <a:latin typeface="맑은 고딕"/>
                <a:ea typeface="맑은 고딕"/>
                <a:cs typeface="맑은 고딕"/>
              </a:rPr>
              <a:t>LOCAL · .env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32103" y="2331720"/>
            <a:ext cx="5385816" cy="28986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70" b="0">
                <a:solidFill>
                  <a:srgbClr val="F5F9FC"/>
                </a:solidFill>
                <a:latin typeface="Consolas"/>
                <a:ea typeface="Consolas"/>
                <a:cs typeface="Consolas"/>
              </a:rPr>
              <a:t>DATABASE_BACKEND=sqlite
DATABASE_URL=
ANNUAL_STATISTICS_DB_PATH=backend/app/db/annual_statistics_test.sqlite
UPLOAD_DIR=backend/uploads
MAX_UPLOAD_BYTES=104857600
ALLOWED_ORIGINS=http://localhost:5173,http://127.0.0.1:5173
SOURCE_STORAGE_BACKEND=local
JOB_EXECUTOR_BACKEND=inprocess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638544" y="1938528"/>
            <a:ext cx="4892040" cy="1463040"/>
          </a:xfrm>
          <a:prstGeom prst="roundRect">
            <a:avLst/>
          </a:prstGeom>
          <a:solidFill>
            <a:srgbClr val="EAF3FA"/>
          </a:solidFill>
          <a:ln w="10160">
            <a:solidFill>
              <a:srgbClr val="D8E1E8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638544" y="1938528"/>
            <a:ext cx="73152" cy="1463040"/>
          </a:xfrm>
          <a:prstGeom prst="rect">
            <a:avLst/>
          </a:prstGeom>
          <a:solidFill>
            <a:srgbClr val="1D5F9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867144" y="2066544"/>
            <a:ext cx="4480559" cy="29260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172432"/>
                </a:solidFill>
                <a:latin typeface="맑은 고딕"/>
                <a:ea typeface="맑은 고딕"/>
                <a:cs typeface="맑은 고딕"/>
              </a:rPr>
              <a:t>DB 선택 규칙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867144" y="2450592"/>
            <a:ext cx="4480559" cy="85039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20" b="0">
                <a:solidFill>
                  <a:srgbClr val="617181"/>
                </a:solidFill>
                <a:latin typeface="맑은 고딕"/>
                <a:ea typeface="맑은 고딕"/>
                <a:cs typeface="맑은 고딕"/>
              </a:rPr>
              <a:t>auto + DATABASE_URL 있음 → postgres
auto + URL 없음 → sqlite
처음은 명시적으로 sqlite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638544" y="3584448"/>
            <a:ext cx="4892040" cy="1298448"/>
          </a:xfrm>
          <a:prstGeom prst="roundRect">
            <a:avLst/>
          </a:prstGeom>
          <a:solidFill>
            <a:srgbClr val="FFF3D8"/>
          </a:solidFill>
          <a:ln w="10160">
            <a:solidFill>
              <a:srgbClr val="D8E1E8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638544" y="3584448"/>
            <a:ext cx="73152" cy="1298448"/>
          </a:xfrm>
          <a:prstGeom prst="rect">
            <a:avLst/>
          </a:prstGeom>
          <a:solidFill>
            <a:srgbClr val="B76E0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867144" y="3712463"/>
            <a:ext cx="4480559" cy="29260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172432"/>
                </a:solidFill>
                <a:latin typeface="맑은 고딕"/>
                <a:ea typeface="맑은 고딕"/>
                <a:cs typeface="맑은 고딕"/>
              </a:rPr>
              <a:t>상대 경로 규칙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867144" y="4096512"/>
            <a:ext cx="4480559" cy="685799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20" b="0">
                <a:solidFill>
                  <a:srgbClr val="617181"/>
                </a:solidFill>
                <a:latin typeface="맑은 고딕"/>
                <a:ea typeface="맑은 고딕"/>
                <a:cs typeface="맑은 고딕"/>
              </a:rPr>
              <a:t>항상 저장소 루트에서 실행해야 DB와 uploads가 같은 위치를 가리킨다.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903720" y="5230368"/>
            <a:ext cx="4389120" cy="34747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550" b="1">
                <a:solidFill>
                  <a:srgbClr val="B83A4B"/>
                </a:solidFill>
                <a:latin typeface="맑은 고딕"/>
                <a:ea typeface="맑은 고딕"/>
                <a:cs typeface="맑은 고딕"/>
              </a:rPr>
              <a:t>운영 DB 최초 연결 전 백업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D5F9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47472"/>
            <a:ext cx="292608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50" b="1">
                <a:solidFill>
                  <a:srgbClr val="1D5F9A"/>
                </a:solidFill>
                <a:latin typeface="맑은 고딕"/>
                <a:ea typeface="맑은 고딕"/>
                <a:cs typeface="맑은 고딕"/>
              </a:rPr>
              <a:t>CONFIG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85800"/>
            <a:ext cx="10972800" cy="5029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500" b="1">
                <a:solidFill>
                  <a:srgbClr val="0B2545"/>
                </a:solidFill>
                <a:latin typeface="맑은 고딕"/>
                <a:ea typeface="맑은 고딕"/>
                <a:cs typeface="맑은 고딕"/>
              </a:rPr>
              <a:t>작업 실행과 원본 저장은 한 쌍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85216" y="1225296"/>
            <a:ext cx="10881360" cy="32004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617181"/>
                </a:solidFill>
                <a:latin typeface="맑은 고딕"/>
                <a:ea typeface="맑은 고딕"/>
                <a:cs typeface="맑은 고딕"/>
              </a:rPr>
              <a:t>API와 worker가 분리되면 로컬 파일시스템도 분리된다고 생각한다.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566928" y="1664208"/>
            <a:ext cx="11055096" cy="0"/>
          </a:xfrm>
          <a:prstGeom prst="line">
            <a:avLst/>
          </a:prstGeom>
          <a:ln w="10160">
            <a:solidFill>
              <a:srgbClr val="D8E1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566928" y="6510528"/>
            <a:ext cx="7040880" cy="182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19" b="0">
                <a:solidFill>
                  <a:srgbClr val="8B99A7"/>
                </a:solidFill>
                <a:latin typeface="맑은 고딕"/>
                <a:ea typeface="맑은 고딕"/>
                <a:cs typeface="맑은 고딕"/>
              </a:rPr>
              <a:t>통계연보 검수 보조 시스템  |  프로젝트 인수인계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109960" y="6492240"/>
            <a:ext cx="502920" cy="182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850" b="1">
                <a:solidFill>
                  <a:srgbClr val="8B99A7"/>
                </a:solidFill>
                <a:latin typeface="맑은 고딕"/>
                <a:ea typeface="맑은 고딕"/>
                <a:cs typeface="맑은 고딕"/>
              </a:rPr>
              <a:t>16</a:t>
            </a:r>
          </a:p>
        </p:txBody>
      </p:sp>
      <p:sp>
        <p:nvSpPr>
          <p:cNvPr id="9" name="Rectangle 8"/>
          <p:cNvSpPr/>
          <p:nvPr/>
        </p:nvSpPr>
        <p:spPr>
          <a:xfrm>
            <a:off x="914400" y="1993392"/>
            <a:ext cx="1920240" cy="585216"/>
          </a:xfrm>
          <a:prstGeom prst="rect">
            <a:avLst/>
          </a:prstGeom>
          <a:solidFill>
            <a:srgbClr val="0B2545"/>
          </a:solidFill>
          <a:ln w="7620">
            <a:solidFill>
              <a:srgbClr val="D8E1E8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87552" y="2048256"/>
            <a:ext cx="1773936" cy="4754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3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환경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834640" y="1993392"/>
            <a:ext cx="2743200" cy="585216"/>
          </a:xfrm>
          <a:prstGeom prst="rect">
            <a:avLst/>
          </a:prstGeom>
          <a:solidFill>
            <a:srgbClr val="0B2545"/>
          </a:solidFill>
          <a:ln w="7620">
            <a:solidFill>
              <a:srgbClr val="D8E1E8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907792" y="2048256"/>
            <a:ext cx="2596896" cy="4754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3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JOB_EXECUTOR_BACKEND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577840" y="1993392"/>
            <a:ext cx="3291840" cy="585216"/>
          </a:xfrm>
          <a:prstGeom prst="rect">
            <a:avLst/>
          </a:prstGeom>
          <a:solidFill>
            <a:srgbClr val="0B2545"/>
          </a:solidFill>
          <a:ln w="7620">
            <a:solidFill>
              <a:srgbClr val="D8E1E8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650992" y="2048256"/>
            <a:ext cx="3145536" cy="4754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3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SOURCE_STORAGE_BACKEND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869680" y="1993392"/>
            <a:ext cx="2377440" cy="585216"/>
          </a:xfrm>
          <a:prstGeom prst="rect">
            <a:avLst/>
          </a:prstGeom>
          <a:solidFill>
            <a:srgbClr val="0B2545"/>
          </a:solidFill>
          <a:ln w="7620">
            <a:solidFill>
              <a:srgbClr val="D8E1E8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942832" y="2048256"/>
            <a:ext cx="2231136" cy="4754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3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추가 프로세스</a:t>
            </a:r>
          </a:p>
        </p:txBody>
      </p:sp>
      <p:sp>
        <p:nvSpPr>
          <p:cNvPr id="17" name="Rectangle 16"/>
          <p:cNvSpPr/>
          <p:nvPr/>
        </p:nvSpPr>
        <p:spPr>
          <a:xfrm>
            <a:off x="914400" y="2578608"/>
            <a:ext cx="1920240" cy="585216"/>
          </a:xfrm>
          <a:prstGeom prst="rect">
            <a:avLst/>
          </a:prstGeom>
          <a:solidFill>
            <a:srgbClr val="FFFFFF"/>
          </a:solidFill>
          <a:ln w="7620">
            <a:solidFill>
              <a:srgbClr val="D8E1E8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87552" y="2633472"/>
            <a:ext cx="1773936" cy="4754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172432"/>
                </a:solidFill>
                <a:latin typeface="맑은 고딕"/>
                <a:ea typeface="맑은 고딕"/>
                <a:cs typeface="맑은 고딕"/>
              </a:rPr>
              <a:t>로컬 개발</a:t>
            </a:r>
          </a:p>
        </p:txBody>
      </p:sp>
      <p:sp>
        <p:nvSpPr>
          <p:cNvPr id="19" name="Rectangle 18"/>
          <p:cNvSpPr/>
          <p:nvPr/>
        </p:nvSpPr>
        <p:spPr>
          <a:xfrm>
            <a:off x="2834640" y="2578608"/>
            <a:ext cx="2743200" cy="585216"/>
          </a:xfrm>
          <a:prstGeom prst="rect">
            <a:avLst/>
          </a:prstGeom>
          <a:solidFill>
            <a:srgbClr val="FFFFFF"/>
          </a:solidFill>
          <a:ln w="7620">
            <a:solidFill>
              <a:srgbClr val="D8E1E8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2907792" y="2633472"/>
            <a:ext cx="2596896" cy="4754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172432"/>
                </a:solidFill>
                <a:latin typeface="맑은 고딕"/>
                <a:ea typeface="맑은 고딕"/>
                <a:cs typeface="맑은 고딕"/>
              </a:rPr>
              <a:t>inprocess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577840" y="2578608"/>
            <a:ext cx="3291840" cy="585216"/>
          </a:xfrm>
          <a:prstGeom prst="rect">
            <a:avLst/>
          </a:prstGeom>
          <a:solidFill>
            <a:srgbClr val="FFFFFF"/>
          </a:solidFill>
          <a:ln w="7620">
            <a:solidFill>
              <a:srgbClr val="D8E1E8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650992" y="2633472"/>
            <a:ext cx="3145536" cy="4754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172432"/>
                </a:solidFill>
                <a:latin typeface="맑은 고딕"/>
                <a:ea typeface="맑은 고딕"/>
                <a:cs typeface="맑은 고딕"/>
              </a:rPr>
              <a:t>local</a:t>
            </a:r>
          </a:p>
        </p:txBody>
      </p:sp>
      <p:sp>
        <p:nvSpPr>
          <p:cNvPr id="23" name="Rectangle 22"/>
          <p:cNvSpPr/>
          <p:nvPr/>
        </p:nvSpPr>
        <p:spPr>
          <a:xfrm>
            <a:off x="8869680" y="2578608"/>
            <a:ext cx="2377440" cy="585216"/>
          </a:xfrm>
          <a:prstGeom prst="rect">
            <a:avLst/>
          </a:prstGeom>
          <a:solidFill>
            <a:srgbClr val="FFFFFF"/>
          </a:solidFill>
          <a:ln w="7620">
            <a:solidFill>
              <a:srgbClr val="D8E1E8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942832" y="2633472"/>
            <a:ext cx="2231136" cy="4754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172432"/>
                </a:solidFill>
                <a:latin typeface="맑은 고딕"/>
                <a:ea typeface="맑은 고딕"/>
                <a:cs typeface="맑은 고딕"/>
              </a:rPr>
              <a:t>없음</a:t>
            </a:r>
          </a:p>
        </p:txBody>
      </p:sp>
      <p:sp>
        <p:nvSpPr>
          <p:cNvPr id="25" name="Rectangle 24"/>
          <p:cNvSpPr/>
          <p:nvPr/>
        </p:nvSpPr>
        <p:spPr>
          <a:xfrm>
            <a:off x="914400" y="3163824"/>
            <a:ext cx="1920240" cy="585216"/>
          </a:xfrm>
          <a:prstGeom prst="rect">
            <a:avLst/>
          </a:prstGeom>
          <a:solidFill>
            <a:srgbClr val="F5F9FC"/>
          </a:solidFill>
          <a:ln w="7620">
            <a:solidFill>
              <a:srgbClr val="D8E1E8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87552" y="3218688"/>
            <a:ext cx="1773936" cy="4754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172432"/>
                </a:solidFill>
                <a:latin typeface="맑은 고딕"/>
                <a:ea typeface="맑은 고딕"/>
                <a:cs typeface="맑은 고딕"/>
              </a:rPr>
              <a:t>단일 API</a:t>
            </a:r>
          </a:p>
        </p:txBody>
      </p:sp>
      <p:sp>
        <p:nvSpPr>
          <p:cNvPr id="27" name="Rectangle 26"/>
          <p:cNvSpPr/>
          <p:nvPr/>
        </p:nvSpPr>
        <p:spPr>
          <a:xfrm>
            <a:off x="2834640" y="3163824"/>
            <a:ext cx="2743200" cy="585216"/>
          </a:xfrm>
          <a:prstGeom prst="rect">
            <a:avLst/>
          </a:prstGeom>
          <a:solidFill>
            <a:srgbClr val="F5F9FC"/>
          </a:solidFill>
          <a:ln w="7620">
            <a:solidFill>
              <a:srgbClr val="D8E1E8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2907792" y="3218688"/>
            <a:ext cx="2596896" cy="4754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172432"/>
                </a:solidFill>
                <a:latin typeface="맑은 고딕"/>
                <a:ea typeface="맑은 고딕"/>
                <a:cs typeface="맑은 고딕"/>
              </a:rPr>
              <a:t>inprocess</a:t>
            </a:r>
          </a:p>
        </p:txBody>
      </p:sp>
      <p:sp>
        <p:nvSpPr>
          <p:cNvPr id="29" name="Rectangle 28"/>
          <p:cNvSpPr/>
          <p:nvPr/>
        </p:nvSpPr>
        <p:spPr>
          <a:xfrm>
            <a:off x="5577840" y="3163824"/>
            <a:ext cx="3291840" cy="585216"/>
          </a:xfrm>
          <a:prstGeom prst="rect">
            <a:avLst/>
          </a:prstGeom>
          <a:solidFill>
            <a:srgbClr val="F5F9FC"/>
          </a:solidFill>
          <a:ln w="7620">
            <a:solidFill>
              <a:srgbClr val="D8E1E8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5650992" y="3218688"/>
            <a:ext cx="3145536" cy="4754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172432"/>
                </a:solidFill>
                <a:latin typeface="맑은 고딕"/>
                <a:ea typeface="맑은 고딕"/>
                <a:cs typeface="맑은 고딕"/>
              </a:rPr>
              <a:t>local + 영속 볼륨 또는 s3</a:t>
            </a:r>
          </a:p>
        </p:txBody>
      </p:sp>
      <p:sp>
        <p:nvSpPr>
          <p:cNvPr id="31" name="Rectangle 30"/>
          <p:cNvSpPr/>
          <p:nvPr/>
        </p:nvSpPr>
        <p:spPr>
          <a:xfrm>
            <a:off x="8869680" y="3163824"/>
            <a:ext cx="2377440" cy="585216"/>
          </a:xfrm>
          <a:prstGeom prst="rect">
            <a:avLst/>
          </a:prstGeom>
          <a:solidFill>
            <a:srgbClr val="F5F9FC"/>
          </a:solidFill>
          <a:ln w="7620">
            <a:solidFill>
              <a:srgbClr val="D8E1E8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942832" y="3218688"/>
            <a:ext cx="2231136" cy="4754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172432"/>
                </a:solidFill>
                <a:latin typeface="맑은 고딕"/>
                <a:ea typeface="맑은 고딕"/>
                <a:cs typeface="맑은 고딕"/>
              </a:rPr>
              <a:t>없음</a:t>
            </a:r>
          </a:p>
        </p:txBody>
      </p:sp>
      <p:sp>
        <p:nvSpPr>
          <p:cNvPr id="33" name="Rectangle 32"/>
          <p:cNvSpPr/>
          <p:nvPr/>
        </p:nvSpPr>
        <p:spPr>
          <a:xfrm>
            <a:off x="914400" y="3749039"/>
            <a:ext cx="1920240" cy="585216"/>
          </a:xfrm>
          <a:prstGeom prst="rect">
            <a:avLst/>
          </a:prstGeom>
          <a:solidFill>
            <a:srgbClr val="FFFFFF"/>
          </a:solidFill>
          <a:ln w="7620">
            <a:solidFill>
              <a:srgbClr val="D8E1E8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987552" y="3803903"/>
            <a:ext cx="1773936" cy="4754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172432"/>
                </a:solidFill>
                <a:latin typeface="맑은 고딕"/>
                <a:ea typeface="맑은 고딕"/>
                <a:cs typeface="맑은 고딕"/>
              </a:rPr>
              <a:t>API + worker</a:t>
            </a:r>
          </a:p>
        </p:txBody>
      </p:sp>
      <p:sp>
        <p:nvSpPr>
          <p:cNvPr id="35" name="Rectangle 34"/>
          <p:cNvSpPr/>
          <p:nvPr/>
        </p:nvSpPr>
        <p:spPr>
          <a:xfrm>
            <a:off x="2834640" y="3749039"/>
            <a:ext cx="2743200" cy="585216"/>
          </a:xfrm>
          <a:prstGeom prst="rect">
            <a:avLst/>
          </a:prstGeom>
          <a:solidFill>
            <a:srgbClr val="FFFFFF"/>
          </a:solidFill>
          <a:ln w="7620">
            <a:solidFill>
              <a:srgbClr val="D8E1E8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2907792" y="3803903"/>
            <a:ext cx="2596896" cy="4754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172432"/>
                </a:solidFill>
                <a:latin typeface="맑은 고딕"/>
                <a:ea typeface="맑은 고딕"/>
                <a:cs typeface="맑은 고딕"/>
              </a:rPr>
              <a:t>worker</a:t>
            </a:r>
          </a:p>
        </p:txBody>
      </p:sp>
      <p:sp>
        <p:nvSpPr>
          <p:cNvPr id="37" name="Rectangle 36"/>
          <p:cNvSpPr/>
          <p:nvPr/>
        </p:nvSpPr>
        <p:spPr>
          <a:xfrm>
            <a:off x="5577840" y="3749039"/>
            <a:ext cx="3291840" cy="585216"/>
          </a:xfrm>
          <a:prstGeom prst="rect">
            <a:avLst/>
          </a:prstGeom>
          <a:solidFill>
            <a:srgbClr val="FFFFFF"/>
          </a:solidFill>
          <a:ln w="7620">
            <a:solidFill>
              <a:srgbClr val="D8E1E8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5650992" y="3803903"/>
            <a:ext cx="3145536" cy="4754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172432"/>
                </a:solidFill>
                <a:latin typeface="맑은 고딕"/>
                <a:ea typeface="맑은 고딕"/>
                <a:cs typeface="맑은 고딕"/>
              </a:rPr>
              <a:t>s3 / R2 / 공유 볼륨</a:t>
            </a:r>
          </a:p>
        </p:txBody>
      </p:sp>
      <p:sp>
        <p:nvSpPr>
          <p:cNvPr id="39" name="Rectangle 38"/>
          <p:cNvSpPr/>
          <p:nvPr/>
        </p:nvSpPr>
        <p:spPr>
          <a:xfrm>
            <a:off x="8869680" y="3749039"/>
            <a:ext cx="2377440" cy="585216"/>
          </a:xfrm>
          <a:prstGeom prst="rect">
            <a:avLst/>
          </a:prstGeom>
          <a:solidFill>
            <a:srgbClr val="FFFFFF"/>
          </a:solidFill>
          <a:ln w="7620">
            <a:solidFill>
              <a:srgbClr val="D8E1E8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8942832" y="3803903"/>
            <a:ext cx="2231136" cy="4754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172432"/>
                </a:solidFill>
                <a:latin typeface="맑은 고딕"/>
                <a:ea typeface="맑은 고딕"/>
                <a:cs typeface="맑은 고딕"/>
              </a:rPr>
              <a:t>worker 필수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896112" y="4700016"/>
            <a:ext cx="5074920" cy="1078992"/>
          </a:xfrm>
          <a:prstGeom prst="roundRect">
            <a:avLst/>
          </a:prstGeom>
          <a:solidFill>
            <a:srgbClr val="FCECEF"/>
          </a:solidFill>
          <a:ln w="10160">
            <a:solidFill>
              <a:srgbClr val="D8E1E8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896112" y="4700016"/>
            <a:ext cx="73152" cy="1078992"/>
          </a:xfrm>
          <a:prstGeom prst="rect">
            <a:avLst/>
          </a:prstGeom>
          <a:solidFill>
            <a:srgbClr val="B83A4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1124712" y="4828031"/>
            <a:ext cx="4663440" cy="29260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172432"/>
                </a:solidFill>
                <a:latin typeface="맑은 고딕"/>
                <a:ea typeface="맑은 고딕"/>
                <a:cs typeface="맑은 고딕"/>
              </a:rPr>
              <a:t>queued에서 멈추면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124712" y="5212079"/>
            <a:ext cx="4663440" cy="466343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617181"/>
                </a:solidFill>
                <a:latin typeface="맑은 고딕"/>
                <a:ea typeface="맑은 고딕"/>
                <a:cs typeface="맑은 고딕"/>
              </a:rPr>
              <a:t>worker 실행 · 같은 DATABASE_URL · 같은 storage · 같은 Git commit을 비교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6208776" y="4700016"/>
            <a:ext cx="5074920" cy="1078992"/>
          </a:xfrm>
          <a:prstGeom prst="roundRect">
            <a:avLst/>
          </a:prstGeom>
          <a:solidFill>
            <a:srgbClr val="FFF3D8"/>
          </a:solidFill>
          <a:ln w="10160">
            <a:solidFill>
              <a:srgbClr val="D8E1E8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>
            <a:off x="6208776" y="4700016"/>
            <a:ext cx="73152" cy="1078992"/>
          </a:xfrm>
          <a:prstGeom prst="rect">
            <a:avLst/>
          </a:prstGeom>
          <a:solidFill>
            <a:srgbClr val="B76E0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6437376" y="4828031"/>
            <a:ext cx="4663440" cy="29260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172432"/>
                </a:solidFill>
                <a:latin typeface="맑은 고딕"/>
                <a:ea typeface="맑은 고딕"/>
                <a:cs typeface="맑은 고딕"/>
              </a:rPr>
              <a:t>running에서 멈추면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6437376" y="5212079"/>
            <a:ext cx="4663440" cy="466343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617181"/>
                </a:solidFill>
                <a:latin typeface="맑은 고딕"/>
                <a:ea typeface="맑은 고딕"/>
                <a:cs typeface="맑은 고딕"/>
              </a:rPr>
              <a:t>lease 만료 · 원본 접근 · 외부 LLM timeout · worker 로그를 확인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D5F9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47472"/>
            <a:ext cx="292608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50" b="1">
                <a:solidFill>
                  <a:srgbClr val="1D5F9A"/>
                </a:solidFill>
                <a:latin typeface="맑은 고딕"/>
                <a:ea typeface="맑은 고딕"/>
                <a:cs typeface="맑은 고딕"/>
              </a:rPr>
              <a:t>CONFIG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85800"/>
            <a:ext cx="10972800" cy="5029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500" b="1">
                <a:solidFill>
                  <a:srgbClr val="0B2545"/>
                </a:solidFill>
                <a:latin typeface="맑은 고딕"/>
                <a:ea typeface="맑은 고딕"/>
                <a:cs typeface="맑은 고딕"/>
              </a:rPr>
              <a:t>LLM은 선택 기능 — 기본값은 OFF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85216" y="1225296"/>
            <a:ext cx="10881360" cy="32004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617181"/>
                </a:solidFill>
                <a:latin typeface="맑은 고딕"/>
                <a:ea typeface="맑은 고딕"/>
                <a:cs typeface="맑은 고딕"/>
              </a:rPr>
              <a:t>키 존재, 기능 플래그, 화면 옵션의 세 조건을 모두 확인한다.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566928" y="1664208"/>
            <a:ext cx="11055096" cy="0"/>
          </a:xfrm>
          <a:prstGeom prst="line">
            <a:avLst/>
          </a:prstGeom>
          <a:ln w="10160">
            <a:solidFill>
              <a:srgbClr val="D8E1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566928" y="6510528"/>
            <a:ext cx="7040880" cy="182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19" b="0">
                <a:solidFill>
                  <a:srgbClr val="8B99A7"/>
                </a:solidFill>
                <a:latin typeface="맑은 고딕"/>
                <a:ea typeface="맑은 고딕"/>
                <a:cs typeface="맑은 고딕"/>
              </a:rPr>
              <a:t>통계연보 검수 보조 시스템  |  프로젝트 인수인계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109960" y="6492240"/>
            <a:ext cx="502920" cy="182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850" b="1">
                <a:solidFill>
                  <a:srgbClr val="8B99A7"/>
                </a:solidFill>
                <a:latin typeface="맑은 고딕"/>
                <a:ea typeface="맑은 고딕"/>
                <a:cs typeface="맑은 고딕"/>
              </a:rPr>
              <a:t>17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58368" y="1920240"/>
            <a:ext cx="5212080" cy="3584448"/>
          </a:xfrm>
          <a:prstGeom prst="roundRect">
            <a:avLst/>
          </a:prstGeom>
          <a:solidFill>
            <a:srgbClr val="0B254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41247" y="2020824"/>
            <a:ext cx="4846320" cy="237744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90D4FF"/>
                </a:solidFill>
                <a:latin typeface="맑은 고딕"/>
                <a:ea typeface="맑은 고딕"/>
                <a:cs typeface="맑은 고딕"/>
              </a:rPr>
              <a:t>SAFE DEFAULT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59" y="2313432"/>
            <a:ext cx="4882896" cy="308152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60" b="0">
                <a:solidFill>
                  <a:srgbClr val="F5F9FC"/>
                </a:solidFill>
                <a:latin typeface="Consolas"/>
                <a:ea typeface="Consolas"/>
                <a:cs typeface="Consolas"/>
              </a:rPr>
              <a:t>LLM_PROVIDER=auto
LLM_REVIEW_ENABLED=0
PROFILE_LLM_ENABLED=0
AUTO_IMPORT_INCLUDE_LLM=0
BIZROUTER_API_KEY=
OPENAI_API_KEY=
LLM_REVIEW_BATCH_SIZE=10
LLM_REVIEW_CONCURRENCY=3
LLM_REVIEW_LIMIT=
LLM_REVIEW_TIMEOUT=90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44768" y="1938528"/>
            <a:ext cx="5349240" cy="621792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8E1E8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6254496" y="2048256"/>
            <a:ext cx="402336" cy="402336"/>
          </a:xfrm>
          <a:prstGeom prst="roundRect">
            <a:avLst/>
          </a:prstGeom>
          <a:solidFill>
            <a:srgbClr val="B83A4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254496" y="2084832"/>
            <a:ext cx="402336" cy="2377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784848" y="2039112"/>
            <a:ext cx="4572000" cy="21945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20" b="1">
                <a:solidFill>
                  <a:srgbClr val="172432"/>
                </a:solidFill>
                <a:latin typeface="맑은 고딕"/>
                <a:ea typeface="맑은 고딕"/>
                <a:cs typeface="맑은 고딕"/>
              </a:rPr>
              <a:t>정책 확인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784848" y="2267712"/>
            <a:ext cx="4572000" cy="20116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60" b="0">
                <a:solidFill>
                  <a:srgbClr val="617181"/>
                </a:solidFill>
                <a:latin typeface="맑은 고딕"/>
                <a:ea typeface="맑은 고딕"/>
                <a:cs typeface="맑은 고딕"/>
              </a:rPr>
              <a:t>외부 전송 가능 데이터인지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144768" y="2706624"/>
            <a:ext cx="5349240" cy="621792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8E1E8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6254496" y="2816352"/>
            <a:ext cx="402336" cy="402336"/>
          </a:xfrm>
          <a:prstGeom prst="roundRect">
            <a:avLst/>
          </a:prstGeom>
          <a:solidFill>
            <a:srgbClr val="B76E0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254496" y="2852928"/>
            <a:ext cx="402336" cy="2377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784848" y="2807208"/>
            <a:ext cx="4572000" cy="21945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20" b="1">
                <a:solidFill>
                  <a:srgbClr val="172432"/>
                </a:solidFill>
                <a:latin typeface="맑은 고딕"/>
                <a:ea typeface="맑은 고딕"/>
                <a:cs typeface="맑은 고딕"/>
              </a:rPr>
              <a:t>비용 승인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784848" y="3035808"/>
            <a:ext cx="4572000" cy="20116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60" b="0">
                <a:solidFill>
                  <a:srgbClr val="617181"/>
                </a:solidFill>
                <a:latin typeface="맑은 고딕"/>
                <a:ea typeface="맑은 고딕"/>
                <a:cs typeface="맑은 고딕"/>
              </a:rPr>
              <a:t>모델·후보 수·월 한도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144768" y="3474720"/>
            <a:ext cx="5349240" cy="621792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8E1E8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6254496" y="3584448"/>
            <a:ext cx="402336" cy="402336"/>
          </a:xfrm>
          <a:prstGeom prst="roundRect">
            <a:avLst/>
          </a:prstGeom>
          <a:solidFill>
            <a:srgbClr val="1D5F9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254496" y="3621024"/>
            <a:ext cx="402336" cy="2377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3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784848" y="3575303"/>
            <a:ext cx="4572000" cy="21945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20" b="1">
                <a:solidFill>
                  <a:srgbClr val="172432"/>
                </a:solidFill>
                <a:latin typeface="맑은 고딕"/>
                <a:ea typeface="맑은 고딕"/>
                <a:cs typeface="맑은 고딕"/>
              </a:rPr>
              <a:t>작게 시험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784848" y="3803904"/>
            <a:ext cx="4572000" cy="20116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60" b="0">
                <a:solidFill>
                  <a:srgbClr val="617181"/>
                </a:solidFill>
                <a:latin typeface="맑은 고딕"/>
                <a:ea typeface="맑은 고딕"/>
                <a:cs typeface="맑은 고딕"/>
              </a:rPr>
              <a:t>LLM_REVIEW_LIMIT 설정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144768" y="4242816"/>
            <a:ext cx="5349240" cy="621792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8E1E8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8" name="Rounded Rectangle 27"/>
          <p:cNvSpPr/>
          <p:nvPr/>
        </p:nvSpPr>
        <p:spPr>
          <a:xfrm>
            <a:off x="6254496" y="4352544"/>
            <a:ext cx="402336" cy="402336"/>
          </a:xfrm>
          <a:prstGeom prst="roundRect">
            <a:avLst/>
          </a:prstGeom>
          <a:solidFill>
            <a:srgbClr val="177A7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254496" y="4389120"/>
            <a:ext cx="402336" cy="2377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4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784848" y="4343400"/>
            <a:ext cx="4572000" cy="21945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20" b="1">
                <a:solidFill>
                  <a:srgbClr val="172432"/>
                </a:solidFill>
                <a:latin typeface="맑은 고딕"/>
                <a:ea typeface="맑은 고딕"/>
                <a:cs typeface="맑은 고딕"/>
              </a:rPr>
              <a:t>지표 확인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784848" y="4572000"/>
            <a:ext cx="4572000" cy="20116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60" b="0">
                <a:solidFill>
                  <a:srgbClr val="617181"/>
                </a:solidFill>
                <a:latin typeface="맑은 고딕"/>
                <a:ea typeface="맑은 고딕"/>
                <a:cs typeface="맑은 고딕"/>
              </a:rPr>
              <a:t>token과 예상 비용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309360" y="5303520"/>
            <a:ext cx="5029200" cy="32004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250" b="1">
                <a:solidFill>
                  <a:srgbClr val="B83A4B"/>
                </a:solidFill>
                <a:latin typeface="맑은 고딕"/>
                <a:ea typeface="맑은 고딕"/>
                <a:cs typeface="맑은 고딕"/>
              </a:rPr>
              <a:t>키 값을 로그·이슈·PPT·화면 캡처에 넣지 않는다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D5F9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47472"/>
            <a:ext cx="292608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50" b="1">
                <a:solidFill>
                  <a:srgbClr val="1D5F9A"/>
                </a:solidFill>
                <a:latin typeface="맑은 고딕"/>
                <a:ea typeface="맑은 고딕"/>
                <a:cs typeface="맑은 고딕"/>
              </a:rPr>
              <a:t>RUN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85800"/>
            <a:ext cx="10972800" cy="5029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500" b="1">
                <a:solidFill>
                  <a:srgbClr val="0B2545"/>
                </a:solidFill>
                <a:latin typeface="맑은 고딕"/>
                <a:ea typeface="맑은 고딕"/>
                <a:cs typeface="맑은 고딕"/>
              </a:rPr>
              <a:t>실행 순서와 정상 판정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85216" y="1225296"/>
            <a:ext cx="10881360" cy="32004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617181"/>
                </a:solidFill>
                <a:latin typeface="맑은 고딕"/>
                <a:ea typeface="맑은 고딕"/>
                <a:cs typeface="맑은 고딕"/>
              </a:rPr>
              <a:t>프론트가 열리는 것과 시스템이 준비된 것은 다르다.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566928" y="1664208"/>
            <a:ext cx="11055096" cy="0"/>
          </a:xfrm>
          <a:prstGeom prst="line">
            <a:avLst/>
          </a:prstGeom>
          <a:ln w="10160">
            <a:solidFill>
              <a:srgbClr val="D8E1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566928" y="6510528"/>
            <a:ext cx="7040880" cy="182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19" b="0">
                <a:solidFill>
                  <a:srgbClr val="8B99A7"/>
                </a:solidFill>
                <a:latin typeface="맑은 고딕"/>
                <a:ea typeface="맑은 고딕"/>
                <a:cs typeface="맑은 고딕"/>
              </a:rPr>
              <a:t>통계연보 검수 보조 시스템  |  프로젝트 인수인계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109960" y="6492240"/>
            <a:ext cx="502920" cy="182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850" b="1">
                <a:solidFill>
                  <a:srgbClr val="8B99A7"/>
                </a:solidFill>
                <a:latin typeface="맑은 고딕"/>
                <a:ea typeface="맑은 고딕"/>
                <a:cs typeface="맑은 고딕"/>
              </a:rPr>
              <a:t>18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85800" y="1920240"/>
            <a:ext cx="5148072" cy="621792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8E1E8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795528" y="2029968"/>
            <a:ext cx="402336" cy="402336"/>
          </a:xfrm>
          <a:prstGeom prst="roundRect">
            <a:avLst/>
          </a:prstGeom>
          <a:solidFill>
            <a:srgbClr val="1D5F9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95528" y="2066544"/>
            <a:ext cx="402336" cy="2377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25880" y="2020824"/>
            <a:ext cx="4370832" cy="21945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20" b="1">
                <a:solidFill>
                  <a:srgbClr val="172432"/>
                </a:solidFill>
                <a:latin typeface="맑은 고딕"/>
                <a:ea typeface="맑은 고딕"/>
                <a:cs typeface="맑은 고딕"/>
              </a:rPr>
              <a:t>백엔드 시작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325880" y="2249424"/>
            <a:ext cx="4370832" cy="20116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60" b="0">
                <a:solidFill>
                  <a:srgbClr val="617181"/>
                </a:solidFill>
                <a:latin typeface="맑은 고딕"/>
                <a:ea typeface="맑은 고딕"/>
                <a:cs typeface="맑은 고딕"/>
              </a:rPr>
              <a:t>Uvicorn :8000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85800" y="2670048"/>
            <a:ext cx="5148072" cy="621792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8E1E8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795528" y="2779776"/>
            <a:ext cx="402336" cy="402336"/>
          </a:xfrm>
          <a:prstGeom prst="roundRect">
            <a:avLst/>
          </a:prstGeom>
          <a:solidFill>
            <a:srgbClr val="177A7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95528" y="2816352"/>
            <a:ext cx="402336" cy="2377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325880" y="2770632"/>
            <a:ext cx="4370832" cy="21945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20" b="1">
                <a:solidFill>
                  <a:srgbClr val="172432"/>
                </a:solidFill>
                <a:latin typeface="맑은 고딕"/>
                <a:ea typeface="맑은 고딕"/>
                <a:cs typeface="맑은 고딕"/>
              </a:rPr>
              <a:t>/health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325880" y="2999232"/>
            <a:ext cx="4370832" cy="20116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60" b="0">
                <a:solidFill>
                  <a:srgbClr val="617181"/>
                </a:solidFill>
                <a:latin typeface="맑은 고딕"/>
                <a:ea typeface="맑은 고딕"/>
                <a:cs typeface="맑은 고딕"/>
              </a:rPr>
              <a:t>process = ok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85800" y="3419856"/>
            <a:ext cx="5148072" cy="621792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8E1E8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795528" y="3529584"/>
            <a:ext cx="402336" cy="402336"/>
          </a:xfrm>
          <a:prstGeom prst="roundRect">
            <a:avLst/>
          </a:prstGeom>
          <a:solidFill>
            <a:srgbClr val="2C7A5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95528" y="3566160"/>
            <a:ext cx="402336" cy="2377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325880" y="3520440"/>
            <a:ext cx="4370832" cy="21945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20" b="1">
                <a:solidFill>
                  <a:srgbClr val="172432"/>
                </a:solidFill>
                <a:latin typeface="맑은 고딕"/>
                <a:ea typeface="맑은 고딕"/>
                <a:cs typeface="맑은 고딕"/>
              </a:rPr>
              <a:t>/ready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25880" y="3749040"/>
            <a:ext cx="4370832" cy="20116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60" b="0">
                <a:solidFill>
                  <a:srgbClr val="617181"/>
                </a:solidFill>
                <a:latin typeface="맑은 고딕"/>
                <a:ea typeface="맑은 고딕"/>
                <a:cs typeface="맑은 고딕"/>
              </a:rPr>
              <a:t>DB = sqlite/postgres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85800" y="4169664"/>
            <a:ext cx="5148072" cy="621792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8E1E8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795528" y="4279392"/>
            <a:ext cx="402336" cy="402336"/>
          </a:xfrm>
          <a:prstGeom prst="roundRect">
            <a:avLst/>
          </a:prstGeom>
          <a:solidFill>
            <a:srgbClr val="2E78B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95528" y="4315968"/>
            <a:ext cx="402336" cy="2377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4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325880" y="4270248"/>
            <a:ext cx="4370832" cy="21945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20" b="1">
                <a:solidFill>
                  <a:srgbClr val="172432"/>
                </a:solidFill>
                <a:latin typeface="맑은 고딕"/>
                <a:ea typeface="맑은 고딕"/>
                <a:cs typeface="맑은 고딕"/>
              </a:rPr>
              <a:t>프론트 시작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325880" y="4498848"/>
            <a:ext cx="4370832" cy="20116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60" b="0">
                <a:solidFill>
                  <a:srgbClr val="617181"/>
                </a:solidFill>
                <a:latin typeface="맑은 고딕"/>
                <a:ea typeface="맑은 고딕"/>
                <a:cs typeface="맑은 고딕"/>
              </a:rPr>
              <a:t>Vite :5173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85800" y="4919472"/>
            <a:ext cx="5148072" cy="621792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8E1E8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0" name="Rounded Rectangle 29"/>
          <p:cNvSpPr/>
          <p:nvPr/>
        </p:nvSpPr>
        <p:spPr>
          <a:xfrm>
            <a:off x="795528" y="5029200"/>
            <a:ext cx="402336" cy="402336"/>
          </a:xfrm>
          <a:prstGeom prst="roundRect">
            <a:avLst/>
          </a:prstGeom>
          <a:solidFill>
            <a:srgbClr val="B76E0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795528" y="5065776"/>
            <a:ext cx="402336" cy="2377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5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325880" y="5020056"/>
            <a:ext cx="4370832" cy="21945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20" b="1">
                <a:solidFill>
                  <a:srgbClr val="172432"/>
                </a:solidFill>
                <a:latin typeface="맑은 고딕"/>
                <a:ea typeface="맑은 고딕"/>
                <a:cs typeface="맑은 고딕"/>
              </a:rPr>
              <a:t>브라우저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325880" y="5248656"/>
            <a:ext cx="4370832" cy="20116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60" b="0">
                <a:solidFill>
                  <a:srgbClr val="617181"/>
                </a:solidFill>
                <a:latin typeface="맑은 고딕"/>
                <a:ea typeface="맑은 고딕"/>
                <a:cs typeface="맑은 고딕"/>
              </a:rPr>
              <a:t>Network/CORS 확인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6144768" y="1938528"/>
            <a:ext cx="5303520" cy="2331720"/>
          </a:xfrm>
          <a:prstGeom prst="roundRect">
            <a:avLst/>
          </a:prstGeom>
          <a:solidFill>
            <a:srgbClr val="0B254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327648" y="2039112"/>
            <a:ext cx="4937759" cy="237744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90D4FF"/>
                </a:solidFill>
                <a:latin typeface="맑은 고딕"/>
                <a:ea typeface="맑은 고딕"/>
                <a:cs typeface="맑은 고딕"/>
              </a:rPr>
              <a:t>HEALTH CHECK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309359" y="2331720"/>
            <a:ext cx="4974336" cy="182879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F5F9FC"/>
                </a:solidFill>
                <a:latin typeface="Consolas"/>
                <a:ea typeface="Consolas"/>
                <a:cs typeface="Consolas"/>
              </a:rPr>
              <a:t># macOS
curl http://127.0.0.1:8000/health
curl http://127.0.0.1:8000/ready
# Windows PowerShell
Invoke-RestMethod http://127.0.0.1:8000/health
Invoke-RestMethod http://127.0.0.1:8000/ready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6144768" y="4498848"/>
            <a:ext cx="2514600" cy="1115568"/>
          </a:xfrm>
          <a:prstGeom prst="roundRect">
            <a:avLst/>
          </a:prstGeom>
          <a:solidFill>
            <a:srgbClr val="EAF3FA"/>
          </a:solidFill>
          <a:ln w="10160">
            <a:solidFill>
              <a:srgbClr val="D8E1E8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6144768" y="4498848"/>
            <a:ext cx="73152" cy="1115568"/>
          </a:xfrm>
          <a:prstGeom prst="rect">
            <a:avLst/>
          </a:prstGeom>
          <a:solidFill>
            <a:srgbClr val="1D5F9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6373368" y="4626864"/>
            <a:ext cx="2103120" cy="29260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172432"/>
                </a:solidFill>
                <a:latin typeface="맑은 고딕"/>
                <a:ea typeface="맑은 고딕"/>
                <a:cs typeface="맑은 고딕"/>
              </a:rPr>
              <a:t>빈 화면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373368" y="5010912"/>
            <a:ext cx="2103120" cy="502919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80" b="0">
                <a:solidFill>
                  <a:srgbClr val="617181"/>
                </a:solidFill>
                <a:latin typeface="맑은 고딕"/>
                <a:ea typeface="맑은 고딕"/>
                <a:cs typeface="맑은 고딕"/>
              </a:rPr>
              <a:t>새 SQLite라면 연보가 없는 것이 정상
업로드 또는 인계 DB 연결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8887968" y="4498848"/>
            <a:ext cx="2560320" cy="1115568"/>
          </a:xfrm>
          <a:prstGeom prst="roundRect">
            <a:avLst/>
          </a:prstGeom>
          <a:solidFill>
            <a:srgbClr val="FCECEF"/>
          </a:solidFill>
          <a:ln w="10160">
            <a:solidFill>
              <a:srgbClr val="D8E1E8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8887968" y="4498848"/>
            <a:ext cx="73152" cy="1115568"/>
          </a:xfrm>
          <a:prstGeom prst="rect">
            <a:avLst/>
          </a:prstGeom>
          <a:solidFill>
            <a:srgbClr val="B83A4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9116568" y="4626864"/>
            <a:ext cx="2148839" cy="29260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172432"/>
                </a:solidFill>
                <a:latin typeface="맑은 고딕"/>
                <a:ea typeface="맑은 고딕"/>
                <a:cs typeface="맑은 고딕"/>
              </a:rPr>
              <a:t>ready 실패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9116568" y="5010912"/>
            <a:ext cx="2148839" cy="502919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80" b="0">
                <a:solidFill>
                  <a:srgbClr val="617181"/>
                </a:solidFill>
                <a:latin typeface="맑은 고딕"/>
                <a:ea typeface="맑은 고딕"/>
                <a:cs typeface="맑은 고딕"/>
              </a:rPr>
              <a:t>DB 경로·URL·권한·migration·디스크 확인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D5F9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47472"/>
            <a:ext cx="292608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50" b="1">
                <a:solidFill>
                  <a:srgbClr val="1D5F9A"/>
                </a:solidFill>
                <a:latin typeface="맑은 고딕"/>
                <a:ea typeface="맑은 고딕"/>
                <a:cs typeface="맑은 고딕"/>
              </a:rPr>
              <a:t>USE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85800"/>
            <a:ext cx="10972800" cy="5029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500" b="1">
                <a:solidFill>
                  <a:srgbClr val="0B2545"/>
                </a:solidFill>
                <a:latin typeface="맑은 고딕"/>
                <a:ea typeface="맑은 고딕"/>
                <a:cs typeface="맑은 고딕"/>
              </a:rPr>
              <a:t>완성 연보 업로드 — 첫 성공 시나리오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85216" y="1225296"/>
            <a:ext cx="10881360" cy="32004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617181"/>
                </a:solidFill>
                <a:latin typeface="맑은 고딕"/>
                <a:ea typeface="맑은 고딕"/>
                <a:cs typeface="맑은 고딕"/>
              </a:rPr>
              <a:t>작은 테스트 파일로 전체 경로를 먼저 확인한다.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566928" y="1664208"/>
            <a:ext cx="11055096" cy="0"/>
          </a:xfrm>
          <a:prstGeom prst="line">
            <a:avLst/>
          </a:prstGeom>
          <a:ln w="10160">
            <a:solidFill>
              <a:srgbClr val="D8E1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566928" y="6510528"/>
            <a:ext cx="7040880" cy="182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19" b="0">
                <a:solidFill>
                  <a:srgbClr val="8B99A7"/>
                </a:solidFill>
                <a:latin typeface="맑은 고딕"/>
                <a:ea typeface="맑은 고딕"/>
                <a:cs typeface="맑은 고딕"/>
              </a:rPr>
              <a:t>통계연보 검수 보조 시스템  |  프로젝트 인수인계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109960" y="6492240"/>
            <a:ext cx="502920" cy="182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850" b="1">
                <a:solidFill>
                  <a:srgbClr val="8B99A7"/>
                </a:solidFill>
                <a:latin typeface="맑은 고딕"/>
                <a:ea typeface="맑은 고딕"/>
                <a:cs typeface="맑은 고딕"/>
              </a:rPr>
              <a:t>19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58368" y="1883664"/>
            <a:ext cx="5120640" cy="621792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8E1E8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768096" y="1993392"/>
            <a:ext cx="402336" cy="402336"/>
          </a:xfrm>
          <a:prstGeom prst="roundRect">
            <a:avLst/>
          </a:prstGeom>
          <a:solidFill>
            <a:srgbClr val="1D5F9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68096" y="2029968"/>
            <a:ext cx="402336" cy="2377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298448" y="1984248"/>
            <a:ext cx="4343400" cy="21945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20" b="1">
                <a:solidFill>
                  <a:srgbClr val="172432"/>
                </a:solidFill>
                <a:latin typeface="맑은 고딕"/>
                <a:ea typeface="맑은 고딕"/>
                <a:cs typeface="맑은 고딕"/>
              </a:rPr>
              <a:t>파일 선택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98448" y="2212848"/>
            <a:ext cx="4343400" cy="20116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60" b="0">
                <a:solidFill>
                  <a:srgbClr val="617181"/>
                </a:solidFill>
                <a:latin typeface="맑은 고딕"/>
                <a:ea typeface="맑은 고딕"/>
                <a:cs typeface="맑은 고딕"/>
              </a:rPr>
              <a:t>.hwpx · .md · .xlsx / 100MB 이하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58368" y="2633472"/>
            <a:ext cx="5120640" cy="621792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8E1E8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768096" y="2743200"/>
            <a:ext cx="402336" cy="402336"/>
          </a:xfrm>
          <a:prstGeom prst="roundRect">
            <a:avLst/>
          </a:prstGeom>
          <a:solidFill>
            <a:srgbClr val="1D5F9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68096" y="2779776"/>
            <a:ext cx="402336" cy="2377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298448" y="2734056"/>
            <a:ext cx="4343400" cy="21945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20" b="1">
                <a:solidFill>
                  <a:srgbClr val="172432"/>
                </a:solidFill>
                <a:latin typeface="맑은 고딕"/>
                <a:ea typeface="맑은 고딕"/>
                <a:cs typeface="맑은 고딕"/>
              </a:rPr>
              <a:t>정보 확인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298448" y="2962656"/>
            <a:ext cx="4343400" cy="20116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60" b="0">
                <a:solidFill>
                  <a:srgbClr val="617181"/>
                </a:solidFill>
                <a:latin typeface="맑은 고딕"/>
                <a:ea typeface="맑은 고딕"/>
                <a:cs typeface="맑은 고딕"/>
              </a:rPr>
              <a:t>연도 · 제목 · 새 연보 모드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58368" y="3383280"/>
            <a:ext cx="5120640" cy="621792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8E1E8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768096" y="3493008"/>
            <a:ext cx="402336" cy="402336"/>
          </a:xfrm>
          <a:prstGeom prst="roundRect">
            <a:avLst/>
          </a:prstGeom>
          <a:solidFill>
            <a:srgbClr val="1D5F9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68096" y="3529584"/>
            <a:ext cx="402336" cy="2377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298448" y="3483864"/>
            <a:ext cx="4343400" cy="21945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20" b="1">
                <a:solidFill>
                  <a:srgbClr val="172432"/>
                </a:solidFill>
                <a:latin typeface="맑은 고딕"/>
                <a:ea typeface="맑은 고딕"/>
                <a:cs typeface="맑은 고딕"/>
              </a:rPr>
              <a:t>LLM 끄기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298448" y="3712464"/>
            <a:ext cx="4343400" cy="20116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60" b="0">
                <a:solidFill>
                  <a:srgbClr val="617181"/>
                </a:solidFill>
                <a:latin typeface="맑은 고딕"/>
                <a:ea typeface="맑은 고딕"/>
                <a:cs typeface="맑은 고딕"/>
              </a:rPr>
              <a:t>첫 실행은 외부 호출 없이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58368" y="4133087"/>
            <a:ext cx="5120640" cy="621792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8E1E8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768096" y="4242816"/>
            <a:ext cx="402336" cy="402336"/>
          </a:xfrm>
          <a:prstGeom prst="roundRect">
            <a:avLst/>
          </a:prstGeom>
          <a:solidFill>
            <a:srgbClr val="177A7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68096" y="4279392"/>
            <a:ext cx="402336" cy="2377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4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298448" y="4233672"/>
            <a:ext cx="4343400" cy="21945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20" b="1">
                <a:solidFill>
                  <a:srgbClr val="172432"/>
                </a:solidFill>
                <a:latin typeface="맑은 고딕"/>
                <a:ea typeface="맑은 고딕"/>
                <a:cs typeface="맑은 고딕"/>
              </a:rPr>
              <a:t>상태 확인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298448" y="4462272"/>
            <a:ext cx="4343400" cy="20116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60" b="0">
                <a:solidFill>
                  <a:srgbClr val="617181"/>
                </a:solidFill>
                <a:latin typeface="맑은 고딕"/>
                <a:ea typeface="맑은 고딕"/>
                <a:cs typeface="맑은 고딕"/>
              </a:rPr>
              <a:t>queued → running → completed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58368" y="4882896"/>
            <a:ext cx="5120640" cy="621792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8E1E8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0" name="Rounded Rectangle 29"/>
          <p:cNvSpPr/>
          <p:nvPr/>
        </p:nvSpPr>
        <p:spPr>
          <a:xfrm>
            <a:off x="768096" y="4992624"/>
            <a:ext cx="402336" cy="402336"/>
          </a:xfrm>
          <a:prstGeom prst="roundRect">
            <a:avLst/>
          </a:prstGeom>
          <a:solidFill>
            <a:srgbClr val="177A7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768096" y="5029200"/>
            <a:ext cx="402336" cy="2377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5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298448" y="4983480"/>
            <a:ext cx="4343400" cy="21945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20" b="1">
                <a:solidFill>
                  <a:srgbClr val="172432"/>
                </a:solidFill>
                <a:latin typeface="맑은 고딕"/>
                <a:ea typeface="맑은 고딕"/>
                <a:cs typeface="맑은 고딕"/>
              </a:rPr>
              <a:t>결과 확인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298448" y="5212080"/>
            <a:ext cx="4343400" cy="20116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60" b="0">
                <a:solidFill>
                  <a:srgbClr val="617181"/>
                </a:solidFill>
                <a:latin typeface="맑은 고딕"/>
                <a:ea typeface="맑은 고딕"/>
                <a:cs typeface="맑은 고딕"/>
              </a:rPr>
              <a:t>생성 연보 자동 선택 · 표 상세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6108192" y="1901952"/>
            <a:ext cx="5358384" cy="2395728"/>
          </a:xfrm>
          <a:prstGeom prst="roundRect">
            <a:avLst/>
          </a:prstGeom>
          <a:solidFill>
            <a:srgbClr val="0B254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291072" y="2002536"/>
            <a:ext cx="4992624" cy="237744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90D4FF"/>
                </a:solidFill>
                <a:latin typeface="맑은 고딕"/>
                <a:ea typeface="맑은 고딕"/>
                <a:cs typeface="맑은 고딕"/>
              </a:rPr>
              <a:t>API FLOW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272783" y="2295144"/>
            <a:ext cx="5029200" cy="189280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70" b="0">
                <a:solidFill>
                  <a:srgbClr val="F5F9FC"/>
                </a:solidFill>
                <a:latin typeface="Consolas"/>
                <a:ea typeface="Consolas"/>
                <a:cs typeface="Consolas"/>
              </a:rPr>
              <a:t>POST /api/imports
GET  /api/imports/{job_id}
POST /api/imports/{job_id}/retry
작업 기록에는
· source file / SHA-256
· current stage / progress
· error message / retry 상태가 남음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6108192" y="4535424"/>
            <a:ext cx="5358384" cy="1097280"/>
          </a:xfrm>
          <a:prstGeom prst="roundRect">
            <a:avLst/>
          </a:prstGeom>
          <a:solidFill>
            <a:srgbClr val="FCECEF"/>
          </a:solidFill>
          <a:ln w="10160">
            <a:solidFill>
              <a:srgbClr val="D8E1E8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6108192" y="4535424"/>
            <a:ext cx="73152" cy="1097280"/>
          </a:xfrm>
          <a:prstGeom prst="rect">
            <a:avLst/>
          </a:prstGeom>
          <a:solidFill>
            <a:srgbClr val="B83A4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6336792" y="4663440"/>
            <a:ext cx="4946904" cy="29260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172432"/>
                </a:solidFill>
                <a:latin typeface="맑은 고딕"/>
                <a:ea typeface="맑은 고딕"/>
                <a:cs typeface="맑은 고딕"/>
              </a:rPr>
              <a:t>실패 시 보관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336792" y="5047488"/>
            <a:ext cx="4946904" cy="484631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617181"/>
                </a:solidFill>
                <a:latin typeface="맑은 고딕"/>
                <a:ea typeface="맑은 고딕"/>
                <a:cs typeface="맑은 고딕"/>
              </a:rPr>
              <a:t>작업 ID · 파일명/해시 · 오류 메시지 · 백엔드/worker 로그 · 사용 DB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D5F9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47472"/>
            <a:ext cx="292608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50" b="1">
                <a:solidFill>
                  <a:srgbClr val="1D5F9A"/>
                </a:solidFill>
                <a:latin typeface="맑은 고딕"/>
                <a:ea typeface="맑은 고딕"/>
                <a:cs typeface="맑은 고딕"/>
              </a:rPr>
              <a:t>USE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85800"/>
            <a:ext cx="10972800" cy="5029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500" b="1">
                <a:solidFill>
                  <a:srgbClr val="0B2545"/>
                </a:solidFill>
                <a:latin typeface="맑은 고딕"/>
                <a:ea typeface="맑은 고딕"/>
                <a:cs typeface="맑은 고딕"/>
              </a:rPr>
              <a:t>검수 유형과 상태 읽는 법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85216" y="1225296"/>
            <a:ext cx="10881360" cy="32004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617181"/>
                </a:solidFill>
                <a:latin typeface="맑은 고딕"/>
                <a:ea typeface="맑은 고딕"/>
                <a:cs typeface="맑은 고딕"/>
              </a:rPr>
              <a:t>자동 판정은 담당자의 확인 순서를 정해주는 보조 결과다.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566928" y="1664208"/>
            <a:ext cx="11055096" cy="0"/>
          </a:xfrm>
          <a:prstGeom prst="line">
            <a:avLst/>
          </a:prstGeom>
          <a:ln w="10160">
            <a:solidFill>
              <a:srgbClr val="D8E1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566928" y="6510528"/>
            <a:ext cx="7040880" cy="182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19" b="0">
                <a:solidFill>
                  <a:srgbClr val="8B99A7"/>
                </a:solidFill>
                <a:latin typeface="맑은 고딕"/>
                <a:ea typeface="맑은 고딕"/>
                <a:cs typeface="맑은 고딕"/>
              </a:rPr>
              <a:t>통계연보 검수 보조 시스템  |  프로젝트 인수인계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109960" y="6492240"/>
            <a:ext cx="502920" cy="182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850" b="1">
                <a:solidFill>
                  <a:srgbClr val="8B99A7"/>
                </a:solidFill>
                <a:latin typeface="맑은 고딕"/>
                <a:ea typeface="맑은 고딕"/>
                <a:cs typeface="맑은 고딕"/>
              </a:rPr>
              <a:t>20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58368" y="1975104"/>
            <a:ext cx="1719072" cy="310896"/>
          </a:xfrm>
          <a:prstGeom prst="roundRect">
            <a:avLst/>
          </a:prstGeom>
          <a:solidFill>
            <a:srgbClr val="EAF3F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94944" y="2011680"/>
            <a:ext cx="1645919" cy="21945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D5F9A"/>
                </a:solidFill>
                <a:latin typeface="맑은 고딕"/>
                <a:ea typeface="맑은 고딕"/>
                <a:cs typeface="맑은 고딕"/>
              </a:rPr>
              <a:t>합계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651760" y="1975104"/>
            <a:ext cx="1719072" cy="310896"/>
          </a:xfrm>
          <a:prstGeom prst="roundRect">
            <a:avLst/>
          </a:prstGeom>
          <a:solidFill>
            <a:srgbClr val="EAF3F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688336" y="2011680"/>
            <a:ext cx="1645919" cy="21945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D5F9A"/>
                </a:solidFill>
                <a:latin typeface="맑은 고딕"/>
                <a:ea typeface="맑은 고딕"/>
                <a:cs typeface="맑은 고딕"/>
              </a:rPr>
              <a:t>비율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645152" y="1975104"/>
            <a:ext cx="1719072" cy="310896"/>
          </a:xfrm>
          <a:prstGeom prst="roundRect">
            <a:avLst/>
          </a:prstGeom>
          <a:solidFill>
            <a:srgbClr val="EAF3F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681728" y="2011680"/>
            <a:ext cx="1645919" cy="21945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D5F9A"/>
                </a:solidFill>
                <a:latin typeface="맑은 고딕"/>
                <a:ea typeface="맑은 고딕"/>
                <a:cs typeface="맑은 고딕"/>
              </a:rPr>
              <a:t>증감률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638544" y="1975104"/>
            <a:ext cx="1719072" cy="310896"/>
          </a:xfrm>
          <a:prstGeom prst="roundRect">
            <a:avLst/>
          </a:prstGeom>
          <a:solidFill>
            <a:srgbClr val="E8F5F3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675120" y="2011680"/>
            <a:ext cx="1645919" cy="21945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77A74"/>
                </a:solidFill>
                <a:latin typeface="맑은 고딕"/>
                <a:ea typeface="맑은 고딕"/>
                <a:cs typeface="맑은 고딕"/>
              </a:rPr>
              <a:t>오탈자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58368" y="2523744"/>
            <a:ext cx="1719072" cy="310896"/>
          </a:xfrm>
          <a:prstGeom prst="roundRect">
            <a:avLst/>
          </a:prstGeom>
          <a:solidFill>
            <a:srgbClr val="E8F5F3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94944" y="2560320"/>
            <a:ext cx="1645919" cy="21945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77A74"/>
                </a:solidFill>
                <a:latin typeface="맑은 고딕"/>
                <a:ea typeface="맑은 고딕"/>
                <a:cs typeface="맑은 고딕"/>
              </a:rPr>
              <a:t>번역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2651760" y="2523744"/>
            <a:ext cx="1719072" cy="310896"/>
          </a:xfrm>
          <a:prstGeom prst="roundRect">
            <a:avLst/>
          </a:prstGeom>
          <a:solidFill>
            <a:srgbClr val="E8F5F3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2688336" y="2560320"/>
            <a:ext cx="1645919" cy="21945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77A74"/>
                </a:solidFill>
                <a:latin typeface="맑은 고딕"/>
                <a:ea typeface="맑은 고딕"/>
                <a:cs typeface="맑은 고딕"/>
              </a:rPr>
              <a:t>메타정보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645152" y="2523744"/>
            <a:ext cx="1719072" cy="310896"/>
          </a:xfrm>
          <a:prstGeom prst="roundRect">
            <a:avLst/>
          </a:prstGeom>
          <a:solidFill>
            <a:srgbClr val="E8F5F3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681728" y="2560320"/>
            <a:ext cx="1645919" cy="21945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77A74"/>
                </a:solidFill>
                <a:latin typeface="맑은 고딕"/>
                <a:ea typeface="맑은 고딕"/>
                <a:cs typeface="맑은 고딕"/>
              </a:rPr>
              <a:t>이상치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638544" y="2523744"/>
            <a:ext cx="1719072" cy="310896"/>
          </a:xfrm>
          <a:prstGeom prst="roundRect">
            <a:avLst/>
          </a:prstGeom>
          <a:solidFill>
            <a:srgbClr val="E8F5F3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675120" y="2560320"/>
            <a:ext cx="1645919" cy="21945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77A74"/>
                </a:solidFill>
                <a:latin typeface="맑은 고딕"/>
                <a:ea typeface="맑은 고딕"/>
                <a:cs typeface="맑은 고딕"/>
              </a:rPr>
              <a:t>파란색 표기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67512" y="3419856"/>
            <a:ext cx="2514600" cy="1261872"/>
          </a:xfrm>
          <a:prstGeom prst="roundRect">
            <a:avLst/>
          </a:prstGeom>
          <a:solidFill>
            <a:srgbClr val="E9F6E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13816" y="3611880"/>
            <a:ext cx="2221992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2C7A55"/>
                </a:solidFill>
                <a:latin typeface="맑은 고딕"/>
                <a:ea typeface="맑은 고딕"/>
                <a:cs typeface="맑은 고딕"/>
              </a:rPr>
              <a:t>정상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13816" y="4105656"/>
            <a:ext cx="2221992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80" b="0">
                <a:solidFill>
                  <a:srgbClr val="172432"/>
                </a:solidFill>
                <a:latin typeface="맑은 고딕"/>
                <a:ea typeface="맑은 고딕"/>
                <a:cs typeface="맑은 고딕"/>
              </a:rPr>
              <a:t>규칙상 문제 없음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3438144" y="3419856"/>
            <a:ext cx="2514600" cy="1261872"/>
          </a:xfrm>
          <a:prstGeom prst="roundRect">
            <a:avLst/>
          </a:prstGeom>
          <a:solidFill>
            <a:srgbClr val="FFF3D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3584448" y="3611880"/>
            <a:ext cx="2221992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B76E00"/>
                </a:solidFill>
                <a:latin typeface="맑은 고딕"/>
                <a:ea typeface="맑은 고딕"/>
                <a:cs typeface="맑은 고딕"/>
              </a:rPr>
              <a:t>확인 필요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584448" y="4105656"/>
            <a:ext cx="2221992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80" b="0">
                <a:solidFill>
                  <a:srgbClr val="172432"/>
                </a:solidFill>
                <a:latin typeface="맑은 고딕"/>
                <a:ea typeface="맑은 고딕"/>
                <a:cs typeface="맑은 고딕"/>
              </a:rPr>
              <a:t>사람이 원문/원장 확인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6208775" y="3419856"/>
            <a:ext cx="2514600" cy="1261872"/>
          </a:xfrm>
          <a:prstGeom prst="roundRect">
            <a:avLst/>
          </a:prstGeom>
          <a:solidFill>
            <a:srgbClr val="FCECE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355079" y="3611880"/>
            <a:ext cx="2221992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B83A4B"/>
                </a:solidFill>
                <a:latin typeface="맑은 고딕"/>
                <a:ea typeface="맑은 고딕"/>
                <a:cs typeface="맑은 고딕"/>
              </a:rPr>
              <a:t>오류 의심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355079" y="4105656"/>
            <a:ext cx="2221992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80" b="0">
                <a:solidFill>
                  <a:srgbClr val="172432"/>
                </a:solidFill>
                <a:latin typeface="맑은 고딕"/>
                <a:ea typeface="맑은 고딕"/>
                <a:cs typeface="맑은 고딕"/>
              </a:rPr>
              <a:t>근거 확인 후 수정/예외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8979408" y="3419856"/>
            <a:ext cx="2514600" cy="1261872"/>
          </a:xfrm>
          <a:prstGeom prst="roundRect">
            <a:avLst/>
          </a:prstGeom>
          <a:solidFill>
            <a:srgbClr val="EAF3F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9125712" y="3611880"/>
            <a:ext cx="2221992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1D5F9A"/>
                </a:solidFill>
                <a:latin typeface="맑은 고딕"/>
                <a:ea typeface="맑은 고딕"/>
                <a:cs typeface="맑은 고딕"/>
              </a:rPr>
              <a:t>대기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125712" y="4105656"/>
            <a:ext cx="2221992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80" b="0">
                <a:solidFill>
                  <a:srgbClr val="172432"/>
                </a:solidFill>
                <a:latin typeface="맑은 고딕"/>
                <a:ea typeface="맑은 고딕"/>
                <a:cs typeface="맑은 고딕"/>
              </a:rPr>
              <a:t>언어 후보 판정 전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667512" y="5120640"/>
            <a:ext cx="10835640" cy="640080"/>
          </a:xfrm>
          <a:prstGeom prst="roundRect">
            <a:avLst/>
          </a:prstGeom>
          <a:solidFill>
            <a:srgbClr val="0B254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932688" y="5330952"/>
            <a:ext cx="10314432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25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수정한 표는 기존 검수 결과가 오래된 상태가 될 수 있으므로 반드시 다시 검수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D5F9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47472"/>
            <a:ext cx="292608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50" b="1">
                <a:solidFill>
                  <a:srgbClr val="1D5F9A"/>
                </a:solidFill>
                <a:latin typeface="맑은 고딕"/>
                <a:ea typeface="맑은 고딕"/>
                <a:cs typeface="맑은 고딕"/>
              </a:rPr>
              <a:t>USE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85800"/>
            <a:ext cx="10972800" cy="5029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500" b="1">
                <a:solidFill>
                  <a:srgbClr val="0B2545"/>
                </a:solidFill>
                <a:latin typeface="맑은 고딕"/>
                <a:ea typeface="맑은 고딕"/>
                <a:cs typeface="맑은 고딕"/>
              </a:rPr>
              <a:t>원장 3종으로 다음 연도 연보 만들기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85216" y="1225296"/>
            <a:ext cx="10881360" cy="32004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617181"/>
                </a:solidFill>
                <a:latin typeface="맑은 고딕"/>
                <a:ea typeface="맑은 고딕"/>
                <a:cs typeface="맑은 고딕"/>
              </a:rPr>
              <a:t>기준 연보의 모양과 새 원장의 값을 연결한다.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566928" y="1664208"/>
            <a:ext cx="11055096" cy="0"/>
          </a:xfrm>
          <a:prstGeom prst="line">
            <a:avLst/>
          </a:prstGeom>
          <a:ln w="10160">
            <a:solidFill>
              <a:srgbClr val="D8E1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566928" y="6510528"/>
            <a:ext cx="7040880" cy="182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19" b="0">
                <a:solidFill>
                  <a:srgbClr val="8B99A7"/>
                </a:solidFill>
                <a:latin typeface="맑은 고딕"/>
                <a:ea typeface="맑은 고딕"/>
                <a:cs typeface="맑은 고딕"/>
              </a:rPr>
              <a:t>통계연보 검수 보조 시스템  |  프로젝트 인수인계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109960" y="6492240"/>
            <a:ext cx="502920" cy="182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850" b="1">
                <a:solidFill>
                  <a:srgbClr val="8B99A7"/>
                </a:solidFill>
                <a:latin typeface="맑은 고딕"/>
                <a:ea typeface="맑은 고딕"/>
                <a:cs typeface="맑은 고딕"/>
              </a:rPr>
              <a:t>21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67512" y="2112264"/>
            <a:ext cx="1664208" cy="969264"/>
          </a:xfrm>
          <a:prstGeom prst="roundRect">
            <a:avLst/>
          </a:prstGeom>
          <a:solidFill>
            <a:srgbClr val="EAF3F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77240" y="2286000"/>
            <a:ext cx="1444752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1D5F9A"/>
                </a:solidFill>
                <a:latin typeface="맑은 고딕"/>
                <a:ea typeface="맑은 고딕"/>
                <a:cs typeface="맑은 고딕"/>
              </a:rPr>
              <a:t>표정보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2679192"/>
            <a:ext cx="1444752" cy="182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617181"/>
                </a:solidFill>
                <a:latin typeface="맑은 고딕"/>
                <a:ea typeface="맑은 고딕"/>
                <a:cs typeface="맑은 고딕"/>
              </a:rPr>
              <a:t>통계 메타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2633472" y="2112264"/>
            <a:ext cx="1664208" cy="969264"/>
          </a:xfrm>
          <a:prstGeom prst="roundRect">
            <a:avLst/>
          </a:prstGeom>
          <a:solidFill>
            <a:srgbClr val="EAF3F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743200" y="2286000"/>
            <a:ext cx="1444752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1D5F9A"/>
                </a:solidFill>
                <a:latin typeface="맑은 고딕"/>
                <a:ea typeface="맑은 고딕"/>
                <a:cs typeface="맑은 고딕"/>
              </a:rPr>
              <a:t>표항목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743200" y="2679192"/>
            <a:ext cx="1444752" cy="182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617181"/>
                </a:solidFill>
                <a:latin typeface="맑은 고딕"/>
                <a:ea typeface="맑은 고딕"/>
                <a:cs typeface="맑은 고딕"/>
              </a:rPr>
              <a:t>행·열 구조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599431" y="2112264"/>
            <a:ext cx="1664208" cy="969264"/>
          </a:xfrm>
          <a:prstGeom prst="roundRect">
            <a:avLst/>
          </a:prstGeom>
          <a:solidFill>
            <a:srgbClr val="EAF3F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709159" y="2286000"/>
            <a:ext cx="1444752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1D5F9A"/>
                </a:solidFill>
                <a:latin typeface="맑은 고딕"/>
                <a:ea typeface="맑은 고딕"/>
                <a:cs typeface="맑은 고딕"/>
              </a:rPr>
              <a:t>표데이터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709159" y="2679192"/>
            <a:ext cx="1444752" cy="182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617181"/>
                </a:solidFill>
                <a:latin typeface="맑은 고딕"/>
                <a:ea typeface="맑은 고딕"/>
                <a:cs typeface="맑은 고딕"/>
              </a:rPr>
              <a:t>기준시점 값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65392" y="2359152"/>
            <a:ext cx="384048" cy="32004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000" b="1">
                <a:solidFill>
                  <a:srgbClr val="1D5F9A"/>
                </a:solidFill>
                <a:latin typeface="맑은 고딕"/>
                <a:ea typeface="맑은 고딕"/>
                <a:cs typeface="맑은 고딕"/>
              </a:rPr>
              <a:t>+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059168" y="2112264"/>
            <a:ext cx="1847088" cy="969264"/>
          </a:xfrm>
          <a:prstGeom prst="roundRect">
            <a:avLst/>
          </a:prstGeom>
          <a:solidFill>
            <a:srgbClr val="E8F5F3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223760" y="2322576"/>
            <a:ext cx="1517904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177A74"/>
                </a:solidFill>
                <a:latin typeface="맑은 고딕"/>
                <a:ea typeface="맑은 고딕"/>
                <a:cs typeface="맑은 고딕"/>
              </a:rPr>
              <a:t>기준 연보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223760" y="2697480"/>
            <a:ext cx="1517904" cy="182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617181"/>
                </a:solidFill>
                <a:latin typeface="맑은 고딕"/>
                <a:ea typeface="맑은 고딕"/>
                <a:cs typeface="맑은 고딕"/>
              </a:rPr>
              <a:t>표 형식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089136" y="2386584"/>
            <a:ext cx="438912" cy="29260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000" b="1">
                <a:solidFill>
                  <a:srgbClr val="1D5F9A"/>
                </a:solidFill>
                <a:latin typeface="맑은 고딕"/>
                <a:ea typeface="맑은 고딕"/>
                <a:cs typeface="맑은 고딕"/>
              </a:rPr>
              <a:t>→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9582912" y="1993392"/>
            <a:ext cx="1938528" cy="1225296"/>
          </a:xfrm>
          <a:prstGeom prst="roundRect">
            <a:avLst/>
          </a:prstGeom>
          <a:solidFill>
            <a:srgbClr val="0B254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747504" y="2276856"/>
            <a:ext cx="1609344" cy="30175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45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새 연도 초안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747504" y="2734056"/>
            <a:ext cx="1609344" cy="20116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9EC6E5"/>
                </a:solidFill>
                <a:latin typeface="맑은 고딕"/>
                <a:ea typeface="맑은 고딕"/>
                <a:cs typeface="맑은 고딕"/>
              </a:rPr>
              <a:t>연결 검토 필요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68096" y="3803904"/>
            <a:ext cx="10698480" cy="155448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lnSpc>
                <a:spcPct val="110000"/>
              </a:lnSpc>
              <a:spcBef>
                <a:spcPts val="0"/>
              </a:spcBef>
              <a:spcAft>
                <a:spcPts val="700"/>
              </a:spcAft>
            </a:pPr>
            <a:r>
              <a:rPr sz="1220" b="1">
                <a:solidFill>
                  <a:srgbClr val="1D5F9A"/>
                </a:solidFill>
                <a:latin typeface="맑은 고딕"/>
                <a:ea typeface="맑은 고딕"/>
                <a:cs typeface="맑은 고딕"/>
              </a:rPr>
              <a:t>•  </a:t>
            </a:r>
            <a:r>
              <a:rPr sz="1220" b="0">
                <a:solidFill>
                  <a:srgbClr val="172432"/>
                </a:solidFill>
                <a:latin typeface="맑은 고딕"/>
                <a:ea typeface="맑은 고딕"/>
                <a:cs typeface="맑은 고딕"/>
              </a:rPr>
              <a:t>같은 배치에서 추출한 Excel 3종인지 확인</a:t>
            </a:r>
          </a:p>
          <a:p>
            <a:pPr>
              <a:lnSpc>
                <a:spcPct val="110000"/>
              </a:lnSpc>
              <a:spcBef>
                <a:spcPts val="0"/>
              </a:spcBef>
              <a:spcAft>
                <a:spcPts val="700"/>
              </a:spcAft>
            </a:pPr>
            <a:r>
              <a:rPr sz="1220" b="1">
                <a:solidFill>
                  <a:srgbClr val="1D5F9A"/>
                </a:solidFill>
                <a:latin typeface="맑은 고딕"/>
                <a:ea typeface="맑은 고딕"/>
                <a:cs typeface="맑은 고딕"/>
              </a:rPr>
              <a:t>•  </a:t>
            </a:r>
            <a:r>
              <a:rPr sz="1220" b="0">
                <a:solidFill>
                  <a:srgbClr val="172432"/>
                </a:solidFill>
                <a:latin typeface="맑은 고딕"/>
                <a:ea typeface="맑은 고딕"/>
                <a:cs typeface="맑은 고딕"/>
              </a:rPr>
              <a:t>기준 연보와 대상 연도/제목을 ID까지 확인</a:t>
            </a:r>
          </a:p>
          <a:p>
            <a:pPr>
              <a:lnSpc>
                <a:spcPct val="110000"/>
              </a:lnSpc>
              <a:spcBef>
                <a:spcPts val="0"/>
              </a:spcBef>
              <a:spcAft>
                <a:spcPts val="700"/>
              </a:spcAft>
            </a:pPr>
            <a:r>
              <a:rPr sz="1220" b="1">
                <a:solidFill>
                  <a:srgbClr val="1D5F9A"/>
                </a:solidFill>
                <a:latin typeface="맑은 고딕"/>
                <a:ea typeface="맑은 고딕"/>
                <a:cs typeface="맑은 고딕"/>
              </a:rPr>
              <a:t>•  </a:t>
            </a:r>
            <a:r>
              <a:rPr sz="1220" b="0">
                <a:solidFill>
                  <a:srgbClr val="172432"/>
                </a:solidFill>
                <a:latin typeface="맑은 고딕"/>
                <a:ea typeface="맑은 고딕"/>
                <a:cs typeface="맑은 고딕"/>
              </a:rPr>
              <a:t>연결·신규·무시·기존 유지 대상을 사람이 검토</a:t>
            </a:r>
          </a:p>
          <a:p>
            <a:pPr>
              <a:lnSpc>
                <a:spcPct val="110000"/>
              </a:lnSpc>
              <a:spcBef>
                <a:spcPts val="0"/>
              </a:spcBef>
              <a:spcAft>
                <a:spcPts val="700"/>
              </a:spcAft>
            </a:pPr>
            <a:r>
              <a:rPr sz="1220" b="1">
                <a:solidFill>
                  <a:srgbClr val="1D5F9A"/>
                </a:solidFill>
                <a:latin typeface="맑은 고딕"/>
                <a:ea typeface="맑은 고딕"/>
                <a:cs typeface="맑은 고딕"/>
              </a:rPr>
              <a:t>•  </a:t>
            </a:r>
            <a:r>
              <a:rPr sz="1220" b="0">
                <a:solidFill>
                  <a:srgbClr val="172432"/>
                </a:solidFill>
                <a:latin typeface="맑은 고딕"/>
                <a:ea typeface="맑은 고딕"/>
                <a:cs typeface="맑은 고딕"/>
              </a:rPr>
              <a:t>확정 후 검수 실행 — 자동 연결을 곧바로 정답으로 보지 않음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D5F9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47472"/>
            <a:ext cx="292608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50" b="1">
                <a:solidFill>
                  <a:srgbClr val="1D5F9A"/>
                </a:solidFill>
                <a:latin typeface="맑은 고딕"/>
                <a:ea typeface="맑은 고딕"/>
                <a:cs typeface="맑은 고딕"/>
              </a:rPr>
              <a:t>CHANGE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85800"/>
            <a:ext cx="10972800" cy="5029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500" b="1">
                <a:solidFill>
                  <a:srgbClr val="0B2545"/>
                </a:solidFill>
                <a:latin typeface="맑은 고딕"/>
                <a:ea typeface="맑은 고딕"/>
                <a:cs typeface="맑은 고딕"/>
              </a:rPr>
              <a:t>무엇을 바꾸려는지에 따라 시작 파일이 다르다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85216" y="1225296"/>
            <a:ext cx="10881360" cy="32004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617181"/>
                </a:solidFill>
                <a:latin typeface="맑은 고딕"/>
                <a:ea typeface="맑은 고딕"/>
                <a:cs typeface="맑은 고딕"/>
              </a:rPr>
              <a:t>API 계약 변경은 프론트와 백엔드를 함께 바꾸는 작업이다.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566928" y="1664208"/>
            <a:ext cx="11055096" cy="0"/>
          </a:xfrm>
          <a:prstGeom prst="line">
            <a:avLst/>
          </a:prstGeom>
          <a:ln w="10160">
            <a:solidFill>
              <a:srgbClr val="D8E1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566928" y="6510528"/>
            <a:ext cx="7040880" cy="182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19" b="0">
                <a:solidFill>
                  <a:srgbClr val="8B99A7"/>
                </a:solidFill>
                <a:latin typeface="맑은 고딕"/>
                <a:ea typeface="맑은 고딕"/>
                <a:cs typeface="맑은 고딕"/>
              </a:rPr>
              <a:t>통계연보 검수 보조 시스템  |  프로젝트 인수인계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109960" y="6492240"/>
            <a:ext cx="502920" cy="182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850" b="1">
                <a:solidFill>
                  <a:srgbClr val="8B99A7"/>
                </a:solidFill>
                <a:latin typeface="맑은 고딕"/>
                <a:ea typeface="맑은 고딕"/>
                <a:cs typeface="맑은 고딕"/>
              </a:rPr>
              <a:t>22</a:t>
            </a:r>
          </a:p>
        </p:txBody>
      </p:sp>
      <p:sp>
        <p:nvSpPr>
          <p:cNvPr id="9" name="Rectangle 8"/>
          <p:cNvSpPr/>
          <p:nvPr/>
        </p:nvSpPr>
        <p:spPr>
          <a:xfrm>
            <a:off x="896112" y="1920240"/>
            <a:ext cx="2377440" cy="493776"/>
          </a:xfrm>
          <a:prstGeom prst="rect">
            <a:avLst/>
          </a:prstGeom>
          <a:solidFill>
            <a:srgbClr val="0B2545"/>
          </a:solidFill>
          <a:ln w="7620">
            <a:solidFill>
              <a:srgbClr val="D8E1E8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69264" y="1975104"/>
            <a:ext cx="2231136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변경 목적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273552" y="1920240"/>
            <a:ext cx="3703320" cy="493776"/>
          </a:xfrm>
          <a:prstGeom prst="rect">
            <a:avLst/>
          </a:prstGeom>
          <a:solidFill>
            <a:srgbClr val="0B2545"/>
          </a:solidFill>
          <a:ln w="7620">
            <a:solidFill>
              <a:srgbClr val="D8E1E8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346704" y="1975104"/>
            <a:ext cx="3557015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첫 파일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976872" y="1920240"/>
            <a:ext cx="4297680" cy="493776"/>
          </a:xfrm>
          <a:prstGeom prst="rect">
            <a:avLst/>
          </a:prstGeom>
          <a:solidFill>
            <a:srgbClr val="0B2545"/>
          </a:solidFill>
          <a:ln w="7620">
            <a:solidFill>
              <a:srgbClr val="D8E1E8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050024" y="1975104"/>
            <a:ext cx="4151376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함께 확인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96112" y="2414016"/>
            <a:ext cx="2377440" cy="493776"/>
          </a:xfrm>
          <a:prstGeom prst="rect">
            <a:avLst/>
          </a:prstGeom>
          <a:solidFill>
            <a:srgbClr val="FFFFFF"/>
          </a:solidFill>
          <a:ln w="7620">
            <a:solidFill>
              <a:srgbClr val="D8E1E8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69264" y="2468880"/>
            <a:ext cx="2231136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19" b="0">
                <a:solidFill>
                  <a:srgbClr val="172432"/>
                </a:solidFill>
                <a:latin typeface="맑은 고딕"/>
                <a:ea typeface="맑은 고딕"/>
                <a:cs typeface="맑은 고딕"/>
              </a:rPr>
              <a:t>화면/메뉴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273552" y="2414016"/>
            <a:ext cx="3703320" cy="493776"/>
          </a:xfrm>
          <a:prstGeom prst="rect">
            <a:avLst/>
          </a:prstGeom>
          <a:solidFill>
            <a:srgbClr val="FFFFFF"/>
          </a:solidFill>
          <a:ln w="7620">
            <a:solidFill>
              <a:srgbClr val="D8E1E8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346704" y="2468880"/>
            <a:ext cx="3557015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19" b="0">
                <a:solidFill>
                  <a:srgbClr val="172432"/>
                </a:solidFill>
                <a:latin typeface="맑은 고딕"/>
                <a:ea typeface="맑은 고딕"/>
                <a:cs typeface="맑은 고딕"/>
              </a:rPr>
              <a:t>App.tsx · components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976872" y="2414016"/>
            <a:ext cx="4297680" cy="493776"/>
          </a:xfrm>
          <a:prstGeom prst="rect">
            <a:avLst/>
          </a:prstGeom>
          <a:solidFill>
            <a:srgbClr val="FFFFFF"/>
          </a:solidFill>
          <a:ln w="7620">
            <a:solidFill>
              <a:srgbClr val="D8E1E8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050024" y="2468880"/>
            <a:ext cx="4151376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19" b="0">
                <a:solidFill>
                  <a:srgbClr val="172432"/>
                </a:solidFill>
                <a:latin typeface="맑은 고딕"/>
                <a:ea typeface="맑은 고딕"/>
                <a:cs typeface="맑은 고딕"/>
              </a:rPr>
              <a:t>global.css · test.tsx</a:t>
            </a:r>
          </a:p>
        </p:txBody>
      </p:sp>
      <p:sp>
        <p:nvSpPr>
          <p:cNvPr id="21" name="Rectangle 20"/>
          <p:cNvSpPr/>
          <p:nvPr/>
        </p:nvSpPr>
        <p:spPr>
          <a:xfrm>
            <a:off x="896112" y="2907792"/>
            <a:ext cx="2377440" cy="493776"/>
          </a:xfrm>
          <a:prstGeom prst="rect">
            <a:avLst/>
          </a:prstGeom>
          <a:solidFill>
            <a:srgbClr val="F5F9FC"/>
          </a:solidFill>
          <a:ln w="7620">
            <a:solidFill>
              <a:srgbClr val="D8E1E8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69264" y="2962656"/>
            <a:ext cx="2231136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19" b="0">
                <a:solidFill>
                  <a:srgbClr val="172432"/>
                </a:solidFill>
                <a:latin typeface="맑은 고딕"/>
                <a:ea typeface="맑은 고딕"/>
                <a:cs typeface="맑은 고딕"/>
              </a:rPr>
              <a:t>API 호출</a:t>
            </a:r>
          </a:p>
        </p:txBody>
      </p:sp>
      <p:sp>
        <p:nvSpPr>
          <p:cNvPr id="23" name="Rectangle 22"/>
          <p:cNvSpPr/>
          <p:nvPr/>
        </p:nvSpPr>
        <p:spPr>
          <a:xfrm>
            <a:off x="3273552" y="2907792"/>
            <a:ext cx="3703320" cy="493776"/>
          </a:xfrm>
          <a:prstGeom prst="rect">
            <a:avLst/>
          </a:prstGeom>
          <a:solidFill>
            <a:srgbClr val="F5F9FC"/>
          </a:solidFill>
          <a:ln w="7620">
            <a:solidFill>
              <a:srgbClr val="D8E1E8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3346704" y="2962656"/>
            <a:ext cx="3557015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19" b="0">
                <a:solidFill>
                  <a:srgbClr val="172432"/>
                </a:solidFill>
                <a:latin typeface="맑은 고딕"/>
                <a:ea typeface="맑은 고딕"/>
                <a:cs typeface="맑은 고딕"/>
              </a:rPr>
              <a:t>frontend/api/reportApi.ts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976872" y="2907792"/>
            <a:ext cx="4297680" cy="493776"/>
          </a:xfrm>
          <a:prstGeom prst="rect">
            <a:avLst/>
          </a:prstGeom>
          <a:solidFill>
            <a:srgbClr val="F5F9FC"/>
          </a:solidFill>
          <a:ln w="7620">
            <a:solidFill>
              <a:srgbClr val="D8E1E8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050024" y="2962656"/>
            <a:ext cx="4151376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19" b="0">
                <a:solidFill>
                  <a:srgbClr val="172432"/>
                </a:solidFill>
                <a:latin typeface="맑은 고딕"/>
                <a:ea typeface="맑은 고딕"/>
                <a:cs typeface="맑은 고딕"/>
              </a:rPr>
              <a:t>types.ts · backend models</a:t>
            </a:r>
          </a:p>
        </p:txBody>
      </p:sp>
      <p:sp>
        <p:nvSpPr>
          <p:cNvPr id="27" name="Rectangle 26"/>
          <p:cNvSpPr/>
          <p:nvPr/>
        </p:nvSpPr>
        <p:spPr>
          <a:xfrm>
            <a:off x="896112" y="3401568"/>
            <a:ext cx="2377440" cy="493776"/>
          </a:xfrm>
          <a:prstGeom prst="rect">
            <a:avLst/>
          </a:prstGeom>
          <a:solidFill>
            <a:srgbClr val="FFFFFF"/>
          </a:solidFill>
          <a:ln w="7620">
            <a:solidFill>
              <a:srgbClr val="D8E1E8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69264" y="3456432"/>
            <a:ext cx="2231136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19" b="0">
                <a:solidFill>
                  <a:srgbClr val="172432"/>
                </a:solidFill>
                <a:latin typeface="맑은 고딕"/>
                <a:ea typeface="맑은 고딕"/>
                <a:cs typeface="맑은 고딕"/>
              </a:rPr>
              <a:t>API 경로</a:t>
            </a:r>
          </a:p>
        </p:txBody>
      </p:sp>
      <p:sp>
        <p:nvSpPr>
          <p:cNvPr id="29" name="Rectangle 28"/>
          <p:cNvSpPr/>
          <p:nvPr/>
        </p:nvSpPr>
        <p:spPr>
          <a:xfrm>
            <a:off x="3273552" y="3401568"/>
            <a:ext cx="3703320" cy="493776"/>
          </a:xfrm>
          <a:prstGeom prst="rect">
            <a:avLst/>
          </a:prstGeom>
          <a:solidFill>
            <a:srgbClr val="FFFFFF"/>
          </a:solidFill>
          <a:ln w="7620">
            <a:solidFill>
              <a:srgbClr val="D8E1E8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3346704" y="3456432"/>
            <a:ext cx="3557015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19" b="0">
                <a:solidFill>
                  <a:srgbClr val="172432"/>
                </a:solidFill>
                <a:latin typeface="맑은 고딕"/>
                <a:ea typeface="맑은 고딕"/>
                <a:cs typeface="맑은 고딕"/>
              </a:rPr>
              <a:t>backend/api/routes.py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976872" y="3401568"/>
            <a:ext cx="4297680" cy="493776"/>
          </a:xfrm>
          <a:prstGeom prst="rect">
            <a:avLst/>
          </a:prstGeom>
          <a:solidFill>
            <a:srgbClr val="FFFFFF"/>
          </a:solidFill>
          <a:ln w="7620">
            <a:solidFill>
              <a:srgbClr val="D8E1E8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7050024" y="3456432"/>
            <a:ext cx="4151376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19" b="0">
                <a:solidFill>
                  <a:srgbClr val="172432"/>
                </a:solidFill>
                <a:latin typeface="맑은 고딕"/>
                <a:ea typeface="맑은 고딕"/>
                <a:cs typeface="맑은 고딕"/>
              </a:rPr>
              <a:t>application · services</a:t>
            </a:r>
          </a:p>
        </p:txBody>
      </p:sp>
      <p:sp>
        <p:nvSpPr>
          <p:cNvPr id="33" name="Rectangle 32"/>
          <p:cNvSpPr/>
          <p:nvPr/>
        </p:nvSpPr>
        <p:spPr>
          <a:xfrm>
            <a:off x="896112" y="3895344"/>
            <a:ext cx="2377440" cy="493776"/>
          </a:xfrm>
          <a:prstGeom prst="rect">
            <a:avLst/>
          </a:prstGeom>
          <a:solidFill>
            <a:srgbClr val="F5F9FC"/>
          </a:solidFill>
          <a:ln w="7620">
            <a:solidFill>
              <a:srgbClr val="D8E1E8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969264" y="3950207"/>
            <a:ext cx="2231136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19" b="0">
                <a:solidFill>
                  <a:srgbClr val="172432"/>
                </a:solidFill>
                <a:latin typeface="맑은 고딕"/>
                <a:ea typeface="맑은 고딕"/>
                <a:cs typeface="맑은 고딕"/>
              </a:rPr>
              <a:t>계산 검수</a:t>
            </a:r>
          </a:p>
        </p:txBody>
      </p:sp>
      <p:sp>
        <p:nvSpPr>
          <p:cNvPr id="35" name="Rectangle 34"/>
          <p:cNvSpPr/>
          <p:nvPr/>
        </p:nvSpPr>
        <p:spPr>
          <a:xfrm>
            <a:off x="3273552" y="3895344"/>
            <a:ext cx="3703320" cy="493776"/>
          </a:xfrm>
          <a:prstGeom prst="rect">
            <a:avLst/>
          </a:prstGeom>
          <a:solidFill>
            <a:srgbClr val="F5F9FC"/>
          </a:solidFill>
          <a:ln w="7620">
            <a:solidFill>
              <a:srgbClr val="D8E1E8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3346704" y="3950207"/>
            <a:ext cx="3557015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19" b="0">
                <a:solidFill>
                  <a:srgbClr val="172432"/>
                </a:solidFill>
                <a:latin typeface="맑은 고딕"/>
                <a:ea typeface="맑은 고딕"/>
                <a:cs typeface="맑은 고딕"/>
              </a:rPr>
              <a:t>backend/validation</a:t>
            </a:r>
          </a:p>
        </p:txBody>
      </p:sp>
      <p:sp>
        <p:nvSpPr>
          <p:cNvPr id="37" name="Rectangle 36"/>
          <p:cNvSpPr/>
          <p:nvPr/>
        </p:nvSpPr>
        <p:spPr>
          <a:xfrm>
            <a:off x="6976872" y="3895344"/>
            <a:ext cx="4297680" cy="493776"/>
          </a:xfrm>
          <a:prstGeom prst="rect">
            <a:avLst/>
          </a:prstGeom>
          <a:solidFill>
            <a:srgbClr val="F5F9FC"/>
          </a:solidFill>
          <a:ln w="7620">
            <a:solidFill>
              <a:srgbClr val="D8E1E8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7050024" y="3950207"/>
            <a:ext cx="4151376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19" b="0">
                <a:solidFill>
                  <a:srgbClr val="172432"/>
                </a:solidFill>
                <a:latin typeface="맑은 고딕"/>
                <a:ea typeface="맑은 고딕"/>
                <a:cs typeface="맑은 고딕"/>
              </a:rPr>
              <a:t>validation_execution_service</a:t>
            </a:r>
          </a:p>
        </p:txBody>
      </p:sp>
      <p:sp>
        <p:nvSpPr>
          <p:cNvPr id="39" name="Rectangle 38"/>
          <p:cNvSpPr/>
          <p:nvPr/>
        </p:nvSpPr>
        <p:spPr>
          <a:xfrm>
            <a:off x="896112" y="4389120"/>
            <a:ext cx="2377440" cy="493776"/>
          </a:xfrm>
          <a:prstGeom prst="rect">
            <a:avLst/>
          </a:prstGeom>
          <a:solidFill>
            <a:srgbClr val="FFFFFF"/>
          </a:solidFill>
          <a:ln w="7620">
            <a:solidFill>
              <a:srgbClr val="D8E1E8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969264" y="4443984"/>
            <a:ext cx="2231136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19" b="0">
                <a:solidFill>
                  <a:srgbClr val="172432"/>
                </a:solidFill>
                <a:latin typeface="맑은 고딕"/>
                <a:ea typeface="맑은 고딕"/>
                <a:cs typeface="맑은 고딕"/>
              </a:rPr>
              <a:t>언어/LLM</a:t>
            </a:r>
          </a:p>
        </p:txBody>
      </p:sp>
      <p:sp>
        <p:nvSpPr>
          <p:cNvPr id="41" name="Rectangle 40"/>
          <p:cNvSpPr/>
          <p:nvPr/>
        </p:nvSpPr>
        <p:spPr>
          <a:xfrm>
            <a:off x="3273552" y="4389120"/>
            <a:ext cx="3703320" cy="493776"/>
          </a:xfrm>
          <a:prstGeom prst="rect">
            <a:avLst/>
          </a:prstGeom>
          <a:solidFill>
            <a:srgbClr val="FFFFFF"/>
          </a:solidFill>
          <a:ln w="7620">
            <a:solidFill>
              <a:srgbClr val="D8E1E8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3346704" y="4443984"/>
            <a:ext cx="3557015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19" b="0">
                <a:solidFill>
                  <a:srgbClr val="172432"/>
                </a:solidFill>
                <a:latin typeface="맑은 고딕"/>
                <a:ea typeface="맑은 고딕"/>
                <a:cs typeface="맑은 고딕"/>
              </a:rPr>
              <a:t>validation/language_pipeline</a:t>
            </a:r>
          </a:p>
        </p:txBody>
      </p:sp>
      <p:sp>
        <p:nvSpPr>
          <p:cNvPr id="43" name="Rectangle 42"/>
          <p:cNvSpPr/>
          <p:nvPr/>
        </p:nvSpPr>
        <p:spPr>
          <a:xfrm>
            <a:off x="6976872" y="4389120"/>
            <a:ext cx="4297680" cy="493776"/>
          </a:xfrm>
          <a:prstGeom prst="rect">
            <a:avLst/>
          </a:prstGeom>
          <a:solidFill>
            <a:srgbClr val="FFFFFF"/>
          </a:solidFill>
          <a:ln w="7620">
            <a:solidFill>
              <a:srgbClr val="D8E1E8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7050024" y="4443984"/>
            <a:ext cx="4151376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19" b="0">
                <a:solidFill>
                  <a:srgbClr val="172432"/>
                </a:solidFill>
                <a:latin typeface="맑은 고딕"/>
                <a:ea typeface="맑은 고딕"/>
                <a:cs typeface="맑은 고딕"/>
              </a:rPr>
              <a:t>core/llm_client.py</a:t>
            </a:r>
          </a:p>
        </p:txBody>
      </p:sp>
      <p:sp>
        <p:nvSpPr>
          <p:cNvPr id="45" name="Rectangle 44"/>
          <p:cNvSpPr/>
          <p:nvPr/>
        </p:nvSpPr>
        <p:spPr>
          <a:xfrm>
            <a:off x="896112" y="4882896"/>
            <a:ext cx="2377440" cy="493776"/>
          </a:xfrm>
          <a:prstGeom prst="rect">
            <a:avLst/>
          </a:prstGeom>
          <a:solidFill>
            <a:srgbClr val="F5F9FC"/>
          </a:solidFill>
          <a:ln w="7620">
            <a:solidFill>
              <a:srgbClr val="D8E1E8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969264" y="4937759"/>
            <a:ext cx="2231136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19" b="0">
                <a:solidFill>
                  <a:srgbClr val="172432"/>
                </a:solidFill>
                <a:latin typeface="맑은 고딕"/>
                <a:ea typeface="맑은 고딕"/>
                <a:cs typeface="맑은 고딕"/>
              </a:rPr>
              <a:t>DB 구조</a:t>
            </a:r>
          </a:p>
        </p:txBody>
      </p:sp>
      <p:sp>
        <p:nvSpPr>
          <p:cNvPr id="47" name="Rectangle 46"/>
          <p:cNvSpPr/>
          <p:nvPr/>
        </p:nvSpPr>
        <p:spPr>
          <a:xfrm>
            <a:off x="3273552" y="4882896"/>
            <a:ext cx="3703320" cy="493776"/>
          </a:xfrm>
          <a:prstGeom prst="rect">
            <a:avLst/>
          </a:prstGeom>
          <a:solidFill>
            <a:srgbClr val="F5F9FC"/>
          </a:solidFill>
          <a:ln w="7620">
            <a:solidFill>
              <a:srgbClr val="D8E1E8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3346704" y="4937759"/>
            <a:ext cx="3557015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19" b="0">
                <a:solidFill>
                  <a:srgbClr val="172432"/>
                </a:solidFill>
                <a:latin typeface="맑은 고딕"/>
                <a:ea typeface="맑은 고딕"/>
                <a:cs typeface="맑은 고딕"/>
              </a:rPr>
              <a:t>db/schema.py</a:t>
            </a:r>
          </a:p>
        </p:txBody>
      </p:sp>
      <p:sp>
        <p:nvSpPr>
          <p:cNvPr id="49" name="Rectangle 48"/>
          <p:cNvSpPr/>
          <p:nvPr/>
        </p:nvSpPr>
        <p:spPr>
          <a:xfrm>
            <a:off x="6976872" y="4882896"/>
            <a:ext cx="4297680" cy="493776"/>
          </a:xfrm>
          <a:prstGeom prst="rect">
            <a:avLst/>
          </a:prstGeom>
          <a:solidFill>
            <a:srgbClr val="F5F9FC"/>
          </a:solidFill>
          <a:ln w="7620">
            <a:solidFill>
              <a:srgbClr val="D8E1E8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7050024" y="4937759"/>
            <a:ext cx="4151376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19" b="0">
                <a:solidFill>
                  <a:srgbClr val="172432"/>
                </a:solidFill>
                <a:latin typeface="맑은 고딕"/>
                <a:ea typeface="맑은 고딕"/>
                <a:cs typeface="맑은 고딕"/>
              </a:rPr>
              <a:t>db/migrations.py · tests</a:t>
            </a:r>
          </a:p>
        </p:txBody>
      </p:sp>
      <p:sp>
        <p:nvSpPr>
          <p:cNvPr id="51" name="Rectangle 50"/>
          <p:cNvSpPr/>
          <p:nvPr/>
        </p:nvSpPr>
        <p:spPr>
          <a:xfrm>
            <a:off x="896112" y="5376672"/>
            <a:ext cx="2377440" cy="493776"/>
          </a:xfrm>
          <a:prstGeom prst="rect">
            <a:avLst/>
          </a:prstGeom>
          <a:solidFill>
            <a:srgbClr val="FFFFFF"/>
          </a:solidFill>
          <a:ln w="7620">
            <a:solidFill>
              <a:srgbClr val="D8E1E8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969264" y="5431536"/>
            <a:ext cx="2231136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19" b="0">
                <a:solidFill>
                  <a:srgbClr val="172432"/>
                </a:solidFill>
                <a:latin typeface="맑은 고딕"/>
                <a:ea typeface="맑은 고딕"/>
                <a:cs typeface="맑은 고딕"/>
              </a:rPr>
              <a:t>원장 생성</a:t>
            </a:r>
          </a:p>
        </p:txBody>
      </p:sp>
      <p:sp>
        <p:nvSpPr>
          <p:cNvPr id="53" name="Rectangle 52"/>
          <p:cNvSpPr/>
          <p:nvPr/>
        </p:nvSpPr>
        <p:spPr>
          <a:xfrm>
            <a:off x="3273552" y="5376672"/>
            <a:ext cx="3703320" cy="493776"/>
          </a:xfrm>
          <a:prstGeom prst="rect">
            <a:avLst/>
          </a:prstGeom>
          <a:solidFill>
            <a:srgbClr val="FFFFFF"/>
          </a:solidFill>
          <a:ln w="7620">
            <a:solidFill>
              <a:srgbClr val="D8E1E8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3346704" y="5431536"/>
            <a:ext cx="3557015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19" b="0">
                <a:solidFill>
                  <a:srgbClr val="172432"/>
                </a:solidFill>
                <a:latin typeface="맑은 고딕"/>
                <a:ea typeface="맑은 고딕"/>
                <a:cs typeface="맑은 고딕"/>
              </a:rPr>
              <a:t>yearbook_data</a:t>
            </a:r>
          </a:p>
        </p:txBody>
      </p:sp>
      <p:sp>
        <p:nvSpPr>
          <p:cNvPr id="55" name="Rectangle 54"/>
          <p:cNvSpPr/>
          <p:nvPr/>
        </p:nvSpPr>
        <p:spPr>
          <a:xfrm>
            <a:off x="6976872" y="5376672"/>
            <a:ext cx="4297680" cy="493776"/>
          </a:xfrm>
          <a:prstGeom prst="rect">
            <a:avLst/>
          </a:prstGeom>
          <a:solidFill>
            <a:srgbClr val="FFFFFF"/>
          </a:solidFill>
          <a:ln w="7620">
            <a:solidFill>
              <a:srgbClr val="D8E1E8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7050024" y="5431536"/>
            <a:ext cx="4151376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19" b="0">
                <a:solidFill>
                  <a:srgbClr val="172432"/>
                </a:solidFill>
                <a:latin typeface="맑은 고딕"/>
                <a:ea typeface="맑은 고딕"/>
                <a:cs typeface="맑은 고딕"/>
              </a:rPr>
              <a:t>ledger_yearbook_service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932688" y="5879592"/>
            <a:ext cx="10305288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1D5F9A"/>
                </a:solidFill>
                <a:latin typeface="맑은 고딕"/>
                <a:ea typeface="맑은 고딕"/>
                <a:cs typeface="맑은 고딕"/>
              </a:rPr>
              <a:t>원칙: routes는 HTTP 경계, 실제 업무 규칙은 application/services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D5F9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47472"/>
            <a:ext cx="292608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50" b="1">
                <a:solidFill>
                  <a:srgbClr val="1D5F9A"/>
                </a:solidFill>
                <a:latin typeface="맑은 고딕"/>
                <a:ea typeface="맑은 고딕"/>
                <a:cs typeface="맑은 고딕"/>
              </a:rPr>
              <a:t>CHANGE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85800"/>
            <a:ext cx="10972800" cy="5029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500" b="1">
                <a:solidFill>
                  <a:srgbClr val="0B2545"/>
                </a:solidFill>
                <a:latin typeface="맑은 고딕"/>
                <a:ea typeface="맑은 고딕"/>
                <a:cs typeface="맑은 고딕"/>
              </a:rPr>
              <a:t>안전한 수정 사이클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85216" y="1225296"/>
            <a:ext cx="10881360" cy="32004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617181"/>
                </a:solidFill>
                <a:latin typeface="맑은 고딕"/>
                <a:ea typeface="맑은 고딕"/>
                <a:cs typeface="맑은 고딕"/>
              </a:rPr>
              <a:t>작은 변경과 검증 가능한 기록이 롤백 비용을 줄인다.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566928" y="1664208"/>
            <a:ext cx="11055096" cy="0"/>
          </a:xfrm>
          <a:prstGeom prst="line">
            <a:avLst/>
          </a:prstGeom>
          <a:ln w="10160">
            <a:solidFill>
              <a:srgbClr val="D8E1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566928" y="6510528"/>
            <a:ext cx="7040880" cy="182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19" b="0">
                <a:solidFill>
                  <a:srgbClr val="8B99A7"/>
                </a:solidFill>
                <a:latin typeface="맑은 고딕"/>
                <a:ea typeface="맑은 고딕"/>
                <a:cs typeface="맑은 고딕"/>
              </a:rPr>
              <a:t>통계연보 검수 보조 시스템  |  프로젝트 인수인계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109960" y="6492240"/>
            <a:ext cx="502920" cy="182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850" b="1">
                <a:solidFill>
                  <a:srgbClr val="8B99A7"/>
                </a:solidFill>
                <a:latin typeface="맑은 고딕"/>
                <a:ea typeface="맑은 고딕"/>
                <a:cs typeface="맑은 고딕"/>
              </a:rPr>
              <a:t>23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03504" y="1956816"/>
            <a:ext cx="3538728" cy="1307592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8E1E8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749808" y="2112264"/>
            <a:ext cx="457200" cy="457200"/>
          </a:xfrm>
          <a:prstGeom prst="roundRect">
            <a:avLst/>
          </a:prstGeom>
          <a:solidFill>
            <a:srgbClr val="1D5F9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49808" y="2157984"/>
            <a:ext cx="4572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53312" y="2121408"/>
            <a:ext cx="2505456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0B2545"/>
                </a:solidFill>
                <a:latin typeface="맑은 고딕"/>
                <a:ea typeface="맑은 고딕"/>
                <a:cs typeface="맑은 고딕"/>
              </a:rPr>
              <a:t>요구사항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353312" y="2642616"/>
            <a:ext cx="2505456" cy="24688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617181"/>
                </a:solidFill>
                <a:latin typeface="맑은 고딕"/>
                <a:ea typeface="맑은 고딕"/>
                <a:cs typeface="맑은 고딕"/>
              </a:rPr>
              <a:t>기대 결과·재현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425696" y="1956816"/>
            <a:ext cx="3538728" cy="1307592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8E1E8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4572000" y="2112264"/>
            <a:ext cx="457200" cy="457200"/>
          </a:xfrm>
          <a:prstGeom prst="roundRect">
            <a:avLst/>
          </a:prstGeom>
          <a:solidFill>
            <a:srgbClr val="177A7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572000" y="2157984"/>
            <a:ext cx="4572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175504" y="2121408"/>
            <a:ext cx="2505456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0B2545"/>
                </a:solidFill>
                <a:latin typeface="맑은 고딕"/>
                <a:ea typeface="맑은 고딕"/>
                <a:cs typeface="맑은 고딕"/>
              </a:rPr>
              <a:t>브랜치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175504" y="2642616"/>
            <a:ext cx="2505456" cy="24688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617181"/>
                </a:solidFill>
                <a:latin typeface="맑은 고딕"/>
                <a:ea typeface="맑은 고딕"/>
                <a:cs typeface="맑은 고딕"/>
              </a:rPr>
              <a:t>작업 단위 분리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247888" y="1956816"/>
            <a:ext cx="3538728" cy="1307592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8E1E8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8394192" y="2112264"/>
            <a:ext cx="457200" cy="457200"/>
          </a:xfrm>
          <a:prstGeom prst="roundRect">
            <a:avLst/>
          </a:prstGeom>
          <a:solidFill>
            <a:srgbClr val="2C7A5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394192" y="2157984"/>
            <a:ext cx="4572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997696" y="2121408"/>
            <a:ext cx="2505456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0B2545"/>
                </a:solidFill>
                <a:latin typeface="맑은 고딕"/>
                <a:ea typeface="맑은 고딕"/>
                <a:cs typeface="맑은 고딕"/>
              </a:rPr>
              <a:t>기준 테스트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997696" y="2642616"/>
            <a:ext cx="2505456" cy="24688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617181"/>
                </a:solidFill>
                <a:latin typeface="맑은 고딕"/>
                <a:ea typeface="맑은 고딕"/>
                <a:cs typeface="맑은 고딕"/>
              </a:rPr>
              <a:t>수정 전 결과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03504" y="3566160"/>
            <a:ext cx="3538728" cy="1307592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8E1E8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749808" y="3721608"/>
            <a:ext cx="457200" cy="457200"/>
          </a:xfrm>
          <a:prstGeom prst="roundRect">
            <a:avLst/>
          </a:prstGeom>
          <a:solidFill>
            <a:srgbClr val="B76E0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49808" y="3767328"/>
            <a:ext cx="4572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4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353312" y="3730752"/>
            <a:ext cx="2505456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0B2545"/>
                </a:solidFill>
                <a:latin typeface="맑은 고딕"/>
                <a:ea typeface="맑은 고딕"/>
                <a:cs typeface="맑은 고딕"/>
              </a:rPr>
              <a:t>작게 수정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353312" y="4251960"/>
            <a:ext cx="2505456" cy="24688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617181"/>
                </a:solidFill>
                <a:latin typeface="맑은 고딕"/>
                <a:ea typeface="맑은 고딕"/>
                <a:cs typeface="맑은 고딕"/>
              </a:rPr>
              <a:t>관련 계층만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4425696" y="3566160"/>
            <a:ext cx="3538728" cy="1307592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8E1E8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0" name="Rounded Rectangle 29"/>
          <p:cNvSpPr/>
          <p:nvPr/>
        </p:nvSpPr>
        <p:spPr>
          <a:xfrm>
            <a:off x="4572000" y="3721608"/>
            <a:ext cx="457200" cy="457200"/>
          </a:xfrm>
          <a:prstGeom prst="roundRect">
            <a:avLst/>
          </a:prstGeom>
          <a:solidFill>
            <a:srgbClr val="2E78B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4572000" y="3767328"/>
            <a:ext cx="4572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5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175504" y="3730752"/>
            <a:ext cx="2505456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0B2545"/>
                </a:solidFill>
                <a:latin typeface="맑은 고딕"/>
                <a:ea typeface="맑은 고딕"/>
                <a:cs typeface="맑은 고딕"/>
              </a:rPr>
              <a:t>검증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175504" y="4251960"/>
            <a:ext cx="2505456" cy="24688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617181"/>
                </a:solidFill>
                <a:latin typeface="맑은 고딕"/>
                <a:ea typeface="맑은 고딕"/>
                <a:cs typeface="맑은 고딕"/>
              </a:rPr>
              <a:t>관련 → 전체 → build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8247888" y="3566160"/>
            <a:ext cx="3538728" cy="1307592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8E1E8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5" name="Rounded Rectangle 34"/>
          <p:cNvSpPr/>
          <p:nvPr/>
        </p:nvSpPr>
        <p:spPr>
          <a:xfrm>
            <a:off x="8394192" y="3721608"/>
            <a:ext cx="457200" cy="457200"/>
          </a:xfrm>
          <a:prstGeom prst="roundRect">
            <a:avLst/>
          </a:prstGeom>
          <a:solidFill>
            <a:srgbClr val="B83A4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8394192" y="3767328"/>
            <a:ext cx="4572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6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997696" y="3730752"/>
            <a:ext cx="2505456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0B2545"/>
                </a:solidFill>
                <a:latin typeface="맑은 고딕"/>
                <a:ea typeface="맑은 고딕"/>
                <a:cs typeface="맑은 고딕"/>
              </a:rPr>
              <a:t>인계 기록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997696" y="4251960"/>
            <a:ext cx="2505456" cy="24688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617181"/>
                </a:solidFill>
                <a:latin typeface="맑은 고딕"/>
                <a:ea typeface="맑은 고딕"/>
                <a:cs typeface="맑은 고딕"/>
              </a:rPr>
              <a:t>DB·env·rollback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621792" y="5404104"/>
            <a:ext cx="10917936" cy="530352"/>
          </a:xfrm>
          <a:prstGeom prst="roundRect">
            <a:avLst/>
          </a:prstGeom>
          <a:solidFill>
            <a:srgbClr val="F7F9FB"/>
          </a:solidFill>
          <a:ln w="10160">
            <a:solidFill>
              <a:srgbClr val="D8E1E8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896112" y="5559552"/>
            <a:ext cx="10360152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0B2545"/>
                </a:solidFill>
                <a:latin typeface="Consolas"/>
                <a:ea typeface="Consolas"/>
                <a:cs typeface="Consolas"/>
              </a:rPr>
              <a:t>커밋 전  git status --short  ·  git diff --check  ·  테스트 결과 기록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D5F9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47472"/>
            <a:ext cx="292608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50" b="1">
                <a:solidFill>
                  <a:srgbClr val="1D5F9A"/>
                </a:solidFill>
                <a:latin typeface="맑은 고딕"/>
                <a:ea typeface="맑은 고딕"/>
                <a:cs typeface="맑은 고딕"/>
              </a:rPr>
              <a:t>DATA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85800"/>
            <a:ext cx="10972800" cy="5029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500" b="1">
                <a:solidFill>
                  <a:srgbClr val="0B2545"/>
                </a:solidFill>
                <a:latin typeface="맑은 고딕"/>
                <a:ea typeface="맑은 고딕"/>
                <a:cs typeface="맑은 고딕"/>
              </a:rPr>
              <a:t>DB 변경은 코드 변경보다 한 단계 더 검증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85216" y="1225296"/>
            <a:ext cx="10881360" cy="32004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617181"/>
                </a:solidFill>
                <a:latin typeface="맑은 고딕"/>
                <a:ea typeface="맑은 고딕"/>
                <a:cs typeface="맑은 고딕"/>
              </a:rPr>
              <a:t>앱 시작 시 migration이 실행될 수 있으므로 실제 DB를 백업하지 않고 시험하지 않는다.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566928" y="1664208"/>
            <a:ext cx="11055096" cy="0"/>
          </a:xfrm>
          <a:prstGeom prst="line">
            <a:avLst/>
          </a:prstGeom>
          <a:ln w="10160">
            <a:solidFill>
              <a:srgbClr val="D8E1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566928" y="6510528"/>
            <a:ext cx="7040880" cy="182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19" b="0">
                <a:solidFill>
                  <a:srgbClr val="8B99A7"/>
                </a:solidFill>
                <a:latin typeface="맑은 고딕"/>
                <a:ea typeface="맑은 고딕"/>
                <a:cs typeface="맑은 고딕"/>
              </a:rPr>
              <a:t>통계연보 검수 보조 시스템  |  프로젝트 인수인계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109960" y="6492240"/>
            <a:ext cx="502920" cy="182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850" b="1">
                <a:solidFill>
                  <a:srgbClr val="8B99A7"/>
                </a:solidFill>
                <a:latin typeface="맑은 고딕"/>
                <a:ea typeface="맑은 고딕"/>
                <a:cs typeface="맑은 고딕"/>
              </a:rPr>
              <a:t>24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58368" y="1901952"/>
            <a:ext cx="5248656" cy="832104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8E1E8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58368" y="1901952"/>
            <a:ext cx="73152" cy="832104"/>
          </a:xfrm>
          <a:prstGeom prst="rect">
            <a:avLst/>
          </a:prstGeom>
          <a:solidFill>
            <a:srgbClr val="1D5F9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86968" y="2029968"/>
            <a:ext cx="4837176" cy="29260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50" b="1">
                <a:solidFill>
                  <a:srgbClr val="172432"/>
                </a:solidFill>
                <a:latin typeface="맑은 고딕"/>
                <a:ea typeface="맑은 고딕"/>
                <a:cs typeface="맑은 고딕"/>
              </a:rPr>
              <a:t>1 · schema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86968" y="2414016"/>
            <a:ext cx="4837176" cy="21945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617181"/>
                </a:solidFill>
                <a:latin typeface="맑은 고딕"/>
                <a:ea typeface="맑은 고딕"/>
                <a:cs typeface="맑은 고딕"/>
              </a:rPr>
              <a:t>새 설치 구조를 schema.py에 반영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90488" y="1901952"/>
            <a:ext cx="5248656" cy="832104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8E1E8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190488" y="1901952"/>
            <a:ext cx="73152" cy="832104"/>
          </a:xfrm>
          <a:prstGeom prst="rect">
            <a:avLst/>
          </a:prstGeom>
          <a:solidFill>
            <a:srgbClr val="177A7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19088" y="2029968"/>
            <a:ext cx="4837176" cy="29260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50" b="1">
                <a:solidFill>
                  <a:srgbClr val="172432"/>
                </a:solidFill>
                <a:latin typeface="맑은 고딕"/>
                <a:ea typeface="맑은 고딕"/>
                <a:cs typeface="맑은 고딕"/>
              </a:rPr>
              <a:t>2 · migration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19088" y="2414016"/>
            <a:ext cx="4837176" cy="21945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617181"/>
                </a:solidFill>
                <a:latin typeface="맑은 고딕"/>
                <a:ea typeface="맑은 고딕"/>
                <a:cs typeface="맑은 고딕"/>
              </a:rPr>
              <a:t>기존 DB 이동 경로와 재실행 안전성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58368" y="2962656"/>
            <a:ext cx="5248656" cy="832104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8E1E8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58368" y="2962656"/>
            <a:ext cx="73152" cy="832104"/>
          </a:xfrm>
          <a:prstGeom prst="rect">
            <a:avLst/>
          </a:prstGeom>
          <a:solidFill>
            <a:srgbClr val="2C7A5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86968" y="3090672"/>
            <a:ext cx="4837176" cy="29260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50" b="1">
                <a:solidFill>
                  <a:srgbClr val="172432"/>
                </a:solidFill>
                <a:latin typeface="맑은 고딕"/>
                <a:ea typeface="맑은 고딕"/>
                <a:cs typeface="맑은 고딕"/>
              </a:rPr>
              <a:t>3 · fresh DB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86968" y="3474720"/>
            <a:ext cx="4837176" cy="21945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617181"/>
                </a:solidFill>
                <a:latin typeface="맑은 고딕"/>
                <a:ea typeface="맑은 고딕"/>
                <a:cs typeface="맑은 고딕"/>
              </a:rPr>
              <a:t>새 SQLite에서 전체 생성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190488" y="2962656"/>
            <a:ext cx="5248656" cy="832104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8E1E8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190488" y="2962656"/>
            <a:ext cx="73152" cy="832104"/>
          </a:xfrm>
          <a:prstGeom prst="rect">
            <a:avLst/>
          </a:prstGeom>
          <a:solidFill>
            <a:srgbClr val="B76E0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419088" y="3090672"/>
            <a:ext cx="4837176" cy="29260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50" b="1">
                <a:solidFill>
                  <a:srgbClr val="172432"/>
                </a:solidFill>
                <a:latin typeface="맑은 고딕"/>
                <a:ea typeface="맑은 고딕"/>
                <a:cs typeface="맑은 고딕"/>
              </a:rPr>
              <a:t>4 · DB copy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19088" y="3474720"/>
            <a:ext cx="4837176" cy="21945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617181"/>
                </a:solidFill>
                <a:latin typeface="맑은 고딕"/>
                <a:ea typeface="맑은 고딕"/>
                <a:cs typeface="맑은 고딕"/>
              </a:rPr>
              <a:t>기존 DB 복사본에서 migration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58368" y="4023360"/>
            <a:ext cx="5248656" cy="832104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8E1E8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658368" y="4023360"/>
            <a:ext cx="73152" cy="832104"/>
          </a:xfrm>
          <a:prstGeom prst="rect">
            <a:avLst/>
          </a:prstGeom>
          <a:solidFill>
            <a:srgbClr val="2E78B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86968" y="4151376"/>
            <a:ext cx="4837176" cy="29260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50" b="1">
                <a:solidFill>
                  <a:srgbClr val="172432"/>
                </a:solidFill>
                <a:latin typeface="맑은 고딕"/>
                <a:ea typeface="맑은 고딕"/>
                <a:cs typeface="맑은 고딕"/>
              </a:rPr>
              <a:t>5 · PostgreSQL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86968" y="4535424"/>
            <a:ext cx="4837176" cy="21945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617181"/>
                </a:solidFill>
                <a:latin typeface="맑은 고딕"/>
                <a:ea typeface="맑은 고딕"/>
                <a:cs typeface="맑은 고딕"/>
              </a:rPr>
              <a:t>전용 테스트 DB에서 호환성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190488" y="4023360"/>
            <a:ext cx="5248656" cy="832104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8E1E8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6190488" y="4023360"/>
            <a:ext cx="73152" cy="832104"/>
          </a:xfrm>
          <a:prstGeom prst="rect">
            <a:avLst/>
          </a:prstGeom>
          <a:solidFill>
            <a:srgbClr val="B83A4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419088" y="4151376"/>
            <a:ext cx="4837176" cy="29260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50" b="1">
                <a:solidFill>
                  <a:srgbClr val="172432"/>
                </a:solidFill>
                <a:latin typeface="맑은 고딕"/>
                <a:ea typeface="맑은 고딕"/>
                <a:cs typeface="맑은 고딕"/>
              </a:rPr>
              <a:t>6 · backup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419088" y="4535424"/>
            <a:ext cx="4837176" cy="21945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617181"/>
                </a:solidFill>
                <a:latin typeface="맑은 고딕"/>
                <a:ea typeface="맑은 고딕"/>
                <a:cs typeface="맑은 고딕"/>
              </a:rPr>
              <a:t>운영 적용·rollback 담당 확정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667512" y="5321808"/>
            <a:ext cx="10808208" cy="621792"/>
          </a:xfrm>
          <a:prstGeom prst="roundRect">
            <a:avLst/>
          </a:prstGeom>
          <a:solidFill>
            <a:srgbClr val="FCECE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914400" y="5513832"/>
            <a:ext cx="10314432" cy="237744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220" b="1">
                <a:solidFill>
                  <a:srgbClr val="B83A4B"/>
                </a:solidFill>
                <a:latin typeface="맑은 고딕"/>
                <a:ea typeface="맑은 고딕"/>
                <a:cs typeface="맑은 고딕"/>
              </a:rPr>
              <a:t>이전 코드를 재배포해도 이미 적용된 DB 변경은 자동으로 취소되지 않는다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D5F9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47472"/>
            <a:ext cx="292608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50" b="1">
                <a:solidFill>
                  <a:srgbClr val="1D5F9A"/>
                </a:solidFill>
                <a:latin typeface="맑은 고딕"/>
                <a:ea typeface="맑은 고딕"/>
                <a:cs typeface="맑은 고딕"/>
              </a:rPr>
              <a:t>DATA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85800"/>
            <a:ext cx="10972800" cy="5029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500" b="1">
                <a:solidFill>
                  <a:srgbClr val="0B2545"/>
                </a:solidFill>
                <a:latin typeface="맑은 고딕"/>
                <a:ea typeface="맑은 고딕"/>
                <a:cs typeface="맑은 고딕"/>
              </a:rPr>
              <a:t>SQLite와 uploads는 같은 시점의 세트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85216" y="1225296"/>
            <a:ext cx="10881360" cy="32004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617181"/>
                </a:solidFill>
                <a:latin typeface="맑은 고딕"/>
                <a:ea typeface="맑은 고딕"/>
                <a:cs typeface="맑은 고딕"/>
              </a:rPr>
              <a:t>DB만 있으면 과거 원본 재처리가, uploads만 있으면 작업 연결이 어려울 수 있다.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566928" y="1664208"/>
            <a:ext cx="11055096" cy="0"/>
          </a:xfrm>
          <a:prstGeom prst="line">
            <a:avLst/>
          </a:prstGeom>
          <a:ln w="10160">
            <a:solidFill>
              <a:srgbClr val="D8E1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566928" y="6510528"/>
            <a:ext cx="7040880" cy="182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19" b="0">
                <a:solidFill>
                  <a:srgbClr val="8B99A7"/>
                </a:solidFill>
                <a:latin typeface="맑은 고딕"/>
                <a:ea typeface="맑은 고딕"/>
                <a:cs typeface="맑은 고딕"/>
              </a:rPr>
              <a:t>통계연보 검수 보조 시스템  |  프로젝트 인수인계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109960" y="6492240"/>
            <a:ext cx="502920" cy="182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850" b="1">
                <a:solidFill>
                  <a:srgbClr val="8B99A7"/>
                </a:solidFill>
                <a:latin typeface="맑은 고딕"/>
                <a:ea typeface="맑은 고딕"/>
                <a:cs typeface="맑은 고딕"/>
              </a:rPr>
              <a:t>25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58368" y="1938528"/>
            <a:ext cx="3401568" cy="1353312"/>
          </a:xfrm>
          <a:prstGeom prst="roundRect">
            <a:avLst/>
          </a:prstGeom>
          <a:solidFill>
            <a:srgbClr val="FCECEF"/>
          </a:solidFill>
          <a:ln w="10160">
            <a:solidFill>
              <a:srgbClr val="D8E1E8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58368" y="1938528"/>
            <a:ext cx="73152" cy="1353312"/>
          </a:xfrm>
          <a:prstGeom prst="rect">
            <a:avLst/>
          </a:prstGeom>
          <a:solidFill>
            <a:srgbClr val="B83A4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86968" y="2066544"/>
            <a:ext cx="2990088" cy="29260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172432"/>
                </a:solidFill>
                <a:latin typeface="맑은 고딕"/>
                <a:ea typeface="맑은 고딕"/>
                <a:cs typeface="맑은 고딕"/>
              </a:rPr>
              <a:t>1 · STOP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86968" y="2450592"/>
            <a:ext cx="2990088" cy="740664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617181"/>
                </a:solidFill>
                <a:latin typeface="맑은 고딕"/>
                <a:ea typeface="맑은 고딕"/>
                <a:cs typeface="맑은 고딕"/>
              </a:rPr>
              <a:t>백엔드·worker를 Ctrl+C로 종료
처리 중 작업이 없는지 확인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389120" y="1938528"/>
            <a:ext cx="3401568" cy="1353312"/>
          </a:xfrm>
          <a:prstGeom prst="roundRect">
            <a:avLst/>
          </a:prstGeom>
          <a:solidFill>
            <a:srgbClr val="EAF3FA"/>
          </a:solidFill>
          <a:ln w="10160">
            <a:solidFill>
              <a:srgbClr val="D8E1E8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389120" y="1938528"/>
            <a:ext cx="73152" cy="1353312"/>
          </a:xfrm>
          <a:prstGeom prst="rect">
            <a:avLst/>
          </a:prstGeom>
          <a:solidFill>
            <a:srgbClr val="1D5F9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617720" y="2066544"/>
            <a:ext cx="2990088" cy="29260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172432"/>
                </a:solidFill>
                <a:latin typeface="맑은 고딕"/>
                <a:ea typeface="맑은 고딕"/>
                <a:cs typeface="맑은 고딕"/>
              </a:rPr>
              <a:t>2 · COPY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617720" y="2450592"/>
            <a:ext cx="2990088" cy="740664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617181"/>
                </a:solidFill>
                <a:latin typeface="맑은 고딕"/>
                <a:ea typeface="맑은 고딕"/>
                <a:cs typeface="맑은 고딕"/>
              </a:rPr>
              <a:t>SQLite + backend/uploads
같은 시각 기준으로 복사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119872" y="1938528"/>
            <a:ext cx="3401568" cy="1353312"/>
          </a:xfrm>
          <a:prstGeom prst="roundRect">
            <a:avLst/>
          </a:prstGeom>
          <a:solidFill>
            <a:srgbClr val="E8F5F3"/>
          </a:solidFill>
          <a:ln w="10160">
            <a:solidFill>
              <a:srgbClr val="D8E1E8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8119872" y="1938528"/>
            <a:ext cx="73152" cy="1353312"/>
          </a:xfrm>
          <a:prstGeom prst="rect">
            <a:avLst/>
          </a:prstGeom>
          <a:solidFill>
            <a:srgbClr val="177A7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348472" y="2066544"/>
            <a:ext cx="2990088" cy="29260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172432"/>
                </a:solidFill>
                <a:latin typeface="맑은 고딕"/>
                <a:ea typeface="맑은 고딕"/>
                <a:cs typeface="맑은 고딕"/>
              </a:rPr>
              <a:t>3 · HASH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348472" y="2450592"/>
            <a:ext cx="2990088" cy="740664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617181"/>
                </a:solidFill>
                <a:latin typeface="맑은 고딕"/>
                <a:ea typeface="맑은 고딕"/>
                <a:cs typeface="맑은 고딕"/>
              </a:rPr>
              <a:t>macOS shasum -a 256
Windows Get-FileHash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94944" y="3730752"/>
            <a:ext cx="10808208" cy="1627632"/>
          </a:xfrm>
          <a:prstGeom prst="roundRect">
            <a:avLst/>
          </a:prstGeom>
          <a:solidFill>
            <a:srgbClr val="0B254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77824" y="3831336"/>
            <a:ext cx="10442448" cy="237744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90D4FF"/>
                </a:solidFill>
                <a:latin typeface="맑은 고딕"/>
                <a:ea typeface="맑은 고딕"/>
                <a:cs typeface="맑은 고딕"/>
              </a:rPr>
              <a:t>BACKUP EXAMPLE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59536" y="4123944"/>
            <a:ext cx="10479024" cy="11247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F5F9FC"/>
                </a:solidFill>
                <a:latin typeface="Consolas"/>
                <a:ea typeface="Consolas"/>
                <a:cs typeface="Consolas"/>
              </a:rPr>
              <a:t># macOS
cp -p annual_statistics.sqlite annual_statistics_20260827.sqlite
shasum -a 256 annual_statistics_20260827.sqlite
# Windows PowerShell
Copy-Item annual_statistics.sqlite annual_statistics_20260827.sqlite
Get-FileHash annual_statistics_20260827.sqlite -Algorithm SHA256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04672" y="5705856"/>
            <a:ext cx="10588752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220" b="1">
                <a:solidFill>
                  <a:srgbClr val="B83A4B"/>
                </a:solidFill>
                <a:latin typeface="맑은 고딕"/>
                <a:ea typeface="맑은 고딕"/>
                <a:cs typeface="맑은 고딕"/>
              </a:rPr>
              <a:t>대용량 DB를 Git 또는 일반 메신저로 전달하지 않는다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D5F9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47472"/>
            <a:ext cx="292608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50" b="1">
                <a:solidFill>
                  <a:srgbClr val="1D5F9A"/>
                </a:solidFill>
                <a:latin typeface="맑은 고딕"/>
                <a:ea typeface="맑은 고딕"/>
                <a:cs typeface="맑은 고딕"/>
              </a:rPr>
              <a:t>VERIFY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85800"/>
            <a:ext cx="10972800" cy="5029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500" b="1">
                <a:solidFill>
                  <a:srgbClr val="0B2545"/>
                </a:solidFill>
                <a:latin typeface="맑은 고딕"/>
                <a:ea typeface="맑은 고딕"/>
                <a:cs typeface="맑은 고딕"/>
              </a:rPr>
              <a:t>현재 테스트 기준선 — 사실 그대로 인계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85216" y="1225296"/>
            <a:ext cx="10881360" cy="32004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617181"/>
                </a:solidFill>
                <a:latin typeface="맑은 고딕"/>
                <a:ea typeface="맑은 고딕"/>
                <a:cs typeface="맑은 고딕"/>
              </a:rPr>
              <a:t>2026-08-27 현재 작업 트리에서 직접 실행한 결과다.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566928" y="1664208"/>
            <a:ext cx="11055096" cy="0"/>
          </a:xfrm>
          <a:prstGeom prst="line">
            <a:avLst/>
          </a:prstGeom>
          <a:ln w="10160">
            <a:solidFill>
              <a:srgbClr val="D8E1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566928" y="6510528"/>
            <a:ext cx="7040880" cy="182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19" b="0">
                <a:solidFill>
                  <a:srgbClr val="8B99A7"/>
                </a:solidFill>
                <a:latin typeface="맑은 고딕"/>
                <a:ea typeface="맑은 고딕"/>
                <a:cs typeface="맑은 고딕"/>
              </a:rPr>
              <a:t>통계연보 검수 보조 시스템  |  프로젝트 인수인계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109960" y="6492240"/>
            <a:ext cx="502920" cy="182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850" b="1">
                <a:solidFill>
                  <a:srgbClr val="8B99A7"/>
                </a:solidFill>
                <a:latin typeface="맑은 고딕"/>
                <a:ea typeface="맑은 고딕"/>
                <a:cs typeface="맑은 고딕"/>
              </a:rPr>
              <a:t>26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58368" y="1938528"/>
            <a:ext cx="2523744" cy="1234440"/>
          </a:xfrm>
          <a:prstGeom prst="roundRect">
            <a:avLst/>
          </a:prstGeom>
          <a:solidFill>
            <a:srgbClr val="E9F6E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04672" y="2167128"/>
            <a:ext cx="2231136" cy="329184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000" b="1">
                <a:solidFill>
                  <a:srgbClr val="2C7A55"/>
                </a:solidFill>
                <a:latin typeface="맑은 고딕"/>
                <a:ea typeface="맑은 고딕"/>
                <a:cs typeface="맑은 고딕"/>
              </a:rPr>
              <a:t>49 / 49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04672" y="2651760"/>
            <a:ext cx="2231136" cy="237744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80" b="0">
                <a:solidFill>
                  <a:srgbClr val="172432"/>
                </a:solidFill>
                <a:latin typeface="맑은 고딕"/>
                <a:ea typeface="맑은 고딕"/>
                <a:cs typeface="맑은 고딕"/>
              </a:rPr>
              <a:t>Frontend tests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429000" y="1938528"/>
            <a:ext cx="2523744" cy="1234440"/>
          </a:xfrm>
          <a:prstGeom prst="roundRect">
            <a:avLst/>
          </a:prstGeom>
          <a:solidFill>
            <a:srgbClr val="EAF3F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575304" y="2167128"/>
            <a:ext cx="2231136" cy="329184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000" b="1">
                <a:solidFill>
                  <a:srgbClr val="1D5F9A"/>
                </a:solidFill>
                <a:latin typeface="맑은 고딕"/>
                <a:ea typeface="맑은 고딕"/>
                <a:cs typeface="맑은 고딕"/>
              </a:rPr>
              <a:t>SUCCESS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575304" y="2651760"/>
            <a:ext cx="2231136" cy="237744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80" b="0">
                <a:solidFill>
                  <a:srgbClr val="172432"/>
                </a:solidFill>
                <a:latin typeface="맑은 고딕"/>
                <a:ea typeface="맑은 고딕"/>
                <a:cs typeface="맑은 고딕"/>
              </a:rPr>
              <a:t>TypeScript + Vite build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199631" y="1938528"/>
            <a:ext cx="2523744" cy="1234440"/>
          </a:xfrm>
          <a:prstGeom prst="roundRect">
            <a:avLst/>
          </a:prstGeom>
          <a:solidFill>
            <a:srgbClr val="F5F9F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345936" y="2167128"/>
            <a:ext cx="2231136" cy="329184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000" b="1">
                <a:solidFill>
                  <a:srgbClr val="0B2545"/>
                </a:solidFill>
                <a:latin typeface="맑은 고딕"/>
                <a:ea typeface="맑은 고딕"/>
                <a:cs typeface="맑은 고딕"/>
              </a:rPr>
              <a:t>397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345936" y="2651760"/>
            <a:ext cx="2231136" cy="237744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80" b="0">
                <a:solidFill>
                  <a:srgbClr val="172432"/>
                </a:solidFill>
                <a:latin typeface="맑은 고딕"/>
                <a:ea typeface="맑은 고딕"/>
                <a:cs typeface="맑은 고딕"/>
              </a:rPr>
              <a:t>Backend tests run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970264" y="1938528"/>
            <a:ext cx="2523744" cy="1234440"/>
          </a:xfrm>
          <a:prstGeom prst="roundRect">
            <a:avLst/>
          </a:prstGeom>
          <a:solidFill>
            <a:srgbClr val="FCECE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116568" y="2167128"/>
            <a:ext cx="2231136" cy="329184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000" b="1">
                <a:solidFill>
                  <a:srgbClr val="B83A4B"/>
                </a:solidFill>
                <a:latin typeface="맑은 고딕"/>
                <a:ea typeface="맑은 고딕"/>
                <a:cs typeface="맑은 고딕"/>
              </a:rPr>
              <a:t>6 fail · 2 skip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116568" y="2651760"/>
            <a:ext cx="2231136" cy="237744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80" b="0">
                <a:solidFill>
                  <a:srgbClr val="172432"/>
                </a:solidFill>
                <a:latin typeface="맑은 고딕"/>
                <a:ea typeface="맑은 고딕"/>
                <a:cs typeface="맑은 고딕"/>
              </a:rPr>
              <a:t>Backend current baseline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67512" y="3657600"/>
            <a:ext cx="5285232" cy="1234440"/>
          </a:xfrm>
          <a:prstGeom prst="roundRect">
            <a:avLst/>
          </a:prstGeom>
          <a:solidFill>
            <a:srgbClr val="FFF3D8"/>
          </a:solidFill>
          <a:ln w="10160">
            <a:solidFill>
              <a:srgbClr val="D8E1E8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67512" y="3657600"/>
            <a:ext cx="73152" cy="1234440"/>
          </a:xfrm>
          <a:prstGeom prst="rect">
            <a:avLst/>
          </a:prstGeom>
          <a:solidFill>
            <a:srgbClr val="B76E0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96112" y="3785615"/>
            <a:ext cx="4873752" cy="29260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172432"/>
                </a:solidFill>
                <a:latin typeface="맑은 고딕"/>
                <a:ea typeface="맑은 고딕"/>
                <a:cs typeface="맑은 고딕"/>
              </a:rPr>
              <a:t>실패 1건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96112" y="4169664"/>
            <a:ext cx="4873752" cy="62179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30" b="0">
                <a:solidFill>
                  <a:srgbClr val="617181"/>
                </a:solidFill>
                <a:latin typeface="맑은 고딕"/>
                <a:ea typeface="맑은 고딕"/>
                <a:cs typeface="맑은 고딕"/>
              </a:rPr>
              <a:t>로컬 .env의 LLM 가능 상태가 ‘LLM 없음’ 테스트에 영향 — 환경 격리 필요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199632" y="3657600"/>
            <a:ext cx="5285232" cy="1234440"/>
          </a:xfrm>
          <a:prstGeom prst="roundRect">
            <a:avLst/>
          </a:prstGeom>
          <a:solidFill>
            <a:srgbClr val="FCECEF"/>
          </a:solidFill>
          <a:ln w="10160">
            <a:solidFill>
              <a:srgbClr val="D8E1E8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6199632" y="3657600"/>
            <a:ext cx="73152" cy="1234440"/>
          </a:xfrm>
          <a:prstGeom prst="rect">
            <a:avLst/>
          </a:prstGeom>
          <a:solidFill>
            <a:srgbClr val="B83A4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428232" y="3785615"/>
            <a:ext cx="4873752" cy="29260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172432"/>
                </a:solidFill>
                <a:latin typeface="맑은 고딕"/>
                <a:ea typeface="맑은 고딕"/>
                <a:cs typeface="맑은 고딕"/>
              </a:rPr>
              <a:t>실패 5건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428232" y="4169664"/>
            <a:ext cx="4873752" cy="62179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30" b="0">
                <a:solidFill>
                  <a:srgbClr val="617181"/>
                </a:solidFill>
                <a:latin typeface="맑은 고딕"/>
                <a:ea typeface="맑은 고딕"/>
                <a:cs typeface="맑은 고딕"/>
              </a:rPr>
              <a:t>로컬 DB의 2025 검수 결과/2026 제목과 승인 snapshot 불일치 — 기준선 재합의 필요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58952" y="5440680"/>
            <a:ext cx="10698480" cy="30175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B83A4B"/>
                </a:solidFill>
                <a:latin typeface="맑은 고딕"/>
                <a:ea typeface="맑은 고딕"/>
                <a:cs typeface="맑은 고딕"/>
              </a:rPr>
              <a:t>금지: 통과시키기 위해 검수 baseline을 검토 없이 갱신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D5F9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47472"/>
            <a:ext cx="292608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50" b="1">
                <a:solidFill>
                  <a:srgbClr val="1D5F9A"/>
                </a:solidFill>
                <a:latin typeface="맑은 고딕"/>
                <a:ea typeface="맑은 고딕"/>
                <a:cs typeface="맑은 고딕"/>
              </a:rPr>
              <a:t>VERIFY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85800"/>
            <a:ext cx="10972800" cy="5029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500" b="1">
                <a:solidFill>
                  <a:srgbClr val="0B2545"/>
                </a:solidFill>
                <a:latin typeface="맑은 고딕"/>
                <a:ea typeface="맑은 고딕"/>
                <a:cs typeface="맑은 고딕"/>
              </a:rPr>
              <a:t>수정 후 실행할 명령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85216" y="1225296"/>
            <a:ext cx="10881360" cy="32004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617181"/>
                </a:solidFill>
                <a:latin typeface="맑은 고딕"/>
                <a:ea typeface="맑은 고딕"/>
                <a:cs typeface="맑은 고딕"/>
              </a:rPr>
              <a:t>관련 테스트 → 전체 테스트 → production build 순서가 기본이다.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566928" y="1664208"/>
            <a:ext cx="11055096" cy="0"/>
          </a:xfrm>
          <a:prstGeom prst="line">
            <a:avLst/>
          </a:prstGeom>
          <a:ln w="10160">
            <a:solidFill>
              <a:srgbClr val="D8E1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566928" y="6510528"/>
            <a:ext cx="7040880" cy="182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19" b="0">
                <a:solidFill>
                  <a:srgbClr val="8B99A7"/>
                </a:solidFill>
                <a:latin typeface="맑은 고딕"/>
                <a:ea typeface="맑은 고딕"/>
                <a:cs typeface="맑은 고딕"/>
              </a:rPr>
              <a:t>통계연보 검수 보조 시스템  |  프로젝트 인수인계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109960" y="6492240"/>
            <a:ext cx="502920" cy="182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850" b="1">
                <a:solidFill>
                  <a:srgbClr val="8B99A7"/>
                </a:solidFill>
                <a:latin typeface="맑은 고딕"/>
                <a:ea typeface="맑은 고딕"/>
                <a:cs typeface="맑은 고딕"/>
              </a:rPr>
              <a:t>27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58368" y="1920240"/>
            <a:ext cx="5285232" cy="3364992"/>
          </a:xfrm>
          <a:prstGeom prst="roundRect">
            <a:avLst/>
          </a:prstGeom>
          <a:solidFill>
            <a:srgbClr val="0B254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41247" y="2020824"/>
            <a:ext cx="4919472" cy="237744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90D4FF"/>
                </a:solidFill>
                <a:latin typeface="맑은 고딕"/>
                <a:ea typeface="맑은 고딕"/>
                <a:cs typeface="맑은 고딕"/>
              </a:rPr>
              <a:t>macOS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59" y="2313432"/>
            <a:ext cx="4956048" cy="28620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80" b="0">
                <a:solidFill>
                  <a:srgbClr val="F5F9FC"/>
                </a:solidFill>
                <a:latin typeface="Consolas"/>
                <a:ea typeface="Consolas"/>
                <a:cs typeface="Consolas"/>
              </a:rPr>
              <a:t># macOS · repository root
PYTHONPATH=backend ./.venv/bin/python \
  -m unittest discover -s backend/tests -q
# Frontend
cd frontend
npm run test
npm run build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99632" y="1920240"/>
            <a:ext cx="5285232" cy="3364992"/>
          </a:xfrm>
          <a:prstGeom prst="roundRect">
            <a:avLst/>
          </a:prstGeom>
          <a:solidFill>
            <a:srgbClr val="0B254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382512" y="2020824"/>
            <a:ext cx="4919472" cy="237744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90D4FF"/>
                </a:solidFill>
                <a:latin typeface="맑은 고딕"/>
                <a:ea typeface="맑은 고딕"/>
                <a:cs typeface="맑은 고딕"/>
              </a:rPr>
              <a:t>WINDOWS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364224" y="2313432"/>
            <a:ext cx="4956048" cy="28620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40" b="0">
                <a:solidFill>
                  <a:srgbClr val="F5F9FC"/>
                </a:solidFill>
                <a:latin typeface="Consolas"/>
                <a:ea typeface="Consolas"/>
                <a:cs typeface="Consolas"/>
              </a:rPr>
              <a:t># Windows PowerShell · repository root
$env:PYTHONPATH = "backend"
&amp; .\.venv\Scripts\python.exe -m unittest `
  discover -s backend\tests -q
Remove-Item Env:PYTHONPATH
Set-Location frontend
npm run test
npm run build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49808" y="5623560"/>
            <a:ext cx="10680192" cy="30175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220" b="1">
                <a:solidFill>
                  <a:srgbClr val="B76E00"/>
                </a:solidFill>
                <a:latin typeface="맑은 고딕"/>
                <a:ea typeface="맑은 고딕"/>
                <a:cs typeface="맑은 고딕"/>
              </a:rPr>
              <a:t>PostgreSQL 통합 테스트는 운영 DB가 아닌 전용 TEST_DATABASE_URL에서만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D5F9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47472"/>
            <a:ext cx="292608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50" b="1">
                <a:solidFill>
                  <a:srgbClr val="1D5F9A"/>
                </a:solidFill>
                <a:latin typeface="맑은 고딕"/>
                <a:ea typeface="맑은 고딕"/>
                <a:cs typeface="맑은 고딕"/>
              </a:rPr>
              <a:t>DEPLOY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85800"/>
            <a:ext cx="10972800" cy="5029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500" b="1">
                <a:solidFill>
                  <a:srgbClr val="0B2545"/>
                </a:solidFill>
                <a:latin typeface="맑은 고딕"/>
                <a:ea typeface="맑은 고딕"/>
                <a:cs typeface="맑은 고딕"/>
              </a:rPr>
              <a:t>운영 구성: Vercel + Railway + PostgreSQL + R2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85216" y="1225296"/>
            <a:ext cx="10881360" cy="32004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617181"/>
                </a:solidFill>
                <a:latin typeface="맑은 고딕"/>
                <a:ea typeface="맑은 고딕"/>
                <a:cs typeface="맑은 고딕"/>
              </a:rPr>
              <a:t>API와 worker는 같은 commit, DB, object storage를 사용한다.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566928" y="1664208"/>
            <a:ext cx="11055096" cy="0"/>
          </a:xfrm>
          <a:prstGeom prst="line">
            <a:avLst/>
          </a:prstGeom>
          <a:ln w="10160">
            <a:solidFill>
              <a:srgbClr val="D8E1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566928" y="6510528"/>
            <a:ext cx="7040880" cy="182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19" b="0">
                <a:solidFill>
                  <a:srgbClr val="8B99A7"/>
                </a:solidFill>
                <a:latin typeface="맑은 고딕"/>
                <a:ea typeface="맑은 고딕"/>
                <a:cs typeface="맑은 고딕"/>
              </a:rPr>
              <a:t>통계연보 검수 보조 시스템  |  프로젝트 인수인계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109960" y="6492240"/>
            <a:ext cx="502920" cy="182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850" b="1">
                <a:solidFill>
                  <a:srgbClr val="8B99A7"/>
                </a:solidFill>
                <a:latin typeface="맑은 고딕"/>
                <a:ea typeface="맑은 고딕"/>
                <a:cs typeface="맑은 고딕"/>
              </a:rPr>
              <a:t>28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58368" y="2432304"/>
            <a:ext cx="2157984" cy="1115568"/>
          </a:xfrm>
          <a:prstGeom prst="roundRect">
            <a:avLst/>
          </a:prstGeom>
          <a:solidFill>
            <a:srgbClr val="EAF3F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68096" y="2596896"/>
            <a:ext cx="1938528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1D5F9A"/>
                </a:solidFill>
                <a:latin typeface="맑은 고딕"/>
                <a:ea typeface="맑은 고딕"/>
                <a:cs typeface="맑은 고딕"/>
              </a:rPr>
              <a:t>Vercel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68096" y="2999232"/>
            <a:ext cx="1938528" cy="36576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30" b="0">
                <a:solidFill>
                  <a:srgbClr val="172432"/>
                </a:solidFill>
                <a:latin typeface="맑은 고딕"/>
                <a:ea typeface="맑은 고딕"/>
                <a:cs typeface="맑은 고딕"/>
              </a:rPr>
              <a:t>React dist
VITE_API_BASE_URL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054096" y="2432304"/>
            <a:ext cx="2157984" cy="1115568"/>
          </a:xfrm>
          <a:prstGeom prst="roundRect">
            <a:avLst/>
          </a:prstGeom>
          <a:solidFill>
            <a:srgbClr val="E8F5F3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163824" y="2596896"/>
            <a:ext cx="1938528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177A74"/>
                </a:solidFill>
                <a:latin typeface="맑은 고딕"/>
                <a:ea typeface="맑은 고딕"/>
                <a:cs typeface="맑은 고딕"/>
              </a:rPr>
              <a:t>Railway API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163824" y="2999232"/>
            <a:ext cx="1938528" cy="36576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30" b="0">
                <a:solidFill>
                  <a:srgbClr val="172432"/>
                </a:solidFill>
                <a:latin typeface="맑은 고딕"/>
                <a:ea typeface="맑은 고딕"/>
                <a:cs typeface="맑은 고딕"/>
              </a:rPr>
              <a:t>railway.json
/ready healthcheck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559552" y="1847088"/>
            <a:ext cx="2157984" cy="1115568"/>
          </a:xfrm>
          <a:prstGeom prst="roundRect">
            <a:avLst/>
          </a:prstGeom>
          <a:solidFill>
            <a:srgbClr val="FFF3D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669280" y="2011680"/>
            <a:ext cx="1938528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B76E00"/>
                </a:solidFill>
                <a:latin typeface="맑은 고딕"/>
                <a:ea typeface="맑은 고딕"/>
                <a:cs typeface="맑은 고딕"/>
              </a:rPr>
              <a:t>PostgreSQL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669280" y="2414016"/>
            <a:ext cx="1938528" cy="36576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30" b="0">
                <a:solidFill>
                  <a:srgbClr val="172432"/>
                </a:solidFill>
                <a:latin typeface="맑은 고딕"/>
                <a:ea typeface="맑은 고딕"/>
                <a:cs typeface="맑은 고딕"/>
              </a:rPr>
              <a:t>같은 DATABASE_URL
backup / restore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559552" y="3218688"/>
            <a:ext cx="2157984" cy="1115568"/>
          </a:xfrm>
          <a:prstGeom prst="roundRect">
            <a:avLst/>
          </a:prstGeom>
          <a:solidFill>
            <a:srgbClr val="E9F6E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669280" y="3383280"/>
            <a:ext cx="1938528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2C7A55"/>
                </a:solidFill>
                <a:latin typeface="맑은 고딕"/>
                <a:ea typeface="맑은 고딕"/>
                <a:cs typeface="맑은 고딕"/>
              </a:rPr>
              <a:t>S3 / R2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669280" y="3785615"/>
            <a:ext cx="1938528" cy="36576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30" b="0">
                <a:solidFill>
                  <a:srgbClr val="172432"/>
                </a:solidFill>
                <a:latin typeface="맑은 고딕"/>
                <a:ea typeface="맑은 고딕"/>
                <a:cs typeface="맑은 고딕"/>
              </a:rPr>
              <a:t>같은 bucket
원본 공유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302752" y="2432304"/>
            <a:ext cx="2157984" cy="1115568"/>
          </a:xfrm>
          <a:prstGeom prst="roundRect">
            <a:avLst/>
          </a:prstGeom>
          <a:solidFill>
            <a:srgbClr val="FCECE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412480" y="2596896"/>
            <a:ext cx="1938528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B83A4B"/>
                </a:solidFill>
                <a:latin typeface="맑은 고딕"/>
                <a:ea typeface="맑은 고딕"/>
                <a:cs typeface="맑은 고딕"/>
              </a:rPr>
              <a:t>Railway worker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412480" y="2999232"/>
            <a:ext cx="1938528" cy="36576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30" b="0">
                <a:solidFill>
                  <a:srgbClr val="172432"/>
                </a:solidFill>
                <a:latin typeface="맑은 고딕"/>
                <a:ea typeface="맑은 고딕"/>
                <a:cs typeface="맑은 고딕"/>
              </a:rPr>
              <a:t>railway.worker.json
public network 불필요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2816352" y="2990088"/>
            <a:ext cx="237744" cy="0"/>
          </a:xfrm>
          <a:prstGeom prst="line">
            <a:avLst/>
          </a:prstGeom>
          <a:ln w="22860">
            <a:solidFill>
              <a:srgbClr val="1D5F9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 flipV="1">
            <a:off x="5212080" y="2386584"/>
            <a:ext cx="347472" cy="338328"/>
          </a:xfrm>
          <a:prstGeom prst="line">
            <a:avLst/>
          </a:prstGeom>
          <a:ln w="22860">
            <a:solidFill>
              <a:srgbClr val="1D5F9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>
            <a:off x="5212080" y="3255264"/>
            <a:ext cx="347472" cy="512064"/>
          </a:xfrm>
          <a:prstGeom prst="line">
            <a:avLst/>
          </a:prstGeom>
          <a:ln w="22860">
            <a:solidFill>
              <a:srgbClr val="1D5F9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>
            <a:off x="7717536" y="2386584"/>
            <a:ext cx="585216" cy="502920"/>
          </a:xfrm>
          <a:prstGeom prst="line">
            <a:avLst/>
          </a:prstGeom>
          <a:ln w="22860">
            <a:solidFill>
              <a:srgbClr val="1D5F9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or 27"/>
          <p:cNvCxnSpPr/>
          <p:nvPr/>
        </p:nvCxnSpPr>
        <p:spPr>
          <a:xfrm flipV="1">
            <a:off x="7717536" y="3291840"/>
            <a:ext cx="585216" cy="475488"/>
          </a:xfrm>
          <a:prstGeom prst="line">
            <a:avLst/>
          </a:prstGeom>
          <a:ln w="22860">
            <a:solidFill>
              <a:srgbClr val="1D5F9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Rounded Rectangle 28"/>
          <p:cNvSpPr/>
          <p:nvPr/>
        </p:nvSpPr>
        <p:spPr>
          <a:xfrm>
            <a:off x="676656" y="4956048"/>
            <a:ext cx="10817352" cy="704088"/>
          </a:xfrm>
          <a:prstGeom prst="roundRect">
            <a:avLst/>
          </a:prstGeom>
          <a:solidFill>
            <a:srgbClr val="0B254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932688" y="5184648"/>
            <a:ext cx="10314432" cy="24688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8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Vercel URL ↔ ALLOWED_ORIGINS  |  API URL ↔ VITE_API_BASE_URL  |  뒤에 /api 금지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D5F9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47472"/>
            <a:ext cx="292608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50" b="1">
                <a:solidFill>
                  <a:srgbClr val="1D5F9A"/>
                </a:solidFill>
                <a:latin typeface="맑은 고딕"/>
                <a:ea typeface="맑은 고딕"/>
                <a:cs typeface="맑은 고딕"/>
              </a:rPr>
              <a:t>DEPLOY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85800"/>
            <a:ext cx="10972800" cy="5029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500" b="1">
                <a:solidFill>
                  <a:srgbClr val="0B2545"/>
                </a:solidFill>
                <a:latin typeface="맑은 고딕"/>
                <a:ea typeface="맑은 고딕"/>
                <a:cs typeface="맑은 고딕"/>
              </a:rPr>
              <a:t>배포 전·후·롤백 체크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85216" y="1225296"/>
            <a:ext cx="10881360" cy="32004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617181"/>
                </a:solidFill>
                <a:latin typeface="맑은 고딕"/>
                <a:ea typeface="맑은 고딕"/>
                <a:cs typeface="맑은 고딕"/>
              </a:rPr>
              <a:t>DB migration이 포함되면 코드 롤백과 데이터 롤백을 분리해서 판단한다.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566928" y="1664208"/>
            <a:ext cx="11055096" cy="0"/>
          </a:xfrm>
          <a:prstGeom prst="line">
            <a:avLst/>
          </a:prstGeom>
          <a:ln w="10160">
            <a:solidFill>
              <a:srgbClr val="D8E1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566928" y="6510528"/>
            <a:ext cx="7040880" cy="182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19" b="0">
                <a:solidFill>
                  <a:srgbClr val="8B99A7"/>
                </a:solidFill>
                <a:latin typeface="맑은 고딕"/>
                <a:ea typeface="맑은 고딕"/>
                <a:cs typeface="맑은 고딕"/>
              </a:rPr>
              <a:t>통계연보 검수 보조 시스템  |  프로젝트 인수인계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109960" y="6492240"/>
            <a:ext cx="502920" cy="182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850" b="1">
                <a:solidFill>
                  <a:srgbClr val="8B99A7"/>
                </a:solidFill>
                <a:latin typeface="맑은 고딕"/>
                <a:ea typeface="맑은 고딕"/>
                <a:cs typeface="맑은 고딕"/>
              </a:rPr>
              <a:t>29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58368" y="1947672"/>
            <a:ext cx="3456432" cy="3456432"/>
          </a:xfrm>
          <a:prstGeom prst="roundRect">
            <a:avLst/>
          </a:prstGeom>
          <a:solidFill>
            <a:srgbClr val="EAF3F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41247" y="2157984"/>
            <a:ext cx="3090672" cy="32004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1D5F9A"/>
                </a:solidFill>
                <a:latin typeface="맑은 고딕"/>
                <a:ea typeface="맑은 고딕"/>
                <a:cs typeface="맑은 고딕"/>
              </a:rPr>
              <a:t>BEFORE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2734056"/>
            <a:ext cx="347472" cy="21031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50" b="1">
                <a:solidFill>
                  <a:srgbClr val="1D5F9A"/>
                </a:solidFill>
                <a:latin typeface="맑은 고딕"/>
                <a:ea typeface="맑은 고딕"/>
                <a:cs typeface="맑은 고딕"/>
              </a:rPr>
              <a:t>01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71600" y="2706624"/>
            <a:ext cx="2450592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20" b="0">
                <a:solidFill>
                  <a:srgbClr val="172432"/>
                </a:solidFill>
                <a:latin typeface="맑은 고딕"/>
                <a:ea typeface="맑은 고딕"/>
                <a:cs typeface="맑은 고딕"/>
              </a:rPr>
              <a:t>승인 commit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3172968"/>
            <a:ext cx="347472" cy="21031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50" b="1">
                <a:solidFill>
                  <a:srgbClr val="1D5F9A"/>
                </a:solidFill>
                <a:latin typeface="맑은 고딕"/>
                <a:ea typeface="맑은 고딕"/>
                <a:cs typeface="맑은 고딕"/>
              </a:rPr>
              <a:t>02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371600" y="3145536"/>
            <a:ext cx="2450592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20" b="0">
                <a:solidFill>
                  <a:srgbClr val="172432"/>
                </a:solidFill>
                <a:latin typeface="맑은 고딕"/>
                <a:ea typeface="맑은 고딕"/>
                <a:cs typeface="맑은 고딕"/>
              </a:rPr>
              <a:t>test/build 결과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4400" y="3611880"/>
            <a:ext cx="347472" cy="21031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50" b="1">
                <a:solidFill>
                  <a:srgbClr val="1D5F9A"/>
                </a:solidFill>
                <a:latin typeface="맑은 고딕"/>
                <a:ea typeface="맑은 고딕"/>
                <a:cs typeface="맑은 고딕"/>
              </a:rPr>
              <a:t>03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71600" y="3584448"/>
            <a:ext cx="2450592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20" b="0">
                <a:solidFill>
                  <a:srgbClr val="172432"/>
                </a:solidFill>
                <a:latin typeface="맑은 고딕"/>
                <a:ea typeface="맑은 고딕"/>
                <a:cs typeface="맑은 고딕"/>
              </a:rPr>
              <a:t>DB backup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14400" y="4050791"/>
            <a:ext cx="347472" cy="21031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50" b="1">
                <a:solidFill>
                  <a:srgbClr val="1D5F9A"/>
                </a:solidFill>
                <a:latin typeface="맑은 고딕"/>
                <a:ea typeface="맑은 고딕"/>
                <a:cs typeface="맑은 고딕"/>
              </a:rPr>
              <a:t>04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371600" y="4023360"/>
            <a:ext cx="2450592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20" b="0">
                <a:solidFill>
                  <a:srgbClr val="172432"/>
                </a:solidFill>
                <a:latin typeface="맑은 고딕"/>
                <a:ea typeface="맑은 고딕"/>
                <a:cs typeface="맑은 고딕"/>
              </a:rPr>
              <a:t>env/CORS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14400" y="4489704"/>
            <a:ext cx="347472" cy="21031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50" b="1">
                <a:solidFill>
                  <a:srgbClr val="1D5F9A"/>
                </a:solidFill>
                <a:latin typeface="맑은 고딕"/>
                <a:ea typeface="맑은 고딕"/>
                <a:cs typeface="맑은 고딕"/>
              </a:rPr>
              <a:t>05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371600" y="4462272"/>
            <a:ext cx="2450592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20" b="0">
                <a:solidFill>
                  <a:srgbClr val="172432"/>
                </a:solidFill>
                <a:latin typeface="맑은 고딕"/>
                <a:ea typeface="맑은 고딕"/>
                <a:cs typeface="맑은 고딕"/>
              </a:rPr>
              <a:t>rollback owner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389120" y="1947672"/>
            <a:ext cx="3456432" cy="3456432"/>
          </a:xfrm>
          <a:prstGeom prst="roundRect">
            <a:avLst/>
          </a:prstGeom>
          <a:solidFill>
            <a:srgbClr val="E8F5F3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572000" y="2157984"/>
            <a:ext cx="3090672" cy="32004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177A74"/>
                </a:solidFill>
                <a:latin typeface="맑은 고딕"/>
                <a:ea typeface="맑은 고딕"/>
                <a:cs typeface="맑은 고딕"/>
              </a:rPr>
              <a:t>AFTER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645152" y="2734056"/>
            <a:ext cx="347472" cy="21031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50" b="1">
                <a:solidFill>
                  <a:srgbClr val="177A74"/>
                </a:solidFill>
                <a:latin typeface="맑은 고딕"/>
                <a:ea typeface="맑은 고딕"/>
                <a:cs typeface="맑은 고딕"/>
              </a:rPr>
              <a:t>01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102352" y="2706624"/>
            <a:ext cx="2450592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20" b="0">
                <a:solidFill>
                  <a:srgbClr val="172432"/>
                </a:solidFill>
                <a:latin typeface="맑은 고딕"/>
                <a:ea typeface="맑은 고딕"/>
                <a:cs typeface="맑은 고딕"/>
              </a:rPr>
              <a:t>migration log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645152" y="3172968"/>
            <a:ext cx="347472" cy="21031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50" b="1">
                <a:solidFill>
                  <a:srgbClr val="177A74"/>
                </a:solidFill>
                <a:latin typeface="맑은 고딕"/>
                <a:ea typeface="맑은 고딕"/>
                <a:cs typeface="맑은 고딕"/>
              </a:rPr>
              <a:t>02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102352" y="3145536"/>
            <a:ext cx="2450592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20" b="0">
                <a:solidFill>
                  <a:srgbClr val="172432"/>
                </a:solidFill>
                <a:latin typeface="맑은 고딕"/>
                <a:ea typeface="맑은 고딕"/>
                <a:cs typeface="맑은 고딕"/>
              </a:rPr>
              <a:t>/health + /ready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645152" y="3611880"/>
            <a:ext cx="347472" cy="21031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50" b="1">
                <a:solidFill>
                  <a:srgbClr val="177A74"/>
                </a:solidFill>
                <a:latin typeface="맑은 고딕"/>
                <a:ea typeface="맑은 고딕"/>
                <a:cs typeface="맑은 고딕"/>
              </a:rPr>
              <a:t>03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102352" y="3584448"/>
            <a:ext cx="2450592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20" b="0">
                <a:solidFill>
                  <a:srgbClr val="172432"/>
                </a:solidFill>
                <a:latin typeface="맑은 고딕"/>
                <a:ea typeface="맑은 고딕"/>
                <a:cs typeface="맑은 고딕"/>
              </a:rPr>
              <a:t>worker poll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645152" y="4050791"/>
            <a:ext cx="347472" cy="21031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50" b="1">
                <a:solidFill>
                  <a:srgbClr val="177A74"/>
                </a:solidFill>
                <a:latin typeface="맑은 고딕"/>
                <a:ea typeface="맑은 고딕"/>
                <a:cs typeface="맑은 고딕"/>
              </a:rPr>
              <a:t>04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102352" y="4023360"/>
            <a:ext cx="2450592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20" b="0">
                <a:solidFill>
                  <a:srgbClr val="172432"/>
                </a:solidFill>
                <a:latin typeface="맑은 고딕"/>
                <a:ea typeface="맑은 고딕"/>
                <a:cs typeface="맑은 고딕"/>
              </a:rPr>
              <a:t>작은 upload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645152" y="4489704"/>
            <a:ext cx="347472" cy="21031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50" b="1">
                <a:solidFill>
                  <a:srgbClr val="177A74"/>
                </a:solidFill>
                <a:latin typeface="맑은 고딕"/>
                <a:ea typeface="맑은 고딕"/>
                <a:cs typeface="맑은 고딕"/>
              </a:rPr>
              <a:t>05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102352" y="4462272"/>
            <a:ext cx="2450592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20" b="0">
                <a:solidFill>
                  <a:srgbClr val="172432"/>
                </a:solidFill>
                <a:latin typeface="맑은 고딕"/>
                <a:ea typeface="맑은 고딕"/>
                <a:cs typeface="맑은 고딕"/>
              </a:rPr>
              <a:t>validation + export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8119872" y="1947672"/>
            <a:ext cx="3456432" cy="3456432"/>
          </a:xfrm>
          <a:prstGeom prst="roundRect">
            <a:avLst/>
          </a:prstGeom>
          <a:solidFill>
            <a:srgbClr val="FCECE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8302752" y="2157984"/>
            <a:ext cx="3090672" cy="32004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B83A4B"/>
                </a:solidFill>
                <a:latin typeface="맑은 고딕"/>
                <a:ea typeface="맑은 고딕"/>
                <a:cs typeface="맑은 고딕"/>
              </a:rPr>
              <a:t>ROLLBACK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375904" y="2734056"/>
            <a:ext cx="347472" cy="21031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50" b="1">
                <a:solidFill>
                  <a:srgbClr val="B83A4B"/>
                </a:solidFill>
                <a:latin typeface="맑은 고딕"/>
                <a:ea typeface="맑은 고딕"/>
                <a:cs typeface="맑은 고딕"/>
              </a:rPr>
              <a:t>01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833104" y="2706624"/>
            <a:ext cx="2450592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20" b="0">
                <a:solidFill>
                  <a:srgbClr val="172432"/>
                </a:solidFill>
                <a:latin typeface="맑은 고딕"/>
                <a:ea typeface="맑은 고딕"/>
                <a:cs typeface="맑은 고딕"/>
              </a:rPr>
              <a:t>추가 작업 중단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375904" y="3172968"/>
            <a:ext cx="347472" cy="21031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50" b="1">
                <a:solidFill>
                  <a:srgbClr val="B83A4B"/>
                </a:solidFill>
                <a:latin typeface="맑은 고딕"/>
                <a:ea typeface="맑은 고딕"/>
                <a:cs typeface="맑은 고딕"/>
              </a:rPr>
              <a:t>02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833104" y="3145536"/>
            <a:ext cx="2450592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20" b="0">
                <a:solidFill>
                  <a:srgbClr val="172432"/>
                </a:solidFill>
                <a:latin typeface="맑은 고딕"/>
                <a:ea typeface="맑은 고딕"/>
                <a:cs typeface="맑은 고딕"/>
              </a:rPr>
              <a:t>배포·시각 기록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375904" y="3611880"/>
            <a:ext cx="347472" cy="21031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50" b="1">
                <a:solidFill>
                  <a:srgbClr val="B83A4B"/>
                </a:solidFill>
                <a:latin typeface="맑은 고딕"/>
                <a:ea typeface="맑은 고딕"/>
                <a:cs typeface="맑은 고딕"/>
              </a:rPr>
              <a:t>03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833104" y="3584448"/>
            <a:ext cx="2450592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20" b="0">
                <a:solidFill>
                  <a:srgbClr val="172432"/>
                </a:solidFill>
                <a:latin typeface="맑은 고딕"/>
                <a:ea typeface="맑은 고딕"/>
                <a:cs typeface="맑은 고딕"/>
              </a:rPr>
              <a:t>이전 deploy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375904" y="4050791"/>
            <a:ext cx="347472" cy="21031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50" b="1">
                <a:solidFill>
                  <a:srgbClr val="B83A4B"/>
                </a:solidFill>
                <a:latin typeface="맑은 고딕"/>
                <a:ea typeface="맑은 고딕"/>
                <a:cs typeface="맑은 고딕"/>
              </a:rPr>
              <a:t>04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8833104" y="4023360"/>
            <a:ext cx="2450592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20" b="0">
                <a:solidFill>
                  <a:srgbClr val="172432"/>
                </a:solidFill>
                <a:latin typeface="맑은 고딕"/>
                <a:ea typeface="맑은 고딕"/>
                <a:cs typeface="맑은 고딕"/>
              </a:rPr>
              <a:t>DB 별도 판단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8375904" y="4489704"/>
            <a:ext cx="347472" cy="21031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50" b="1">
                <a:solidFill>
                  <a:srgbClr val="B83A4B"/>
                </a:solidFill>
                <a:latin typeface="맑은 고딕"/>
                <a:ea typeface="맑은 고딕"/>
                <a:cs typeface="맑은 고딕"/>
              </a:rPr>
              <a:t>05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8833104" y="4462272"/>
            <a:ext cx="2450592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20" b="0">
                <a:solidFill>
                  <a:srgbClr val="172432"/>
                </a:solidFill>
                <a:latin typeface="맑은 고딕"/>
                <a:ea typeface="맑은 고딕"/>
                <a:cs typeface="맑은 고딕"/>
              </a:rPr>
              <a:t>대표 연보 재확인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749808" y="5733288"/>
            <a:ext cx="10698480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230" b="1">
                <a:solidFill>
                  <a:srgbClr val="B83A4B"/>
                </a:solidFill>
                <a:latin typeface="맑은 고딕"/>
                <a:ea typeface="맑은 고딕"/>
                <a:cs typeface="맑은 고딕"/>
              </a:rPr>
              <a:t>이전 코드는 이미 적용된 migration을 자동 취소하지 않는다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D5F9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47472"/>
            <a:ext cx="292608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50" b="1">
                <a:solidFill>
                  <a:srgbClr val="1D5F9A"/>
                </a:solidFill>
                <a:latin typeface="맑은 고딕"/>
                <a:ea typeface="맑은 고딕"/>
                <a:cs typeface="맑은 고딕"/>
              </a:rPr>
              <a:t>TROUBLESHOOT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85800"/>
            <a:ext cx="10972800" cy="5029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500" b="1">
                <a:solidFill>
                  <a:srgbClr val="0B2545"/>
                </a:solidFill>
                <a:latin typeface="맑은 고딕"/>
                <a:ea typeface="맑은 고딕"/>
                <a:cs typeface="맑은 고딕"/>
              </a:rPr>
              <a:t>증상에서 시작하는 첫 확인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85216" y="1225296"/>
            <a:ext cx="10881360" cy="32004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617181"/>
                </a:solidFill>
                <a:latin typeface="맑은 고딕"/>
                <a:ea typeface="맑은 고딕"/>
                <a:cs typeface="맑은 고딕"/>
              </a:rPr>
              <a:t>비밀값을 붙여넣지 말고 상태·경로·작업 ID를 기록한다.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566928" y="1664208"/>
            <a:ext cx="11055096" cy="0"/>
          </a:xfrm>
          <a:prstGeom prst="line">
            <a:avLst/>
          </a:prstGeom>
          <a:ln w="10160">
            <a:solidFill>
              <a:srgbClr val="D8E1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566928" y="6510528"/>
            <a:ext cx="7040880" cy="182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19" b="0">
                <a:solidFill>
                  <a:srgbClr val="8B99A7"/>
                </a:solidFill>
                <a:latin typeface="맑은 고딕"/>
                <a:ea typeface="맑은 고딕"/>
                <a:cs typeface="맑은 고딕"/>
              </a:rPr>
              <a:t>통계연보 검수 보조 시스템  |  프로젝트 인수인계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109960" y="6492240"/>
            <a:ext cx="502920" cy="182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850" b="1">
                <a:solidFill>
                  <a:srgbClr val="8B99A7"/>
                </a:solidFill>
                <a:latin typeface="맑은 고딕"/>
                <a:ea typeface="맑은 고딕"/>
                <a:cs typeface="맑은 고딕"/>
              </a:rPr>
              <a:t>30</a:t>
            </a:r>
          </a:p>
        </p:txBody>
      </p:sp>
      <p:sp>
        <p:nvSpPr>
          <p:cNvPr id="9" name="Rectangle 8"/>
          <p:cNvSpPr/>
          <p:nvPr/>
        </p:nvSpPr>
        <p:spPr>
          <a:xfrm>
            <a:off x="859536" y="1920240"/>
            <a:ext cx="2834640" cy="493776"/>
          </a:xfrm>
          <a:prstGeom prst="rect">
            <a:avLst/>
          </a:prstGeom>
          <a:solidFill>
            <a:srgbClr val="0B2545"/>
          </a:solidFill>
          <a:ln w="7620">
            <a:solidFill>
              <a:srgbClr val="D8E1E8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32688" y="1975104"/>
            <a:ext cx="2688336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1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증상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694176" y="1920240"/>
            <a:ext cx="3429000" cy="493776"/>
          </a:xfrm>
          <a:prstGeom prst="rect">
            <a:avLst/>
          </a:prstGeom>
          <a:solidFill>
            <a:srgbClr val="0B2545"/>
          </a:solidFill>
          <a:ln w="7620">
            <a:solidFill>
              <a:srgbClr val="D8E1E8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767328" y="1975104"/>
            <a:ext cx="3282696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1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첫 확인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123176" y="1920240"/>
            <a:ext cx="4206240" cy="493776"/>
          </a:xfrm>
          <a:prstGeom prst="rect">
            <a:avLst/>
          </a:prstGeom>
          <a:solidFill>
            <a:srgbClr val="0B2545"/>
          </a:solidFill>
          <a:ln w="7620">
            <a:solidFill>
              <a:srgbClr val="D8E1E8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196328" y="1975104"/>
            <a:ext cx="4059935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1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대표 원인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59536" y="2414016"/>
            <a:ext cx="2834640" cy="493776"/>
          </a:xfrm>
          <a:prstGeom prst="rect">
            <a:avLst/>
          </a:prstGeom>
          <a:solidFill>
            <a:srgbClr val="FFFFFF"/>
          </a:solidFill>
          <a:ln w="7620">
            <a:solidFill>
              <a:srgbClr val="D8E1E8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32688" y="2468880"/>
            <a:ext cx="2688336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30" b="0">
                <a:solidFill>
                  <a:srgbClr val="172432"/>
                </a:solidFill>
                <a:latin typeface="맑은 고딕"/>
                <a:ea typeface="맑은 고딕"/>
                <a:cs typeface="맑은 고딕"/>
              </a:rPr>
              <a:t>No module named app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694176" y="2414016"/>
            <a:ext cx="3429000" cy="493776"/>
          </a:xfrm>
          <a:prstGeom prst="rect">
            <a:avLst/>
          </a:prstGeom>
          <a:solidFill>
            <a:srgbClr val="FFFFFF"/>
          </a:solidFill>
          <a:ln w="7620">
            <a:solidFill>
              <a:srgbClr val="D8E1E8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767328" y="2468880"/>
            <a:ext cx="3282696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30" b="0">
                <a:solidFill>
                  <a:srgbClr val="172432"/>
                </a:solidFill>
                <a:latin typeface="맑은 고딕"/>
                <a:ea typeface="맑은 고딕"/>
                <a:cs typeface="맑은 고딕"/>
              </a:rPr>
              <a:t>실행 위치 + --app-dir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123176" y="2414016"/>
            <a:ext cx="4206240" cy="493776"/>
          </a:xfrm>
          <a:prstGeom prst="rect">
            <a:avLst/>
          </a:prstGeom>
          <a:solidFill>
            <a:srgbClr val="FFFFFF"/>
          </a:solidFill>
          <a:ln w="7620">
            <a:solidFill>
              <a:srgbClr val="D8E1E8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196328" y="2468880"/>
            <a:ext cx="4059935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30" b="0">
                <a:solidFill>
                  <a:srgbClr val="172432"/>
                </a:solidFill>
                <a:latin typeface="맑은 고딕"/>
                <a:ea typeface="맑은 고딕"/>
                <a:cs typeface="맑은 고딕"/>
              </a:rPr>
              <a:t>backend 폴더 경계</a:t>
            </a:r>
          </a:p>
        </p:txBody>
      </p:sp>
      <p:sp>
        <p:nvSpPr>
          <p:cNvPr id="21" name="Rectangle 20"/>
          <p:cNvSpPr/>
          <p:nvPr/>
        </p:nvSpPr>
        <p:spPr>
          <a:xfrm>
            <a:off x="859536" y="2907792"/>
            <a:ext cx="2834640" cy="493776"/>
          </a:xfrm>
          <a:prstGeom prst="rect">
            <a:avLst/>
          </a:prstGeom>
          <a:solidFill>
            <a:srgbClr val="F5F9FC"/>
          </a:solidFill>
          <a:ln w="7620">
            <a:solidFill>
              <a:srgbClr val="D8E1E8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32688" y="2962656"/>
            <a:ext cx="2688336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30" b="0">
                <a:solidFill>
                  <a:srgbClr val="172432"/>
                </a:solidFill>
                <a:latin typeface="맑은 고딕"/>
                <a:ea typeface="맑은 고딕"/>
                <a:cs typeface="맑은 고딕"/>
              </a:rPr>
              <a:t>프론트 fetch 실패</a:t>
            </a:r>
          </a:p>
        </p:txBody>
      </p:sp>
      <p:sp>
        <p:nvSpPr>
          <p:cNvPr id="23" name="Rectangle 22"/>
          <p:cNvSpPr/>
          <p:nvPr/>
        </p:nvSpPr>
        <p:spPr>
          <a:xfrm>
            <a:off x="3694176" y="2907792"/>
            <a:ext cx="3429000" cy="493776"/>
          </a:xfrm>
          <a:prstGeom prst="rect">
            <a:avLst/>
          </a:prstGeom>
          <a:solidFill>
            <a:srgbClr val="F5F9FC"/>
          </a:solidFill>
          <a:ln w="7620">
            <a:solidFill>
              <a:srgbClr val="D8E1E8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3767328" y="2962656"/>
            <a:ext cx="3282696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30" b="0">
                <a:solidFill>
                  <a:srgbClr val="172432"/>
                </a:solidFill>
                <a:latin typeface="맑은 고딕"/>
                <a:ea typeface="맑은 고딕"/>
                <a:cs typeface="맑은 고딕"/>
              </a:rPr>
              <a:t>/health → /ready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123176" y="2907792"/>
            <a:ext cx="4206240" cy="493776"/>
          </a:xfrm>
          <a:prstGeom prst="rect">
            <a:avLst/>
          </a:prstGeom>
          <a:solidFill>
            <a:srgbClr val="F5F9FC"/>
          </a:solidFill>
          <a:ln w="7620">
            <a:solidFill>
              <a:srgbClr val="D8E1E8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196328" y="2962656"/>
            <a:ext cx="4059935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30" b="0">
                <a:solidFill>
                  <a:srgbClr val="172432"/>
                </a:solidFill>
                <a:latin typeface="맑은 고딕"/>
                <a:ea typeface="맑은 고딕"/>
                <a:cs typeface="맑은 고딕"/>
              </a:rPr>
              <a:t>API URL · CORS · DB</a:t>
            </a:r>
          </a:p>
        </p:txBody>
      </p:sp>
      <p:sp>
        <p:nvSpPr>
          <p:cNvPr id="27" name="Rectangle 26"/>
          <p:cNvSpPr/>
          <p:nvPr/>
        </p:nvSpPr>
        <p:spPr>
          <a:xfrm>
            <a:off x="859536" y="3401568"/>
            <a:ext cx="2834640" cy="493776"/>
          </a:xfrm>
          <a:prstGeom prst="rect">
            <a:avLst/>
          </a:prstGeom>
          <a:solidFill>
            <a:srgbClr val="FFFFFF"/>
          </a:solidFill>
          <a:ln w="7620">
            <a:solidFill>
              <a:srgbClr val="D8E1E8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32688" y="3456432"/>
            <a:ext cx="2688336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30" b="0">
                <a:solidFill>
                  <a:srgbClr val="172432"/>
                </a:solidFill>
                <a:latin typeface="맑은 고딕"/>
                <a:ea typeface="맑은 고딕"/>
                <a:cs typeface="맑은 고딕"/>
              </a:rPr>
              <a:t>queued 고정</a:t>
            </a:r>
          </a:p>
        </p:txBody>
      </p:sp>
      <p:sp>
        <p:nvSpPr>
          <p:cNvPr id="29" name="Rectangle 28"/>
          <p:cNvSpPr/>
          <p:nvPr/>
        </p:nvSpPr>
        <p:spPr>
          <a:xfrm>
            <a:off x="3694176" y="3401568"/>
            <a:ext cx="3429000" cy="493776"/>
          </a:xfrm>
          <a:prstGeom prst="rect">
            <a:avLst/>
          </a:prstGeom>
          <a:solidFill>
            <a:srgbClr val="FFFFFF"/>
          </a:solidFill>
          <a:ln w="7620">
            <a:solidFill>
              <a:srgbClr val="D8E1E8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3767328" y="3456432"/>
            <a:ext cx="3282696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30" b="0">
                <a:solidFill>
                  <a:srgbClr val="172432"/>
                </a:solidFill>
                <a:latin typeface="맑은 고딕"/>
                <a:ea typeface="맑은 고딕"/>
                <a:cs typeface="맑은 고딕"/>
              </a:rPr>
              <a:t>worker + 같은 DB</a:t>
            </a:r>
          </a:p>
        </p:txBody>
      </p:sp>
      <p:sp>
        <p:nvSpPr>
          <p:cNvPr id="31" name="Rectangle 30"/>
          <p:cNvSpPr/>
          <p:nvPr/>
        </p:nvSpPr>
        <p:spPr>
          <a:xfrm>
            <a:off x="7123176" y="3401568"/>
            <a:ext cx="4206240" cy="493776"/>
          </a:xfrm>
          <a:prstGeom prst="rect">
            <a:avLst/>
          </a:prstGeom>
          <a:solidFill>
            <a:srgbClr val="FFFFFF"/>
          </a:solidFill>
          <a:ln w="7620">
            <a:solidFill>
              <a:srgbClr val="D8E1E8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7196328" y="3456432"/>
            <a:ext cx="4059935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30" b="0">
                <a:solidFill>
                  <a:srgbClr val="172432"/>
                </a:solidFill>
                <a:latin typeface="맑은 고딕"/>
                <a:ea typeface="맑은 고딕"/>
                <a:cs typeface="맑은 고딕"/>
              </a:rPr>
              <a:t>worker 미실행/다른 URL</a:t>
            </a:r>
          </a:p>
        </p:txBody>
      </p:sp>
      <p:sp>
        <p:nvSpPr>
          <p:cNvPr id="33" name="Rectangle 32"/>
          <p:cNvSpPr/>
          <p:nvPr/>
        </p:nvSpPr>
        <p:spPr>
          <a:xfrm>
            <a:off x="859536" y="3895344"/>
            <a:ext cx="2834640" cy="493776"/>
          </a:xfrm>
          <a:prstGeom prst="rect">
            <a:avLst/>
          </a:prstGeom>
          <a:solidFill>
            <a:srgbClr val="F5F9FC"/>
          </a:solidFill>
          <a:ln w="7620">
            <a:solidFill>
              <a:srgbClr val="D8E1E8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932688" y="3950207"/>
            <a:ext cx="2688336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30" b="0">
                <a:solidFill>
                  <a:srgbClr val="172432"/>
                </a:solidFill>
                <a:latin typeface="맑은 고딕"/>
                <a:ea typeface="맑은 고딕"/>
                <a:cs typeface="맑은 고딕"/>
              </a:rPr>
              <a:t>원본 없음</a:t>
            </a:r>
          </a:p>
        </p:txBody>
      </p:sp>
      <p:sp>
        <p:nvSpPr>
          <p:cNvPr id="35" name="Rectangle 34"/>
          <p:cNvSpPr/>
          <p:nvPr/>
        </p:nvSpPr>
        <p:spPr>
          <a:xfrm>
            <a:off x="3694176" y="3895344"/>
            <a:ext cx="3429000" cy="493776"/>
          </a:xfrm>
          <a:prstGeom prst="rect">
            <a:avLst/>
          </a:prstGeom>
          <a:solidFill>
            <a:srgbClr val="F5F9FC"/>
          </a:solidFill>
          <a:ln w="7620">
            <a:solidFill>
              <a:srgbClr val="D8E1E8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3767328" y="3950207"/>
            <a:ext cx="3282696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30" b="0">
                <a:solidFill>
                  <a:srgbClr val="172432"/>
                </a:solidFill>
                <a:latin typeface="맑은 고딕"/>
                <a:ea typeface="맑은 고딕"/>
                <a:cs typeface="맑은 고딕"/>
              </a:rPr>
              <a:t>DB의 object path</a:t>
            </a:r>
          </a:p>
        </p:txBody>
      </p:sp>
      <p:sp>
        <p:nvSpPr>
          <p:cNvPr id="37" name="Rectangle 36"/>
          <p:cNvSpPr/>
          <p:nvPr/>
        </p:nvSpPr>
        <p:spPr>
          <a:xfrm>
            <a:off x="7123176" y="3895344"/>
            <a:ext cx="4206240" cy="493776"/>
          </a:xfrm>
          <a:prstGeom prst="rect">
            <a:avLst/>
          </a:prstGeom>
          <a:solidFill>
            <a:srgbClr val="F5F9FC"/>
          </a:solidFill>
          <a:ln w="7620">
            <a:solidFill>
              <a:srgbClr val="D8E1E8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7196328" y="3950207"/>
            <a:ext cx="4059935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30" b="0">
                <a:solidFill>
                  <a:srgbClr val="172432"/>
                </a:solidFill>
                <a:latin typeface="맑은 고딕"/>
                <a:ea typeface="맑은 고딕"/>
                <a:cs typeface="맑은 고딕"/>
              </a:rPr>
              <a:t>uploads 미인계/storage 불일치</a:t>
            </a:r>
          </a:p>
        </p:txBody>
      </p:sp>
      <p:sp>
        <p:nvSpPr>
          <p:cNvPr id="39" name="Rectangle 38"/>
          <p:cNvSpPr/>
          <p:nvPr/>
        </p:nvSpPr>
        <p:spPr>
          <a:xfrm>
            <a:off x="859536" y="4389120"/>
            <a:ext cx="2834640" cy="493776"/>
          </a:xfrm>
          <a:prstGeom prst="rect">
            <a:avLst/>
          </a:prstGeom>
          <a:solidFill>
            <a:srgbClr val="FFFFFF"/>
          </a:solidFill>
          <a:ln w="7620">
            <a:solidFill>
              <a:srgbClr val="D8E1E8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932688" y="4443984"/>
            <a:ext cx="2688336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30" b="0">
                <a:solidFill>
                  <a:srgbClr val="172432"/>
                </a:solidFill>
                <a:latin typeface="맑은 고딕"/>
                <a:ea typeface="맑은 고딕"/>
                <a:cs typeface="맑은 고딕"/>
              </a:rPr>
              <a:t>database is locked</a:t>
            </a:r>
          </a:p>
        </p:txBody>
      </p:sp>
      <p:sp>
        <p:nvSpPr>
          <p:cNvPr id="41" name="Rectangle 40"/>
          <p:cNvSpPr/>
          <p:nvPr/>
        </p:nvSpPr>
        <p:spPr>
          <a:xfrm>
            <a:off x="3694176" y="4389120"/>
            <a:ext cx="3429000" cy="493776"/>
          </a:xfrm>
          <a:prstGeom prst="rect">
            <a:avLst/>
          </a:prstGeom>
          <a:solidFill>
            <a:srgbClr val="FFFFFF"/>
          </a:solidFill>
          <a:ln w="7620">
            <a:solidFill>
              <a:srgbClr val="D8E1E8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3767328" y="4443984"/>
            <a:ext cx="3282696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30" b="0">
                <a:solidFill>
                  <a:srgbClr val="172432"/>
                </a:solidFill>
                <a:latin typeface="맑은 고딕"/>
                <a:ea typeface="맑은 고딕"/>
                <a:cs typeface="맑은 고딕"/>
              </a:rPr>
              <a:t>동시 프로세스</a:t>
            </a:r>
          </a:p>
        </p:txBody>
      </p:sp>
      <p:sp>
        <p:nvSpPr>
          <p:cNvPr id="43" name="Rectangle 42"/>
          <p:cNvSpPr/>
          <p:nvPr/>
        </p:nvSpPr>
        <p:spPr>
          <a:xfrm>
            <a:off x="7123176" y="4389120"/>
            <a:ext cx="4206240" cy="493776"/>
          </a:xfrm>
          <a:prstGeom prst="rect">
            <a:avLst/>
          </a:prstGeom>
          <a:solidFill>
            <a:srgbClr val="FFFFFF"/>
          </a:solidFill>
          <a:ln w="7620">
            <a:solidFill>
              <a:srgbClr val="D8E1E8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7196328" y="4443984"/>
            <a:ext cx="4059935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30" b="0">
                <a:solidFill>
                  <a:srgbClr val="172432"/>
                </a:solidFill>
                <a:latin typeface="맑은 고딕"/>
                <a:ea typeface="맑은 고딕"/>
                <a:cs typeface="맑은 고딕"/>
              </a:rPr>
              <a:t>SQLite 다중 쓰기/공유드라이브</a:t>
            </a:r>
          </a:p>
        </p:txBody>
      </p:sp>
      <p:sp>
        <p:nvSpPr>
          <p:cNvPr id="45" name="Rectangle 44"/>
          <p:cNvSpPr/>
          <p:nvPr/>
        </p:nvSpPr>
        <p:spPr>
          <a:xfrm>
            <a:off x="859536" y="4882896"/>
            <a:ext cx="2834640" cy="493776"/>
          </a:xfrm>
          <a:prstGeom prst="rect">
            <a:avLst/>
          </a:prstGeom>
          <a:solidFill>
            <a:srgbClr val="F5F9FC"/>
          </a:solidFill>
          <a:ln w="7620">
            <a:solidFill>
              <a:srgbClr val="D8E1E8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932688" y="4937759"/>
            <a:ext cx="2688336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30" b="0">
                <a:solidFill>
                  <a:srgbClr val="172432"/>
                </a:solidFill>
                <a:latin typeface="맑은 고딕"/>
                <a:ea typeface="맑은 고딕"/>
                <a:cs typeface="맑은 고딕"/>
              </a:rPr>
              <a:t>EBADENGINE</a:t>
            </a:r>
          </a:p>
        </p:txBody>
      </p:sp>
      <p:sp>
        <p:nvSpPr>
          <p:cNvPr id="47" name="Rectangle 46"/>
          <p:cNvSpPr/>
          <p:nvPr/>
        </p:nvSpPr>
        <p:spPr>
          <a:xfrm>
            <a:off x="3694176" y="4882896"/>
            <a:ext cx="3429000" cy="493776"/>
          </a:xfrm>
          <a:prstGeom prst="rect">
            <a:avLst/>
          </a:prstGeom>
          <a:solidFill>
            <a:srgbClr val="F5F9FC"/>
          </a:solidFill>
          <a:ln w="7620">
            <a:solidFill>
              <a:srgbClr val="D8E1E8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3767328" y="4937759"/>
            <a:ext cx="3282696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30" b="0">
                <a:solidFill>
                  <a:srgbClr val="172432"/>
                </a:solidFill>
                <a:latin typeface="맑은 고딕"/>
                <a:ea typeface="맑은 고딕"/>
                <a:cs typeface="맑은 고딕"/>
              </a:rPr>
              <a:t>node --version</a:t>
            </a:r>
          </a:p>
        </p:txBody>
      </p:sp>
      <p:sp>
        <p:nvSpPr>
          <p:cNvPr id="49" name="Rectangle 48"/>
          <p:cNvSpPr/>
          <p:nvPr/>
        </p:nvSpPr>
        <p:spPr>
          <a:xfrm>
            <a:off x="7123176" y="4882896"/>
            <a:ext cx="4206240" cy="493776"/>
          </a:xfrm>
          <a:prstGeom prst="rect">
            <a:avLst/>
          </a:prstGeom>
          <a:solidFill>
            <a:srgbClr val="F5F9FC"/>
          </a:solidFill>
          <a:ln w="7620">
            <a:solidFill>
              <a:srgbClr val="D8E1E8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7196328" y="4937759"/>
            <a:ext cx="4059935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30" b="0">
                <a:solidFill>
                  <a:srgbClr val="172432"/>
                </a:solidFill>
                <a:latin typeface="맑은 고딕"/>
                <a:ea typeface="맑은 고딕"/>
                <a:cs typeface="맑은 고딕"/>
              </a:rPr>
              <a:t>Vite 8 범위 밖</a:t>
            </a:r>
          </a:p>
        </p:txBody>
      </p:sp>
      <p:sp>
        <p:nvSpPr>
          <p:cNvPr id="51" name="Rectangle 50"/>
          <p:cNvSpPr/>
          <p:nvPr/>
        </p:nvSpPr>
        <p:spPr>
          <a:xfrm>
            <a:off x="859536" y="5376672"/>
            <a:ext cx="2834640" cy="493776"/>
          </a:xfrm>
          <a:prstGeom prst="rect">
            <a:avLst/>
          </a:prstGeom>
          <a:solidFill>
            <a:srgbClr val="FFFFFF"/>
          </a:solidFill>
          <a:ln w="7620">
            <a:solidFill>
              <a:srgbClr val="D8E1E8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932688" y="5431536"/>
            <a:ext cx="2688336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30" b="0">
                <a:solidFill>
                  <a:srgbClr val="172432"/>
                </a:solidFill>
                <a:latin typeface="맑은 고딕"/>
                <a:ea typeface="맑은 고딕"/>
                <a:cs typeface="맑은 고딕"/>
              </a:rPr>
              <a:t>LLM 안 됨</a:t>
            </a:r>
          </a:p>
        </p:txBody>
      </p:sp>
      <p:sp>
        <p:nvSpPr>
          <p:cNvPr id="53" name="Rectangle 52"/>
          <p:cNvSpPr/>
          <p:nvPr/>
        </p:nvSpPr>
        <p:spPr>
          <a:xfrm>
            <a:off x="3694176" y="5376672"/>
            <a:ext cx="3429000" cy="493776"/>
          </a:xfrm>
          <a:prstGeom prst="rect">
            <a:avLst/>
          </a:prstGeom>
          <a:solidFill>
            <a:srgbClr val="FFFFFF"/>
          </a:solidFill>
          <a:ln w="7620">
            <a:solidFill>
              <a:srgbClr val="D8E1E8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3767328" y="5431536"/>
            <a:ext cx="3282696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30" b="0">
                <a:solidFill>
                  <a:srgbClr val="172432"/>
                </a:solidFill>
                <a:latin typeface="맑은 고딕"/>
                <a:ea typeface="맑은 고딕"/>
                <a:cs typeface="맑은 고딕"/>
              </a:rPr>
              <a:t>flag → key → model</a:t>
            </a:r>
          </a:p>
        </p:txBody>
      </p:sp>
      <p:sp>
        <p:nvSpPr>
          <p:cNvPr id="55" name="Rectangle 54"/>
          <p:cNvSpPr/>
          <p:nvPr/>
        </p:nvSpPr>
        <p:spPr>
          <a:xfrm>
            <a:off x="7123176" y="5376672"/>
            <a:ext cx="4206240" cy="493776"/>
          </a:xfrm>
          <a:prstGeom prst="rect">
            <a:avLst/>
          </a:prstGeom>
          <a:solidFill>
            <a:srgbClr val="FFFFFF"/>
          </a:solidFill>
          <a:ln w="7620">
            <a:solidFill>
              <a:srgbClr val="D8E1E8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7196328" y="5431536"/>
            <a:ext cx="4059935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30" b="0">
                <a:solidFill>
                  <a:srgbClr val="172432"/>
                </a:solidFill>
                <a:latin typeface="맑은 고딕"/>
                <a:ea typeface="맑은 고딕"/>
                <a:cs typeface="맑은 고딕"/>
              </a:rPr>
              <a:t>비활성/키/timeout/rate limit</a:t>
            </a:r>
          </a:p>
        </p:txBody>
      </p:sp>
      <p:sp>
        <p:nvSpPr>
          <p:cNvPr id="57" name="Rounded Rectangle 56"/>
          <p:cNvSpPr/>
          <p:nvPr/>
        </p:nvSpPr>
        <p:spPr>
          <a:xfrm>
            <a:off x="868680" y="5733288"/>
            <a:ext cx="10451592" cy="420624"/>
          </a:xfrm>
          <a:prstGeom prst="roundRect">
            <a:avLst/>
          </a:prstGeom>
          <a:solidFill>
            <a:srgbClr val="F7F9F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1051560" y="5824728"/>
            <a:ext cx="10085832" cy="21945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80" b="1">
                <a:solidFill>
                  <a:srgbClr val="0B2545"/>
                </a:solidFill>
                <a:latin typeface="맑은 고딕"/>
                <a:ea typeface="맑은 고딕"/>
                <a:cs typeface="맑은 고딕"/>
              </a:rPr>
              <a:t>재현의 다섯 값: commit · env 종류 · DB · 원본 SHA-256 · job ID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D5F9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47472"/>
            <a:ext cx="292608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50" b="1">
                <a:solidFill>
                  <a:srgbClr val="1D5F9A"/>
                </a:solidFill>
                <a:latin typeface="맑은 고딕"/>
                <a:ea typeface="맑은 고딕"/>
                <a:cs typeface="맑은 고딕"/>
              </a:rPr>
              <a:t>ONBOARDING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85800"/>
            <a:ext cx="10972800" cy="5029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500" b="1">
                <a:solidFill>
                  <a:srgbClr val="0B2545"/>
                </a:solidFill>
                <a:latin typeface="맑은 고딕"/>
                <a:ea typeface="맑은 고딕"/>
                <a:cs typeface="맑은 고딕"/>
              </a:rPr>
              <a:t>첫날 실습 — 운영 데이터 없이 끝까지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85216" y="1225296"/>
            <a:ext cx="10881360" cy="32004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617181"/>
                </a:solidFill>
                <a:latin typeface="맑은 고딕"/>
                <a:ea typeface="맑은 고딕"/>
                <a:cs typeface="맑은 고딕"/>
              </a:rPr>
              <a:t>네 번의 작은 성공으로 환경·기능·수정·복구를 모두 확인한다.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566928" y="1664208"/>
            <a:ext cx="11055096" cy="0"/>
          </a:xfrm>
          <a:prstGeom prst="line">
            <a:avLst/>
          </a:prstGeom>
          <a:ln w="10160">
            <a:solidFill>
              <a:srgbClr val="D8E1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566928" y="6510528"/>
            <a:ext cx="7040880" cy="182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19" b="0">
                <a:solidFill>
                  <a:srgbClr val="8B99A7"/>
                </a:solidFill>
                <a:latin typeface="맑은 고딕"/>
                <a:ea typeface="맑은 고딕"/>
                <a:cs typeface="맑은 고딕"/>
              </a:rPr>
              <a:t>통계연보 검수 보조 시스템  |  프로젝트 인수인계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109960" y="6492240"/>
            <a:ext cx="502920" cy="182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850" b="1">
                <a:solidFill>
                  <a:srgbClr val="8B99A7"/>
                </a:solidFill>
                <a:latin typeface="맑은 고딕"/>
                <a:ea typeface="맑은 고딕"/>
                <a:cs typeface="맑은 고딕"/>
              </a:rPr>
              <a:t>31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67512" y="1947672"/>
            <a:ext cx="5230368" cy="1289304"/>
          </a:xfrm>
          <a:prstGeom prst="roundRect">
            <a:avLst/>
          </a:prstGeom>
          <a:solidFill>
            <a:srgbClr val="EAF3F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850392" y="2148840"/>
            <a:ext cx="566928" cy="566928"/>
          </a:xfrm>
          <a:prstGeom prst="roundRect">
            <a:avLst/>
          </a:prstGeom>
          <a:solidFill>
            <a:srgbClr val="1D5F9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50392" y="2221991"/>
            <a:ext cx="566928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655064" y="2130552"/>
            <a:ext cx="3931920" cy="30175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0B2545"/>
                </a:solidFill>
                <a:latin typeface="맑은 고딕"/>
                <a:ea typeface="맑은 고딕"/>
                <a:cs typeface="맑은 고딕"/>
              </a:rPr>
              <a:t>빈 DB 실행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655064" y="2651760"/>
            <a:ext cx="3931920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617181"/>
                </a:solidFill>
                <a:latin typeface="맑은 고딕"/>
                <a:ea typeface="맑은 고딕"/>
                <a:cs typeface="맑은 고딕"/>
              </a:rPr>
              <a:t>/health · /ready · 빈 화면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199631" y="1947672"/>
            <a:ext cx="5230368" cy="1289304"/>
          </a:xfrm>
          <a:prstGeom prst="roundRect">
            <a:avLst/>
          </a:prstGeom>
          <a:solidFill>
            <a:srgbClr val="E8F5F3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6382512" y="2148840"/>
            <a:ext cx="566928" cy="566928"/>
          </a:xfrm>
          <a:prstGeom prst="roundRect">
            <a:avLst/>
          </a:prstGeom>
          <a:solidFill>
            <a:srgbClr val="177A7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382512" y="2221991"/>
            <a:ext cx="566928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B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187183" y="2130552"/>
            <a:ext cx="3931920" cy="30175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0B2545"/>
                </a:solidFill>
                <a:latin typeface="맑은 고딕"/>
                <a:ea typeface="맑은 고딕"/>
                <a:cs typeface="맑은 고딕"/>
              </a:rPr>
              <a:t>테스트 연보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187183" y="2651760"/>
            <a:ext cx="3931920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617181"/>
                </a:solidFill>
                <a:latin typeface="맑은 고딕"/>
                <a:ea typeface="맑은 고딕"/>
                <a:cs typeface="맑은 고딕"/>
              </a:rPr>
              <a:t>upload · 검수 · export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67512" y="3520439"/>
            <a:ext cx="5230368" cy="1289304"/>
          </a:xfrm>
          <a:prstGeom prst="roundRect">
            <a:avLst/>
          </a:prstGeom>
          <a:solidFill>
            <a:srgbClr val="FFF3D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850392" y="3721607"/>
            <a:ext cx="566928" cy="566928"/>
          </a:xfrm>
          <a:prstGeom prst="roundRect">
            <a:avLst/>
          </a:prstGeom>
          <a:solidFill>
            <a:srgbClr val="B76E0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50392" y="3794759"/>
            <a:ext cx="566928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C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655064" y="3703320"/>
            <a:ext cx="3931920" cy="30175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0B2545"/>
                </a:solidFill>
                <a:latin typeface="맑은 고딕"/>
                <a:ea typeface="맑은 고딕"/>
                <a:cs typeface="맑은 고딕"/>
              </a:rPr>
              <a:t>작은 코드 수정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655064" y="4224527"/>
            <a:ext cx="3931920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617181"/>
                </a:solidFill>
                <a:latin typeface="맑은 고딕"/>
                <a:ea typeface="맑은 고딕"/>
                <a:cs typeface="맑은 고딕"/>
              </a:rPr>
              <a:t>branch · test · build · diff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199631" y="3520439"/>
            <a:ext cx="5230368" cy="1289304"/>
          </a:xfrm>
          <a:prstGeom prst="roundRect">
            <a:avLst/>
          </a:prstGeom>
          <a:solidFill>
            <a:srgbClr val="FCECE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6382512" y="3721607"/>
            <a:ext cx="566928" cy="566928"/>
          </a:xfrm>
          <a:prstGeom prst="roundRect">
            <a:avLst/>
          </a:prstGeom>
          <a:solidFill>
            <a:srgbClr val="B83A4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382512" y="3794759"/>
            <a:ext cx="566928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D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187183" y="3703320"/>
            <a:ext cx="3931920" cy="30175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0B2545"/>
                </a:solidFill>
                <a:latin typeface="맑은 고딕"/>
                <a:ea typeface="맑은 고딕"/>
                <a:cs typeface="맑은 고딕"/>
              </a:rPr>
              <a:t>백업/복원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187183" y="4224527"/>
            <a:ext cx="3931920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617181"/>
                </a:solidFill>
                <a:latin typeface="맑은 고딕"/>
                <a:ea typeface="맑은 고딕"/>
                <a:cs typeface="맑은 고딕"/>
              </a:rPr>
              <a:t>stop · copy · hash · restore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67512" y="5394960"/>
            <a:ext cx="10771632" cy="530352"/>
          </a:xfrm>
          <a:prstGeom prst="roundRect">
            <a:avLst/>
          </a:prstGeom>
          <a:solidFill>
            <a:srgbClr val="0B254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96112" y="5559552"/>
            <a:ext cx="10314432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완료 조건: 다음 담당자가 화면을 공유하며 네 실습을 직접 재현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D5F9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47472"/>
            <a:ext cx="292608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50" b="1">
                <a:solidFill>
                  <a:srgbClr val="1D5F9A"/>
                </a:solidFill>
                <a:latin typeface="맑은 고딕"/>
                <a:ea typeface="맑은 고딕"/>
                <a:cs typeface="맑은 고딕"/>
              </a:rPr>
              <a:t>HANDOVER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85800"/>
            <a:ext cx="10972800" cy="5029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500" b="1">
                <a:solidFill>
                  <a:srgbClr val="0B2545"/>
                </a:solidFill>
                <a:latin typeface="맑은 고딕"/>
                <a:ea typeface="맑은 고딕"/>
                <a:cs typeface="맑은 고딕"/>
              </a:rPr>
              <a:t>최종 회의에서 화면으로 확인할 것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85216" y="1225296"/>
            <a:ext cx="10881360" cy="32004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617181"/>
                </a:solidFill>
                <a:latin typeface="맑은 고딕"/>
                <a:ea typeface="맑은 고딕"/>
                <a:cs typeface="맑은 고딕"/>
              </a:rPr>
              <a:t>‘전달했다’가 아니라 ‘받은 사람이 재현했다’를 기준으로 종료한다.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566928" y="1664208"/>
            <a:ext cx="11055096" cy="0"/>
          </a:xfrm>
          <a:prstGeom prst="line">
            <a:avLst/>
          </a:prstGeom>
          <a:ln w="10160">
            <a:solidFill>
              <a:srgbClr val="D8E1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566928" y="6510528"/>
            <a:ext cx="7040880" cy="182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19" b="0">
                <a:solidFill>
                  <a:srgbClr val="8B99A7"/>
                </a:solidFill>
                <a:latin typeface="맑은 고딕"/>
                <a:ea typeface="맑은 고딕"/>
                <a:cs typeface="맑은 고딕"/>
              </a:rPr>
              <a:t>통계연보 검수 보조 시스템  |  프로젝트 인수인계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109960" y="6492240"/>
            <a:ext cx="502920" cy="182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850" b="1">
                <a:solidFill>
                  <a:srgbClr val="8B99A7"/>
                </a:solidFill>
                <a:latin typeface="맑은 고딕"/>
                <a:ea typeface="맑은 고딕"/>
                <a:cs typeface="맑은 고딕"/>
              </a:rPr>
              <a:t>32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67512" y="1929384"/>
            <a:ext cx="5248656" cy="1353312"/>
          </a:xfrm>
          <a:prstGeom prst="roundRect">
            <a:avLst/>
          </a:prstGeom>
          <a:solidFill>
            <a:srgbClr val="EAF3F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50392" y="2093976"/>
            <a:ext cx="960120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1D5F9A"/>
                </a:solidFill>
                <a:latin typeface="맑은 고딕"/>
                <a:ea typeface="맑은 고딕"/>
                <a:cs typeface="맑은 고딕"/>
              </a:rPr>
              <a:t>CODE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892808" y="2066543"/>
            <a:ext cx="3785615" cy="100584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lnSpc>
                <a:spcPct val="110000"/>
              </a:lnSpc>
              <a:spcBef>
                <a:spcPts val="0"/>
              </a:spcBef>
              <a:spcAft>
                <a:spcPts val="300"/>
              </a:spcAft>
            </a:pPr>
            <a:r>
              <a:rPr sz="1019" b="1">
                <a:solidFill>
                  <a:srgbClr val="1D5F9A"/>
                </a:solidFill>
                <a:latin typeface="맑은 고딕"/>
                <a:ea typeface="맑은 고딕"/>
                <a:cs typeface="맑은 고딕"/>
              </a:rPr>
              <a:t>•  </a:t>
            </a:r>
            <a:r>
              <a:rPr sz="1019" b="0">
                <a:solidFill>
                  <a:srgbClr val="172432"/>
                </a:solidFill>
                <a:latin typeface="맑은 고딕"/>
                <a:ea typeface="맑은 고딕"/>
                <a:cs typeface="맑은 고딕"/>
              </a:rPr>
              <a:t>최종 branch/commit</a:t>
            </a:r>
          </a:p>
          <a:p>
            <a:pPr>
              <a:lnSpc>
                <a:spcPct val="110000"/>
              </a:lnSpc>
              <a:spcBef>
                <a:spcPts val="0"/>
              </a:spcBef>
              <a:spcAft>
                <a:spcPts val="300"/>
              </a:spcAft>
            </a:pPr>
            <a:r>
              <a:rPr sz="1019" b="1">
                <a:solidFill>
                  <a:srgbClr val="1D5F9A"/>
                </a:solidFill>
                <a:latin typeface="맑은 고딕"/>
                <a:ea typeface="맑은 고딕"/>
                <a:cs typeface="맑은 고딕"/>
              </a:rPr>
              <a:t>•  </a:t>
            </a:r>
            <a:r>
              <a:rPr sz="1019" b="0">
                <a:solidFill>
                  <a:srgbClr val="172432"/>
                </a:solidFill>
                <a:latin typeface="맑은 고딕"/>
                <a:ea typeface="맑은 고딕"/>
                <a:cs typeface="맑은 고딕"/>
              </a:rPr>
              <a:t>git status 정리</a:t>
            </a:r>
          </a:p>
          <a:p>
            <a:pPr>
              <a:lnSpc>
                <a:spcPct val="110000"/>
              </a:lnSpc>
              <a:spcBef>
                <a:spcPts val="0"/>
              </a:spcBef>
              <a:spcAft>
                <a:spcPts val="300"/>
              </a:spcAft>
            </a:pPr>
            <a:r>
              <a:rPr sz="1019" b="1">
                <a:solidFill>
                  <a:srgbClr val="1D5F9A"/>
                </a:solidFill>
                <a:latin typeface="맑은 고딕"/>
                <a:ea typeface="맑은 고딕"/>
                <a:cs typeface="맑은 고딕"/>
              </a:rPr>
              <a:t>•  </a:t>
            </a:r>
            <a:r>
              <a:rPr sz="1019" b="0">
                <a:solidFill>
                  <a:srgbClr val="172432"/>
                </a:solidFill>
                <a:latin typeface="맑은 고딕"/>
                <a:ea typeface="맑은 고딕"/>
                <a:cs typeface="맑은 고딕"/>
              </a:rPr>
              <a:t>test/build 결과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99631" y="1929384"/>
            <a:ext cx="5248656" cy="1353312"/>
          </a:xfrm>
          <a:prstGeom prst="roundRect">
            <a:avLst/>
          </a:prstGeom>
          <a:solidFill>
            <a:srgbClr val="E8F5F3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382512" y="2093976"/>
            <a:ext cx="960120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177A74"/>
                </a:solidFill>
                <a:latin typeface="맑은 고딕"/>
                <a:ea typeface="맑은 고딕"/>
                <a:cs typeface="맑은 고딕"/>
              </a:rPr>
              <a:t>DATA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424927" y="2066543"/>
            <a:ext cx="3785615" cy="100584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lnSpc>
                <a:spcPct val="110000"/>
              </a:lnSpc>
              <a:spcBef>
                <a:spcPts val="0"/>
              </a:spcBef>
              <a:spcAft>
                <a:spcPts val="300"/>
              </a:spcAft>
            </a:pPr>
            <a:r>
              <a:rPr sz="1019" b="1">
                <a:solidFill>
                  <a:srgbClr val="177A74"/>
                </a:solidFill>
                <a:latin typeface="맑은 고딕"/>
                <a:ea typeface="맑은 고딕"/>
                <a:cs typeface="맑은 고딕"/>
              </a:rPr>
              <a:t>•  </a:t>
            </a:r>
            <a:r>
              <a:rPr sz="1019" b="0">
                <a:solidFill>
                  <a:srgbClr val="172432"/>
                </a:solidFill>
                <a:latin typeface="맑은 고딕"/>
                <a:ea typeface="맑은 고딕"/>
                <a:cs typeface="맑은 고딕"/>
              </a:rPr>
              <a:t>DB + uploads 세트</a:t>
            </a:r>
          </a:p>
          <a:p>
            <a:pPr>
              <a:lnSpc>
                <a:spcPct val="110000"/>
              </a:lnSpc>
              <a:spcBef>
                <a:spcPts val="0"/>
              </a:spcBef>
              <a:spcAft>
                <a:spcPts val="300"/>
              </a:spcAft>
            </a:pPr>
            <a:r>
              <a:rPr sz="1019" b="1">
                <a:solidFill>
                  <a:srgbClr val="177A74"/>
                </a:solidFill>
                <a:latin typeface="맑은 고딕"/>
                <a:ea typeface="맑은 고딕"/>
                <a:cs typeface="맑은 고딕"/>
              </a:rPr>
              <a:t>•  </a:t>
            </a:r>
            <a:r>
              <a:rPr sz="1019" b="0">
                <a:solidFill>
                  <a:srgbClr val="172432"/>
                </a:solidFill>
                <a:latin typeface="맑은 고딕"/>
                <a:ea typeface="맑은 고딕"/>
                <a:cs typeface="맑은 고딕"/>
              </a:rPr>
              <a:t>backup time + SHA-256</a:t>
            </a:r>
          </a:p>
          <a:p>
            <a:pPr>
              <a:lnSpc>
                <a:spcPct val="110000"/>
              </a:lnSpc>
              <a:spcBef>
                <a:spcPts val="0"/>
              </a:spcBef>
              <a:spcAft>
                <a:spcPts val="300"/>
              </a:spcAft>
            </a:pPr>
            <a:r>
              <a:rPr sz="1019" b="1">
                <a:solidFill>
                  <a:srgbClr val="177A74"/>
                </a:solidFill>
                <a:latin typeface="맑은 고딕"/>
                <a:ea typeface="맑은 고딕"/>
                <a:cs typeface="맑은 고딕"/>
              </a:rPr>
              <a:t>•  </a:t>
            </a:r>
            <a:r>
              <a:rPr sz="1019" b="0">
                <a:solidFill>
                  <a:srgbClr val="172432"/>
                </a:solidFill>
                <a:latin typeface="맑은 고딕"/>
                <a:ea typeface="맑은 고딕"/>
                <a:cs typeface="맑은 고딕"/>
              </a:rPr>
              <a:t>검수 baseline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67512" y="3557015"/>
            <a:ext cx="5248656" cy="1353312"/>
          </a:xfrm>
          <a:prstGeom prst="roundRect">
            <a:avLst/>
          </a:prstGeom>
          <a:solidFill>
            <a:srgbClr val="FFF3D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50392" y="3721607"/>
            <a:ext cx="960120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B76E00"/>
                </a:solidFill>
                <a:latin typeface="맑은 고딕"/>
                <a:ea typeface="맑은 고딕"/>
                <a:cs typeface="맑은 고딕"/>
              </a:rPr>
              <a:t>ACCESS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892808" y="3694176"/>
            <a:ext cx="3785615" cy="100584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lnSpc>
                <a:spcPct val="110000"/>
              </a:lnSpc>
              <a:spcBef>
                <a:spcPts val="0"/>
              </a:spcBef>
              <a:spcAft>
                <a:spcPts val="300"/>
              </a:spcAft>
            </a:pPr>
            <a:r>
              <a:rPr sz="1019" b="1">
                <a:solidFill>
                  <a:srgbClr val="B76E00"/>
                </a:solidFill>
                <a:latin typeface="맑은 고딕"/>
                <a:ea typeface="맑은 고딕"/>
                <a:cs typeface="맑은 고딕"/>
              </a:rPr>
              <a:t>•  </a:t>
            </a:r>
            <a:r>
              <a:rPr sz="1019" b="0">
                <a:solidFill>
                  <a:srgbClr val="172432"/>
                </a:solidFill>
                <a:latin typeface="맑은 고딕"/>
                <a:ea typeface="맑은 고딕"/>
                <a:cs typeface="맑은 고딕"/>
              </a:rPr>
              <a:t>GitHub·Vercel·Railway</a:t>
            </a:r>
          </a:p>
          <a:p>
            <a:pPr>
              <a:lnSpc>
                <a:spcPct val="110000"/>
              </a:lnSpc>
              <a:spcBef>
                <a:spcPts val="0"/>
              </a:spcBef>
              <a:spcAft>
                <a:spcPts val="300"/>
              </a:spcAft>
            </a:pPr>
            <a:r>
              <a:rPr sz="1019" b="1">
                <a:solidFill>
                  <a:srgbClr val="B76E00"/>
                </a:solidFill>
                <a:latin typeface="맑은 고딕"/>
                <a:ea typeface="맑은 고딕"/>
                <a:cs typeface="맑은 고딕"/>
              </a:rPr>
              <a:t>•  </a:t>
            </a:r>
            <a:r>
              <a:rPr sz="1019" b="0">
                <a:solidFill>
                  <a:srgbClr val="172432"/>
                </a:solidFill>
                <a:latin typeface="맑은 고딕"/>
                <a:ea typeface="맑은 고딕"/>
                <a:cs typeface="맑은 고딕"/>
              </a:rPr>
              <a:t>Postgres·S3/R2</a:t>
            </a:r>
          </a:p>
          <a:p>
            <a:pPr>
              <a:lnSpc>
                <a:spcPct val="110000"/>
              </a:lnSpc>
              <a:spcBef>
                <a:spcPts val="0"/>
              </a:spcBef>
              <a:spcAft>
                <a:spcPts val="300"/>
              </a:spcAft>
            </a:pPr>
            <a:r>
              <a:rPr sz="1019" b="1">
                <a:solidFill>
                  <a:srgbClr val="B76E00"/>
                </a:solidFill>
                <a:latin typeface="맑은 고딕"/>
                <a:ea typeface="맑은 고딕"/>
                <a:cs typeface="맑은 고딕"/>
              </a:rPr>
              <a:t>•  </a:t>
            </a:r>
            <a:r>
              <a:rPr sz="1019" b="0">
                <a:solidFill>
                  <a:srgbClr val="172432"/>
                </a:solidFill>
                <a:latin typeface="맑은 고딕"/>
                <a:ea typeface="맑은 고딕"/>
                <a:cs typeface="맑은 고딕"/>
              </a:rPr>
              <a:t>LLM 비용/키 소유자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199631" y="3557015"/>
            <a:ext cx="5248656" cy="1353312"/>
          </a:xfrm>
          <a:prstGeom prst="roundRect">
            <a:avLst/>
          </a:prstGeom>
          <a:solidFill>
            <a:srgbClr val="FCECE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382512" y="3721607"/>
            <a:ext cx="960120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B83A4B"/>
                </a:solidFill>
                <a:latin typeface="맑은 고딕"/>
                <a:ea typeface="맑은 고딕"/>
                <a:cs typeface="맑은 고딕"/>
              </a:rPr>
              <a:t>OPERATE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424927" y="3694176"/>
            <a:ext cx="3785615" cy="100584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lnSpc>
                <a:spcPct val="110000"/>
              </a:lnSpc>
              <a:spcBef>
                <a:spcPts val="0"/>
              </a:spcBef>
              <a:spcAft>
                <a:spcPts val="300"/>
              </a:spcAft>
            </a:pPr>
            <a:r>
              <a:rPr sz="1019" b="1">
                <a:solidFill>
                  <a:srgbClr val="B83A4B"/>
                </a:solidFill>
                <a:latin typeface="맑은 고딕"/>
                <a:ea typeface="맑은 고딕"/>
                <a:cs typeface="맑은 고딕"/>
              </a:rPr>
              <a:t>•  </a:t>
            </a:r>
            <a:r>
              <a:rPr sz="1019" b="0">
                <a:solidFill>
                  <a:srgbClr val="172432"/>
                </a:solidFill>
                <a:latin typeface="맑은 고딕"/>
                <a:ea typeface="맑은 고딕"/>
                <a:cs typeface="맑은 고딕"/>
              </a:rPr>
              <a:t>upload·validation 시연</a:t>
            </a:r>
          </a:p>
          <a:p>
            <a:pPr>
              <a:lnSpc>
                <a:spcPct val="110000"/>
              </a:lnSpc>
              <a:spcBef>
                <a:spcPts val="0"/>
              </a:spcBef>
              <a:spcAft>
                <a:spcPts val="300"/>
              </a:spcAft>
            </a:pPr>
            <a:r>
              <a:rPr sz="1019" b="1">
                <a:solidFill>
                  <a:srgbClr val="B83A4B"/>
                </a:solidFill>
                <a:latin typeface="맑은 고딕"/>
                <a:ea typeface="맑은 고딕"/>
                <a:cs typeface="맑은 고딕"/>
              </a:rPr>
              <a:t>•  </a:t>
            </a:r>
            <a:r>
              <a:rPr sz="1019" b="0">
                <a:solidFill>
                  <a:srgbClr val="172432"/>
                </a:solidFill>
                <a:latin typeface="맑은 고딕"/>
                <a:ea typeface="맑은 고딕"/>
                <a:cs typeface="맑은 고딕"/>
              </a:rPr>
              <a:t>deploy·rollback 시연</a:t>
            </a:r>
          </a:p>
          <a:p>
            <a:pPr>
              <a:lnSpc>
                <a:spcPct val="110000"/>
              </a:lnSpc>
              <a:spcBef>
                <a:spcPts val="0"/>
              </a:spcBef>
              <a:spcAft>
                <a:spcPts val="300"/>
              </a:spcAft>
            </a:pPr>
            <a:r>
              <a:rPr sz="1019" b="1">
                <a:solidFill>
                  <a:srgbClr val="B83A4B"/>
                </a:solidFill>
                <a:latin typeface="맑은 고딕"/>
                <a:ea typeface="맑은 고딕"/>
                <a:cs typeface="맑은 고딕"/>
              </a:rPr>
              <a:t>•  </a:t>
            </a:r>
            <a:r>
              <a:rPr sz="1019" b="0">
                <a:solidFill>
                  <a:srgbClr val="172432"/>
                </a:solidFill>
                <a:latin typeface="맑은 고딕"/>
                <a:ea typeface="맑은 고딕"/>
                <a:cs typeface="맑은 고딕"/>
              </a:rPr>
              <a:t>장애 연락망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31520" y="5577840"/>
            <a:ext cx="10680192" cy="31089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60" b="1">
                <a:solidFill>
                  <a:srgbClr val="0B2545"/>
                </a:solidFill>
                <a:latin typeface="맑은 고딕"/>
                <a:ea typeface="맑은 고딕"/>
                <a:cs typeface="맑은 고딕"/>
              </a:rPr>
              <a:t>빈칸: 운영 URL · 계정 소유자 · backup 위치 · rollback 담당자를 문서 23장에 채운다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D5F9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47472"/>
            <a:ext cx="292608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50" b="1">
                <a:solidFill>
                  <a:srgbClr val="1D5F9A"/>
                </a:solidFill>
                <a:latin typeface="맑은 고딕"/>
                <a:ea typeface="맑은 고딕"/>
                <a:cs typeface="맑은 고딕"/>
              </a:rPr>
              <a:t>QUICK CARD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85800"/>
            <a:ext cx="10972800" cy="5029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500" b="1">
                <a:solidFill>
                  <a:srgbClr val="0B2545"/>
                </a:solidFill>
                <a:latin typeface="맑은 고딕"/>
                <a:ea typeface="맑은 고딕"/>
                <a:cs typeface="맑은 고딕"/>
              </a:rPr>
              <a:t>문제가 생기면 이 순서대로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85216" y="1225296"/>
            <a:ext cx="10881360" cy="32004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617181"/>
                </a:solidFill>
                <a:latin typeface="맑은 고딕"/>
                <a:ea typeface="맑은 고딕"/>
                <a:cs typeface="맑은 고딕"/>
              </a:rPr>
              <a:t>무작정 재시작하거나 DB를 삭제하기 전에 사실을 고정한다.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566928" y="1664208"/>
            <a:ext cx="11055096" cy="0"/>
          </a:xfrm>
          <a:prstGeom prst="line">
            <a:avLst/>
          </a:prstGeom>
          <a:ln w="10160">
            <a:solidFill>
              <a:srgbClr val="D8E1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566928" y="6510528"/>
            <a:ext cx="7040880" cy="182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19" b="0">
                <a:solidFill>
                  <a:srgbClr val="8B99A7"/>
                </a:solidFill>
                <a:latin typeface="맑은 고딕"/>
                <a:ea typeface="맑은 고딕"/>
                <a:cs typeface="맑은 고딕"/>
              </a:rPr>
              <a:t>통계연보 검수 보조 시스템  |  프로젝트 인수인계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109960" y="6492240"/>
            <a:ext cx="502920" cy="182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850" b="1">
                <a:solidFill>
                  <a:srgbClr val="8B99A7"/>
                </a:solidFill>
                <a:latin typeface="맑은 고딕"/>
                <a:ea typeface="맑은 고딕"/>
                <a:cs typeface="맑은 고딕"/>
              </a:rPr>
              <a:t>33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13232" y="1892807"/>
            <a:ext cx="5532120" cy="621792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8E1E8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822960" y="2002536"/>
            <a:ext cx="402336" cy="402336"/>
          </a:xfrm>
          <a:prstGeom prst="roundRect">
            <a:avLst/>
          </a:prstGeom>
          <a:solidFill>
            <a:srgbClr val="B83A4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22960" y="2039112"/>
            <a:ext cx="402336" cy="2377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53312" y="1993391"/>
            <a:ext cx="4754880" cy="21945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20" b="1">
                <a:solidFill>
                  <a:srgbClr val="172432"/>
                </a:solidFill>
                <a:latin typeface="맑은 고딕"/>
                <a:ea typeface="맑은 고딕"/>
                <a:cs typeface="맑은 고딕"/>
              </a:rPr>
              <a:t>중단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353312" y="2221991"/>
            <a:ext cx="4754880" cy="20116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60" b="0">
                <a:solidFill>
                  <a:srgbClr val="617181"/>
                </a:solidFill>
                <a:latin typeface="맑은 고딕"/>
                <a:ea typeface="맑은 고딕"/>
                <a:cs typeface="맑은 고딕"/>
              </a:rPr>
              <a:t>새 업로드·배포 잠시 멈춤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13232" y="2651760"/>
            <a:ext cx="5532120" cy="621792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8E1E8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822960" y="2761488"/>
            <a:ext cx="402336" cy="402336"/>
          </a:xfrm>
          <a:prstGeom prst="roundRect">
            <a:avLst/>
          </a:prstGeom>
          <a:solidFill>
            <a:srgbClr val="B76E0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2960" y="2798064"/>
            <a:ext cx="402336" cy="2377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353312" y="2752344"/>
            <a:ext cx="4754880" cy="21945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20" b="1">
                <a:solidFill>
                  <a:srgbClr val="172432"/>
                </a:solidFill>
                <a:latin typeface="맑은 고딕"/>
                <a:ea typeface="맑은 고딕"/>
                <a:cs typeface="맑은 고딕"/>
              </a:rPr>
              <a:t>기록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353312" y="2980944"/>
            <a:ext cx="4754880" cy="20116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60" b="0">
                <a:solidFill>
                  <a:srgbClr val="617181"/>
                </a:solidFill>
                <a:latin typeface="맑은 고딕"/>
                <a:ea typeface="맑은 고딕"/>
                <a:cs typeface="맑은 고딕"/>
              </a:rPr>
              <a:t>시각·commit·job ID·오류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13232" y="3410711"/>
            <a:ext cx="5532120" cy="621792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8E1E8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822960" y="3520439"/>
            <a:ext cx="402336" cy="402336"/>
          </a:xfrm>
          <a:prstGeom prst="roundRect">
            <a:avLst/>
          </a:prstGeom>
          <a:solidFill>
            <a:srgbClr val="1D5F9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22960" y="3557015"/>
            <a:ext cx="402336" cy="2377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353312" y="3511295"/>
            <a:ext cx="4754880" cy="21945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20" b="1">
                <a:solidFill>
                  <a:srgbClr val="172432"/>
                </a:solidFill>
                <a:latin typeface="맑은 고딕"/>
                <a:ea typeface="맑은 고딕"/>
                <a:cs typeface="맑은 고딕"/>
              </a:rPr>
              <a:t>경계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53312" y="3739896"/>
            <a:ext cx="4754880" cy="20116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60" b="0">
                <a:solidFill>
                  <a:srgbClr val="617181"/>
                </a:solidFill>
                <a:latin typeface="맑은 고딕"/>
                <a:ea typeface="맑은 고딕"/>
                <a:cs typeface="맑은 고딕"/>
              </a:rPr>
              <a:t>health → ready → frontend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713232" y="4169663"/>
            <a:ext cx="5532120" cy="621792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8E1E8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822960" y="4279392"/>
            <a:ext cx="402336" cy="402336"/>
          </a:xfrm>
          <a:prstGeom prst="roundRect">
            <a:avLst/>
          </a:prstGeom>
          <a:solidFill>
            <a:srgbClr val="177A7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22960" y="4315968"/>
            <a:ext cx="402336" cy="2377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4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353312" y="4270248"/>
            <a:ext cx="4754880" cy="21945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20" b="1">
                <a:solidFill>
                  <a:srgbClr val="172432"/>
                </a:solidFill>
                <a:latin typeface="맑은 고딕"/>
                <a:ea typeface="맑은 고딕"/>
                <a:cs typeface="맑은 고딕"/>
              </a:rPr>
              <a:t>대상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353312" y="4498848"/>
            <a:ext cx="4754880" cy="20116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60" b="0">
                <a:solidFill>
                  <a:srgbClr val="617181"/>
                </a:solidFill>
                <a:latin typeface="맑은 고딕"/>
                <a:ea typeface="맑은 고딕"/>
                <a:cs typeface="맑은 고딕"/>
              </a:rPr>
              <a:t>env · DB · 원본 SHA-256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713232" y="4928616"/>
            <a:ext cx="5532120" cy="621792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8E1E8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0" name="Rounded Rectangle 29"/>
          <p:cNvSpPr/>
          <p:nvPr/>
        </p:nvSpPr>
        <p:spPr>
          <a:xfrm>
            <a:off x="822960" y="5038344"/>
            <a:ext cx="402336" cy="402336"/>
          </a:xfrm>
          <a:prstGeom prst="roundRect">
            <a:avLst/>
          </a:prstGeom>
          <a:solidFill>
            <a:srgbClr val="2C7A5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22960" y="5074920"/>
            <a:ext cx="402336" cy="2377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5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353312" y="5029200"/>
            <a:ext cx="4754880" cy="21945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20" b="1">
                <a:solidFill>
                  <a:srgbClr val="172432"/>
                </a:solidFill>
                <a:latin typeface="맑은 고딕"/>
                <a:ea typeface="맑은 고딕"/>
                <a:cs typeface="맑은 고딕"/>
              </a:rPr>
              <a:t>복구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353312" y="5257800"/>
            <a:ext cx="4754880" cy="20116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60" b="0">
                <a:solidFill>
                  <a:srgbClr val="617181"/>
                </a:solidFill>
                <a:latin typeface="맑은 고딕"/>
                <a:ea typeface="맑은 고딕"/>
                <a:cs typeface="맑은 고딕"/>
              </a:rPr>
              <a:t>백업/이전 deploy로 검증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6565392" y="1920240"/>
            <a:ext cx="4709160" cy="3401568"/>
          </a:xfrm>
          <a:prstGeom prst="roundRect">
            <a:avLst/>
          </a:prstGeom>
          <a:solidFill>
            <a:srgbClr val="0B254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748272" y="2020824"/>
            <a:ext cx="4343400" cy="237744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90D4FF"/>
                </a:solidFill>
                <a:latin typeface="맑은 고딕"/>
                <a:ea typeface="맑은 고딕"/>
                <a:cs typeface="맑은 고딕"/>
              </a:rPr>
              <a:t>LOCAL ENDPOINTS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729983" y="2313432"/>
            <a:ext cx="4379976" cy="28986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20" b="0">
                <a:solidFill>
                  <a:srgbClr val="F5F9FC"/>
                </a:solidFill>
                <a:latin typeface="Consolas"/>
                <a:ea typeface="Consolas"/>
                <a:cs typeface="Consolas"/>
              </a:rPr>
              <a:t>BACKEND
http://127.0.0.1:8000/health
http://127.0.0.1:8000/ready
http://127.0.0.1:8000/docs
FRONTEND
http://127.0.0.1:5173
DETAIL
docs/PROJECT_HANDOVER_GUIDE.md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665976" y="5577840"/>
            <a:ext cx="4526280" cy="31089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20" b="1">
                <a:solidFill>
                  <a:srgbClr val="B83A4B"/>
                </a:solidFill>
                <a:latin typeface="맑은 고딕"/>
                <a:ea typeface="맑은 고딕"/>
                <a:cs typeface="맑은 고딕"/>
              </a:rPr>
              <a:t>삭제·reset·DB 덮어쓰기는 대상과 복구 가능성을 확인한 뒤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D5F9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47472"/>
            <a:ext cx="292608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50" b="1">
                <a:solidFill>
                  <a:srgbClr val="1D5F9A"/>
                </a:solidFill>
                <a:latin typeface="맑은 고딕"/>
                <a:ea typeface="맑은 고딕"/>
                <a:cs typeface="맑은 고딕"/>
              </a:rPr>
              <a:t>CONTACTS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85800"/>
            <a:ext cx="10972800" cy="5029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500" b="1">
                <a:solidFill>
                  <a:srgbClr val="0B2545"/>
                </a:solidFill>
                <a:latin typeface="맑은 고딕"/>
                <a:ea typeface="맑은 고딕"/>
                <a:cs typeface="맑은 고딕"/>
              </a:rPr>
              <a:t>인계 회의에서 반드시 채울 빈칸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85216" y="1225296"/>
            <a:ext cx="10881360" cy="32004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617181"/>
                </a:solidFill>
                <a:latin typeface="맑은 고딕"/>
                <a:ea typeface="맑은 고딕"/>
                <a:cs typeface="맑은 고딕"/>
              </a:rPr>
              <a:t>비밀번호·API 키 값은 적지 않고 소유자와 안전한 보관 위치만 적는다.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566928" y="1664208"/>
            <a:ext cx="11055096" cy="0"/>
          </a:xfrm>
          <a:prstGeom prst="line">
            <a:avLst/>
          </a:prstGeom>
          <a:ln w="10160">
            <a:solidFill>
              <a:srgbClr val="D8E1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566928" y="6510528"/>
            <a:ext cx="7040880" cy="182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19" b="0">
                <a:solidFill>
                  <a:srgbClr val="8B99A7"/>
                </a:solidFill>
                <a:latin typeface="맑은 고딕"/>
                <a:ea typeface="맑은 고딕"/>
                <a:cs typeface="맑은 고딕"/>
              </a:rPr>
              <a:t>통계연보 검수 보조 시스템  |  프로젝트 인수인계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109960" y="6492240"/>
            <a:ext cx="502920" cy="182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850" b="1">
                <a:solidFill>
                  <a:srgbClr val="8B99A7"/>
                </a:solidFill>
                <a:latin typeface="맑은 고딕"/>
                <a:ea typeface="맑은 고딕"/>
                <a:cs typeface="맑은 고딕"/>
              </a:rPr>
              <a:t>34</a:t>
            </a:r>
          </a:p>
        </p:txBody>
      </p:sp>
      <p:sp>
        <p:nvSpPr>
          <p:cNvPr id="9" name="Rectangle 8"/>
          <p:cNvSpPr/>
          <p:nvPr/>
        </p:nvSpPr>
        <p:spPr>
          <a:xfrm>
            <a:off x="841248" y="1901952"/>
            <a:ext cx="2423160" cy="502920"/>
          </a:xfrm>
          <a:prstGeom prst="rect">
            <a:avLst/>
          </a:prstGeom>
          <a:solidFill>
            <a:srgbClr val="0B2545"/>
          </a:solidFill>
          <a:ln w="7620">
            <a:solidFill>
              <a:srgbClr val="D8E1E8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1956816"/>
            <a:ext cx="2276856" cy="3931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3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영역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264408" y="1901952"/>
            <a:ext cx="3154680" cy="502920"/>
          </a:xfrm>
          <a:prstGeom prst="rect">
            <a:avLst/>
          </a:prstGeom>
          <a:solidFill>
            <a:srgbClr val="0B2545"/>
          </a:solidFill>
          <a:ln w="7620">
            <a:solidFill>
              <a:srgbClr val="D8E1E8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337560" y="1956816"/>
            <a:ext cx="3008376" cy="3931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3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담당자/팀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419088" y="1901952"/>
            <a:ext cx="4937760" cy="502920"/>
          </a:xfrm>
          <a:prstGeom prst="rect">
            <a:avLst/>
          </a:prstGeom>
          <a:solidFill>
            <a:srgbClr val="0B2545"/>
          </a:solidFill>
          <a:ln w="7620">
            <a:solidFill>
              <a:srgbClr val="D8E1E8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92240" y="1956816"/>
            <a:ext cx="4791456" cy="3931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3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주소·식별자 또는 보관 위치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41248" y="2404872"/>
            <a:ext cx="2423160" cy="502920"/>
          </a:xfrm>
          <a:prstGeom prst="rect">
            <a:avLst/>
          </a:prstGeom>
          <a:solidFill>
            <a:srgbClr val="FFFFFF"/>
          </a:solidFill>
          <a:ln w="7620">
            <a:solidFill>
              <a:srgbClr val="D8E1E8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14400" y="2459736"/>
            <a:ext cx="2276856" cy="3931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172432"/>
                </a:solidFill>
                <a:latin typeface="맑은 고딕"/>
                <a:ea typeface="맑은 고딕"/>
                <a:cs typeface="맑은 고딕"/>
              </a:rPr>
              <a:t>서비스 책임자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264408" y="2404872"/>
            <a:ext cx="3154680" cy="502920"/>
          </a:xfrm>
          <a:prstGeom prst="rect">
            <a:avLst/>
          </a:prstGeom>
          <a:solidFill>
            <a:srgbClr val="FFFFFF"/>
          </a:solidFill>
          <a:ln w="7620">
            <a:solidFill>
              <a:srgbClr val="D8E1E8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337560" y="2459736"/>
            <a:ext cx="3008376" cy="3931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172432"/>
                </a:solidFill>
                <a:latin typeface="맑은 고딕"/>
                <a:ea typeface="맑은 고딕"/>
                <a:cs typeface="맑은 고딕"/>
              </a:rPr>
              <a:t/>
            </a:r>
          </a:p>
        </p:txBody>
      </p:sp>
      <p:sp>
        <p:nvSpPr>
          <p:cNvPr id="19" name="Rectangle 18"/>
          <p:cNvSpPr/>
          <p:nvPr/>
        </p:nvSpPr>
        <p:spPr>
          <a:xfrm>
            <a:off x="6419088" y="2404872"/>
            <a:ext cx="4937760" cy="502920"/>
          </a:xfrm>
          <a:prstGeom prst="rect">
            <a:avLst/>
          </a:prstGeom>
          <a:solidFill>
            <a:srgbClr val="FFFFFF"/>
          </a:solidFill>
          <a:ln w="7620">
            <a:solidFill>
              <a:srgbClr val="D8E1E8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492240" y="2459736"/>
            <a:ext cx="4791456" cy="3931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172432"/>
                </a:solidFill>
                <a:latin typeface="맑은 고딕"/>
                <a:ea typeface="맑은 고딕"/>
                <a:cs typeface="맑은 고딕"/>
              </a:rPr>
              <a:t/>
            </a:r>
          </a:p>
        </p:txBody>
      </p:sp>
      <p:sp>
        <p:nvSpPr>
          <p:cNvPr id="21" name="Rectangle 20"/>
          <p:cNvSpPr/>
          <p:nvPr/>
        </p:nvSpPr>
        <p:spPr>
          <a:xfrm>
            <a:off x="841248" y="2907792"/>
            <a:ext cx="2423160" cy="502920"/>
          </a:xfrm>
          <a:prstGeom prst="rect">
            <a:avLst/>
          </a:prstGeom>
          <a:solidFill>
            <a:srgbClr val="F5F9FC"/>
          </a:solidFill>
          <a:ln w="7620">
            <a:solidFill>
              <a:srgbClr val="D8E1E8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14400" y="2962656"/>
            <a:ext cx="2276856" cy="3931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172432"/>
                </a:solidFill>
                <a:latin typeface="맑은 고딕"/>
                <a:ea typeface="맑은 고딕"/>
                <a:cs typeface="맑은 고딕"/>
              </a:rPr>
              <a:t>GitHub</a:t>
            </a:r>
          </a:p>
        </p:txBody>
      </p:sp>
      <p:sp>
        <p:nvSpPr>
          <p:cNvPr id="23" name="Rectangle 22"/>
          <p:cNvSpPr/>
          <p:nvPr/>
        </p:nvSpPr>
        <p:spPr>
          <a:xfrm>
            <a:off x="3264408" y="2907792"/>
            <a:ext cx="3154680" cy="502920"/>
          </a:xfrm>
          <a:prstGeom prst="rect">
            <a:avLst/>
          </a:prstGeom>
          <a:solidFill>
            <a:srgbClr val="F5F9FC"/>
          </a:solidFill>
          <a:ln w="7620">
            <a:solidFill>
              <a:srgbClr val="D8E1E8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3337560" y="2962656"/>
            <a:ext cx="3008376" cy="3931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172432"/>
                </a:solidFill>
                <a:latin typeface="맑은 고딕"/>
                <a:ea typeface="맑은 고딕"/>
                <a:cs typeface="맑은 고딕"/>
              </a:rPr>
              <a:t/>
            </a:r>
          </a:p>
        </p:txBody>
      </p:sp>
      <p:sp>
        <p:nvSpPr>
          <p:cNvPr id="25" name="Rectangle 24"/>
          <p:cNvSpPr/>
          <p:nvPr/>
        </p:nvSpPr>
        <p:spPr>
          <a:xfrm>
            <a:off x="6419088" y="2907792"/>
            <a:ext cx="4937760" cy="502920"/>
          </a:xfrm>
          <a:prstGeom prst="rect">
            <a:avLst/>
          </a:prstGeom>
          <a:solidFill>
            <a:srgbClr val="F5F9FC"/>
          </a:solidFill>
          <a:ln w="7620">
            <a:solidFill>
              <a:srgbClr val="D8E1E8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492240" y="2962656"/>
            <a:ext cx="4791456" cy="3931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172432"/>
                </a:solidFill>
                <a:latin typeface="맑은 고딕"/>
                <a:ea typeface="맑은 고딕"/>
                <a:cs typeface="맑은 고딕"/>
              </a:rPr>
              <a:t>repository / team</a:t>
            </a:r>
          </a:p>
        </p:txBody>
      </p:sp>
      <p:sp>
        <p:nvSpPr>
          <p:cNvPr id="27" name="Rectangle 26"/>
          <p:cNvSpPr/>
          <p:nvPr/>
        </p:nvSpPr>
        <p:spPr>
          <a:xfrm>
            <a:off x="841248" y="3410712"/>
            <a:ext cx="2423160" cy="502920"/>
          </a:xfrm>
          <a:prstGeom prst="rect">
            <a:avLst/>
          </a:prstGeom>
          <a:solidFill>
            <a:srgbClr val="FFFFFF"/>
          </a:solidFill>
          <a:ln w="7620">
            <a:solidFill>
              <a:srgbClr val="D8E1E8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14400" y="3465576"/>
            <a:ext cx="2276856" cy="3931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172432"/>
                </a:solidFill>
                <a:latin typeface="맑은 고딕"/>
                <a:ea typeface="맑은 고딕"/>
                <a:cs typeface="맑은 고딕"/>
              </a:rPr>
              <a:t>Vercel</a:t>
            </a:r>
          </a:p>
        </p:txBody>
      </p:sp>
      <p:sp>
        <p:nvSpPr>
          <p:cNvPr id="29" name="Rectangle 28"/>
          <p:cNvSpPr/>
          <p:nvPr/>
        </p:nvSpPr>
        <p:spPr>
          <a:xfrm>
            <a:off x="3264408" y="3410712"/>
            <a:ext cx="3154680" cy="502920"/>
          </a:xfrm>
          <a:prstGeom prst="rect">
            <a:avLst/>
          </a:prstGeom>
          <a:solidFill>
            <a:srgbClr val="FFFFFF"/>
          </a:solidFill>
          <a:ln w="7620">
            <a:solidFill>
              <a:srgbClr val="D8E1E8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3337560" y="3465576"/>
            <a:ext cx="3008376" cy="3931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172432"/>
                </a:solidFill>
                <a:latin typeface="맑은 고딕"/>
                <a:ea typeface="맑은 고딕"/>
                <a:cs typeface="맑은 고딕"/>
              </a:rPr>
              <a:t/>
            </a:r>
          </a:p>
        </p:txBody>
      </p:sp>
      <p:sp>
        <p:nvSpPr>
          <p:cNvPr id="31" name="Rectangle 30"/>
          <p:cNvSpPr/>
          <p:nvPr/>
        </p:nvSpPr>
        <p:spPr>
          <a:xfrm>
            <a:off x="6419088" y="3410712"/>
            <a:ext cx="4937760" cy="502920"/>
          </a:xfrm>
          <a:prstGeom prst="rect">
            <a:avLst/>
          </a:prstGeom>
          <a:solidFill>
            <a:srgbClr val="FFFFFF"/>
          </a:solidFill>
          <a:ln w="7620">
            <a:solidFill>
              <a:srgbClr val="D8E1E8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492240" y="3465576"/>
            <a:ext cx="4791456" cy="3931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172432"/>
                </a:solidFill>
                <a:latin typeface="맑은 고딕"/>
                <a:ea typeface="맑은 고딕"/>
                <a:cs typeface="맑은 고딕"/>
              </a:rPr>
              <a:t>project / production URL</a:t>
            </a:r>
          </a:p>
        </p:txBody>
      </p:sp>
      <p:sp>
        <p:nvSpPr>
          <p:cNvPr id="33" name="Rectangle 32"/>
          <p:cNvSpPr/>
          <p:nvPr/>
        </p:nvSpPr>
        <p:spPr>
          <a:xfrm>
            <a:off x="841248" y="3913632"/>
            <a:ext cx="2423160" cy="502920"/>
          </a:xfrm>
          <a:prstGeom prst="rect">
            <a:avLst/>
          </a:prstGeom>
          <a:solidFill>
            <a:srgbClr val="F5F9FC"/>
          </a:solidFill>
          <a:ln w="7620">
            <a:solidFill>
              <a:srgbClr val="D8E1E8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914400" y="3968496"/>
            <a:ext cx="2276856" cy="3931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172432"/>
                </a:solidFill>
                <a:latin typeface="맑은 고딕"/>
                <a:ea typeface="맑은 고딕"/>
                <a:cs typeface="맑은 고딕"/>
              </a:rPr>
              <a:t>Railway + PostgreSQL</a:t>
            </a:r>
          </a:p>
        </p:txBody>
      </p:sp>
      <p:sp>
        <p:nvSpPr>
          <p:cNvPr id="35" name="Rectangle 34"/>
          <p:cNvSpPr/>
          <p:nvPr/>
        </p:nvSpPr>
        <p:spPr>
          <a:xfrm>
            <a:off x="3264408" y="3913632"/>
            <a:ext cx="3154680" cy="502920"/>
          </a:xfrm>
          <a:prstGeom prst="rect">
            <a:avLst/>
          </a:prstGeom>
          <a:solidFill>
            <a:srgbClr val="F5F9FC"/>
          </a:solidFill>
          <a:ln w="7620">
            <a:solidFill>
              <a:srgbClr val="D8E1E8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3337560" y="3968496"/>
            <a:ext cx="3008376" cy="3931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172432"/>
                </a:solidFill>
                <a:latin typeface="맑은 고딕"/>
                <a:ea typeface="맑은 고딕"/>
                <a:cs typeface="맑은 고딕"/>
              </a:rPr>
              <a:t/>
            </a:r>
          </a:p>
        </p:txBody>
      </p:sp>
      <p:sp>
        <p:nvSpPr>
          <p:cNvPr id="37" name="Rectangle 36"/>
          <p:cNvSpPr/>
          <p:nvPr/>
        </p:nvSpPr>
        <p:spPr>
          <a:xfrm>
            <a:off x="6419088" y="3913632"/>
            <a:ext cx="4937760" cy="502920"/>
          </a:xfrm>
          <a:prstGeom prst="rect">
            <a:avLst/>
          </a:prstGeom>
          <a:solidFill>
            <a:srgbClr val="F5F9FC"/>
          </a:solidFill>
          <a:ln w="7620">
            <a:solidFill>
              <a:srgbClr val="D8E1E8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492240" y="3968496"/>
            <a:ext cx="4791456" cy="3931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172432"/>
                </a:solidFill>
                <a:latin typeface="맑은 고딕"/>
                <a:ea typeface="맑은 고딕"/>
                <a:cs typeface="맑은 고딕"/>
              </a:rPr>
              <a:t>project / API / worker</a:t>
            </a:r>
          </a:p>
        </p:txBody>
      </p:sp>
      <p:sp>
        <p:nvSpPr>
          <p:cNvPr id="39" name="Rectangle 38"/>
          <p:cNvSpPr/>
          <p:nvPr/>
        </p:nvSpPr>
        <p:spPr>
          <a:xfrm>
            <a:off x="841248" y="4416552"/>
            <a:ext cx="2423160" cy="502920"/>
          </a:xfrm>
          <a:prstGeom prst="rect">
            <a:avLst/>
          </a:prstGeom>
          <a:solidFill>
            <a:srgbClr val="FFFFFF"/>
          </a:solidFill>
          <a:ln w="7620">
            <a:solidFill>
              <a:srgbClr val="D8E1E8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914400" y="4471416"/>
            <a:ext cx="2276856" cy="3931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172432"/>
                </a:solidFill>
                <a:latin typeface="맑은 고딕"/>
                <a:ea typeface="맑은 고딕"/>
                <a:cs typeface="맑은 고딕"/>
              </a:rPr>
              <a:t>S3 / R2</a:t>
            </a:r>
          </a:p>
        </p:txBody>
      </p:sp>
      <p:sp>
        <p:nvSpPr>
          <p:cNvPr id="41" name="Rectangle 40"/>
          <p:cNvSpPr/>
          <p:nvPr/>
        </p:nvSpPr>
        <p:spPr>
          <a:xfrm>
            <a:off x="3264408" y="4416552"/>
            <a:ext cx="3154680" cy="502920"/>
          </a:xfrm>
          <a:prstGeom prst="rect">
            <a:avLst/>
          </a:prstGeom>
          <a:solidFill>
            <a:srgbClr val="FFFFFF"/>
          </a:solidFill>
          <a:ln w="7620">
            <a:solidFill>
              <a:srgbClr val="D8E1E8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3337560" y="4471416"/>
            <a:ext cx="3008376" cy="3931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172432"/>
                </a:solidFill>
                <a:latin typeface="맑은 고딕"/>
                <a:ea typeface="맑은 고딕"/>
                <a:cs typeface="맑은 고딕"/>
              </a:rPr>
              <a:t/>
            </a:r>
          </a:p>
        </p:txBody>
      </p:sp>
      <p:sp>
        <p:nvSpPr>
          <p:cNvPr id="43" name="Rectangle 42"/>
          <p:cNvSpPr/>
          <p:nvPr/>
        </p:nvSpPr>
        <p:spPr>
          <a:xfrm>
            <a:off x="6419088" y="4416552"/>
            <a:ext cx="4937760" cy="502920"/>
          </a:xfrm>
          <a:prstGeom prst="rect">
            <a:avLst/>
          </a:prstGeom>
          <a:solidFill>
            <a:srgbClr val="FFFFFF"/>
          </a:solidFill>
          <a:ln w="7620">
            <a:solidFill>
              <a:srgbClr val="D8E1E8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6492240" y="4471416"/>
            <a:ext cx="4791456" cy="3931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172432"/>
                </a:solidFill>
                <a:latin typeface="맑은 고딕"/>
                <a:ea typeface="맑은 고딕"/>
                <a:cs typeface="맑은 고딕"/>
              </a:rPr>
              <a:t>bucket / backup</a:t>
            </a:r>
          </a:p>
        </p:txBody>
      </p:sp>
      <p:sp>
        <p:nvSpPr>
          <p:cNvPr id="45" name="Rectangle 44"/>
          <p:cNvSpPr/>
          <p:nvPr/>
        </p:nvSpPr>
        <p:spPr>
          <a:xfrm>
            <a:off x="841248" y="4919472"/>
            <a:ext cx="2423160" cy="502920"/>
          </a:xfrm>
          <a:prstGeom prst="rect">
            <a:avLst/>
          </a:prstGeom>
          <a:solidFill>
            <a:srgbClr val="F5F9FC"/>
          </a:solidFill>
          <a:ln w="7620">
            <a:solidFill>
              <a:srgbClr val="D8E1E8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914400" y="4974336"/>
            <a:ext cx="2276856" cy="3931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172432"/>
                </a:solidFill>
                <a:latin typeface="맑은 고딕"/>
                <a:ea typeface="맑은 고딕"/>
                <a:cs typeface="맑은 고딕"/>
              </a:rPr>
              <a:t>LLM 비용·키</a:t>
            </a:r>
          </a:p>
        </p:txBody>
      </p:sp>
      <p:sp>
        <p:nvSpPr>
          <p:cNvPr id="47" name="Rectangle 46"/>
          <p:cNvSpPr/>
          <p:nvPr/>
        </p:nvSpPr>
        <p:spPr>
          <a:xfrm>
            <a:off x="3264408" y="4919472"/>
            <a:ext cx="3154680" cy="502920"/>
          </a:xfrm>
          <a:prstGeom prst="rect">
            <a:avLst/>
          </a:prstGeom>
          <a:solidFill>
            <a:srgbClr val="F5F9FC"/>
          </a:solidFill>
          <a:ln w="7620">
            <a:solidFill>
              <a:srgbClr val="D8E1E8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3337560" y="4974336"/>
            <a:ext cx="3008376" cy="3931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172432"/>
                </a:solidFill>
                <a:latin typeface="맑은 고딕"/>
                <a:ea typeface="맑은 고딕"/>
                <a:cs typeface="맑은 고딕"/>
              </a:rPr>
              <a:t/>
            </a:r>
          </a:p>
        </p:txBody>
      </p:sp>
      <p:sp>
        <p:nvSpPr>
          <p:cNvPr id="49" name="Rectangle 48"/>
          <p:cNvSpPr/>
          <p:nvPr/>
        </p:nvSpPr>
        <p:spPr>
          <a:xfrm>
            <a:off x="6419088" y="4919472"/>
            <a:ext cx="4937760" cy="502920"/>
          </a:xfrm>
          <a:prstGeom prst="rect">
            <a:avLst/>
          </a:prstGeom>
          <a:solidFill>
            <a:srgbClr val="F5F9FC"/>
          </a:solidFill>
          <a:ln w="7620">
            <a:solidFill>
              <a:srgbClr val="D8E1E8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6492240" y="4974336"/>
            <a:ext cx="4791456" cy="3931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172432"/>
                </a:solidFill>
                <a:latin typeface="맑은 고딕"/>
                <a:ea typeface="맑은 고딕"/>
                <a:cs typeface="맑은 고딕"/>
              </a:rPr>
              <a:t>secret manager 위치</a:t>
            </a:r>
          </a:p>
        </p:txBody>
      </p:sp>
      <p:sp>
        <p:nvSpPr>
          <p:cNvPr id="51" name="Rectangle 50"/>
          <p:cNvSpPr/>
          <p:nvPr/>
        </p:nvSpPr>
        <p:spPr>
          <a:xfrm>
            <a:off x="841248" y="5422392"/>
            <a:ext cx="2423160" cy="502920"/>
          </a:xfrm>
          <a:prstGeom prst="rect">
            <a:avLst/>
          </a:prstGeom>
          <a:solidFill>
            <a:srgbClr val="FFFFFF"/>
          </a:solidFill>
          <a:ln w="7620">
            <a:solidFill>
              <a:srgbClr val="D8E1E8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914400" y="5477256"/>
            <a:ext cx="2276856" cy="3931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172432"/>
                </a:solidFill>
                <a:latin typeface="맑은 고딕"/>
                <a:ea typeface="맑은 고딕"/>
                <a:cs typeface="맑은 고딕"/>
              </a:rPr>
              <a:t>검수 기준 승인</a:t>
            </a:r>
          </a:p>
        </p:txBody>
      </p:sp>
      <p:sp>
        <p:nvSpPr>
          <p:cNvPr id="53" name="Rectangle 52"/>
          <p:cNvSpPr/>
          <p:nvPr/>
        </p:nvSpPr>
        <p:spPr>
          <a:xfrm>
            <a:off x="3264408" y="5422392"/>
            <a:ext cx="3154680" cy="502920"/>
          </a:xfrm>
          <a:prstGeom prst="rect">
            <a:avLst/>
          </a:prstGeom>
          <a:solidFill>
            <a:srgbClr val="FFFFFF"/>
          </a:solidFill>
          <a:ln w="7620">
            <a:solidFill>
              <a:srgbClr val="D8E1E8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3337560" y="5477256"/>
            <a:ext cx="3008376" cy="3931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172432"/>
                </a:solidFill>
                <a:latin typeface="맑은 고딕"/>
                <a:ea typeface="맑은 고딕"/>
                <a:cs typeface="맑은 고딕"/>
              </a:rPr>
              <a:t/>
            </a:r>
          </a:p>
        </p:txBody>
      </p:sp>
      <p:sp>
        <p:nvSpPr>
          <p:cNvPr id="55" name="Rectangle 54"/>
          <p:cNvSpPr/>
          <p:nvPr/>
        </p:nvSpPr>
        <p:spPr>
          <a:xfrm>
            <a:off x="6419088" y="5422392"/>
            <a:ext cx="4937760" cy="502920"/>
          </a:xfrm>
          <a:prstGeom prst="rect">
            <a:avLst/>
          </a:prstGeom>
          <a:solidFill>
            <a:srgbClr val="FFFFFF"/>
          </a:solidFill>
          <a:ln w="7620">
            <a:solidFill>
              <a:srgbClr val="D8E1E8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6492240" y="5477256"/>
            <a:ext cx="4791456" cy="3931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172432"/>
                </a:solidFill>
                <a:latin typeface="맑은 고딕"/>
                <a:ea typeface="맑은 고딕"/>
                <a:cs typeface="맑은 고딕"/>
              </a:rPr>
              <a:t>baseline 승인 기록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822960" y="5888736"/>
            <a:ext cx="10561320" cy="29260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B83A4B"/>
                </a:solidFill>
                <a:latin typeface="맑은 고딕"/>
                <a:ea typeface="맑은 고딕"/>
                <a:cs typeface="맑은 고딕"/>
              </a:rPr>
              <a:t>이 표가 비어 있으면 인수인계는 아직 끝나지 않았다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254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749808" y="713232"/>
            <a:ext cx="2103120" cy="310896"/>
          </a:xfrm>
          <a:prstGeom prst="roundRect">
            <a:avLst/>
          </a:prstGeom>
          <a:solidFill>
            <a:srgbClr val="173C6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86384" y="749808"/>
            <a:ext cx="2029967" cy="21945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8ED2FF"/>
                </a:solidFill>
                <a:latin typeface="맑은 고딕"/>
                <a:ea typeface="맑은 고딕"/>
                <a:cs typeface="맑은 고딕"/>
              </a:rPr>
              <a:t>HANDOVER COMPLETE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49808" y="1591056"/>
            <a:ext cx="10149840" cy="1298448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4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코드가 아니라
운영 가능한 상태를 인계합니다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8096" y="3383280"/>
            <a:ext cx="9875520" cy="4114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900" b="1">
                <a:solidFill>
                  <a:srgbClr val="8ED2FF"/>
                </a:solidFill>
                <a:latin typeface="맑은 고딕"/>
                <a:ea typeface="맑은 고딕"/>
                <a:cs typeface="맑은 고딕"/>
              </a:rPr>
              <a:t>commit · env · DB · 원본 · job ID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68096" y="4023360"/>
            <a:ext cx="9784080" cy="36576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A8C4DC"/>
                </a:solidFill>
                <a:latin typeface="맑은 고딕"/>
                <a:ea typeface="맑은 고딕"/>
                <a:cs typeface="맑은 고딕"/>
              </a:rPr>
              <a:t>이 다섯 값을 기록하면 대부분의 문제를 재현할 수 있습니다.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68096" y="4919472"/>
            <a:ext cx="10533888" cy="704088"/>
          </a:xfrm>
          <a:prstGeom prst="roundRect">
            <a:avLst/>
          </a:prstGeom>
          <a:solidFill>
            <a:srgbClr val="122F4D"/>
          </a:solidFill>
          <a:ln w="10160">
            <a:solidFill>
              <a:srgbClr val="274E71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05840" y="5148072"/>
            <a:ext cx="10058400" cy="237744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상세 절차  docs/PROJECT_HANDOVER_GUIDE.md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082528" y="6272784"/>
            <a:ext cx="502920" cy="20116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789AB6"/>
                </a:solidFill>
                <a:latin typeface="맑은 고딕"/>
                <a:ea typeface="맑은 고딕"/>
                <a:cs typeface="맑은 고딕"/>
              </a:rPr>
              <a:t>35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통계연보 검수 보조 시스템 프로젝트 인수인계 가이드</dc:title>
  <dc:subject>macOS와 Windows 개발·운영 인수인계</dc:subject>
  <dc:creator>Project Handover</dc:creator>
  <cp:keywords>FastAPI, React, Windows, macOS, handover</cp:keywords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
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13232"/>
            <a:ext cx="2331720" cy="310896"/>
          </a:xfrm>
          <a:prstGeom prst="roundRect">
            <a:avLst/>
          </a:prstGeom>
          <a:solidFill>
            <a:srgbClr val="173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749808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PROJECT HANDOVER · 2026.08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C4DC"/>
                </a:solidFill>
                <a:latin typeface="맑은 고딕"/>
                <a:ea typeface="맑은 고딕"/>
                <a:cs typeface="맑은 고딕"/>
              </a:rPr>
              <a:t>통계연보 검수 보조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66543"/>
            <a:ext cx="978408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인수인계
실행·수정·운영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22191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0B9D8"/>
                </a:solidFill>
                <a:latin typeface="맑은 고딕"/>
                <a:ea typeface="맑은 고딕"/>
                <a:cs typeface="맑은 고딕"/>
              </a:rPr>
              <a:t>macOS에서 Windows로 — 처음 받는 사람도 그대로 따라 하는 실무 절차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800600"/>
            <a:ext cx="10607040" cy="749808"/>
          </a:xfrm>
          <a:prstGeom prst="roundRect">
            <a:avLst/>
          </a:prstGeom>
          <a:solidFill>
            <a:srgbClr val="122F4D"/>
          </a:solidFill>
          <a:ln w="10160">
            <a:solidFill>
              <a:srgbClr val="274E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020056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시작점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→ 실행 → 사용 → 수정 → 테스트 → 배포 → 복구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263640"/>
            <a:ext cx="8595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기준일 2026-08-28  |  상세본: docs/PROJECT_HANDOVER_GUIDE.md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263640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이 자료를 끝까지 보면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소스 전달을 넘어 실제 운영 가능한 상태까지 만든다.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3502152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macOS와 Windows에서 같은 개발 환경을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93392"/>
            <a:ext cx="3502152" cy="126187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프론트·백엔드·DB를 올리고 정상 여부를 판단한다.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993392"/>
            <a:ext cx="3502152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5798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139696"/>
            <a:ext cx="25420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578608"/>
            <a:ext cx="309981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기능별 코드 위치를 찾고 안전한 순서로 변경한다.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66160"/>
            <a:ext cx="5394960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712464"/>
            <a:ext cx="44348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151376"/>
            <a:ext cx="49926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테스트 기준선과 알려진 실패를 구분한다.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66160"/>
            <a:ext cx="5394960" cy="126187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307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712464"/>
            <a:ext cx="44348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151376"/>
            <a:ext cx="49926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배포·백업·복구·계정 인계를 수행한다.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시작 전에 기억할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문제의 대부분은 프로세스·데이터·환경을 섞을 때 생긴다.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02082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574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02996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두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03911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React :5173 + FastAPI :8000을 각각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24912"/>
            <a:ext cx="10863072" cy="658368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84378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8036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85292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별도 인계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86207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 밖의 DB·uploads·비밀값은 따로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4787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66674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70332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675887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안전한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368503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처음은 빈 테스트 DB + LLM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70832"/>
            <a:ext cx="10863072" cy="658368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489704"/>
            <a:ext cx="420624" cy="420624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52628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498848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루트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450799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백엔드는 저장소 루트에서 실행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93792"/>
            <a:ext cx="10863072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5312664"/>
            <a:ext cx="420624" cy="420624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34924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321807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먼저 백업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5330952"/>
            <a:ext cx="81838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실제 DB는 최초 실행 전 반드시 복사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85800"/>
            <a:ext cx="2011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93392"/>
            <a:ext cx="10241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017520"/>
            <a:ext cx="9966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CEE1"/>
                </a:solidFill>
                <a:latin typeface="맑은 고딕"/>
                <a:ea typeface="맑은 고딕"/>
                <a:cs typeface="맑은 고딕"/>
              </a:rPr>
              <a:t>도구 설치부터 빈 SQLite 기동과 정상 확인까지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" y="3977639"/>
            <a:ext cx="10158984" cy="0"/>
          </a:xfrm>
          <a:prstGeom prst="line">
            <a:avLst/>
          </a:prstGeom>
          <a:ln w="12700">
            <a:solidFill>
              <a:srgbClr val="244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5285232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상세 절차는 docs/PROJECT_HANDOVER_GUIDE.md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35508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처음 설치하는 세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검색 광고가 아니라 공식 사이트의 설치 파일만 사용한다.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5266944" cy="1371600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66544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1 ·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48256"/>
            <a:ext cx="3429000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git-scm.com/install
Windows: 64-bit, 기본 PATH 옵션
macOS: xcode-select --install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01952"/>
            <a:ext cx="5266944" cy="1371600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66544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2 ·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2048256"/>
            <a:ext cx="3429000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python.org · 3.12 계열
Windows: Add python.exe to PATH
macOS: universal2 .pkg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47872"/>
            <a:ext cx="5266944" cy="1371600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712463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3 · 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694176"/>
            <a:ext cx="3429000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nodejs.org/en/download
24 LTS Installer
npm은 함께 설치됨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47872"/>
            <a:ext cx="5266944" cy="137160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712463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4 · 다시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3694176"/>
            <a:ext cx="3429000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터미널/PowerShell을 닫고 새로 열기
git · python/py · node · npm
네 명령 모두 버전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5404104"/>
            <a:ext cx="10808208" cy="53035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5568696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‘찾을 수 없습니다’가 나오면 다음 단계로 넘어가지 말고 설치와 PATH를 먼저 해결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고정해야 할 도구 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macOS와 Windows의 차이보다 런타임 버전 차이가 더 큰 문제를 만든다.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75104"/>
            <a:ext cx="182880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975104"/>
            <a:ext cx="233172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02996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1975104"/>
            <a:ext cx="6355080" cy="54864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02996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52374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252374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57860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3.12.x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52374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57860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Dockerfile이 python:3.12-slim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072384"/>
            <a:ext cx="182880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2724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072384"/>
            <a:ext cx="233172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12724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24 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1768" y="3072384"/>
            <a:ext cx="635508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12724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현재 LTS · Vite 8 범위 충족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62102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75887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npm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362102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3675887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 포함 버전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768" y="362102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675887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package-lock v3 + npm 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169664"/>
            <a:ext cx="182880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2452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70048" y="4169664"/>
            <a:ext cx="233172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422452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최신 안정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1768" y="4169664"/>
            <a:ext cx="6355080" cy="54864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422452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Windows longpaths / LF 주의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718304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73168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Editor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0048" y="4718304"/>
            <a:ext cx="23317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773168"/>
            <a:ext cx="218541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VS Code 권장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4718304"/>
            <a:ext cx="63550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773168"/>
            <a:ext cx="6208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Python + TypeScript + PowerShell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266944"/>
            <a:ext cx="10104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공식 설치: git-scm.com · python.org(3.12) · nodejs.org(24 LTS)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5541264"/>
            <a:ext cx="10515600" cy="51206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696712"/>
            <a:ext cx="10104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다른 OS의 .venv와 node_modules를 복사하지 말고 새 PC에서 다시 만든다.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MACOS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macOS 첫 설치 — 저장소 루트에서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빈 테스트 DB와 LLM OFF가 안전한 첫 실행 기준이다.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20240"/>
            <a:ext cx="5532120" cy="34290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0824"/>
            <a:ext cx="516635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1 · CODE +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13432"/>
            <a:ext cx="520293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git clone https://github.com/wtdnrr/statyearbook.git
cd statyearbook
cp .env.example .env
python3.12 -m venv .venv
./.venv/bin/python -m pip install --upgrade pip
./.venv/bin/python -m pip install -r backend/requirements.txt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920240"/>
            <a:ext cx="5230368" cy="34290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20824"/>
            <a:ext cx="4864607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2 · FRONTEND +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13432"/>
            <a:ext cx="4901183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cd frontend
npm ci
npm run build
cd ..
# Terminal 1
./.venv/bin/python -m uvicorn app.main:app \
  --app-dir backend --reload
# Terminal 2
cd frontend &amp;&amp; npm run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8"/>
            <a:ext cx="107716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확인  http://127.0.0.1:5173  ·  /health  ·  /ready  ·  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Windows 첫 설치 — 짧은 로컬 경로를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권장 위치 C:\work\statyearbook · OneDrive/네트워크 드라이브는 피한다.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20240"/>
            <a:ext cx="5559552" cy="3474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20824"/>
            <a:ext cx="51937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1 · CODE +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13432"/>
            <a:ext cx="5230368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Set-Location C:\work
git -c core.longpaths=true -c core.autocrlf=false clone `
  https://github.com/wtdnrr/statyearbook.git
Set-Location .\statyearbook
Copy-Item .env.example .env
py -3.12 -m venv .venv
&amp; .\.venv\Scripts\python.exe -m pip install `
  -r backend\requirements.txt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193792" cy="3474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20824"/>
            <a:ext cx="4828031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2 · FRONTEND +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13432"/>
            <a:ext cx="4864607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Set-Location frontend
npm ci
npm run build
Set-Location ..
# PowerShell 1
&amp; .\.venv\Scripts\python.exe -m uvicorn `
  app.main:app --app-dir backend --reload
# PowerShell 2
Set-Location frontend
npm run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96712"/>
            <a:ext cx="10771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Activate.ps1이 막혀도 python.exe 직접 실행 방식은 정상 동작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SETUP ·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Windows에서 꼭 지킬 네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OS 차이로 생기는 가짜 오류를 먼저 제거한다.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266944" cy="13075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579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1396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C:\work\statyearbook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91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짧은 ASCII 경로 · OneDrive 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93392"/>
            <a:ext cx="5266944" cy="130759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579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1396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.venv\Scripts\python.exe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791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활성화 없이 직접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93592"/>
            <a:ext cx="5266944" cy="130759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581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37398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longpaths=true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79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core.autocrlf=false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93592"/>
            <a:ext cx="5266944" cy="13075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58184"/>
            <a:ext cx="10241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739896"/>
            <a:ext cx="3730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로컬 디스크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79392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대용량 SQLite를 공유 드라이브에서 열지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40680"/>
            <a:ext cx="10826496" cy="51206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596128"/>
            <a:ext cx="10332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다른 OS에서 만든 .venv · node_modules · dist를 복사하지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환경변수는 두 군데, 읽는 시점도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값을 바꿨는데 반영되지 않으면 파일 위치와 재시작/재배포 여부를 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93392"/>
            <a:ext cx="5257800" cy="2084831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93392"/>
            <a:ext cx="73152" cy="2084831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ROOT / .env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4846320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FastAPI가 시작할 때 읽음
DB · CORS · storage · worker · LLM
변경 후 백엔드 재시작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93392"/>
            <a:ext cx="5257800" cy="2084831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993392"/>
            <a:ext cx="73152" cy="2084831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21408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/ .env.local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05456"/>
            <a:ext cx="4846320" cy="1472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Vite가 개발/빌드 시 읽음
VITE_API_BASE_URL 하나
변경 후 Vite 재시작 또는 재배포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5488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OS 환경변수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754880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이미 설정되어 있으면 .env보다 우선 — 테스트 실패의 숨은 원인이 될 수 있음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22976"/>
            <a:ext cx="10652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프론트 API URL 뒤에는 /api를 붙이지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처음 실행용 안전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연결 문자열과 키는 빈 값으로 두고 기능 플래그를 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38528"/>
            <a:ext cx="5715000" cy="34015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5349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LOCAL · .env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331720"/>
            <a:ext cx="5385816" cy="289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DATABASE_BACKEND=sqlite
DATABASE_URL=
ANNUAL_STATISTICS_DB_PATH=backend/app/db/annual_statistics_test.sqlite
UPLOAD_DIR=backend/uploads
MAX_UPLOAD_BYTES=104857600
ALLOWED_ORIGINS=http://localhost:5173,http://127.0.0.1:5173
SOURCE_STORAGE_BACKEND=local
JOB_EXECUTOR_BACKEND=inprocess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8544" y="1938528"/>
            <a:ext cx="4892040" cy="146304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38544" y="1938528"/>
            <a:ext cx="73152" cy="1463040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2066544"/>
            <a:ext cx="448055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선택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450592"/>
            <a:ext cx="4480559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auto + DATABASE_URL 있음 → postgres
auto + URL 없음 → sqlite
처음은 명시적으로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3584448"/>
            <a:ext cx="4892040" cy="1298448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8544" y="3584448"/>
            <a:ext cx="73152" cy="1298448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3712463"/>
            <a:ext cx="448055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상대 경로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4096512"/>
            <a:ext cx="448055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항상 저장소 루트에서 실행해야 DB와 uploads가 같은 위치를 가리킨다.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23036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운영 DB 최초 연결 전 백업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작업 실행과 원본 저장은 한 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API와 worker가 분리되면 로컬 파일시스템도 분리된다고 생각한다.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93392"/>
            <a:ext cx="19202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48256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93392"/>
            <a:ext cx="274320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048256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JOB_EXECUTOR_BACKEND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993392"/>
            <a:ext cx="32918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2048256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SOURCE_STORAGE_BACKEND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993392"/>
            <a:ext cx="2377440" cy="58521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20482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 프로세스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78608"/>
            <a:ext cx="1920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633472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578608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2633472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578608"/>
            <a:ext cx="32918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2633472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578608"/>
            <a:ext cx="2377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633472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163824"/>
            <a:ext cx="19202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218688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단일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63824"/>
            <a:ext cx="274320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3218688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163824"/>
            <a:ext cx="32918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0992" y="3218688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 + 영속 볼륨 또는 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163824"/>
            <a:ext cx="2377440" cy="58521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321868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749039"/>
            <a:ext cx="19202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3803903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+ worker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749039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2" y="3803903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749039"/>
            <a:ext cx="32918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3803903"/>
            <a:ext cx="31455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s3 / R2 / 공유 볼륨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749039"/>
            <a:ext cx="2377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3803903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필수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" y="4700016"/>
            <a:ext cx="5074920" cy="1078992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" y="4700016"/>
            <a:ext cx="73152" cy="1078992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" y="4828031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queued에서 멈추면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212079"/>
            <a:ext cx="4663440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worker 실행 · 같은 DATABASE_URL · 같은 storage · 같은 Git commit을 비교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8776" y="4700016"/>
            <a:ext cx="5074920" cy="1078992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8776" y="4700016"/>
            <a:ext cx="73152" cy="1078992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4828031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running에서 멈추면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5212079"/>
            <a:ext cx="4663440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lease 만료 · 원본 접근 · 외부 LLM timeout · worker 로그를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LLM은 선택 기능 — 기본값은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키 존재, 기능 플래그, 화면 옵션의 세 조건을 모두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1208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846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SAFE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4882896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LLM_PROVIDER=auto
LLM_REVIEW_ENABLED=0
PROFILE_LLM_ENABLED=0
AUTO_IMPORT_INCLUDE_LLM=0
BIZROUTER_API_KEY=
OPENAI_API_KEY=
LLM_REVIEW_BATCH_SIZE=10
LLM_REVIEW_CONCURRENCY=3
LLM_REVIEW_LIMIT=
LLM_REVIEW_TIMEOUT=90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38528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402336" cy="402336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08483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03911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정책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267712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외부 전송 가능 데이터인지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06624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2816352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85292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807208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비용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35808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모델·후보 수·월 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474720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358444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362102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575303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작게 시험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803904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LLM_REVIEW_LIMIT 설정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242816"/>
            <a:ext cx="53492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4496" y="4352544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3891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34340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지표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572000"/>
            <a:ext cx="4572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token과 예상 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0352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키 값을 로그·이슈·PPT·화면 캡처에 넣지 않는다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실행 순서와 정상 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프론트가 열리는 것과 시스템이 준비된 것은 다르다.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02996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20824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백엔드 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Uvicorn :8000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70048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2779776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1635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0632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9232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process =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19856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529584"/>
            <a:ext cx="402336" cy="402336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56616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520440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49040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= sqlite/postgres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9664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" y="4279392"/>
            <a:ext cx="402336" cy="402336"/>
          </a:xfrm>
          <a:prstGeom prst="round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315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70248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프론트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98848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Vite :5173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19472"/>
            <a:ext cx="514807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5528" y="5029200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06577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20056"/>
            <a:ext cx="4370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브라우저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48656"/>
            <a:ext cx="43708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Network/CORS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938528"/>
            <a:ext cx="5303520" cy="23317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039112"/>
            <a:ext cx="493775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HEALTH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2331720"/>
            <a:ext cx="497433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
curl http://127.0.0.1:8000/health
curl http://127.0.0.1:8000/ready
# Windows PowerShell
Invoke-RestMethod http://127.0.0.1:8000/health
Invoke-RestMethod http://127.0.0.1:8000/ready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4498848"/>
            <a:ext cx="2514600" cy="111556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4498848"/>
            <a:ext cx="73152" cy="111556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626864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빈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010912"/>
            <a:ext cx="210312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SQLite라면 연보가 없는 것이 정상
업로드 또는 인계 DB 연결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7968" y="4498848"/>
            <a:ext cx="2560320" cy="1115568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87968" y="4498848"/>
            <a:ext cx="73152" cy="1115568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16568" y="4626864"/>
            <a:ext cx="214883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ready 실패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6568" y="5010912"/>
            <a:ext cx="2148839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경로·URL·권한·migration·디스크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85800"/>
            <a:ext cx="2011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93392"/>
            <a:ext cx="10241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017520"/>
            <a:ext cx="9966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CEE1"/>
                </a:solidFill>
                <a:latin typeface="맑은 고딕"/>
                <a:ea typeface="맑은 고딕"/>
                <a:cs typeface="맑은 고딕"/>
              </a:rPr>
              <a:t>연보 등록·검수·원장·수정·다운로드의 실제 사용 흐름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" y="3977639"/>
            <a:ext cx="10158984" cy="0"/>
          </a:xfrm>
          <a:prstGeom prst="line">
            <a:avLst/>
          </a:prstGeom>
          <a:ln w="12700">
            <a:solidFill>
              <a:srgbClr val="244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5285232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상세 절차는 docs/PROJECT_HANDOVER_GUIDE.md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35508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이 시스템이 하는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연보 업로드부터 검수·수정·다음 연도 생성까지 한 흐름으로 잇는다.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2024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920240"/>
            <a:ext cx="73152" cy="1234440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HWPX · Markdown ·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0240"/>
            <a:ext cx="73152" cy="1234440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 · 셀 · 메타정보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1" y="192024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1920240"/>
            <a:ext cx="73152" cy="1234440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4825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자동 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32304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합계 · 비율 · 증감 · 언어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47472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3474720"/>
            <a:ext cx="73152" cy="123444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상태 · 근거 · 하이라이트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74720"/>
            <a:ext cx="353872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474720"/>
            <a:ext cx="73152" cy="1234440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웹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인증 후 수정 · 재검수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57031" y="3474720"/>
            <a:ext cx="3538728" cy="1234440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57031" y="3474720"/>
            <a:ext cx="73152" cy="1234440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602736"/>
            <a:ext cx="3127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다음 연도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986783"/>
            <a:ext cx="312724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원장 3종 + 기준 연보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30952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핵심 가치: 반복 계산은 시스템이, 최종 판단은 담당자가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현재 화면에서 찾을 수 있는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버튼 이름은 2026-08-28 현재 구현을 기준으로 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2542032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12140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연보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59689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전체 연보 / 증분 업로드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938528"/>
            <a:ext cx="2542032" cy="126187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12140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통계 연보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59689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검색·상태 필터·표 상세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938528"/>
            <a:ext cx="2542032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검수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9689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선택 검수·재사용·중단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938528"/>
            <a:ext cx="2542032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3" y="212140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연보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259689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추가·삭제·변경 표/셀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93008"/>
            <a:ext cx="2542032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67588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통계 원장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15137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통계명·ID·부서·시점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8144" y="3493008"/>
            <a:ext cx="2542032" cy="126187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367588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표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15137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메타·셀·복제·삭제 후 재검수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493008"/>
            <a:ext cx="2542032" cy="1261872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67588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다운로드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5137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표 CSV/XLSX·연보·검수 ZIP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4272" y="3493008"/>
            <a:ext cx="2542032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8863" y="3675888"/>
            <a:ext cx="22128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수정 권한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4151376"/>
            <a:ext cx="22128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통계별 비밀번호 변경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30952"/>
            <a:ext cx="10844784" cy="53035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95544"/>
            <a:ext cx="10332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화면의 증감률 결과는 비율 검수, 증감액 결과는 합계 검수 범주로 표시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다섯 구성요소와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문제가 생기면 화살표 순서대로 어느 경계에서 끊겼는지 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40864"/>
            <a:ext cx="1920240" cy="10789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05456"/>
            <a:ext cx="17007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브라우저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170078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사용자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340864"/>
            <a:ext cx="1938528" cy="107899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505456"/>
            <a:ext cx="17190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React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077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:5173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2340864"/>
            <a:ext cx="1938528" cy="107899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505456"/>
            <a:ext cx="17190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9077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:8000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901952"/>
            <a:ext cx="1965960" cy="107899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066544"/>
            <a:ext cx="17465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468880"/>
            <a:ext cx="17465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SQLite / 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3255264"/>
            <a:ext cx="1965960" cy="107899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3419856"/>
            <a:ext cx="17465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원본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3822191"/>
            <a:ext cx="174650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local / S3·R2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340864"/>
            <a:ext cx="1874519" cy="10789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93807" y="2505456"/>
            <a:ext cx="1655063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7" y="2907792"/>
            <a:ext cx="165506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선택적 외부 호출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50592" y="2880360"/>
            <a:ext cx="365760" cy="0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880" y="2880360"/>
            <a:ext cx="384048" cy="0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77456" y="2441448"/>
            <a:ext cx="384048" cy="164592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77456" y="3154680"/>
            <a:ext cx="384048" cy="566928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27464" y="2441448"/>
            <a:ext cx="356616" cy="438912"/>
          </a:xfrm>
          <a:prstGeom prst="line">
            <a:avLst/>
          </a:prstGeom>
          <a:ln w="2540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4773168"/>
            <a:ext cx="10972800" cy="749808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001768"/>
            <a:ext cx="10469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운영 worker는 FastAPI와 같은 PostgreSQL·S3/R2를 사용해 queued 작업을 처리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업로드와 검수는 작업 상태로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실패해도 단계·오류가 DB에 남고, 조건이 맞으면 재시도할 수 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원본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크기·SHA-256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파싱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표·셀·메타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DB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연보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계산 검수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규칙·profile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언어 검수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사전·캐시·LLM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2761488"/>
            <a:ext cx="329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2267712"/>
            <a:ext cx="15727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2432304"/>
            <a:ext cx="384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276148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3182112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화면·export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79392"/>
            <a:ext cx="5257800" cy="98755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279392"/>
            <a:ext cx="73152" cy="987552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407407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inprocess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791456"/>
            <a:ext cx="4846320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기본. API 프로세스가 백그라운드 작업 실행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79392"/>
            <a:ext cx="5257800" cy="987552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279392"/>
            <a:ext cx="73152" cy="987552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407407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791456"/>
            <a:ext cx="4846320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분리. persisted queue + lease + heartbeat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완성 연보 업로드 — 첫 성공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작은 테스트 파일로 전체 경로를 먼저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993392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984248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12848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화면: .hwpx · .md / 100MB 이하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33472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" y="2743200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734056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정보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96265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연도 · 제목 · 새 연보 모드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3493008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2958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483864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끄기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712464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첫 실행은 외부 호출 없이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33087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242816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7939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233672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상태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462272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queued → running → 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82896"/>
            <a:ext cx="5120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2920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983480"/>
            <a:ext cx="4343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212080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생성 연보 자동 선택 · 표 상세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1901952"/>
            <a:ext cx="5358384" cy="239572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002536"/>
            <a:ext cx="49926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API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3" y="2295144"/>
            <a:ext cx="5029200" cy="1892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POST /api/imports
GET  /api/imports/{job_id}
POST /api/imports/{job_id}/retry
작업 기록에는
· source file / SHA-256
· current stage / progress
· error message / retry 상태가 남음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08192" y="4535424"/>
            <a:ext cx="5358384" cy="109728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08192" y="4535424"/>
            <a:ext cx="73152" cy="109728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4663440"/>
            <a:ext cx="49469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시 보관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5047488"/>
            <a:ext cx="4946904" cy="4846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작업 ID · 파일명/해시 · 오류 메시지 · 백엔드/worker 로그 · 사용 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검수 유형과 상태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자동 판정은 담당자의 확인 순서를 정해주는 보조 결과다.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1920240" cy="310896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1168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합계(증감액)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975104"/>
            <a:ext cx="1920240" cy="310896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201168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비율(증감률)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1975104"/>
            <a:ext cx="1920240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01168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오탈자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7" y="1975104"/>
            <a:ext cx="1920240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3" y="201168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번역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523744"/>
            <a:ext cx="1920240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56032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메타정보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2523744"/>
            <a:ext cx="1920240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9504" y="256032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이상치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8" y="2523744"/>
            <a:ext cx="1920240" cy="310896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2560320"/>
            <a:ext cx="18470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파란색 표기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3419856"/>
            <a:ext cx="2514600" cy="1261872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규칙상 문제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38144" y="3419856"/>
            <a:ext cx="2514600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확인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사람이 원문/원장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5" y="3419856"/>
            <a:ext cx="2514600" cy="126187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오류 의심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근거 확인 후 수정/예외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3419856"/>
            <a:ext cx="2514600" cy="126187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3611880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4105656"/>
            <a:ext cx="2221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언어 후보 판정 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5010912"/>
            <a:ext cx="10835640" cy="786384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157216"/>
            <a:ext cx="10314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9ED7FF"/>
                </a:solidFill>
                <a:latin typeface="맑은 고딕"/>
                <a:ea typeface="맑은 고딕"/>
                <a:cs typeface="맑은 고딕"/>
              </a:rPr>
              <a:t>진행률·단계 표시  |  중단하고 저장  |  계산 profile LLM과 언어 LLM을 따로 선택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449824"/>
            <a:ext cx="10314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수정한 표는 기존 검수 결과가 오래된 상태가 될 수 있으므로 반드시 다시 검수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원장 3종으로 다음 연도 연보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 연보의 모양과 새 원장의 값을 연결한다.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통계 메타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행·열 구조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1" y="2112264"/>
            <a:ext cx="1664208" cy="96926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286000"/>
            <a:ext cx="1444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표데이터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679192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기준시점 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59152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112264"/>
            <a:ext cx="1847088" cy="96926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322576"/>
            <a:ext cx="15179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기준 연보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5179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표 형식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386584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993392"/>
            <a:ext cx="1938528" cy="1225296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2276856"/>
            <a:ext cx="160934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연도 초안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734056"/>
            <a:ext cx="160934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EC6E5"/>
                </a:solidFill>
                <a:latin typeface="맑은 고딕"/>
                <a:ea typeface="맑은 고딕"/>
                <a:cs typeface="맑은 고딕"/>
              </a:rPr>
              <a:t>연결 검토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03904"/>
            <a:ext cx="1069848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배치에서 추출한 Excel 3종인지 확인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기준 연보와 대상 연도/제목을 ID까지 확인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연결·신규·무시·기존 유지 대상을 사람이 검토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2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2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확정 후 검수 실행 — 자동 연결을 곧바로 정답으로 보지 않음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85800"/>
            <a:ext cx="2011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93392"/>
            <a:ext cx="10241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유지보수와 프로젝트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017520"/>
            <a:ext cx="9966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CEE1"/>
                </a:solidFill>
                <a:latin typeface="맑은 고딕"/>
                <a:ea typeface="맑은 고딕"/>
                <a:cs typeface="맑은 고딕"/>
              </a:rPr>
              <a:t>코드 변경·DB·테스트·배포·보안·복구와 최종 인계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" y="3977639"/>
            <a:ext cx="10158984" cy="0"/>
          </a:xfrm>
          <a:prstGeom prst="line">
            <a:avLst/>
          </a:prstGeom>
          <a:ln w="12700">
            <a:solidFill>
              <a:srgbClr val="244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5285232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상세 절차는 docs/PROJECT_HANDOVER_GUIDE.md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35508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B2D1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현재 작업 트리: 그냥 clone하면 같은 상태가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2026-08-28 점검 스냅샷 — 인계 직전에 다시 측정해야 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47672"/>
            <a:ext cx="2542032" cy="129844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 status 변경 항목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947672"/>
            <a:ext cx="2542032" cy="129844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 미추적 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947672"/>
            <a:ext cx="2542032" cy="129844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4.1GB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3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주 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1" y="1947672"/>
            <a:ext cx="2542032" cy="129844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1" y="2148840"/>
            <a:ext cx="2176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1.3GB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2660904"/>
            <a:ext cx="221284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로컬 업로드 원본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75887"/>
            <a:ext cx="5394960" cy="141732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75887"/>
            <a:ext cx="73152" cy="141732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3"/>
            <a:ext cx="4983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왜 위험한가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49834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SQLite와 backend/uploads는 .gitignore 대상이다. 소스만 전달하면 기존 연보·검수 run·재시도 가능한 원본이 사라진다.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675887"/>
            <a:ext cx="5376672" cy="141732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75887"/>
            <a:ext cx="73152" cy="1417320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03903"/>
            <a:ext cx="49651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인계 직전 조치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87952"/>
            <a:ext cx="496519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 status를 정리하고, 최종 커밋·DB 백업 시각·uploads 백업 시각·각 SHA-256을 한 장의 인계 기록으로 남긴다.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596128"/>
            <a:ext cx="10744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기준 브랜치 master  |  마지막 커밋 6292d55 이후 로컬 변경 포함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받아야 할 것은 여섯 묶음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코드·데이터·비밀·계정·기준·문서를 분리하면 누락과 유출을 동시에 줄인다.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최종 commit / branch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 또는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920240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07568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057400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542032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원본 + 같은 시점 백업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비밀관리 채널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GitHub·Vercel·Railway·R2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493008"/>
            <a:ext cx="349300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36484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544" y="363016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114800"/>
            <a:ext cx="30906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승인된 검수 기준·대표 파일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48656"/>
            <a:ext cx="10972800" cy="6217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440680"/>
            <a:ext cx="10451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금지: .env/API 키를 DB·uploads 압축 안에 함께 넣어 일반 메신저로 전송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CODE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폴더를 보면 책임이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처음부터 모든 파일을 읽지 말고 변경하려는 기능의 경계부터 좁힌다.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20824"/>
            <a:ext cx="49834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13432"/>
            <a:ext cx="5020055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backend/app/
├─ main.py        시작·CORS·health
├─ api/           HTTP 경계
├─ application/   유스케이스 연결
├─ services/      업무 규칙
├─ ingest/        HWPX·MD·Excel 파서
├─ validation/    검수 엔진·언어
├─ db/            schema·migration
├─ storage/       local·S3/R2
├─ workflows/     job·worker
└─ yearbook_data/ 원장·재현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49240" cy="358444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020824"/>
            <a:ext cx="498347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313432"/>
            <a:ext cx="5020055" cy="3081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frontend/src/
├─ App.tsx        최상위 화면
├─ api/           백엔드 호출
├─ components/    화면 조각
├─ hooks/         상태·비동기 흐름
├─ types.ts       API 타입 계약
├─ utils/         표시·다운로드
└─ styles/        전역 디자인
tests/
├─ backend/tests  unittest
└─ *.test.tsx     Vitest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760720"/>
            <a:ext cx="107167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API 계약을 바꾸면 backend models/routes와 frontend types/api를 함께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CODE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DB 테이블은 기능 묶음으로 이해한다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전체 정의는 backend/app/db/schema.py · 직접 DELETE 전 외래키를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01952"/>
            <a:ext cx="2542032" cy="129844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66544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연보 본문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23744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annual_reports
stat_tables ·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901952"/>
            <a:ext cx="2542032" cy="129844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1" y="2066544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523744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profiles · runs · checks
validation_jobs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901952"/>
            <a:ext cx="2542032" cy="129844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066544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업로드 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23744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report_processing_jobs
stages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901952"/>
            <a:ext cx="2542032" cy="1298448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066544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원천 원장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523744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statistical_datasets
items · values · revisions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74720"/>
            <a:ext cx="2542032" cy="129844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639312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78B7"/>
                </a:solidFill>
                <a:latin typeface="맑은 고딕"/>
                <a:ea typeface="맑은 고딕"/>
                <a:cs typeface="맑은 고딕"/>
              </a:rPr>
              <a:t>증분 연보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096511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report_incremental_*
recipes · policies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8144" y="3474720"/>
            <a:ext cx="2542032" cy="129844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1" y="3639312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웹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1" y="4096511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passwords · sessions
manual_edits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474720"/>
            <a:ext cx="2542032" cy="129844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639312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096511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report_update_*
report_comparison_*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4272" y="3474720"/>
            <a:ext cx="2542032" cy="129844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3639312"/>
            <a:ext cx="2231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언어·LLM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4096511"/>
            <a:ext cx="223113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72432"/>
                </a:solidFill>
                <a:latin typeface="Consolas"/>
                <a:ea typeface="Consolas"/>
                <a:cs typeface="Consolas"/>
              </a:rPr>
              <a:t>glossary · candidates
cache · usage_events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21808"/>
            <a:ext cx="10844784" cy="56692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495544"/>
            <a:ext cx="103692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annual_reports 삭제는 연결된 표·셀·검수 기록을 cascade 삭제할 수 있음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무엇을 바꾸려는지에 따라 시작 파일이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 계약 변경은 프론트와 백엔드를 함께 바꾸는 작업이다.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920240"/>
            <a:ext cx="23774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75104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920240"/>
            <a:ext cx="370332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975104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파일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872" y="1920240"/>
            <a:ext cx="429768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975104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6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468880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화면/메뉴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414016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2468880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App.tsx ·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6872" y="2414016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2468880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global.css · test.tsx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2907792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2962656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호출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2907792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6704" y="2962656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frontend/api/reportApi.ts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6872" y="2907792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962656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types.ts · backend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" y="3401568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456432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경로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3401568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46704" y="3456432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backend/api/routes.py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6872" y="3401568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0024" y="3456432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application ·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" y="3895344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950207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계산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3895344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6704" y="3950207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backend/validation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6872" y="3895344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3950207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validation_execution_service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" y="4389120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4443984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언어/LLM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4389120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6704" y="4443984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validation/language_pipeline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76872" y="4389120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0024" y="4443984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core/llm_client.py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4882896"/>
            <a:ext cx="23774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4937759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구조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4882896"/>
            <a:ext cx="370332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6704" y="4937759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db/schema.py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76872" y="4882896"/>
            <a:ext cx="429768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4937759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db/migrations.py ·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376672"/>
            <a:ext cx="23774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5431536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원장 생성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73552" y="5376672"/>
            <a:ext cx="3703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4" y="5431536"/>
            <a:ext cx="3557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yearbook_data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76872" y="5376672"/>
            <a:ext cx="4297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4" y="5431536"/>
            <a:ext cx="4151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ledger_yearbook_service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5879592"/>
            <a:ext cx="103052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원칙: routes는 HTTP 경계, 실제 업무 규칙은 application/services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안전한 수정 사이클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작은 변경과 검증 가능한 기록이 롤백 비용을 줄인다.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112264"/>
            <a:ext cx="457200" cy="457200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기대 결과·재현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112264"/>
            <a:ext cx="457200" cy="457200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브랜치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작업 단위 분리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56816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112264"/>
            <a:ext cx="457200" cy="457200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15798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121408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기준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642616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수정 전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3721608"/>
            <a:ext cx="457200" cy="457200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작게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계층만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0" y="3721608"/>
            <a:ext cx="457200" cy="457200"/>
          </a:xfrm>
          <a:prstGeom prst="round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→ 전체 → build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566160"/>
            <a:ext cx="353872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94192" y="3721608"/>
            <a:ext cx="457200" cy="457200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767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3730752"/>
            <a:ext cx="250545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인계 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4251960"/>
            <a:ext cx="25054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DB·env·rollback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5404104"/>
            <a:ext cx="10917936" cy="530352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559552"/>
            <a:ext cx="10360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커밋 전  git status --short  ·  git diff --check  ·  테스트 결과 기록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DB 변경은 코드 변경보다 한 단계 더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앱 시작 시 migration이 실행될 수 있으므로 실제 DB를 백업하지 않고 시험하지 않는다.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01952"/>
            <a:ext cx="73152" cy="832104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1 ·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14016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설치 구조를 schema.py에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901952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901952"/>
            <a:ext cx="73152" cy="832104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29968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 ·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14016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기존 DB 이동 경로와 재실행 안전성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62656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962656"/>
            <a:ext cx="73152" cy="832104"/>
          </a:xfrm>
          <a:prstGeom prst="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9067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 · fresh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74720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SQLite에서 전체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962656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962656"/>
            <a:ext cx="73152" cy="832104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9067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4 · DB copy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74720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기존 DB 복사본에서 migration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23360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023360"/>
            <a:ext cx="73152" cy="832104"/>
          </a:xfrm>
          <a:prstGeom prst="rect">
            <a:avLst/>
          </a:prstGeom>
          <a:solidFill>
            <a:srgbClr val="2E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15137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5 ·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535424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전용 테스트 DB에서 호환성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023360"/>
            <a:ext cx="5248656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023360"/>
            <a:ext cx="73152" cy="832104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15137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6 · 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35424"/>
            <a:ext cx="48371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운영 적용·rollback 담당 확정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5321808"/>
            <a:ext cx="10808208" cy="62179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13832"/>
            <a:ext cx="1031443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이전 코드를 재배포해도 이미 적용된 DB 변경은 자동으로 취소되지 않는다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SQLite와 uploads는 같은 시점의 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DB만 있으면 과거 원본 재처리가, uploads만 있으면 작업 연결이 어려울 수 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3401568" cy="1353312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38528"/>
            <a:ext cx="73152" cy="1353312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1 ·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백엔드·worker를 Ctrl+C로 종료
처리 중 작업이 없는지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38528"/>
            <a:ext cx="3401568" cy="135331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38528"/>
            <a:ext cx="73152" cy="1353312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2 ·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SQLite + backend/uploads
같은 시각 기준으로 복사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38528"/>
            <a:ext cx="3401568" cy="1353312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938528"/>
            <a:ext cx="73152" cy="1353312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66544"/>
            <a:ext cx="29900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3 ·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0592"/>
            <a:ext cx="2990088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macOS shasum -a 256
Windows Get-FileHash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730752"/>
            <a:ext cx="10808208" cy="162763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831336"/>
            <a:ext cx="104424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BACKUP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23944"/>
            <a:ext cx="10479024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
cp -p annual_statistics.sqlite annual_statistics_20260828.sqlite
shasum -a 256 annual_statistics_20260828.sqlite
# Windows PowerShell
Copy-Item annual_statistics.sqlite annual_statistics_20260828.sqlite
Get-FileHash annual_statistics_20260828.sqlite -Algorithm SHA256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705856"/>
            <a:ext cx="10588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대용량 DB를 Git 또는 일반 메신저로 전달하지 않는다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현재 테스트 기준선 — 사실 그대로 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2026-08-28 현재 작업 트리에서 직접 실행한 결과다.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2523744" cy="1234440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49 / 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Frontend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38528"/>
            <a:ext cx="2523744" cy="1234440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TypeScript + Vite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938528"/>
            <a:ext cx="2523744" cy="1234440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397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tests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1938528"/>
            <a:ext cx="2523744" cy="123444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167128"/>
            <a:ext cx="2231136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6 fail · 2 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651760"/>
            <a:ext cx="223113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current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657600"/>
            <a:ext cx="5285232" cy="1234440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" y="3657600"/>
            <a:ext cx="73152" cy="1234440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85615"/>
            <a:ext cx="48737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169664"/>
            <a:ext cx="48737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.env의 LLM 가능 상태가 ‘LLM 없음’ 테스트에 영향 — 환경 격리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657600"/>
            <a:ext cx="5285232" cy="123444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657600"/>
            <a:ext cx="73152" cy="1234440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785615"/>
            <a:ext cx="48737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실패 5건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169664"/>
            <a:ext cx="48737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로컬 DB의 2025 검수 결과/2026 제목과 승인 snapshot 불일치 — 기준선 재합의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440680"/>
            <a:ext cx="106984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금지: 통과시키기 위해 검수 baseline을 검토 없이 갱신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수정 후 실행할 명령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관련 테스트 → 전체 테스트 → production build 순서가 기본이다.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85232" cy="33649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4956048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macOS · repository root
PYTHONPATH=backend ./.venv/bin/python \
  -m unittest discover -s backend/tests -q
# Frontend
cd frontend
npm run test
npm run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20240"/>
            <a:ext cx="5285232" cy="336499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20824"/>
            <a:ext cx="49194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13432"/>
            <a:ext cx="4956048" cy="286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# Windows PowerShell · repository root
$env:PYTHONPATH = "backend"
&amp; .\.venv\Scripts\python.exe -m unittest `
  discover -s backend\tests -q
Remove-Item Env:PYTHONPATH
Set-Location frontend
npm run test
npm run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23560"/>
            <a:ext cx="106801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PostgreSQL 통합 테스트는 운영 DB가 아닌 전용 TEST_DATABASE_URL에서만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운영 구성: Vercel + Railway + PostgreSQL +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API와 worker는 같은 commit, DB, object storage를 사용한다.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32304"/>
            <a:ext cx="2157984" cy="1115568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React dist
VITE_API_BASE_URL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432304"/>
            <a:ext cx="2157984" cy="1115568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Railway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railway.json
/ready healthcheck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9552" y="1847088"/>
            <a:ext cx="2157984" cy="111556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011680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414016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DATABASE_URL
backup / restore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3218688"/>
            <a:ext cx="2157984" cy="1115568"/>
          </a:xfrm>
          <a:prstGeom prst="roundRect">
            <a:avLst/>
          </a:prstGeom>
          <a:solidFill>
            <a:srgbClr val="E9F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383280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7A55"/>
                </a:solidFill>
                <a:latin typeface="맑은 고딕"/>
                <a:ea typeface="맑은 고딕"/>
                <a:cs typeface="맑은 고딕"/>
              </a:rPr>
              <a:t>S3 / R2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85615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같은 bucket
원본 공유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2432304"/>
            <a:ext cx="2157984" cy="111556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596896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Railway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9923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railway.worker.json
public network 불필요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16352" y="2990088"/>
            <a:ext cx="237744" cy="0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12080" y="2386584"/>
            <a:ext cx="347472" cy="338328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3255264"/>
            <a:ext cx="347472" cy="512064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17536" y="2386584"/>
            <a:ext cx="585216" cy="502920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17536" y="3291840"/>
            <a:ext cx="585216" cy="475488"/>
          </a:xfrm>
          <a:prstGeom prst="line">
            <a:avLst/>
          </a:prstGeom>
          <a:ln w="22860">
            <a:solidFill>
              <a:srgbClr val="1D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6656" y="4956048"/>
            <a:ext cx="10817352" cy="70408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184648"/>
            <a:ext cx="10314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Vercel URL ↔ ALLOWED_ORIGINS  |  API URL ↔ VITE_API_BASE_URL  |  뒤에 /api 금지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배포 전·후·롤백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DB migration이 포함되면 코드 롤백과 데이터 롤백을 분리해서 판단한다.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47672"/>
            <a:ext cx="3456432" cy="345643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승인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test/build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env/CORS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rollback owner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947672"/>
            <a:ext cx="3456432" cy="345643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migration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 + /ready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poll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작은 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validation +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1947672"/>
            <a:ext cx="3456432" cy="34564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157984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ROLLBACK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734056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2706624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추가 작업 중단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172968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3145536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배포·시각 기록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3611880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3584448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이전 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050791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3104" y="4023360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별도 판단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489704"/>
            <a:ext cx="34747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4462272"/>
            <a:ext cx="2450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대표 연보 재확인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733288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이전 코드는 이미 적용된 migration을 자동 취소하지 않는다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운영 공개 전 반드시 보완할 인증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CORS는 인증이나 방화벽이 아니다. 기관 내부 자료를 그대로 공개하지 않는다.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248656" cy="1298448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73152" cy="1298448"/>
          </a:xfrm>
          <a:prstGeom prst="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4825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서비스 전체 로그인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32304"/>
            <a:ext cx="4837176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읽기·업로드·삭제·검수·다운로드·운영 지표 API에 공통 사용자 인증이 없다.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248656" cy="1298448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73152" cy="1298448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48256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표 수정만 별도 비밀번호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32304"/>
            <a:ext cx="4837176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초기값은 내선 끝 4자리, 번호가 없으면 0000. 운영 전에 모두 변경한다.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11296"/>
            <a:ext cx="5248656" cy="1298448"/>
          </a:xfrm>
          <a:prstGeom prst="roundRect">
            <a:avLst/>
          </a:prstGeom>
          <a:solidFill>
            <a:srgbClr val="FFF3D8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511296"/>
            <a:ext cx="73152" cy="1298448"/>
          </a:xfrm>
          <a:prstGeom prst="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63931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수정 세션 만료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23360"/>
            <a:ext cx="4837176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비밀번호 변경 시 세션은 폐기되지만 현재 명시적인 세션 유효기간 검사가 없다.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11296"/>
            <a:ext cx="5248656" cy="1298448"/>
          </a:xfrm>
          <a:prstGeom prst="roundRect">
            <a:avLst/>
          </a:prstGeom>
          <a:solidFill>
            <a:srgbClr val="E8F5F3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11296"/>
            <a:ext cx="73152" cy="1298448"/>
          </a:xfrm>
          <a:prstGeom prst="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639312"/>
            <a:ext cx="48371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운영 보호 수단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4837176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VPN·SSO·접근 제어 proxy/API gateway 등 조직 승인 방식으로 Railway API를 보호한다.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321808"/>
            <a:ext cx="10826496" cy="56692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04688"/>
            <a:ext cx="10314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키 · 초기 비밀번호 · Bearer token · DB URL을 로그·PPT·이슈에 남기지 않는다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TROUBLESHOOT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증상에서 시작하는 첫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비밀값을 붙여넣지 말고 상태·경로·작업 ID를 기록한다.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920240"/>
            <a:ext cx="28346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4176" y="1920240"/>
            <a:ext cx="342900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975104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3176" y="1920240"/>
            <a:ext cx="4206240" cy="493776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1975104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원인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2414016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 module named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4176" y="2414016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468880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실행 위치 + --app-dir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23176" y="2414016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2468880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backend 폴더 경계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2907792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96265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프론트 fetch 실패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4176" y="2907792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2962656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/health → /ready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3176" y="2907792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2962656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API URL · CORS ·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" y="3401568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56432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queued 고정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94176" y="3401568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456432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+ 같은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3176" y="3401568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3456432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worker 미실행/다른 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" y="3895344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950207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원본 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4176" y="3895344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3950207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DB의 object path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23176" y="3895344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96328" y="3950207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uploads 미인계/storage 불일치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" y="4389120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443984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database is locked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94176" y="4389120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67328" y="4443984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동시 프로세스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23176" y="4389120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6328" y="4443984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SQLite 다중 쓰기/공유드라이브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" y="4882896"/>
            <a:ext cx="28346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4937759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EBADENGINE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94176" y="4882896"/>
            <a:ext cx="342900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67328" y="4937759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node --version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23176" y="4882896"/>
            <a:ext cx="4206240" cy="493776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96328" y="4937759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Vite 8 범위 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" y="5376672"/>
            <a:ext cx="28346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5431536"/>
            <a:ext cx="2688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안 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94176" y="5376672"/>
            <a:ext cx="342900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67328" y="5431536"/>
            <a:ext cx="3282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flag → key → 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23176" y="5376672"/>
            <a:ext cx="42062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6328" y="5431536"/>
            <a:ext cx="40599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비활성/키/timeout/rate limit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733288"/>
            <a:ext cx="10451592" cy="420624"/>
          </a:xfrm>
          <a:prstGeom prst="round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5824728"/>
            <a:ext cx="100858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재현의 다섯 값: commit · env 종류 · DB · 원본 SHA-256 · job ID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첫날 실습 — 운영 데이터 없이 끝까지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네 번의 작은 성공으로 환경·기능·수정·복구를 모두 확인한다.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47672"/>
            <a:ext cx="5230368" cy="1289304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148840"/>
            <a:ext cx="566928" cy="566928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22199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2130552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빈 DB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65176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/health · /ready · 빈 화면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47672"/>
            <a:ext cx="5230368" cy="128930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2512" y="2148840"/>
            <a:ext cx="566928" cy="566928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221991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3" y="2130552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테스트 연보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3" y="2651760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upload · 검수 ·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520439"/>
            <a:ext cx="5230368" cy="12893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" y="3721607"/>
            <a:ext cx="566928" cy="566928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79475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3703320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작은 코드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5064" y="4224527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branch · test · build · diff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3520439"/>
            <a:ext cx="5230368" cy="1289304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2512" y="3721607"/>
            <a:ext cx="566928" cy="566928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9475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3703320"/>
            <a:ext cx="39319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백업/복원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3" y="4224527"/>
            <a:ext cx="3931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stop · copy · hash · restore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394960"/>
            <a:ext cx="10771632" cy="530352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559552"/>
            <a:ext cx="103144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 조건: 다음 담당자가 화면을 공유하며 네 실습을 직접 재현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최종 회의에서 화면으로 확인할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‘전달했다’가 아니라 ‘받은 사람이 재현했다’를 기준으로 종료한다.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29384"/>
            <a:ext cx="5248656" cy="1353312"/>
          </a:xfrm>
          <a:prstGeom prst="roundRect">
            <a:avLst/>
          </a:prstGeom>
          <a:solidFill>
            <a:srgbClr val="EA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066543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최종 branch/commit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 status 정리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test/build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929384"/>
            <a:ext cx="5248656" cy="1353312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93976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2066543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DB + uploads 세트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backup time + SHA-256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177A74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검수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557015"/>
            <a:ext cx="5248656" cy="135331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721607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3694176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GitHub·Vercel·Railway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Postgres·S3/R2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76E0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비용/키 소유자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3557015"/>
            <a:ext cx="5248656" cy="135331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721607"/>
            <a:ext cx="960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694176"/>
            <a:ext cx="378561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upload·validation 시연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deploy·rollback 시연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019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장애 연락망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80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빈칸: 운영 URL · 계정 소유자 · backup 위치 · rollback 담당자를 문서 23장에 채운다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QUICK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문제가 생기면 이 순서대로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무작정 재시작하거나 DB를 삭제하기 전에 사실을 고정한다.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92807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002536"/>
            <a:ext cx="402336" cy="402336"/>
          </a:xfrm>
          <a:prstGeom prst="roundRect">
            <a:avLst/>
          </a:prstGeom>
          <a:solidFill>
            <a:srgbClr val="B83A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93391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중단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221991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새 업로드·배포 잠시 멈춤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51760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761488"/>
            <a:ext cx="402336" cy="402336"/>
          </a:xfrm>
          <a:prstGeom prst="roundRect">
            <a:avLst/>
          </a:prstGeom>
          <a:solidFill>
            <a:srgbClr val="B76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752344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980944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시각·commit·job ID·오류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410711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20439"/>
            <a:ext cx="402336" cy="402336"/>
          </a:xfrm>
          <a:prstGeom prst="round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57015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11295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739896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health → ready → 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69663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279392"/>
            <a:ext cx="402336" cy="402336"/>
          </a:xfrm>
          <a:prstGeom prst="roundRect">
            <a:avLst/>
          </a:prstGeom>
          <a:solidFill>
            <a:srgbClr val="177A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1596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270248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498848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env · DB · 원본 SHA-256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28616"/>
            <a:ext cx="5532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5038344"/>
            <a:ext cx="402336" cy="402336"/>
          </a:xfrm>
          <a:prstGeom prst="roundRect">
            <a:avLst/>
          </a:prstGeom>
          <a:solidFill>
            <a:srgbClr val="2C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029200"/>
            <a:ext cx="4754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257800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백업/이전 deploy로 검증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5392" y="1920240"/>
            <a:ext cx="4709160" cy="34015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2020824"/>
            <a:ext cx="4343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0D4FF"/>
                </a:solidFill>
                <a:latin typeface="맑은 고딕"/>
                <a:ea typeface="맑은 고딕"/>
                <a:cs typeface="맑은 고딕"/>
              </a:rPr>
              <a:t>LOCAL ENDPOINTS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3" y="2313432"/>
            <a:ext cx="4379976" cy="2898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9FC"/>
                </a:solidFill>
                <a:latin typeface="Consolas"/>
                <a:ea typeface="Consolas"/>
                <a:cs typeface="Consolas"/>
              </a:rPr>
              <a:t>BACKEND
http://127.0.0.1:8000/health
http://127.0.0.1:8000/ready
http://127.0.0.1:8000/docs
FRONTEND
http://127.0.0.1:5173
DETAIL
docs/PROJECT_HANDOVER_GUIDE.md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5976" y="557784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삭제·reset·DB 덮어쓰기는 대상과 복구 가능성을 확인한 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D5F9A"/>
                </a:solidFill>
                <a:latin typeface="맑은 고딕"/>
                <a:ea typeface="맑은 고딕"/>
                <a:cs typeface="맑은 고딕"/>
              </a:rPr>
              <a:t>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2545"/>
                </a:solidFill>
                <a:latin typeface="맑은 고딕"/>
                <a:ea typeface="맑은 고딕"/>
                <a:cs typeface="맑은 고딕"/>
              </a:rPr>
              <a:t>인계 회의에서 반드시 채울 빈칸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7181"/>
                </a:solidFill>
                <a:latin typeface="맑은 고딕"/>
                <a:ea typeface="맑은 고딕"/>
                <a:cs typeface="맑은 고딕"/>
              </a:rPr>
              <a:t>비밀번호·API 키 값은 적지 않고 소유자와 안전한 보관 위치만 적는다.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1055096" cy="0"/>
          </a:xfrm>
          <a:prstGeom prst="line">
            <a:avLst/>
          </a:prstGeom>
          <a:ln w="10160">
            <a:solidFill>
              <a:srgbClr val="D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7040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통계연보 검수 보조 시스템  |  프로젝트 인수인계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B99A7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01952"/>
            <a:ext cx="242316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901952"/>
            <a:ext cx="315468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5681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담당자/팀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901952"/>
            <a:ext cx="4937760" cy="502920"/>
          </a:xfrm>
          <a:prstGeom prst="rect">
            <a:avLst/>
          </a:prstGeom>
          <a:solidFill>
            <a:srgbClr val="0B2545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주소·식별자 또는 보관 위치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40487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5973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서비스 책임자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240487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45973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40487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5973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90779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96265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290779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96265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290779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6265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repository /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41071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6557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Vercel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4408" y="341071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46557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341071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46557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project / production 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391363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96849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Railway +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91363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96849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419088" y="391363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6849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project / API / worker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441655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47141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S3 / R2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41655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447141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441655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47141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bucket / backup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919472"/>
            <a:ext cx="24231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97433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LLM 비용·키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64408" y="4919472"/>
            <a:ext cx="315468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497433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4919472"/>
            <a:ext cx="4937760" cy="502920"/>
          </a:xfrm>
          <a:prstGeom prst="rect">
            <a:avLst/>
          </a:prstGeom>
          <a:solidFill>
            <a:srgbClr val="F5F9FC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97433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secret manager 위치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5422392"/>
            <a:ext cx="24231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477256"/>
            <a:ext cx="22768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검수 기준 승인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64408" y="5422392"/>
            <a:ext cx="31546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5477256"/>
            <a:ext cx="300837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6419088" y="5422392"/>
            <a:ext cx="493776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477256"/>
            <a:ext cx="479145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72432"/>
                </a:solidFill>
                <a:latin typeface="맑은 고딕"/>
                <a:ea typeface="맑은 고딕"/>
                <a:cs typeface="맑은 고딕"/>
              </a:rPr>
              <a:t>baseline 승인 기록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888736"/>
            <a:ext cx="10561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83A4B"/>
                </a:solidFill>
                <a:latin typeface="맑은 고딕"/>
                <a:ea typeface="맑은 고딕"/>
                <a:cs typeface="맑은 고딕"/>
              </a:rPr>
              <a:t>이 표가 비어 있으면 인수인계는 아직 끝나지 않았다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713232"/>
            <a:ext cx="2103120" cy="310896"/>
          </a:xfrm>
          <a:prstGeom prst="roundRect">
            <a:avLst/>
          </a:prstGeom>
          <a:solidFill>
            <a:srgbClr val="173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749808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HANDOVER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91056"/>
            <a:ext cx="10149840" cy="1298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코드가 아니라
운영 가능한 상태를 인계합니다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383280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ED2FF"/>
                </a:solidFill>
                <a:latin typeface="맑은 고딕"/>
                <a:ea typeface="맑은 고딕"/>
                <a:cs typeface="맑은 고딕"/>
              </a:rPr>
              <a:t>commit · env · DB · 원본 · job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023360"/>
            <a:ext cx="9784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C4DC"/>
                </a:solidFill>
                <a:latin typeface="맑은 고딕"/>
                <a:ea typeface="맑은 고딕"/>
                <a:cs typeface="맑은 고딕"/>
              </a:rPr>
              <a:t>이 다섯 값을 기록하면 대부분의 문제를 재현할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919472"/>
            <a:ext cx="10533888" cy="704088"/>
          </a:xfrm>
          <a:prstGeom prst="roundRect">
            <a:avLst/>
          </a:prstGeom>
          <a:solidFill>
            <a:srgbClr val="122F4D"/>
          </a:solidFill>
          <a:ln w="10160">
            <a:solidFill>
              <a:srgbClr val="274E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48072"/>
            <a:ext cx="10058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상세 절차  docs/PROJECT_HANDOVER_GUIDE.md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27278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9AB6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통계연보 검수 보조 시스템 프로젝트 인수인계 가이드</dc:title>
  <dc:subject>macOS와 Windows 개발·운영 인수인계</dc:subject>
  <dc:creator>Project Handover</dc:creator>
  <cp:keywords>FastAPI, React, Windows, macOS, handover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
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Noto Sans KR"/>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466A9C-AF73-4E76-8EC6-081741966E7C}">
  <a:tblStyle styleId="{6D466A9C-AF73-4E76-8EC6-081741966E7C}"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a:tcStyle>
        <a:fill>
          <a:solidFill>
            <a:srgbClr val="CDD8FB"/>
          </a:solidFill>
        </a:fill>
      </a:tcStyle>
    </a:band1H>
    <a:band2H>
      <a:tcTxStyle/>
    </a:band2H>
    <a:band1V>
      <a:tcTxStyle/>
      <a:tcStyle>
        <a:fill>
          <a:solidFill>
            <a:srgbClr val="CDD8FB"/>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otoSansKR-bold.fntdata"/><Relationship Id="rId25" Type="http://schemas.openxmlformats.org/officeDocument/2006/relationships/font" Target="fonts/NotoSansK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통계연보 검수 보조 시스템의 배경, 구현 구조, 사용자 흐름과 향후 개선 방향을 설명합니다. 이 시스템은 반복 검증을 자동화하되 최종 판단과 승인은 담당자가 수행하는 검수 보조 도구입니다.</a:t>
            </a:r>
            <a:endParaRPr/>
          </a:p>
        </p:txBody>
      </p:sp>
      <p:sp>
        <p:nvSpPr>
          <p:cNvPr id="57" name="Google Shape;57;p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기존 검수는 수백 개 표를 담당자가 반복 대조해야 하고, 표 구조가 달라 검수 기준과 지식을 재사용하기 어렵습니다. 계산 오류와 오탈자를 서로 다른 방식으로 확인하면서 검수 시간과 누락 위험도 커질 수 있습니다.</a:t>
            </a:r>
            <a:endParaRPr/>
          </a:p>
        </p:txBody>
      </p:sp>
      <p:sp>
        <p:nvSpPr>
          <p:cNvPr id="69" name="Google Shape;69;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왼쪽에는 계산 오류와 오탈자가 함께 보이는 실제 표 화면을 넣습니다. 오른쪽에는 전년도와 금년도 표를 나란히 배치해 구조와 항목은 동일하지만 셀 값만 바뀌는 점을 보여줍니다. 동일 구조에서는 검수 프로파일을 재사용하고 현재 값만 다시 계산할 수 있다는 필요성을 연결해 설명합니다.</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기존 검수의 반복성과 누락 위험을 표별 프로파일, 규칙 엔진, 검수 이력 재사용으로 개선합니다. 자동화는 오류 후보와 판정 근거를 제시하고, 담당자는 최종 판단과 수정에 집중합니다.</a:t>
            </a:r>
            <a:endParaRPr/>
          </a:p>
        </p:txBody>
      </p:sp>
      <p:sp>
        <p:nvSpPr>
          <p:cNvPr id="136" name="Google Shape;136;p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이 페이지의 큰 회색 영역에는 시스템 메인 작업 화면을 넣습니다. 연보와 통계표를 탐색하고, 검수 상태를 요약하며, 문제 셀과 근거 셀을 연결해 확인하는 제품 경험을 중심으로 소개합니다. 실제 화면을 삽입한 뒤 자리표시자 안내 문구는 삭제하거나 이미지 뒤로 보내면 됩니다.</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사용자는 업로드 초안을 확인하고 연보를 확정한 뒤 필요한 검수 항목을 선택합니다. 상세 화면에서 문제 셀과 근거 셀을 함께 확인하고, 수정 권한을 인증해 값을 정정할 수 있습니다. 수정된 통계표는 재검수 필요 상태가 되며 담당자가 검수를 다시 실행합니다.</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화면에서는 완성 연보 HWPX 또는 Markdown을 업로드하거나, 기준 연보와 표정보·표항목·표데이터 Excel 3종으로 다음 연도 초안을 만들 수 있습니다. 업로드 결과는 즉시 검수를 끝낸 연보가 아니라 사용자가 확인할 수 있는 초안입니다. 초안 확정 후 별도로 검수를 실행합니다.</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합계·비율·메타데이터·이상치는 규칙 또는 통계 기준으로 처리됩니다. 이상치를 LLM 판정 영역으로 설명하지 않도록 주의합니다. 오탈자와 번역은 후보를 먼저 만든 뒤 사전과 문맥 이력을 적용하고, 선택 시 남은 후보에만 LLM을 사용합니다. 상태는 담당자가 무엇을 먼저 확인해야 하는지 보여주는 업무 분류입니다.</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프로파일은 네 층의 규칙을 순서대로 병합합니다. 공통 규칙은 모든 표의 단위·기준일·출처를 확인하고, 숫자 열에는 이상치 프로파일을 만들 수 있습니다. 표유형 분석은 지역형, 연도추이형, 성별·직급형, 수입·지출·잔액형 등의 구조 신호를 기록하며 현재는 지역형의 전국 합계 템플릿을 직접 적용합니다. 표별 자동 추론은 계·합계·소계 라벨, 헤더 부모·자식 관계, 명시 산식과 현재 값 일치율로 계산 규칙 후보를 만듭니다. 마지막으로 통계번호별 지정 규칙이 자동 후보를 추가·억제·보정하고, 분할표나 고정 셀 관계 같은 예외를 반영합니다. 병합 후 중복을 제거해 JSON 실행 명세로 저장합니다.</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합계 규칙은 네 범주입니다. 행 방향 합계는 같은 행의 구성 열을 더하고, 열 방향 합계와 소계는 세부 행을 더합니다. 지역형 표는 전국계와 시도별 값을 연결합니다. 헤더에 c=a+b 또는 a-b 같은 식이 있으면 명시 산식으로 실행하며 증감액도 이 방식으로 계산합니다. 반복 구역이나 분할표는 셀 관계 또는 표 간 행 합계를 통계별 규칙으로 지정할 수 있습니다. 합계 후보를 만들 때 비율, 증감률, 평균처럼 더하면 안 되는 열은 제외합니다. 현재값과 기대값은 저장된 허용오차 안에서 비교하며, 판정할 수 없는 비숫자 값은 건너뜁니다.</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비율 검수는 같은 행의 분자 열과 분모 열, 전체 합계 행을 분모로 하는 구성비, 그리고 같은 연도 열에서 서로 다른 분자·분모 행을 계산하는 방식으로 구분됩니다. 건당·인당 값은 배율 1의 원단위 비율로 처리합니다. 증감액은 당해 값에서 전년 값을 빼고, 증감률은 그 차이를 전년 값으로 나눈 뒤 100을 곱합니다. 특정 통계의 가중평균이나 분할표 관계는 통계번호별 지정 규칙으로 실행합니다. 총계와 소계의 비율은 개별 비율을 합산하지 않고 합계 분자와 합계 분모로 다시 계산합니다. 분모 0과 비숫자 값은 판정을 건너뛰고, 표시 자릿수와 배율에 맞춘 허용오차로 현재값을 비교합니다.</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언어 검수는 모든 텍스트를 곧바로 LLM에 보내지 않습니다. 제목과 표 내부의 의미 있는 위치를 수집하고 숫자 전용 값 등 불필요한 후보를 제외합니다. 오탈자 후보는 넓게 만들되, 번역 후보는 명확한 국·영문 대응이 있는 경우에만 생성해 과도한 오류 판단을 줄입니다. 판정 결과는 자동 수정이 아니라 담당자에게 원문과 권고값을 제시하는 방식입니다.</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사전은 외부 사이트를 실시간 조회하는 방식이 아니라 번들 자료, 공식 기관·행정구역 자료와 연보 내부의 한·영 병기를 검수 시 구성합니다. 캐시는 전역 문자열 캐시가 아니라 검수 유형, 원문, 위치, 주변 문맥, 프롬프트와 모델 버전, 사전 근거까지 포함한 지문이 일치할 때만 재사용하는 검수 이력입니다. 남은 후보만 선택적으로 LLM에 보내며 응답 연결이 확인된 경우에만 저장합니다.</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현재 메타데이터 자동 검수는 단위, 기준일, 출처의 누락과 저장된 프로파일 기준 단위의 일치 여부로 제한됩니다. 이상치는 같은 숫자 열에서 값이 5개 이상일 때 중앙값과 MAD로 편차를 계산하고, 보수적인 임계값을 넘는 후보를 표당 최대 한 건 제시합니다. 이상치는 오류 확정이 아니라 확인 필요 상태입니다.</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수정 화면에서는 표 기본정보, 헤더와 행·열 구조, 국·영문 셀 값, 주요 메타정보를 수정할 수 있습니다. 통계별 비밀번호를 확인한 뒤 편집 토큰을 발급하며, 비밀번호 원문은 저장하지 않습니다. 저장 즉시 이전 검수 결과는 활성 화면에서 제외되고 재검수 필요 상태가 됩니다. 담당자가 검수를 실행하면 변경 표는 현재 값으로 다시 판정되고 동일 표는 이전 결과를 재사용합니다.</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8" name="Google Shape;67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표 단위 산출물은 선택한 통계표와 하위 표, 국·영문 내용과 메타정보를 함께 제공합니다. 연보 단위 산출물은 전체 또는 선택 표를 목차와 개별 시트 구조로 구성합니다. 검수 리포트는 오류 의심과 확인 필요 상태를 대상으로 검수 내역, 문제·근거 셀이 강조된 표, 메타데이터 감사 자료를 제공합니다.</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2" name="Google Shape;71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기대효과는 아직 실증된 정량 수치가 아니라 시스템 적용을 통해 기대하는 업무 변화입니다. 반복 계산과 대조를 줄이고, 검수 기준과 이력을 축적해 연도별 일관성을 높일 수 있습니다. 담당자는 자동 판정이 어려운 의미·정책 판단과 최종 승인에 더 집중할 수 있습니다.</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9" name="Google Shape;74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공공기관 운영 전환을 위해서는 계정·역할 기반 권한관리, 초기 비밀번호 정책과 세션 만료 등 보안 보완이 우선 필요합니다. 또한 프로파일 적용 범위와 AI 판정 근거를 관리자 화면에서 확인하고 승인할 수 있어야 합니다. 정확도가 검증된 규칙부터 단계적으로 적용하고 담당자 피드백과 운영 지표를 축적해 범위를 확대하는 접근이 적절합니다.</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 name="Google Shape;18;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 name="Google Shape;2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6" name="Google Shape;4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51" name="Shape 51"/>
        <p:cNvGrpSpPr/>
        <p:nvPr/>
      </p:nvGrpSpPr>
      <p:grpSpPr>
        <a:xfrm>
          <a:off x="0" y="0"/>
          <a:ext cx="0" cy="0"/>
          <a:chOff x="0" y="0"/>
          <a:chExt cx="0" cy="0"/>
        </a:xfrm>
      </p:grpSpPr>
      <p:sp>
        <p:nvSpPr>
          <p:cNvPr id="52" name="Google Shape;52;p14"/>
          <p:cNvSpPr txBox="1"/>
          <p:nvPr>
            <p:ph type="title"/>
          </p:nvPr>
        </p:nvSpPr>
        <p:spPr>
          <a:xfrm>
            <a:off x="457110" y="205200"/>
            <a:ext cx="8229300" cy="858600"/>
          </a:xfrm>
          <a:prstGeom prst="rect">
            <a:avLst/>
          </a:prstGeom>
          <a:noFill/>
          <a:ln>
            <a:noFill/>
          </a:ln>
        </p:spPr>
        <p:txBody>
          <a:bodyPr anchorCtr="0" anchor="ctr" bIns="0" lIns="0" spcFirstLastPara="1" rIns="0" wrap="square" tIns="0">
            <a:sp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 name="Google Shape;53;p14"/>
          <p:cNvSpPr txBox="1"/>
          <p:nvPr>
            <p:ph idx="1" type="subTitle"/>
          </p:nvPr>
        </p:nvSpPr>
        <p:spPr>
          <a:xfrm>
            <a:off x="457110" y="1203390"/>
            <a:ext cx="8229300" cy="2982900"/>
          </a:xfrm>
          <a:prstGeom prst="rect">
            <a:avLst/>
          </a:prstGeom>
          <a:noFill/>
          <a:ln>
            <a:noFill/>
          </a:ln>
        </p:spPr>
        <p:txBody>
          <a:bodyPr anchorCtr="0" anchor="ctr" bIns="0" lIns="0" spcFirstLastPara="1" rIns="0" wrap="square" tIns="0">
            <a:spAutoFit/>
          </a:bodyPr>
          <a:lstStyle>
            <a:lvl1pPr lvl="0" algn="l">
              <a:lnSpc>
                <a:spcPct val="90000"/>
              </a:lnSpc>
              <a:spcBef>
                <a:spcPts val="1100"/>
              </a:spcBef>
              <a:spcAft>
                <a:spcPts val="0"/>
              </a:spcAft>
              <a:buSzPts val="600"/>
              <a:buChar char="●"/>
              <a:defRPr/>
            </a:lvl1pPr>
            <a:lvl2pPr lvl="1" algn="l">
              <a:lnSpc>
                <a:spcPct val="90000"/>
              </a:lnSpc>
              <a:spcBef>
                <a:spcPts val="1200"/>
              </a:spcBef>
              <a:spcAft>
                <a:spcPts val="0"/>
              </a:spcAft>
              <a:buSzPts val="1000"/>
              <a:buChar char="○"/>
              <a:defRPr/>
            </a:lvl2pPr>
            <a:lvl3pPr lvl="2" algn="l">
              <a:lnSpc>
                <a:spcPct val="90000"/>
              </a:lnSpc>
              <a:spcBef>
                <a:spcPts val="1200"/>
              </a:spcBef>
              <a:spcAft>
                <a:spcPts val="0"/>
              </a:spcAft>
              <a:buSzPts val="600"/>
              <a:buChar char="■"/>
              <a:defRPr/>
            </a:lvl3pPr>
            <a:lvl4pPr lvl="3" algn="l">
              <a:lnSpc>
                <a:spcPct val="90000"/>
              </a:lnSpc>
              <a:spcBef>
                <a:spcPts val="1200"/>
              </a:spcBef>
              <a:spcAft>
                <a:spcPts val="0"/>
              </a:spcAft>
              <a:buSzPts val="1000"/>
              <a:buChar char="●"/>
              <a:defRPr/>
            </a:lvl4pPr>
            <a:lvl5pPr lvl="4" algn="l">
              <a:lnSpc>
                <a:spcPct val="90000"/>
              </a:lnSpc>
              <a:spcBef>
                <a:spcPts val="1200"/>
              </a:spcBef>
              <a:spcAft>
                <a:spcPts val="0"/>
              </a:spcAft>
              <a:buSzPts val="600"/>
              <a:buChar char="○"/>
              <a:defRPr/>
            </a:lvl5pPr>
            <a:lvl6pPr lvl="5" algn="l">
              <a:lnSpc>
                <a:spcPct val="90000"/>
              </a:lnSpc>
              <a:spcBef>
                <a:spcPts val="1200"/>
              </a:spcBef>
              <a:spcAft>
                <a:spcPts val="0"/>
              </a:spcAft>
              <a:buSzPts val="600"/>
              <a:buChar char="■"/>
              <a:defRPr/>
            </a:lvl6pPr>
            <a:lvl7pPr lvl="6" algn="l">
              <a:lnSpc>
                <a:spcPct val="90000"/>
              </a:lnSpc>
              <a:spcBef>
                <a:spcPts val="1200"/>
              </a:spcBef>
              <a:spcAft>
                <a:spcPts val="0"/>
              </a:spcAft>
              <a:buSzPts val="600"/>
              <a:buChar char="●"/>
              <a:defRPr/>
            </a:lvl7pPr>
            <a:lvl8pPr lvl="7" algn="l">
              <a:lnSpc>
                <a:spcPct val="90000"/>
              </a:lnSpc>
              <a:spcBef>
                <a:spcPts val="1200"/>
              </a:spcBef>
              <a:spcAft>
                <a:spcPts val="0"/>
              </a:spcAft>
              <a:buClr>
                <a:schemeClr val="dk1"/>
              </a:buClr>
              <a:buSzPts val="1400"/>
              <a:buChar char="○"/>
              <a:defRPr/>
            </a:lvl8pPr>
            <a:lvl9pPr lvl="8" algn="l">
              <a:lnSpc>
                <a:spcPct val="90000"/>
              </a:lnSpc>
              <a:spcBef>
                <a:spcPts val="1200"/>
              </a:spcBef>
              <a:spcAft>
                <a:spcPts val="1200"/>
              </a:spcAft>
              <a:buClr>
                <a:schemeClr val="dk1"/>
              </a:buClr>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A3D"/>
        </a:solidFill>
      </p:bgPr>
    </p:bg>
    <p:spTree>
      <p:nvGrpSpPr>
        <p:cNvPr id="58" name="Shape 58"/>
        <p:cNvGrpSpPr/>
        <p:nvPr/>
      </p:nvGrpSpPr>
      <p:grpSpPr>
        <a:xfrm>
          <a:off x="0" y="0"/>
          <a:ext cx="0" cy="0"/>
          <a:chOff x="0" y="0"/>
          <a:chExt cx="0" cy="0"/>
        </a:xfrm>
      </p:grpSpPr>
      <p:sp>
        <p:nvSpPr>
          <p:cNvPr id="59" name="Google Shape;59;p15"/>
          <p:cNvSpPr/>
          <p:nvPr/>
        </p:nvSpPr>
        <p:spPr>
          <a:xfrm>
            <a:off x="4846320" y="457200"/>
            <a:ext cx="4572000" cy="4389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2D5C"/>
              </a:buClr>
              <a:buSzPts val="18000"/>
              <a:buFont typeface="Arial"/>
              <a:buNone/>
            </a:pPr>
            <a:r>
              <a:rPr b="1" i="0" lang="en-US" sz="18000" u="none" cap="none" strike="noStrike">
                <a:solidFill>
                  <a:srgbClr val="152D5C"/>
                </a:solidFill>
                <a:latin typeface="Arial"/>
                <a:ea typeface="Arial"/>
                <a:cs typeface="Arial"/>
                <a:sym typeface="Arial"/>
              </a:rPr>
              <a:t>01</a:t>
            </a:r>
            <a:endParaRPr b="0" i="0" sz="18000" u="none" cap="none" strike="noStrike">
              <a:solidFill>
                <a:schemeClr val="dk1"/>
              </a:solidFill>
              <a:latin typeface="Arial"/>
              <a:ea typeface="Arial"/>
              <a:cs typeface="Arial"/>
              <a:sym typeface="Arial"/>
            </a:endParaRPr>
          </a:p>
        </p:txBody>
      </p:sp>
      <p:sp>
        <p:nvSpPr>
          <p:cNvPr id="60" name="Google Shape;60;p15"/>
          <p:cNvSpPr/>
          <p:nvPr/>
        </p:nvSpPr>
        <p:spPr>
          <a:xfrm>
            <a:off x="640073" y="2377450"/>
            <a:ext cx="7827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통계연보 검수 보조 시스템</a:t>
            </a:r>
            <a:endParaRPr b="0" i="0" sz="4800" u="none" cap="none" strike="noStrike">
              <a:solidFill>
                <a:schemeClr val="dk1"/>
              </a:solidFill>
              <a:latin typeface="Arial"/>
              <a:ea typeface="Arial"/>
              <a:cs typeface="Arial"/>
              <a:sym typeface="Arial"/>
            </a:endParaRPr>
          </a:p>
        </p:txBody>
      </p:sp>
      <p:pic>
        <p:nvPicPr>
          <p:cNvPr id="61" name="Google Shape;61;p15" title="logo.png"/>
          <p:cNvPicPr preferRelativeResize="0"/>
          <p:nvPr/>
        </p:nvPicPr>
        <p:blipFill rotWithShape="1">
          <a:blip r:embed="rId3">
            <a:alphaModFix/>
          </a:blip>
          <a:srcRect b="0" l="0" r="0" t="0"/>
          <a:stretch/>
        </p:blipFill>
        <p:spPr>
          <a:xfrm>
            <a:off x="7688100" y="65100"/>
            <a:ext cx="1373550" cy="391200"/>
          </a:xfrm>
          <a:prstGeom prst="rect">
            <a:avLst/>
          </a:prstGeom>
          <a:noFill/>
          <a:ln>
            <a:noFill/>
          </a:ln>
        </p:spPr>
      </p:pic>
      <p:sp>
        <p:nvSpPr>
          <p:cNvPr id="62" name="Google Shape;62;p1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720"/>
              <a:buNone/>
            </a:pPr>
            <a:r>
              <a:rPr b="0" i="0" lang="en-US" sz="720">
                <a:solidFill>
                  <a:srgbClr val="B7CCE6"/>
                </a:solidFill>
                <a:latin typeface="Arial"/>
                <a:ea typeface="Arial"/>
                <a:cs typeface="Arial"/>
                <a:sym typeface="Arial"/>
              </a:rPr>
              <a:t>1</a:t>
            </a:r>
            <a:endParaRPr/>
          </a:p>
        </p:txBody>
      </p:sp>
      <p:sp>
        <p:nvSpPr>
          <p:cNvPr id="63" name="Google Shape;63;p15"/>
          <p:cNvSpPr txBox="1"/>
          <p:nvPr/>
        </p:nvSpPr>
        <p:spPr>
          <a:xfrm>
            <a:off x="640080" y="4443984"/>
            <a:ext cx="6309360"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40" u="none" cap="none" strike="noStrike">
                <a:solidFill>
                  <a:srgbClr val="B7CCE6"/>
                </a:solidFill>
                <a:latin typeface="Arial"/>
                <a:ea typeface="Arial"/>
                <a:cs typeface="Arial"/>
                <a:sym typeface="Arial"/>
              </a:rPr>
              <a:t>청년인턴 중간보고  |  행정안전부 데이터정보화담당관  |  2026. 8.</a:t>
            </a:r>
            <a:endParaRPr/>
          </a:p>
        </p:txBody>
      </p:sp>
      <p:sp>
        <p:nvSpPr>
          <p:cNvPr id="64" name="Google Shape;64;p15"/>
          <p:cNvSpPr txBox="1"/>
          <p:nvPr/>
        </p:nvSpPr>
        <p:spPr>
          <a:xfrm>
            <a:off x="640080" y="4443984"/>
            <a:ext cx="6309360"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40" u="none" cap="none" strike="noStrike">
                <a:solidFill>
                  <a:srgbClr val="B7CCE6"/>
                </a:solidFill>
                <a:latin typeface="Arial"/>
                <a:ea typeface="Arial"/>
                <a:cs typeface="Arial"/>
                <a:sym typeface="Arial"/>
              </a:rPr>
              <a:t>청년인턴 중간보고  |  행정안전부 데이터정보화담당관  |  2026. 8.</a:t>
            </a:r>
            <a:endParaRPr/>
          </a:p>
        </p:txBody>
      </p:sp>
      <p:sp>
        <p:nvSpPr>
          <p:cNvPr id="65" name="Google Shape;65;p15"/>
          <p:cNvSpPr/>
          <p:nvPr/>
        </p:nvSpPr>
        <p:spPr>
          <a:xfrm>
            <a:off x="640080" y="2103120"/>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0E2"/>
              </a:buClr>
              <a:buSzPts val="1100"/>
              <a:buFont typeface="Malgun Gothic"/>
              <a:buNone/>
            </a:pPr>
            <a:r>
              <a:rPr b="1" i="0" lang="en-US" sz="1100" u="none" cap="none" strike="noStrike">
                <a:solidFill>
                  <a:srgbClr val="4A90E2"/>
                </a:solidFill>
                <a:latin typeface="Noto Sans KR"/>
                <a:ea typeface="Noto Sans KR"/>
                <a:cs typeface="Noto Sans KR"/>
                <a:sym typeface="Noto Sans KR"/>
              </a:rPr>
              <a:t>SECTION 0</a:t>
            </a:r>
            <a:r>
              <a:rPr b="1" lang="en-US" sz="1100">
                <a:solidFill>
                  <a:srgbClr val="4A90E2"/>
                </a:solidFill>
                <a:latin typeface="Noto Sans KR"/>
                <a:ea typeface="Noto Sans KR"/>
                <a:cs typeface="Noto Sans KR"/>
                <a:sym typeface="Noto Sans KR"/>
              </a:rPr>
              <a:t>1</a:t>
            </a:r>
            <a:endParaRPr i="0" sz="1100" u="none" cap="none" strike="noStrike">
              <a:solidFill>
                <a:srgbClr val="000000"/>
              </a:solidFill>
              <a:latin typeface="Noto Sans KR"/>
              <a:ea typeface="Noto Sans KR"/>
              <a:cs typeface="Noto Sans KR"/>
              <a:sym typeface="Noto Sans K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16"/>
          <p:cNvSpPr/>
          <p:nvPr/>
        </p:nvSpPr>
        <p:spPr>
          <a:xfrm>
            <a:off x="457200" y="3518375"/>
            <a:ext cx="4407600" cy="777300"/>
          </a:xfrm>
          <a:prstGeom prst="rect">
            <a:avLst/>
          </a:prstGeom>
          <a:solidFill>
            <a:srgbClr val="FAFBFC"/>
          </a:solidFill>
          <a:ln cap="flat" cmpd="sng" w="9525">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6"/>
          <p:cNvSpPr/>
          <p:nvPr/>
        </p:nvSpPr>
        <p:spPr>
          <a:xfrm>
            <a:off x="457200" y="2649700"/>
            <a:ext cx="4407600" cy="777300"/>
          </a:xfrm>
          <a:prstGeom prst="rect">
            <a:avLst/>
          </a:prstGeom>
          <a:solidFill>
            <a:srgbClr val="FAFBFC"/>
          </a:solidFill>
          <a:ln cap="flat" cmpd="sng" w="9525">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6"/>
          <p:cNvSpPr/>
          <p:nvPr/>
        </p:nvSpPr>
        <p:spPr>
          <a:xfrm>
            <a:off x="457200" y="1795675"/>
            <a:ext cx="4407600" cy="777300"/>
          </a:xfrm>
          <a:prstGeom prst="rect">
            <a:avLst/>
          </a:prstGeom>
          <a:solidFill>
            <a:srgbClr val="FAFBFC"/>
          </a:solidFill>
          <a:ln cap="flat" cmpd="sng" w="9525">
            <a:solidFill>
              <a:srgbClr val="F3F4F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6"/>
          <p:cNvSpPr/>
          <p:nvPr/>
        </p:nvSpPr>
        <p:spPr>
          <a:xfrm>
            <a:off x="457200" y="1781021"/>
            <a:ext cx="54900" cy="777300"/>
          </a:xfrm>
          <a:prstGeom prst="rect">
            <a:avLst/>
          </a:prstGeom>
          <a:solidFill>
            <a:srgbClr val="172B59"/>
          </a:solidFill>
          <a:ln cap="flat" cmpd="sng" w="12700">
            <a:solidFill>
              <a:srgbClr val="172B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6"/>
          <p:cNvSpPr/>
          <p:nvPr/>
        </p:nvSpPr>
        <p:spPr>
          <a:xfrm>
            <a:off x="640080" y="1854173"/>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102E"/>
              </a:buClr>
              <a:buSzPts val="1100"/>
              <a:buFont typeface="Arial"/>
              <a:buNone/>
            </a:pPr>
            <a:r>
              <a:rPr b="1" i="0" lang="en-US" sz="1100" u="none" cap="none" strike="noStrike">
                <a:solidFill>
                  <a:srgbClr val="172B59"/>
                </a:solidFill>
                <a:latin typeface="Arial"/>
                <a:ea typeface="Arial"/>
                <a:cs typeface="Arial"/>
                <a:sym typeface="Arial"/>
              </a:rPr>
              <a:t>01</a:t>
            </a:r>
            <a:endParaRPr b="0" i="0" sz="1100" u="none" cap="none" strike="noStrike">
              <a:solidFill>
                <a:srgbClr val="172B59"/>
              </a:solidFill>
              <a:latin typeface="Arial"/>
              <a:ea typeface="Arial"/>
              <a:cs typeface="Arial"/>
              <a:sym typeface="Arial"/>
            </a:endParaRPr>
          </a:p>
        </p:txBody>
      </p:sp>
      <p:sp>
        <p:nvSpPr>
          <p:cNvPr id="76" name="Google Shape;76;p16"/>
          <p:cNvSpPr/>
          <p:nvPr/>
        </p:nvSpPr>
        <p:spPr>
          <a:xfrm>
            <a:off x="1051560" y="1826741"/>
            <a:ext cx="39318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02C"/>
              </a:buClr>
              <a:buSzPts val="1300"/>
              <a:buFont typeface="Arial"/>
              <a:buNone/>
            </a:pPr>
            <a:r>
              <a:rPr b="1" i="0" lang="en-US" sz="1300" u="none" cap="none" strike="noStrike">
                <a:solidFill>
                  <a:srgbClr val="1A202C"/>
                </a:solidFill>
                <a:latin typeface="Arial"/>
                <a:ea typeface="Arial"/>
                <a:cs typeface="Arial"/>
                <a:sym typeface="Arial"/>
              </a:rPr>
              <a:t>수백 개의 통계를 담당자가 반복 확인</a:t>
            </a:r>
            <a:endParaRPr b="0" i="0" sz="1300" u="none" cap="none" strike="noStrike">
              <a:solidFill>
                <a:schemeClr val="dk1"/>
              </a:solidFill>
              <a:latin typeface="Arial"/>
              <a:ea typeface="Arial"/>
              <a:cs typeface="Arial"/>
              <a:sym typeface="Arial"/>
            </a:endParaRPr>
          </a:p>
        </p:txBody>
      </p:sp>
      <p:sp>
        <p:nvSpPr>
          <p:cNvPr id="77" name="Google Shape;77;p16"/>
          <p:cNvSpPr/>
          <p:nvPr/>
        </p:nvSpPr>
        <p:spPr>
          <a:xfrm>
            <a:off x="1051560" y="2128493"/>
            <a:ext cx="3931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74151"/>
              </a:buClr>
              <a:buSzPts val="1050"/>
              <a:buFont typeface="Arial"/>
              <a:buNone/>
            </a:pPr>
            <a:r>
              <a:rPr b="0" i="0" lang="en-US" sz="1200" u="none" cap="none" strike="noStrike">
                <a:solidFill>
                  <a:srgbClr val="374151"/>
                </a:solidFill>
                <a:latin typeface="Arial"/>
                <a:ea typeface="Arial"/>
                <a:cs typeface="Arial"/>
                <a:sym typeface="Arial"/>
              </a:rPr>
              <a:t>- 반복 작업이 많아 검수 시간과 업무 부담 증가</a:t>
            </a:r>
            <a:endParaRPr b="0" i="0" sz="1200" u="none" cap="none" strike="noStrike">
              <a:solidFill>
                <a:srgbClr val="374151"/>
              </a:solidFill>
              <a:latin typeface="Arial"/>
              <a:ea typeface="Arial"/>
              <a:cs typeface="Arial"/>
              <a:sym typeface="Arial"/>
            </a:endParaRPr>
          </a:p>
        </p:txBody>
      </p:sp>
      <p:sp>
        <p:nvSpPr>
          <p:cNvPr id="78" name="Google Shape;78;p16"/>
          <p:cNvSpPr/>
          <p:nvPr/>
        </p:nvSpPr>
        <p:spPr>
          <a:xfrm>
            <a:off x="457200" y="2649701"/>
            <a:ext cx="54900" cy="777300"/>
          </a:xfrm>
          <a:prstGeom prst="rect">
            <a:avLst/>
          </a:prstGeom>
          <a:solidFill>
            <a:srgbClr val="172B59"/>
          </a:solidFill>
          <a:ln cap="flat" cmpd="sng" w="12700">
            <a:solidFill>
              <a:srgbClr val="172B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6"/>
          <p:cNvSpPr/>
          <p:nvPr/>
        </p:nvSpPr>
        <p:spPr>
          <a:xfrm>
            <a:off x="640080" y="2722853"/>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102E"/>
              </a:buClr>
              <a:buSzPts val="1100"/>
              <a:buFont typeface="Arial"/>
              <a:buNone/>
            </a:pPr>
            <a:r>
              <a:rPr b="1" i="0" lang="en-US" sz="1100" u="none" cap="none" strike="noStrike">
                <a:solidFill>
                  <a:srgbClr val="172B59"/>
                </a:solidFill>
                <a:latin typeface="Arial"/>
                <a:ea typeface="Arial"/>
                <a:cs typeface="Arial"/>
                <a:sym typeface="Arial"/>
              </a:rPr>
              <a:t>02</a:t>
            </a:r>
            <a:endParaRPr b="0" i="0" sz="1100" u="none" cap="none" strike="noStrike">
              <a:solidFill>
                <a:srgbClr val="172B59"/>
              </a:solidFill>
              <a:latin typeface="Arial"/>
              <a:ea typeface="Arial"/>
              <a:cs typeface="Arial"/>
              <a:sym typeface="Arial"/>
            </a:endParaRPr>
          </a:p>
        </p:txBody>
      </p:sp>
      <p:sp>
        <p:nvSpPr>
          <p:cNvPr id="80" name="Google Shape;80;p16"/>
          <p:cNvSpPr/>
          <p:nvPr/>
        </p:nvSpPr>
        <p:spPr>
          <a:xfrm>
            <a:off x="1051560" y="2695421"/>
            <a:ext cx="39318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02C"/>
              </a:buClr>
              <a:buSzPts val="1300"/>
              <a:buFont typeface="Arial"/>
              <a:buNone/>
            </a:pPr>
            <a:r>
              <a:rPr b="1" i="0" lang="en-US" sz="1300" u="none" cap="none" strike="noStrike">
                <a:solidFill>
                  <a:srgbClr val="1A202C"/>
                </a:solidFill>
                <a:latin typeface="Arial"/>
                <a:ea typeface="Arial"/>
                <a:cs typeface="Arial"/>
                <a:sym typeface="Arial"/>
              </a:rPr>
              <a:t>계산 오류와 오탈자의 전수적 확인 어려움</a:t>
            </a:r>
            <a:endParaRPr b="0" i="0" sz="1300" u="none" cap="none" strike="noStrike">
              <a:solidFill>
                <a:schemeClr val="dk1"/>
              </a:solidFill>
              <a:latin typeface="Arial"/>
              <a:ea typeface="Arial"/>
              <a:cs typeface="Arial"/>
              <a:sym typeface="Arial"/>
            </a:endParaRPr>
          </a:p>
        </p:txBody>
      </p:sp>
      <p:sp>
        <p:nvSpPr>
          <p:cNvPr id="81" name="Google Shape;81;p16"/>
          <p:cNvSpPr/>
          <p:nvPr/>
        </p:nvSpPr>
        <p:spPr>
          <a:xfrm>
            <a:off x="1033360" y="3893385"/>
            <a:ext cx="3931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74151"/>
              </a:buClr>
              <a:buSzPts val="1050"/>
              <a:buFont typeface="Arial"/>
              <a:buNone/>
            </a:pPr>
            <a:r>
              <a:rPr b="0" i="0" lang="en-US" sz="1200" u="none" cap="none" strike="noStrike">
                <a:solidFill>
                  <a:srgbClr val="374151"/>
                </a:solidFill>
                <a:highlight>
                  <a:schemeClr val="lt1"/>
                </a:highlight>
                <a:latin typeface="Arial"/>
                <a:ea typeface="Arial"/>
                <a:cs typeface="Arial"/>
                <a:sym typeface="Arial"/>
              </a:rPr>
              <a:t>- 기존 검수 결과와 규칙을 재활용하기 어려움</a:t>
            </a:r>
            <a:endParaRPr b="0" i="0" sz="1200" u="none" cap="none" strike="noStrike">
              <a:solidFill>
                <a:srgbClr val="374151"/>
              </a:solidFill>
              <a:highlight>
                <a:schemeClr val="lt1"/>
              </a:highlight>
              <a:latin typeface="Arial"/>
              <a:ea typeface="Arial"/>
              <a:cs typeface="Arial"/>
              <a:sym typeface="Arial"/>
            </a:endParaRPr>
          </a:p>
        </p:txBody>
      </p:sp>
      <p:sp>
        <p:nvSpPr>
          <p:cNvPr id="82" name="Google Shape;82;p16"/>
          <p:cNvSpPr/>
          <p:nvPr/>
        </p:nvSpPr>
        <p:spPr>
          <a:xfrm>
            <a:off x="457200" y="3518381"/>
            <a:ext cx="54900" cy="777300"/>
          </a:xfrm>
          <a:prstGeom prst="rect">
            <a:avLst/>
          </a:prstGeom>
          <a:solidFill>
            <a:srgbClr val="172B59"/>
          </a:solidFill>
          <a:ln cap="flat" cmpd="sng" w="12700">
            <a:solidFill>
              <a:srgbClr val="172B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p:nvPr/>
        </p:nvSpPr>
        <p:spPr>
          <a:xfrm>
            <a:off x="640080" y="3591533"/>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102E"/>
              </a:buClr>
              <a:buSzPts val="1100"/>
              <a:buFont typeface="Arial"/>
              <a:buNone/>
            </a:pPr>
            <a:r>
              <a:rPr b="1" i="0" lang="en-US" sz="1100" u="none" cap="none" strike="noStrike">
                <a:solidFill>
                  <a:srgbClr val="172B59"/>
                </a:solidFill>
                <a:latin typeface="Arial"/>
                <a:ea typeface="Arial"/>
                <a:cs typeface="Arial"/>
                <a:sym typeface="Arial"/>
              </a:rPr>
              <a:t>03</a:t>
            </a:r>
            <a:endParaRPr b="0" i="0" sz="1100" u="none" cap="none" strike="noStrike">
              <a:solidFill>
                <a:srgbClr val="172B59"/>
              </a:solidFill>
              <a:latin typeface="Arial"/>
              <a:ea typeface="Arial"/>
              <a:cs typeface="Arial"/>
              <a:sym typeface="Arial"/>
            </a:endParaRPr>
          </a:p>
        </p:txBody>
      </p:sp>
      <p:sp>
        <p:nvSpPr>
          <p:cNvPr id="84" name="Google Shape;84;p16"/>
          <p:cNvSpPr/>
          <p:nvPr/>
        </p:nvSpPr>
        <p:spPr>
          <a:xfrm>
            <a:off x="1051560" y="3564101"/>
            <a:ext cx="39318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02C"/>
              </a:buClr>
              <a:buSzPts val="1300"/>
              <a:buFont typeface="Arial"/>
              <a:buNone/>
            </a:pPr>
            <a:r>
              <a:rPr b="1" i="0" lang="en-US" sz="1300" u="none" cap="none" strike="noStrike">
                <a:solidFill>
                  <a:srgbClr val="1A202C"/>
                </a:solidFill>
                <a:latin typeface="Arial"/>
                <a:ea typeface="Arial"/>
                <a:cs typeface="Arial"/>
                <a:sym typeface="Arial"/>
              </a:rPr>
              <a:t>매년 유사한 통계 재검토</a:t>
            </a:r>
            <a:endParaRPr b="1" i="0" sz="1300" u="none" cap="none" strike="noStrike">
              <a:solidFill>
                <a:srgbClr val="1A202C"/>
              </a:solidFill>
              <a:latin typeface="Arial"/>
              <a:ea typeface="Arial"/>
              <a:cs typeface="Arial"/>
              <a:sym typeface="Arial"/>
            </a:endParaRPr>
          </a:p>
        </p:txBody>
      </p:sp>
      <p:sp>
        <p:nvSpPr>
          <p:cNvPr id="85" name="Google Shape;85;p16"/>
          <p:cNvSpPr/>
          <p:nvPr/>
        </p:nvSpPr>
        <p:spPr>
          <a:xfrm>
            <a:off x="1033360" y="2983453"/>
            <a:ext cx="3931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74151"/>
              </a:buClr>
              <a:buSzPts val="1050"/>
              <a:buFont typeface="Arial"/>
              <a:buNone/>
            </a:pPr>
            <a:r>
              <a:rPr b="0" i="0" lang="en-US" sz="1200" u="none" cap="none" strike="noStrike">
                <a:solidFill>
                  <a:srgbClr val="374151"/>
                </a:solidFill>
                <a:latin typeface="Arial"/>
                <a:ea typeface="Arial"/>
                <a:cs typeface="Arial"/>
                <a:sym typeface="Arial"/>
              </a:rPr>
              <a:t>- 합계, 비율 등 다양한 계산 요소와 오탈자 및 번역 오류를 놓치기 쉬움</a:t>
            </a:r>
            <a:endParaRPr b="0" i="0" sz="1200" u="none" cap="none" strike="noStrike">
              <a:solidFill>
                <a:srgbClr val="374151"/>
              </a:solidFill>
              <a:latin typeface="Arial"/>
              <a:ea typeface="Arial"/>
              <a:cs typeface="Arial"/>
              <a:sym typeface="Arial"/>
            </a:endParaRPr>
          </a:p>
        </p:txBody>
      </p:sp>
      <p:pic>
        <p:nvPicPr>
          <p:cNvPr id="86" name="Google Shape;86;p16" title="logo.png"/>
          <p:cNvPicPr preferRelativeResize="0"/>
          <p:nvPr/>
        </p:nvPicPr>
        <p:blipFill rotWithShape="1">
          <a:blip r:embed="rId3">
            <a:alphaModFix/>
          </a:blip>
          <a:srcRect b="0" l="0" r="0" t="0"/>
          <a:stretch/>
        </p:blipFill>
        <p:spPr>
          <a:xfrm>
            <a:off x="7688100" y="65100"/>
            <a:ext cx="1373550" cy="391200"/>
          </a:xfrm>
          <a:prstGeom prst="rect">
            <a:avLst/>
          </a:prstGeom>
          <a:noFill/>
          <a:ln>
            <a:noFill/>
          </a:ln>
        </p:spPr>
      </p:pic>
      <p:sp>
        <p:nvSpPr>
          <p:cNvPr id="87" name="Google Shape;87;p16"/>
          <p:cNvSpPr/>
          <p:nvPr/>
        </p:nvSpPr>
        <p:spPr>
          <a:xfrm>
            <a:off x="5486400" y="1659435"/>
            <a:ext cx="3200400" cy="2926200"/>
          </a:xfrm>
          <a:prstGeom prst="rect">
            <a:avLst/>
          </a:prstGeom>
          <a:solidFill>
            <a:srgbClr val="0F2C5C"/>
          </a:solidFill>
          <a:ln cap="flat" cmpd="sng" w="12700">
            <a:solidFill>
              <a:srgbClr val="0F2C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p:nvPr/>
        </p:nvSpPr>
        <p:spPr>
          <a:xfrm>
            <a:off x="5669280" y="2070915"/>
            <a:ext cx="2743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개선 필요</a:t>
            </a:r>
            <a:endParaRPr b="0" i="0" sz="2200" u="none" cap="none" strike="noStrike">
              <a:solidFill>
                <a:schemeClr val="dk1"/>
              </a:solidFill>
              <a:latin typeface="Arial"/>
              <a:ea typeface="Arial"/>
              <a:cs typeface="Arial"/>
              <a:sym typeface="Arial"/>
            </a:endParaRPr>
          </a:p>
        </p:txBody>
      </p:sp>
      <p:cxnSp>
        <p:nvCxnSpPr>
          <p:cNvPr id="89" name="Google Shape;89;p16"/>
          <p:cNvCxnSpPr/>
          <p:nvPr/>
        </p:nvCxnSpPr>
        <p:spPr>
          <a:xfrm>
            <a:off x="5669280" y="2528135"/>
            <a:ext cx="1232400" cy="0"/>
          </a:xfrm>
          <a:prstGeom prst="straightConnector1">
            <a:avLst/>
          </a:prstGeom>
          <a:noFill/>
          <a:ln cap="flat" cmpd="sng" w="25400">
            <a:solidFill>
              <a:schemeClr val="accent1"/>
            </a:solidFill>
            <a:prstDash val="solid"/>
            <a:round/>
            <a:headEnd len="sm" w="sm" type="none"/>
            <a:tailEnd len="sm" w="sm" type="none"/>
          </a:ln>
        </p:spPr>
      </p:cxnSp>
      <p:sp>
        <p:nvSpPr>
          <p:cNvPr id="90" name="Google Shape;90;p16"/>
          <p:cNvSpPr/>
          <p:nvPr/>
        </p:nvSpPr>
        <p:spPr>
          <a:xfrm>
            <a:off x="5669280" y="2710995"/>
            <a:ext cx="2834700"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반복 검수 업무의 체계화 및 자동화</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300"/>
              <a:buFont typeface="Arial"/>
              <a:buNone/>
            </a:pPr>
            <a:r>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600"/>
              <a:buFont typeface="Arial"/>
              <a:buNone/>
            </a:pPr>
            <a:r>
              <a:rPr b="0" i="0" lang="en-US" sz="600" u="none" cap="none" strike="noStrike">
                <a:solidFill>
                  <a:srgbClr val="000000"/>
                </a:solidFill>
                <a:latin typeface="Arial"/>
                <a:ea typeface="Arial"/>
                <a:cs typeface="Arial"/>
                <a:sym typeface="Arial"/>
              </a:rPr>
              <a:t> </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200"/>
              </a:spcBef>
              <a:spcAft>
                <a:spcPts val="0"/>
              </a:spcAft>
              <a:buClr>
                <a:srgbClr val="D1D5DB"/>
              </a:buClr>
              <a:buSzPts val="1100"/>
              <a:buFont typeface="Arial"/>
              <a:buNone/>
            </a:pPr>
            <a:r>
              <a:rPr b="0" i="0" lang="en-US" sz="1100" u="none" cap="none" strike="noStrike">
                <a:solidFill>
                  <a:srgbClr val="D1D5DB"/>
                </a:solidFill>
                <a:latin typeface="Arial"/>
                <a:ea typeface="Arial"/>
                <a:cs typeface="Arial"/>
                <a:sym typeface="Arial"/>
              </a:rPr>
              <a:t>규칙화 가능한 항목은 자동 검수하고,</a:t>
            </a:r>
            <a:endParaRPr b="0" i="0" sz="1100" u="none" cap="none" strike="noStrike">
              <a:solidFill>
                <a:srgbClr val="D1D5DB"/>
              </a:solidFill>
              <a:latin typeface="Arial"/>
              <a:ea typeface="Arial"/>
              <a:cs typeface="Arial"/>
              <a:sym typeface="Arial"/>
            </a:endParaRPr>
          </a:p>
          <a:p>
            <a:pPr indent="0" lvl="0" marL="0" marR="0" rtl="0" algn="l">
              <a:lnSpc>
                <a:spcPct val="100000"/>
              </a:lnSpc>
              <a:spcBef>
                <a:spcPts val="200"/>
              </a:spcBef>
              <a:spcAft>
                <a:spcPts val="0"/>
              </a:spcAft>
              <a:buClr>
                <a:srgbClr val="D1D5DB"/>
              </a:buClr>
              <a:buSzPts val="1100"/>
              <a:buFont typeface="Arial"/>
              <a:buNone/>
            </a:pPr>
            <a:r>
              <a:rPr b="0" i="0" lang="en-US" sz="1100" u="none" cap="none" strike="noStrike">
                <a:solidFill>
                  <a:srgbClr val="D1D5DB"/>
                </a:solidFill>
                <a:latin typeface="Arial"/>
                <a:ea typeface="Arial"/>
                <a:cs typeface="Arial"/>
                <a:sym typeface="Arial"/>
              </a:rPr>
              <a:t>담당자는 판단이 필요한 항목에 집중할 수 있는 검수 체계 구축 필요</a:t>
            </a:r>
            <a:endParaRPr b="0" i="0" sz="1100" u="none" cap="none" strike="noStrike">
              <a:solidFill>
                <a:srgbClr val="D1D5DB"/>
              </a:solidFill>
              <a:latin typeface="Arial"/>
              <a:ea typeface="Arial"/>
              <a:cs typeface="Arial"/>
              <a:sym typeface="Arial"/>
            </a:endParaRPr>
          </a:p>
        </p:txBody>
      </p:sp>
      <p:sp>
        <p:nvSpPr>
          <p:cNvPr id="91" name="Google Shape;91;p16"/>
          <p:cNvSpPr/>
          <p:nvPr/>
        </p:nvSpPr>
        <p:spPr>
          <a:xfrm>
            <a:off x="365760" y="4828032"/>
            <a:ext cx="6858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800"/>
              <a:buFont typeface="Arial"/>
              <a:buNone/>
            </a:pPr>
            <a:r>
              <a:rPr b="0" i="0" lang="en-US" sz="800" u="none" cap="none" strike="noStrike">
                <a:solidFill>
                  <a:srgbClr val="6B7280"/>
                </a:solidFill>
                <a:latin typeface="Arial"/>
                <a:ea typeface="Arial"/>
                <a:cs typeface="Arial"/>
                <a:sym typeface="Arial"/>
              </a:rPr>
              <a:t>청년인턴 중간보고  |  행정안전부 데이터정보화담당관</a:t>
            </a:r>
            <a:endParaRPr b="0" i="0" sz="800" u="none" cap="none" strike="noStrike">
              <a:solidFill>
                <a:srgbClr val="000000"/>
              </a:solidFill>
              <a:latin typeface="Arial"/>
              <a:ea typeface="Arial"/>
              <a:cs typeface="Arial"/>
              <a:sym typeface="Arial"/>
            </a:endParaRPr>
          </a:p>
        </p:txBody>
      </p:sp>
      <p:sp>
        <p:nvSpPr>
          <p:cNvPr id="92" name="Google Shape;92;p16"/>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720"/>
              <a:buNone/>
            </a:pPr>
            <a:r>
              <a:rPr b="0" i="0" lang="en-US" sz="720">
                <a:solidFill>
                  <a:srgbClr val="667085"/>
                </a:solidFill>
                <a:latin typeface="Arial"/>
                <a:ea typeface="Arial"/>
                <a:cs typeface="Arial"/>
                <a:sym typeface="Arial"/>
              </a:rPr>
              <a:t>2</a:t>
            </a:r>
            <a:endParaRPr/>
          </a:p>
        </p:txBody>
      </p:sp>
      <p:sp>
        <p:nvSpPr>
          <p:cNvPr id="93" name="Google Shape;93;p16"/>
          <p:cNvSpPr/>
          <p:nvPr/>
        </p:nvSpPr>
        <p:spPr>
          <a:xfrm>
            <a:off x="457200" y="222665"/>
            <a:ext cx="5486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5FBF"/>
              </a:buClr>
              <a:buSzPts val="1000"/>
              <a:buFont typeface="Arial"/>
              <a:buNone/>
            </a:pPr>
            <a:r>
              <a:rPr b="1" i="0" lang="en-US" sz="1000" u="none" cap="none" strike="noStrike">
                <a:solidFill>
                  <a:srgbClr val="1E5FBF"/>
                </a:solidFill>
                <a:latin typeface="Arial"/>
                <a:ea typeface="Arial"/>
                <a:cs typeface="Arial"/>
                <a:sym typeface="Arial"/>
              </a:rPr>
              <a:t>배경 및 한계</a:t>
            </a:r>
            <a:endParaRPr b="0" i="0" sz="1000" u="none" cap="none" strike="noStrike">
              <a:solidFill>
                <a:schemeClr val="dk1"/>
              </a:solidFill>
              <a:latin typeface="Arial"/>
              <a:ea typeface="Arial"/>
              <a:cs typeface="Arial"/>
              <a:sym typeface="Arial"/>
            </a:endParaRPr>
          </a:p>
        </p:txBody>
      </p:sp>
      <p:sp>
        <p:nvSpPr>
          <p:cNvPr id="94" name="Google Shape;94;p16"/>
          <p:cNvSpPr/>
          <p:nvPr/>
        </p:nvSpPr>
        <p:spPr>
          <a:xfrm>
            <a:off x="457200" y="496985"/>
            <a:ext cx="8229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202C"/>
              </a:buClr>
              <a:buSzPts val="2800"/>
              <a:buFont typeface="Arial"/>
              <a:buNone/>
            </a:pPr>
            <a:r>
              <a:rPr b="1" i="0" lang="en-US" sz="2800" u="none" cap="none" strike="noStrike">
                <a:solidFill>
                  <a:srgbClr val="1A202C"/>
                </a:solidFill>
                <a:latin typeface="Arial"/>
                <a:ea typeface="Arial"/>
                <a:cs typeface="Arial"/>
                <a:sym typeface="Arial"/>
              </a:rPr>
              <a:t>기존 체계의 한계</a:t>
            </a:r>
            <a:endParaRPr b="0" i="0" sz="2800" u="none" cap="none" strike="noStrike">
              <a:solidFill>
                <a:schemeClr val="dk1"/>
              </a:solidFill>
              <a:latin typeface="Arial"/>
              <a:ea typeface="Arial"/>
              <a:cs typeface="Arial"/>
              <a:sym typeface="Arial"/>
            </a:endParaRPr>
          </a:p>
        </p:txBody>
      </p:sp>
      <p:cxnSp>
        <p:nvCxnSpPr>
          <p:cNvPr id="95" name="Google Shape;95;p16"/>
          <p:cNvCxnSpPr/>
          <p:nvPr/>
        </p:nvCxnSpPr>
        <p:spPr>
          <a:xfrm>
            <a:off x="457200" y="1228505"/>
            <a:ext cx="8229600" cy="0"/>
          </a:xfrm>
          <a:prstGeom prst="straightConnector1">
            <a:avLst/>
          </a:prstGeom>
          <a:noFill/>
          <a:ln cap="flat" cmpd="sng" w="9525">
            <a:solidFill>
              <a:srgbClr val="D1D5DB"/>
            </a:solidFill>
            <a:prstDash val="solid"/>
            <a:round/>
            <a:headEnd len="sm" w="sm" type="none"/>
            <a:tailEnd len="sm" w="sm" type="none"/>
          </a:ln>
        </p:spPr>
      </p:cxnSp>
      <p:sp>
        <p:nvSpPr>
          <p:cNvPr id="96" name="Google Shape;96;p16"/>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반복 확인과 오류 누락으로 검수 시간과 업무 부담이 증가</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p17"/>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문제 상황 예시</a:t>
            </a:r>
            <a:endParaRPr/>
          </a:p>
        </p:txBody>
      </p:sp>
      <p:sp>
        <p:nvSpPr>
          <p:cNvPr id="102" name="Google Shape;102;p17"/>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반복 검수의 문제</a:t>
            </a:r>
            <a:endParaRPr/>
          </a:p>
        </p:txBody>
      </p:sp>
      <p:pic>
        <p:nvPicPr>
          <p:cNvPr descr="image.png" id="103" name="Google Shape;103;p17"/>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104" name="Google Shape;104;p17"/>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17"/>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놓치기 쉬운 오류와 반복되는 연도별 검수</a:t>
            </a:r>
            <a:endParaRPr/>
          </a:p>
        </p:txBody>
      </p:sp>
      <p:sp>
        <p:nvSpPr>
          <p:cNvPr id="106" name="Google Shape;106;p17"/>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107" name="Google Shape;107;p17"/>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4</a:t>
            </a:r>
            <a:endParaRPr/>
          </a:p>
        </p:txBody>
      </p:sp>
      <p:sp>
        <p:nvSpPr>
          <p:cNvPr id="108" name="Google Shape;108;p17"/>
          <p:cNvSpPr/>
          <p:nvPr/>
        </p:nvSpPr>
        <p:spPr>
          <a:xfrm>
            <a:off x="502920" y="1768083"/>
            <a:ext cx="3858768" cy="2811231"/>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17"/>
          <p:cNvSpPr/>
          <p:nvPr/>
        </p:nvSpPr>
        <p:spPr>
          <a:xfrm>
            <a:off x="502920" y="1768083"/>
            <a:ext cx="3858768" cy="384048"/>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17"/>
          <p:cNvSpPr txBox="1"/>
          <p:nvPr/>
        </p:nvSpPr>
        <p:spPr>
          <a:xfrm>
            <a:off x="713232" y="1867936"/>
            <a:ext cx="3438144"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Arial"/>
                <a:ea typeface="Arial"/>
                <a:cs typeface="Arial"/>
                <a:sym typeface="Arial"/>
              </a:rPr>
              <a:t>계산 오류·오탈자 누락 사례</a:t>
            </a:r>
            <a:endParaRPr/>
          </a:p>
        </p:txBody>
      </p:sp>
      <p:sp>
        <p:nvSpPr>
          <p:cNvPr id="111" name="Google Shape;111;p17"/>
          <p:cNvSpPr/>
          <p:nvPr/>
        </p:nvSpPr>
        <p:spPr>
          <a:xfrm>
            <a:off x="731520" y="2290389"/>
            <a:ext cx="3401568" cy="1613001"/>
          </a:xfrm>
          <a:prstGeom prst="rect">
            <a:avLst/>
          </a:prstGeom>
          <a:solidFill>
            <a:srgbClr val="F7F9FB"/>
          </a:solidFill>
          <a:ln cap="flat" cmpd="sng" w="15225">
            <a:solidFill>
              <a:srgbClr val="B7C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17"/>
          <p:cNvSpPr txBox="1"/>
          <p:nvPr/>
        </p:nvSpPr>
        <p:spPr>
          <a:xfrm>
            <a:off x="2176272" y="2697480"/>
            <a:ext cx="512064" cy="4754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500" u="none" cap="none" strike="noStrike">
                <a:solidFill>
                  <a:srgbClr val="1F5A91"/>
                </a:solidFill>
                <a:latin typeface="Arial"/>
                <a:ea typeface="Arial"/>
                <a:cs typeface="Arial"/>
                <a:sym typeface="Arial"/>
              </a:rPr>
              <a:t>+</a:t>
            </a:r>
            <a:endParaRPr/>
          </a:p>
        </p:txBody>
      </p:sp>
      <p:sp>
        <p:nvSpPr>
          <p:cNvPr id="113" name="Google Shape;113;p17"/>
          <p:cNvSpPr txBox="1"/>
          <p:nvPr/>
        </p:nvSpPr>
        <p:spPr>
          <a:xfrm>
            <a:off x="950976" y="3112251"/>
            <a:ext cx="2962656"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오류 사례 이미지 삽입</a:t>
            </a:r>
            <a:endParaRPr/>
          </a:p>
        </p:txBody>
      </p:sp>
      <p:sp>
        <p:nvSpPr>
          <p:cNvPr id="114" name="Google Shape;114;p17"/>
          <p:cNvSpPr txBox="1"/>
          <p:nvPr/>
        </p:nvSpPr>
        <p:spPr>
          <a:xfrm>
            <a:off x="950976" y="3388766"/>
            <a:ext cx="2962656"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00" u="none" cap="none" strike="noStrike">
                <a:solidFill>
                  <a:srgbClr val="667085"/>
                </a:solidFill>
                <a:latin typeface="Arial"/>
                <a:ea typeface="Arial"/>
                <a:cs typeface="Arial"/>
                <a:sym typeface="Arial"/>
              </a:rPr>
              <a:t>합계 불일치·오탈자가 보이는 표 화면 권장</a:t>
            </a:r>
            <a:endParaRPr/>
          </a:p>
        </p:txBody>
      </p:sp>
      <p:sp>
        <p:nvSpPr>
          <p:cNvPr id="115" name="Google Shape;115;p17"/>
          <p:cNvSpPr/>
          <p:nvPr/>
        </p:nvSpPr>
        <p:spPr>
          <a:xfrm>
            <a:off x="731520" y="4041648"/>
            <a:ext cx="3401568" cy="330281"/>
          </a:xfrm>
          <a:prstGeom prst="rect">
            <a:avLst/>
          </a:prstGeom>
          <a:solidFill>
            <a:srgbClr val="FDEC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6" name="Google Shape;116;p17"/>
          <p:cNvSpPr txBox="1"/>
          <p:nvPr/>
        </p:nvSpPr>
        <p:spPr>
          <a:xfrm>
            <a:off x="932688" y="4133819"/>
            <a:ext cx="2999232"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00" u="none" cap="none" strike="noStrike">
                <a:solidFill>
                  <a:srgbClr val="C94655"/>
                </a:solidFill>
                <a:latin typeface="Arial"/>
                <a:ea typeface="Arial"/>
                <a:cs typeface="Arial"/>
                <a:sym typeface="Arial"/>
              </a:rPr>
              <a:t>계산 불일치  ·  오탈자  ·  번역 표현</a:t>
            </a:r>
            <a:endParaRPr/>
          </a:p>
        </p:txBody>
      </p:sp>
      <p:sp>
        <p:nvSpPr>
          <p:cNvPr id="117" name="Google Shape;117;p17"/>
          <p:cNvSpPr/>
          <p:nvPr/>
        </p:nvSpPr>
        <p:spPr>
          <a:xfrm>
            <a:off x="4599432" y="1768083"/>
            <a:ext cx="4041648" cy="2811231"/>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17"/>
          <p:cNvSpPr/>
          <p:nvPr/>
        </p:nvSpPr>
        <p:spPr>
          <a:xfrm>
            <a:off x="4599432" y="1768083"/>
            <a:ext cx="4041648" cy="384048"/>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 name="Google Shape;119;p17"/>
          <p:cNvSpPr txBox="1"/>
          <p:nvPr/>
        </p:nvSpPr>
        <p:spPr>
          <a:xfrm>
            <a:off x="4809744" y="1867936"/>
            <a:ext cx="3621024"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Arial"/>
                <a:ea typeface="Arial"/>
                <a:cs typeface="Arial"/>
                <a:sym typeface="Arial"/>
              </a:rPr>
              <a:t>표 구조는 같고, 셀 내용만 변경</a:t>
            </a:r>
            <a:endParaRPr/>
          </a:p>
        </p:txBody>
      </p:sp>
      <p:sp>
        <p:nvSpPr>
          <p:cNvPr id="120" name="Google Shape;120;p17"/>
          <p:cNvSpPr/>
          <p:nvPr/>
        </p:nvSpPr>
        <p:spPr>
          <a:xfrm>
            <a:off x="4828032" y="2290389"/>
            <a:ext cx="1645920" cy="1490106"/>
          </a:xfrm>
          <a:prstGeom prst="rect">
            <a:avLst/>
          </a:prstGeom>
          <a:solidFill>
            <a:srgbClr val="F7F9FB"/>
          </a:solidFill>
          <a:ln cap="flat" cmpd="sng" w="15225">
            <a:solidFill>
              <a:srgbClr val="B7C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17"/>
          <p:cNvSpPr txBox="1"/>
          <p:nvPr/>
        </p:nvSpPr>
        <p:spPr>
          <a:xfrm>
            <a:off x="5394960" y="2636032"/>
            <a:ext cx="512064" cy="4754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500" u="none" cap="none" strike="noStrike">
                <a:solidFill>
                  <a:srgbClr val="1F5A91"/>
                </a:solidFill>
                <a:latin typeface="Arial"/>
                <a:ea typeface="Arial"/>
                <a:cs typeface="Arial"/>
                <a:sym typeface="Arial"/>
              </a:rPr>
              <a:t>+</a:t>
            </a:r>
            <a:endParaRPr/>
          </a:p>
        </p:txBody>
      </p:sp>
      <p:sp>
        <p:nvSpPr>
          <p:cNvPr id="122" name="Google Shape;122;p17"/>
          <p:cNvSpPr txBox="1"/>
          <p:nvPr/>
        </p:nvSpPr>
        <p:spPr>
          <a:xfrm>
            <a:off x="5047488" y="3050804"/>
            <a:ext cx="120700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전년도 표</a:t>
            </a:r>
            <a:endParaRPr/>
          </a:p>
        </p:txBody>
      </p:sp>
      <p:sp>
        <p:nvSpPr>
          <p:cNvPr id="123" name="Google Shape;123;p17"/>
          <p:cNvSpPr txBox="1"/>
          <p:nvPr/>
        </p:nvSpPr>
        <p:spPr>
          <a:xfrm>
            <a:off x="5047488" y="3327318"/>
            <a:ext cx="1207008"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00" u="none" cap="none" strike="noStrike">
                <a:solidFill>
                  <a:srgbClr val="667085"/>
                </a:solidFill>
                <a:latin typeface="Arial"/>
                <a:ea typeface="Arial"/>
                <a:cs typeface="Arial"/>
                <a:sym typeface="Arial"/>
              </a:rPr>
              <a:t>이미지 삽입</a:t>
            </a:r>
            <a:endParaRPr/>
          </a:p>
        </p:txBody>
      </p:sp>
      <p:sp>
        <p:nvSpPr>
          <p:cNvPr id="124" name="Google Shape;124;p17"/>
          <p:cNvSpPr/>
          <p:nvPr/>
        </p:nvSpPr>
        <p:spPr>
          <a:xfrm>
            <a:off x="6766560" y="2290389"/>
            <a:ext cx="1645920" cy="1490106"/>
          </a:xfrm>
          <a:prstGeom prst="rect">
            <a:avLst/>
          </a:prstGeom>
          <a:solidFill>
            <a:srgbClr val="F7F9FB"/>
          </a:solidFill>
          <a:ln cap="flat" cmpd="sng" w="15225">
            <a:solidFill>
              <a:srgbClr val="B7C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17"/>
          <p:cNvSpPr txBox="1"/>
          <p:nvPr/>
        </p:nvSpPr>
        <p:spPr>
          <a:xfrm>
            <a:off x="7333488" y="2636032"/>
            <a:ext cx="512064" cy="4754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500" u="none" cap="none" strike="noStrike">
                <a:solidFill>
                  <a:srgbClr val="1F5A91"/>
                </a:solidFill>
                <a:latin typeface="Arial"/>
                <a:ea typeface="Arial"/>
                <a:cs typeface="Arial"/>
                <a:sym typeface="Arial"/>
              </a:rPr>
              <a:t>+</a:t>
            </a:r>
            <a:endParaRPr/>
          </a:p>
        </p:txBody>
      </p:sp>
      <p:sp>
        <p:nvSpPr>
          <p:cNvPr id="126" name="Google Shape;126;p17"/>
          <p:cNvSpPr txBox="1"/>
          <p:nvPr/>
        </p:nvSpPr>
        <p:spPr>
          <a:xfrm>
            <a:off x="6986016" y="3050804"/>
            <a:ext cx="120700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금년도 표</a:t>
            </a:r>
            <a:endParaRPr/>
          </a:p>
        </p:txBody>
      </p:sp>
      <p:sp>
        <p:nvSpPr>
          <p:cNvPr id="127" name="Google Shape;127;p17"/>
          <p:cNvSpPr txBox="1"/>
          <p:nvPr/>
        </p:nvSpPr>
        <p:spPr>
          <a:xfrm>
            <a:off x="6986016" y="3327318"/>
            <a:ext cx="1207008"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00" u="none" cap="none" strike="noStrike">
                <a:solidFill>
                  <a:srgbClr val="667085"/>
                </a:solidFill>
                <a:latin typeface="Arial"/>
                <a:ea typeface="Arial"/>
                <a:cs typeface="Arial"/>
                <a:sym typeface="Arial"/>
              </a:rPr>
              <a:t>이미지 삽입</a:t>
            </a:r>
            <a:endParaRPr/>
          </a:p>
        </p:txBody>
      </p:sp>
      <p:sp>
        <p:nvSpPr>
          <p:cNvPr id="128" name="Google Shape;128;p17"/>
          <p:cNvSpPr/>
          <p:nvPr/>
        </p:nvSpPr>
        <p:spPr>
          <a:xfrm>
            <a:off x="6501384" y="2904865"/>
            <a:ext cx="219456" cy="245790"/>
          </a:xfrm>
          <a:prstGeom prst="right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 name="Google Shape;129;p17"/>
          <p:cNvSpPr/>
          <p:nvPr/>
        </p:nvSpPr>
        <p:spPr>
          <a:xfrm>
            <a:off x="4828032" y="3934114"/>
            <a:ext cx="3584448" cy="437813"/>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0" name="Google Shape;130;p17"/>
          <p:cNvSpPr txBox="1"/>
          <p:nvPr/>
        </p:nvSpPr>
        <p:spPr>
          <a:xfrm>
            <a:off x="5038344" y="4003243"/>
            <a:ext cx="115214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10" u="none" cap="none" strike="noStrike">
                <a:solidFill>
                  <a:srgbClr val="1F5A91"/>
                </a:solidFill>
                <a:latin typeface="Arial"/>
                <a:ea typeface="Arial"/>
                <a:cs typeface="Arial"/>
                <a:sym typeface="Arial"/>
              </a:rPr>
              <a:t>구조·항목 동일</a:t>
            </a:r>
            <a:endParaRPr/>
          </a:p>
        </p:txBody>
      </p:sp>
      <p:sp>
        <p:nvSpPr>
          <p:cNvPr id="131" name="Google Shape;131;p17"/>
          <p:cNvSpPr txBox="1"/>
          <p:nvPr/>
        </p:nvSpPr>
        <p:spPr>
          <a:xfrm>
            <a:off x="6236208" y="3995562"/>
            <a:ext cx="384048"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400" u="none" cap="none" strike="noStrike">
                <a:solidFill>
                  <a:srgbClr val="1F5A91"/>
                </a:solidFill>
                <a:latin typeface="Arial"/>
                <a:ea typeface="Arial"/>
                <a:cs typeface="Arial"/>
                <a:sym typeface="Arial"/>
              </a:rPr>
              <a:t>→</a:t>
            </a:r>
            <a:endParaRPr/>
          </a:p>
        </p:txBody>
      </p:sp>
      <p:sp>
        <p:nvSpPr>
          <p:cNvPr id="132" name="Google Shape;132;p17"/>
          <p:cNvSpPr txBox="1"/>
          <p:nvPr/>
        </p:nvSpPr>
        <p:spPr>
          <a:xfrm>
            <a:off x="6675120" y="4003243"/>
            <a:ext cx="1408176"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10" u="none" cap="none" strike="noStrike">
                <a:solidFill>
                  <a:srgbClr val="0C2F61"/>
                </a:solidFill>
                <a:latin typeface="Arial"/>
                <a:ea typeface="Arial"/>
                <a:cs typeface="Arial"/>
                <a:sym typeface="Arial"/>
              </a:rPr>
              <a:t>셀 값만 변경</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18"/>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프로젝트 소개</a:t>
            </a:r>
            <a:endParaRPr/>
          </a:p>
        </p:txBody>
      </p:sp>
      <p:sp>
        <p:nvSpPr>
          <p:cNvPr id="139" name="Google Shape;139;p18"/>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검수 체계 전환</a:t>
            </a:r>
            <a:endParaRPr/>
          </a:p>
        </p:txBody>
      </p:sp>
      <p:pic>
        <p:nvPicPr>
          <p:cNvPr descr="image.png" id="140" name="Google Shape;140;p18"/>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141" name="Google Shape;141;p18"/>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18"/>
          <p:cNvSpPr txBox="1"/>
          <p:nvPr/>
        </p:nvSpPr>
        <p:spPr>
          <a:xfrm>
            <a:off x="457200" y="1316736"/>
            <a:ext cx="8138100" cy="29250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통계연보 검수 보조 시스템</a:t>
            </a:r>
            <a:endParaRPr/>
          </a:p>
        </p:txBody>
      </p:sp>
      <p:sp>
        <p:nvSpPr>
          <p:cNvPr id="143" name="Google Shape;143;p18"/>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144" name="Google Shape;144;p18"/>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3</a:t>
            </a:r>
            <a:endParaRPr/>
          </a:p>
        </p:txBody>
      </p:sp>
      <p:sp>
        <p:nvSpPr>
          <p:cNvPr id="145" name="Google Shape;145;p18"/>
          <p:cNvSpPr/>
          <p:nvPr/>
        </p:nvSpPr>
        <p:spPr>
          <a:xfrm>
            <a:off x="502920" y="1768083"/>
            <a:ext cx="3840480" cy="2519354"/>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p18"/>
          <p:cNvSpPr/>
          <p:nvPr/>
        </p:nvSpPr>
        <p:spPr>
          <a:xfrm>
            <a:off x="502920" y="1768083"/>
            <a:ext cx="3840480" cy="399409"/>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18"/>
          <p:cNvSpPr txBox="1"/>
          <p:nvPr/>
        </p:nvSpPr>
        <p:spPr>
          <a:xfrm>
            <a:off x="685800" y="1875617"/>
            <a:ext cx="3474720"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기존 검수 방식</a:t>
            </a:r>
            <a:endParaRPr/>
          </a:p>
        </p:txBody>
      </p:sp>
      <p:sp>
        <p:nvSpPr>
          <p:cNvPr id="148" name="Google Shape;148;p18"/>
          <p:cNvSpPr/>
          <p:nvPr/>
        </p:nvSpPr>
        <p:spPr>
          <a:xfrm>
            <a:off x="4800600" y="1768083"/>
            <a:ext cx="3840480" cy="2519354"/>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18"/>
          <p:cNvSpPr/>
          <p:nvPr/>
        </p:nvSpPr>
        <p:spPr>
          <a:xfrm>
            <a:off x="4800600" y="1768083"/>
            <a:ext cx="3840480" cy="399409"/>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18"/>
          <p:cNvSpPr txBox="1"/>
          <p:nvPr/>
        </p:nvSpPr>
        <p:spPr>
          <a:xfrm>
            <a:off x="4983480" y="1875617"/>
            <a:ext cx="3474720"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통계연보 검수 보조 시스템</a:t>
            </a:r>
            <a:endParaRPr/>
          </a:p>
        </p:txBody>
      </p:sp>
      <p:sp>
        <p:nvSpPr>
          <p:cNvPr id="151" name="Google Shape;151;p18"/>
          <p:cNvSpPr/>
          <p:nvPr/>
        </p:nvSpPr>
        <p:spPr>
          <a:xfrm>
            <a:off x="749808" y="2290389"/>
            <a:ext cx="3346704" cy="353324"/>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18"/>
          <p:cNvSpPr txBox="1"/>
          <p:nvPr/>
        </p:nvSpPr>
        <p:spPr>
          <a:xfrm>
            <a:off x="841248" y="2321112"/>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88" u="none" cap="none" strike="noStrike">
                <a:solidFill>
                  <a:srgbClr val="0C2F61"/>
                </a:solidFill>
                <a:latin typeface="Arial"/>
                <a:ea typeface="Arial"/>
                <a:cs typeface="Arial"/>
                <a:sym typeface="Arial"/>
              </a:rPr>
              <a:t>●</a:t>
            </a:r>
            <a:endParaRPr/>
          </a:p>
        </p:txBody>
      </p:sp>
      <p:sp>
        <p:nvSpPr>
          <p:cNvPr id="153" name="Google Shape;153;p18"/>
          <p:cNvSpPr txBox="1"/>
          <p:nvPr/>
        </p:nvSpPr>
        <p:spPr>
          <a:xfrm>
            <a:off x="841248" y="2321112"/>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80" u="none" cap="none" strike="noStrike">
                <a:solidFill>
                  <a:srgbClr val="FFFFFF"/>
                </a:solidFill>
                <a:latin typeface="Arial"/>
                <a:ea typeface="Arial"/>
                <a:cs typeface="Arial"/>
                <a:sym typeface="Arial"/>
              </a:rPr>
              <a:t>1</a:t>
            </a:r>
            <a:endParaRPr/>
          </a:p>
        </p:txBody>
      </p:sp>
      <p:sp>
        <p:nvSpPr>
          <p:cNvPr id="154" name="Google Shape;154;p18"/>
          <p:cNvSpPr txBox="1"/>
          <p:nvPr/>
        </p:nvSpPr>
        <p:spPr>
          <a:xfrm>
            <a:off x="1298448" y="2367198"/>
            <a:ext cx="2578608"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172331"/>
                </a:solidFill>
                <a:latin typeface="Arial"/>
                <a:ea typeface="Arial"/>
                <a:cs typeface="Arial"/>
                <a:sym typeface="Arial"/>
              </a:rPr>
              <a:t>수백 개의 표를 반복 확인</a:t>
            </a:r>
            <a:endParaRPr/>
          </a:p>
        </p:txBody>
      </p:sp>
      <p:sp>
        <p:nvSpPr>
          <p:cNvPr id="155" name="Google Shape;155;p18"/>
          <p:cNvSpPr/>
          <p:nvPr/>
        </p:nvSpPr>
        <p:spPr>
          <a:xfrm>
            <a:off x="5047488" y="2290389"/>
            <a:ext cx="3346704" cy="353324"/>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18"/>
          <p:cNvSpPr txBox="1"/>
          <p:nvPr/>
        </p:nvSpPr>
        <p:spPr>
          <a:xfrm>
            <a:off x="5193792" y="2344155"/>
            <a:ext cx="292608" cy="25603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F5A91"/>
                </a:solidFill>
                <a:latin typeface="Arial"/>
                <a:ea typeface="Arial"/>
                <a:cs typeface="Arial"/>
                <a:sym typeface="Arial"/>
              </a:rPr>
              <a:t>✓</a:t>
            </a:r>
            <a:endParaRPr/>
          </a:p>
        </p:txBody>
      </p:sp>
      <p:sp>
        <p:nvSpPr>
          <p:cNvPr id="157" name="Google Shape;157;p18"/>
          <p:cNvSpPr txBox="1"/>
          <p:nvPr/>
        </p:nvSpPr>
        <p:spPr>
          <a:xfrm>
            <a:off x="5577840" y="2367198"/>
            <a:ext cx="2596896"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0C2F61"/>
                </a:solidFill>
                <a:latin typeface="Arial"/>
                <a:ea typeface="Arial"/>
                <a:cs typeface="Arial"/>
                <a:sym typeface="Arial"/>
              </a:rPr>
              <a:t>표별 규칙을 생성해 일괄 검수</a:t>
            </a:r>
            <a:endParaRPr/>
          </a:p>
        </p:txBody>
      </p:sp>
      <p:sp>
        <p:nvSpPr>
          <p:cNvPr id="158" name="Google Shape;158;p18"/>
          <p:cNvSpPr/>
          <p:nvPr/>
        </p:nvSpPr>
        <p:spPr>
          <a:xfrm>
            <a:off x="749808" y="2751246"/>
            <a:ext cx="3346704" cy="353324"/>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18"/>
          <p:cNvSpPr txBox="1"/>
          <p:nvPr/>
        </p:nvSpPr>
        <p:spPr>
          <a:xfrm>
            <a:off x="841248" y="2781970"/>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88" u="none" cap="none" strike="noStrike">
                <a:solidFill>
                  <a:srgbClr val="0C2F61"/>
                </a:solidFill>
                <a:latin typeface="Arial"/>
                <a:ea typeface="Arial"/>
                <a:cs typeface="Arial"/>
                <a:sym typeface="Arial"/>
              </a:rPr>
              <a:t>●</a:t>
            </a:r>
            <a:endParaRPr/>
          </a:p>
        </p:txBody>
      </p:sp>
      <p:sp>
        <p:nvSpPr>
          <p:cNvPr id="160" name="Google Shape;160;p18"/>
          <p:cNvSpPr txBox="1"/>
          <p:nvPr/>
        </p:nvSpPr>
        <p:spPr>
          <a:xfrm>
            <a:off x="841248" y="2781970"/>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80" u="none" cap="none" strike="noStrike">
                <a:solidFill>
                  <a:srgbClr val="FFFFFF"/>
                </a:solidFill>
                <a:latin typeface="Arial"/>
                <a:ea typeface="Arial"/>
                <a:cs typeface="Arial"/>
                <a:sym typeface="Arial"/>
              </a:rPr>
              <a:t>2</a:t>
            </a:r>
            <a:endParaRPr/>
          </a:p>
        </p:txBody>
      </p:sp>
      <p:sp>
        <p:nvSpPr>
          <p:cNvPr id="161" name="Google Shape;161;p18"/>
          <p:cNvSpPr txBox="1"/>
          <p:nvPr/>
        </p:nvSpPr>
        <p:spPr>
          <a:xfrm>
            <a:off x="1298448" y="2828056"/>
            <a:ext cx="2578608"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172331"/>
                </a:solidFill>
                <a:latin typeface="Arial"/>
                <a:ea typeface="Arial"/>
                <a:cs typeface="Arial"/>
                <a:sym typeface="Arial"/>
              </a:rPr>
              <a:t>계산 오류·오탈자 누락 위험</a:t>
            </a:r>
            <a:endParaRPr/>
          </a:p>
        </p:txBody>
      </p:sp>
      <p:sp>
        <p:nvSpPr>
          <p:cNvPr id="162" name="Google Shape;162;p18"/>
          <p:cNvSpPr/>
          <p:nvPr/>
        </p:nvSpPr>
        <p:spPr>
          <a:xfrm>
            <a:off x="5047488" y="2751246"/>
            <a:ext cx="3346704" cy="353324"/>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18"/>
          <p:cNvSpPr txBox="1"/>
          <p:nvPr/>
        </p:nvSpPr>
        <p:spPr>
          <a:xfrm>
            <a:off x="5193792" y="2805013"/>
            <a:ext cx="292608" cy="25603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F5A91"/>
                </a:solidFill>
                <a:latin typeface="Arial"/>
                <a:ea typeface="Arial"/>
                <a:cs typeface="Arial"/>
                <a:sym typeface="Arial"/>
              </a:rPr>
              <a:t>✓</a:t>
            </a:r>
            <a:endParaRPr/>
          </a:p>
        </p:txBody>
      </p:sp>
      <p:sp>
        <p:nvSpPr>
          <p:cNvPr id="164" name="Google Shape;164;p18"/>
          <p:cNvSpPr txBox="1"/>
          <p:nvPr/>
        </p:nvSpPr>
        <p:spPr>
          <a:xfrm>
            <a:off x="5577840" y="2828056"/>
            <a:ext cx="2596896"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규칙 엔진과 선택적 LLM 보조</a:t>
            </a:r>
            <a:endParaRPr/>
          </a:p>
        </p:txBody>
      </p:sp>
      <p:sp>
        <p:nvSpPr>
          <p:cNvPr id="165" name="Google Shape;165;p18"/>
          <p:cNvSpPr/>
          <p:nvPr/>
        </p:nvSpPr>
        <p:spPr>
          <a:xfrm>
            <a:off x="749808" y="3212104"/>
            <a:ext cx="3346704" cy="353324"/>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18"/>
          <p:cNvSpPr txBox="1"/>
          <p:nvPr/>
        </p:nvSpPr>
        <p:spPr>
          <a:xfrm>
            <a:off x="841248" y="3242828"/>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88" u="none" cap="none" strike="noStrike">
                <a:solidFill>
                  <a:srgbClr val="0C2F61"/>
                </a:solidFill>
                <a:latin typeface="Arial"/>
                <a:ea typeface="Arial"/>
                <a:cs typeface="Arial"/>
                <a:sym typeface="Arial"/>
              </a:rPr>
              <a:t>●</a:t>
            </a:r>
            <a:endParaRPr/>
          </a:p>
        </p:txBody>
      </p:sp>
      <p:sp>
        <p:nvSpPr>
          <p:cNvPr id="167" name="Google Shape;167;p18"/>
          <p:cNvSpPr txBox="1"/>
          <p:nvPr/>
        </p:nvSpPr>
        <p:spPr>
          <a:xfrm>
            <a:off x="841248" y="3242828"/>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80" u="none" cap="none" strike="noStrike">
                <a:solidFill>
                  <a:srgbClr val="FFFFFF"/>
                </a:solidFill>
                <a:latin typeface="Arial"/>
                <a:ea typeface="Arial"/>
                <a:cs typeface="Arial"/>
                <a:sym typeface="Arial"/>
              </a:rPr>
              <a:t>3</a:t>
            </a:r>
            <a:endParaRPr/>
          </a:p>
        </p:txBody>
      </p:sp>
      <p:sp>
        <p:nvSpPr>
          <p:cNvPr id="168" name="Google Shape;168;p18"/>
          <p:cNvSpPr txBox="1"/>
          <p:nvPr/>
        </p:nvSpPr>
        <p:spPr>
          <a:xfrm>
            <a:off x="1298448" y="3288913"/>
            <a:ext cx="2578608"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172331"/>
                </a:solidFill>
                <a:latin typeface="Arial"/>
                <a:ea typeface="Arial"/>
                <a:cs typeface="Arial"/>
                <a:sym typeface="Arial"/>
              </a:rPr>
              <a:t>매년 유사한 표를 다시 검토</a:t>
            </a:r>
            <a:endParaRPr/>
          </a:p>
        </p:txBody>
      </p:sp>
      <p:sp>
        <p:nvSpPr>
          <p:cNvPr id="169" name="Google Shape;169;p18"/>
          <p:cNvSpPr/>
          <p:nvPr/>
        </p:nvSpPr>
        <p:spPr>
          <a:xfrm>
            <a:off x="5047488" y="3212104"/>
            <a:ext cx="3346704" cy="353324"/>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p18"/>
          <p:cNvSpPr txBox="1"/>
          <p:nvPr/>
        </p:nvSpPr>
        <p:spPr>
          <a:xfrm>
            <a:off x="5193792" y="3265870"/>
            <a:ext cx="292608" cy="25603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F5A91"/>
                </a:solidFill>
                <a:latin typeface="Arial"/>
                <a:ea typeface="Arial"/>
                <a:cs typeface="Arial"/>
                <a:sym typeface="Arial"/>
              </a:rPr>
              <a:t>✓</a:t>
            </a:r>
            <a:endParaRPr/>
          </a:p>
        </p:txBody>
      </p:sp>
      <p:sp>
        <p:nvSpPr>
          <p:cNvPr id="171" name="Google Shape;171;p18"/>
          <p:cNvSpPr txBox="1"/>
          <p:nvPr/>
        </p:nvSpPr>
        <p:spPr>
          <a:xfrm>
            <a:off x="5577840" y="3288913"/>
            <a:ext cx="2596896"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0C2F61"/>
                </a:solidFill>
                <a:latin typeface="Arial"/>
                <a:ea typeface="Arial"/>
                <a:cs typeface="Arial"/>
                <a:sym typeface="Arial"/>
              </a:rPr>
              <a:t>동일 구조는 검수 프로파일 재사용</a:t>
            </a:r>
            <a:endParaRPr/>
          </a:p>
        </p:txBody>
      </p:sp>
      <p:sp>
        <p:nvSpPr>
          <p:cNvPr id="172" name="Google Shape;172;p18"/>
          <p:cNvSpPr/>
          <p:nvPr/>
        </p:nvSpPr>
        <p:spPr>
          <a:xfrm>
            <a:off x="749808" y="3672961"/>
            <a:ext cx="3346704" cy="353324"/>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18"/>
          <p:cNvSpPr txBox="1"/>
          <p:nvPr/>
        </p:nvSpPr>
        <p:spPr>
          <a:xfrm>
            <a:off x="841248" y="3703685"/>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88" u="none" cap="none" strike="noStrike">
                <a:solidFill>
                  <a:srgbClr val="0C2F61"/>
                </a:solidFill>
                <a:latin typeface="Arial"/>
                <a:ea typeface="Arial"/>
                <a:cs typeface="Arial"/>
                <a:sym typeface="Arial"/>
              </a:rPr>
              <a:t>●</a:t>
            </a:r>
            <a:endParaRPr/>
          </a:p>
        </p:txBody>
      </p:sp>
      <p:sp>
        <p:nvSpPr>
          <p:cNvPr id="174" name="Google Shape;174;p18"/>
          <p:cNvSpPr txBox="1"/>
          <p:nvPr/>
        </p:nvSpPr>
        <p:spPr>
          <a:xfrm>
            <a:off x="841248" y="3703685"/>
            <a:ext cx="329184" cy="3291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80" u="none" cap="none" strike="noStrike">
                <a:solidFill>
                  <a:srgbClr val="FFFFFF"/>
                </a:solidFill>
                <a:latin typeface="Arial"/>
                <a:ea typeface="Arial"/>
                <a:cs typeface="Arial"/>
                <a:sym typeface="Arial"/>
              </a:rPr>
              <a:t>4</a:t>
            </a:r>
            <a:endParaRPr/>
          </a:p>
        </p:txBody>
      </p:sp>
      <p:sp>
        <p:nvSpPr>
          <p:cNvPr id="175" name="Google Shape;175;p18"/>
          <p:cNvSpPr txBox="1"/>
          <p:nvPr/>
        </p:nvSpPr>
        <p:spPr>
          <a:xfrm>
            <a:off x="1298448" y="3749771"/>
            <a:ext cx="2578608"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172331"/>
                </a:solidFill>
                <a:latin typeface="Arial"/>
                <a:ea typeface="Arial"/>
                <a:cs typeface="Arial"/>
                <a:sym typeface="Arial"/>
              </a:rPr>
              <a:t>검수 기준과 내역 공유 어려움</a:t>
            </a:r>
            <a:endParaRPr/>
          </a:p>
        </p:txBody>
      </p:sp>
      <p:sp>
        <p:nvSpPr>
          <p:cNvPr id="176" name="Google Shape;176;p18"/>
          <p:cNvSpPr/>
          <p:nvPr/>
        </p:nvSpPr>
        <p:spPr>
          <a:xfrm>
            <a:off x="5047488" y="3672961"/>
            <a:ext cx="3346704" cy="353324"/>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18"/>
          <p:cNvSpPr txBox="1"/>
          <p:nvPr/>
        </p:nvSpPr>
        <p:spPr>
          <a:xfrm>
            <a:off x="5193792" y="3726727"/>
            <a:ext cx="292608" cy="25603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00" u="none" cap="none" strike="noStrike">
                <a:solidFill>
                  <a:srgbClr val="1F5A91"/>
                </a:solidFill>
                <a:latin typeface="Arial"/>
                <a:ea typeface="Arial"/>
                <a:cs typeface="Arial"/>
                <a:sym typeface="Arial"/>
              </a:rPr>
              <a:t>✓</a:t>
            </a:r>
            <a:endParaRPr/>
          </a:p>
        </p:txBody>
      </p:sp>
      <p:sp>
        <p:nvSpPr>
          <p:cNvPr id="178" name="Google Shape;178;p18"/>
          <p:cNvSpPr txBox="1"/>
          <p:nvPr/>
        </p:nvSpPr>
        <p:spPr>
          <a:xfrm>
            <a:off x="5577840" y="3749771"/>
            <a:ext cx="2596896" cy="20116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000" u="none" cap="none" strike="noStrike">
                <a:solidFill>
                  <a:srgbClr val="0C2F61"/>
                </a:solidFill>
                <a:latin typeface="Arial"/>
                <a:ea typeface="Arial"/>
                <a:cs typeface="Arial"/>
                <a:sym typeface="Arial"/>
              </a:rPr>
              <a:t>통합 화면과 검수 리포트로 공유</a:t>
            </a:r>
            <a:endParaRPr/>
          </a:p>
        </p:txBody>
      </p:sp>
      <p:sp>
        <p:nvSpPr>
          <p:cNvPr id="179" name="Google Shape;179;p18"/>
          <p:cNvSpPr/>
          <p:nvPr/>
        </p:nvSpPr>
        <p:spPr>
          <a:xfrm>
            <a:off x="4370832" y="2904865"/>
            <a:ext cx="310896" cy="307238"/>
          </a:xfrm>
          <a:prstGeom prst="right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18"/>
          <p:cNvSpPr/>
          <p:nvPr/>
        </p:nvSpPr>
        <p:spPr>
          <a:xfrm>
            <a:off x="1078992" y="4441057"/>
            <a:ext cx="6986016" cy="215066"/>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18"/>
          <p:cNvSpPr txBox="1"/>
          <p:nvPr/>
        </p:nvSpPr>
        <p:spPr>
          <a:xfrm>
            <a:off x="1316736" y="4479462"/>
            <a:ext cx="6510528"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반복 대조 업무를 구조화된 검수·수정·재검수 흐름으로 전환</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5" name="Shape 185"/>
        <p:cNvGrpSpPr/>
        <p:nvPr/>
      </p:nvGrpSpPr>
      <p:grpSpPr>
        <a:xfrm>
          <a:off x="0" y="0"/>
          <a:ext cx="0" cy="0"/>
          <a:chOff x="0" y="0"/>
          <a:chExt cx="0" cy="0"/>
        </a:xfrm>
      </p:grpSpPr>
      <p:sp>
        <p:nvSpPr>
          <p:cNvPr id="186" name="Google Shape;186;p19"/>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시스템 소개</a:t>
            </a:r>
            <a:endParaRPr/>
          </a:p>
        </p:txBody>
      </p:sp>
      <p:sp>
        <p:nvSpPr>
          <p:cNvPr id="187" name="Google Shape;187;p19"/>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통계연보 검수 플랫폼</a:t>
            </a:r>
            <a:endParaRPr/>
          </a:p>
        </p:txBody>
      </p:sp>
      <p:pic>
        <p:nvPicPr>
          <p:cNvPr descr="image.png" id="188" name="Google Shape;188;p19"/>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189" name="Google Shape;189;p19"/>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19"/>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업무 현황과 검수 근거를 한 화면에서 확인</a:t>
            </a:r>
            <a:endParaRPr/>
          </a:p>
        </p:txBody>
      </p:sp>
      <p:sp>
        <p:nvSpPr>
          <p:cNvPr id="191" name="Google Shape;191;p19"/>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192" name="Google Shape;192;p19"/>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5</a:t>
            </a:r>
            <a:endParaRPr/>
          </a:p>
        </p:txBody>
      </p:sp>
      <p:sp>
        <p:nvSpPr>
          <p:cNvPr id="193" name="Google Shape;193;p19"/>
          <p:cNvSpPr/>
          <p:nvPr/>
        </p:nvSpPr>
        <p:spPr>
          <a:xfrm>
            <a:off x="492925" y="1792237"/>
            <a:ext cx="5283300" cy="2739600"/>
          </a:xfrm>
          <a:prstGeom prst="roundRect">
            <a:avLst>
              <a:gd fmla="val 5365" name="adj"/>
            </a:avLst>
          </a:prstGeom>
          <a:solidFill>
            <a:srgbClr val="FFFFFF"/>
          </a:solidFill>
          <a:ln cap="flat" cmpd="sng" w="9775">
            <a:solidFill>
              <a:srgbClr val="D1D5DB"/>
            </a:solidFill>
            <a:prstDash val="solid"/>
            <a:round/>
            <a:headEnd len="sm" w="sm" type="none"/>
            <a:tailEnd len="sm" w="sm" type="none"/>
          </a:ln>
          <a:effectLst>
            <a:outerShdw blurRad="104011" rotWithShape="0" algn="bl" dir="8100000" dist="26003">
              <a:srgbClr val="000000">
                <a:alpha val="10200"/>
              </a:srgbClr>
            </a:outerShdw>
          </a:effectLst>
        </p:spPr>
        <p:txBody>
          <a:bodyPr anchorCtr="0" anchor="ctr" bIns="93575" lIns="93575" spcFirstLastPara="1" rIns="93575" wrap="square" tIns="93575">
            <a:noAutofit/>
          </a:bodyPr>
          <a:lstStyle/>
          <a:p>
            <a:pPr indent="0" lvl="0" marL="0" rtl="0" algn="l">
              <a:spcBef>
                <a:spcPts val="0"/>
              </a:spcBef>
              <a:spcAft>
                <a:spcPts val="0"/>
              </a:spcAft>
              <a:buNone/>
            </a:pPr>
            <a:r>
              <a:t/>
            </a:r>
            <a:endParaRPr sz="1433"/>
          </a:p>
        </p:txBody>
      </p:sp>
      <p:sp>
        <p:nvSpPr>
          <p:cNvPr id="194" name="Google Shape;194;p19"/>
          <p:cNvSpPr/>
          <p:nvPr/>
        </p:nvSpPr>
        <p:spPr>
          <a:xfrm>
            <a:off x="6020912" y="1917045"/>
            <a:ext cx="2923500" cy="8229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5" name="Google Shape;195;p19"/>
          <p:cNvSpPr/>
          <p:nvPr/>
        </p:nvSpPr>
        <p:spPr>
          <a:xfrm>
            <a:off x="6020912" y="1917045"/>
            <a:ext cx="44400" cy="822900"/>
          </a:xfrm>
          <a:prstGeom prst="rect">
            <a:avLst/>
          </a:prstGeom>
          <a:solidFill>
            <a:srgbClr val="0C2F6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6" name="Google Shape;196;p19"/>
          <p:cNvSpPr/>
          <p:nvPr/>
        </p:nvSpPr>
        <p:spPr>
          <a:xfrm>
            <a:off x="6050516" y="2248746"/>
            <a:ext cx="370200" cy="1788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1F5A91"/>
              </a:buClr>
              <a:buSzPts val="1100"/>
              <a:buFont typeface="Arial"/>
              <a:buNone/>
            </a:pPr>
            <a:r>
              <a:rPr b="1" i="0" lang="en-US" sz="1100" u="none" cap="none" strike="noStrike">
                <a:solidFill>
                  <a:srgbClr val="1F5A91"/>
                </a:solidFill>
                <a:latin typeface="Noto Sans KR"/>
                <a:ea typeface="Noto Sans KR"/>
                <a:cs typeface="Noto Sans KR"/>
                <a:sym typeface="Noto Sans KR"/>
              </a:rPr>
              <a:t>01</a:t>
            </a:r>
            <a:endParaRPr i="0" sz="1100" u="none" cap="none" strike="noStrike">
              <a:solidFill>
                <a:srgbClr val="000000"/>
              </a:solidFill>
              <a:latin typeface="Noto Sans KR"/>
              <a:ea typeface="Noto Sans KR"/>
              <a:cs typeface="Noto Sans KR"/>
              <a:sym typeface="Noto Sans KR"/>
            </a:endParaRPr>
          </a:p>
        </p:txBody>
      </p:sp>
      <p:sp>
        <p:nvSpPr>
          <p:cNvPr id="197" name="Google Shape;197;p19"/>
          <p:cNvSpPr/>
          <p:nvPr/>
        </p:nvSpPr>
        <p:spPr>
          <a:xfrm>
            <a:off x="6405760" y="2142780"/>
            <a:ext cx="2694600" cy="202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72331"/>
              </a:buClr>
              <a:buSzPts val="1200"/>
              <a:buFont typeface="Arial"/>
              <a:buNone/>
            </a:pPr>
            <a:r>
              <a:rPr b="1" lang="en-US" sz="1200">
                <a:solidFill>
                  <a:srgbClr val="172331"/>
                </a:solidFill>
                <a:latin typeface="Noto Sans KR"/>
                <a:ea typeface="Noto Sans KR"/>
                <a:cs typeface="Noto Sans KR"/>
                <a:sym typeface="Noto Sans KR"/>
              </a:rPr>
              <a:t>연보 및 통계 탐색</a:t>
            </a:r>
            <a:endParaRPr i="0" sz="1200" u="none" cap="none" strike="noStrike">
              <a:solidFill>
                <a:srgbClr val="000000"/>
              </a:solidFill>
              <a:latin typeface="Noto Sans KR"/>
              <a:ea typeface="Noto Sans KR"/>
              <a:cs typeface="Noto Sans KR"/>
              <a:sym typeface="Noto Sans KR"/>
            </a:endParaRPr>
          </a:p>
        </p:txBody>
      </p:sp>
      <p:sp>
        <p:nvSpPr>
          <p:cNvPr id="198" name="Google Shape;198;p19"/>
          <p:cNvSpPr/>
          <p:nvPr/>
        </p:nvSpPr>
        <p:spPr>
          <a:xfrm>
            <a:off x="6405760" y="2364236"/>
            <a:ext cx="2694600" cy="169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66473"/>
              </a:buClr>
              <a:buSzPts val="1000"/>
              <a:buFont typeface="Arial"/>
              <a:buNone/>
            </a:pPr>
            <a:r>
              <a:rPr lang="en-US" sz="1000">
                <a:solidFill>
                  <a:srgbClr val="566473"/>
                </a:solidFill>
                <a:latin typeface="Noto Sans KR"/>
                <a:ea typeface="Noto Sans KR"/>
                <a:cs typeface="Noto Sans KR"/>
                <a:sym typeface="Noto Sans KR"/>
              </a:rPr>
              <a:t>연보 선택과 통계 검색</a:t>
            </a:r>
            <a:endParaRPr i="0" sz="1000" u="none" cap="none" strike="noStrike">
              <a:solidFill>
                <a:srgbClr val="000000"/>
              </a:solidFill>
              <a:latin typeface="Noto Sans KR"/>
              <a:ea typeface="Noto Sans KR"/>
              <a:cs typeface="Noto Sans KR"/>
              <a:sym typeface="Noto Sans KR"/>
            </a:endParaRPr>
          </a:p>
        </p:txBody>
      </p:sp>
      <p:sp>
        <p:nvSpPr>
          <p:cNvPr id="199" name="Google Shape;199;p19"/>
          <p:cNvSpPr/>
          <p:nvPr/>
        </p:nvSpPr>
        <p:spPr>
          <a:xfrm>
            <a:off x="6020912" y="2739990"/>
            <a:ext cx="2923500" cy="823200"/>
          </a:xfrm>
          <a:prstGeom prst="rect">
            <a:avLst/>
          </a:prstGeom>
          <a:solidFill>
            <a:srgbClr val="F8FAFC"/>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0" name="Google Shape;200;p19"/>
          <p:cNvSpPr/>
          <p:nvPr/>
        </p:nvSpPr>
        <p:spPr>
          <a:xfrm>
            <a:off x="6020912" y="2739990"/>
            <a:ext cx="44400" cy="823200"/>
          </a:xfrm>
          <a:prstGeom prst="rect">
            <a:avLst/>
          </a:prstGeom>
          <a:solidFill>
            <a:srgbClr val="1F5A9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1" name="Google Shape;201;p19"/>
          <p:cNvSpPr/>
          <p:nvPr/>
        </p:nvSpPr>
        <p:spPr>
          <a:xfrm>
            <a:off x="6050516" y="3071691"/>
            <a:ext cx="370200" cy="1788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1F5A91"/>
              </a:buClr>
              <a:buSzPts val="1100"/>
              <a:buFont typeface="Arial"/>
              <a:buNone/>
            </a:pPr>
            <a:r>
              <a:rPr b="1" i="0" lang="en-US" sz="1100" u="none" cap="none" strike="noStrike">
                <a:solidFill>
                  <a:srgbClr val="1F5A91"/>
                </a:solidFill>
                <a:latin typeface="Noto Sans KR"/>
                <a:ea typeface="Noto Sans KR"/>
                <a:cs typeface="Noto Sans KR"/>
                <a:sym typeface="Noto Sans KR"/>
              </a:rPr>
              <a:t>02</a:t>
            </a:r>
            <a:endParaRPr i="0" sz="1100" u="none" cap="none" strike="noStrike">
              <a:solidFill>
                <a:srgbClr val="000000"/>
              </a:solidFill>
              <a:latin typeface="Noto Sans KR"/>
              <a:ea typeface="Noto Sans KR"/>
              <a:cs typeface="Noto Sans KR"/>
              <a:sym typeface="Noto Sans KR"/>
            </a:endParaRPr>
          </a:p>
        </p:txBody>
      </p:sp>
      <p:sp>
        <p:nvSpPr>
          <p:cNvPr id="202" name="Google Shape;202;p19"/>
          <p:cNvSpPr/>
          <p:nvPr/>
        </p:nvSpPr>
        <p:spPr>
          <a:xfrm>
            <a:off x="6405760" y="2965725"/>
            <a:ext cx="2694600" cy="202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72331"/>
              </a:buClr>
              <a:buSzPts val="1200"/>
              <a:buFont typeface="Arial"/>
              <a:buNone/>
            </a:pPr>
            <a:r>
              <a:rPr b="1" lang="en-US" sz="1200">
                <a:solidFill>
                  <a:srgbClr val="172331"/>
                </a:solidFill>
                <a:latin typeface="Noto Sans KR"/>
                <a:ea typeface="Noto Sans KR"/>
                <a:cs typeface="Noto Sans KR"/>
                <a:sym typeface="Noto Sans KR"/>
              </a:rPr>
              <a:t>검수 현황 요약</a:t>
            </a:r>
            <a:endParaRPr i="0" sz="1200" u="none" cap="none" strike="noStrike">
              <a:solidFill>
                <a:srgbClr val="000000"/>
              </a:solidFill>
              <a:latin typeface="Noto Sans KR"/>
              <a:ea typeface="Noto Sans KR"/>
              <a:cs typeface="Noto Sans KR"/>
              <a:sym typeface="Noto Sans KR"/>
            </a:endParaRPr>
          </a:p>
        </p:txBody>
      </p:sp>
      <p:sp>
        <p:nvSpPr>
          <p:cNvPr id="203" name="Google Shape;203;p19"/>
          <p:cNvSpPr/>
          <p:nvPr/>
        </p:nvSpPr>
        <p:spPr>
          <a:xfrm>
            <a:off x="6405760" y="3187182"/>
            <a:ext cx="2694600" cy="169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66473"/>
              </a:buClr>
              <a:buSzPts val="1000"/>
              <a:buFont typeface="Arial"/>
              <a:buNone/>
            </a:pPr>
            <a:r>
              <a:rPr lang="en-US" sz="1000">
                <a:solidFill>
                  <a:srgbClr val="566473"/>
                </a:solidFill>
                <a:latin typeface="Noto Sans KR"/>
                <a:ea typeface="Noto Sans KR"/>
                <a:cs typeface="Noto Sans KR"/>
                <a:sym typeface="Noto Sans KR"/>
              </a:rPr>
              <a:t>정상</a:t>
            </a:r>
            <a:r>
              <a:rPr lang="en-US" sz="1000">
                <a:solidFill>
                  <a:srgbClr val="667085"/>
                </a:solidFill>
                <a:latin typeface="Noto Sans KR"/>
                <a:ea typeface="Noto Sans KR"/>
                <a:cs typeface="Noto Sans KR"/>
                <a:sym typeface="Noto Sans KR"/>
              </a:rPr>
              <a:t>·확인 필요·오류 의심 집계</a:t>
            </a:r>
            <a:endParaRPr i="0" sz="1000" u="none" cap="none" strike="noStrike">
              <a:solidFill>
                <a:srgbClr val="000000"/>
              </a:solidFill>
              <a:latin typeface="Noto Sans KR"/>
              <a:ea typeface="Noto Sans KR"/>
              <a:cs typeface="Noto Sans KR"/>
              <a:sym typeface="Noto Sans KR"/>
            </a:endParaRPr>
          </a:p>
        </p:txBody>
      </p:sp>
      <p:sp>
        <p:nvSpPr>
          <p:cNvPr id="204" name="Google Shape;204;p19"/>
          <p:cNvSpPr/>
          <p:nvPr/>
        </p:nvSpPr>
        <p:spPr>
          <a:xfrm>
            <a:off x="6020912" y="3562973"/>
            <a:ext cx="2923500" cy="8229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5" name="Google Shape;205;p19"/>
          <p:cNvSpPr/>
          <p:nvPr/>
        </p:nvSpPr>
        <p:spPr>
          <a:xfrm>
            <a:off x="6020912" y="3562973"/>
            <a:ext cx="44400" cy="822900"/>
          </a:xfrm>
          <a:prstGeom prst="rect">
            <a:avLst/>
          </a:prstGeom>
          <a:solidFill>
            <a:srgbClr val="0C2F61"/>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06" name="Google Shape;206;p19"/>
          <p:cNvSpPr/>
          <p:nvPr/>
        </p:nvSpPr>
        <p:spPr>
          <a:xfrm>
            <a:off x="6050516" y="3894673"/>
            <a:ext cx="370200" cy="178800"/>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Clr>
                <a:srgbClr val="1F5A91"/>
              </a:buClr>
              <a:buSzPts val="1100"/>
              <a:buFont typeface="Arial"/>
              <a:buNone/>
            </a:pPr>
            <a:r>
              <a:rPr b="1" i="0" lang="en-US" sz="1100" u="none" cap="none" strike="noStrike">
                <a:solidFill>
                  <a:srgbClr val="1F5A91"/>
                </a:solidFill>
                <a:latin typeface="Noto Sans KR"/>
                <a:ea typeface="Noto Sans KR"/>
                <a:cs typeface="Noto Sans KR"/>
                <a:sym typeface="Noto Sans KR"/>
              </a:rPr>
              <a:t>03</a:t>
            </a:r>
            <a:endParaRPr i="0" sz="1100" u="none" cap="none" strike="noStrike">
              <a:solidFill>
                <a:srgbClr val="000000"/>
              </a:solidFill>
              <a:latin typeface="Noto Sans KR"/>
              <a:ea typeface="Noto Sans KR"/>
              <a:cs typeface="Noto Sans KR"/>
              <a:sym typeface="Noto Sans KR"/>
            </a:endParaRPr>
          </a:p>
        </p:txBody>
      </p:sp>
      <p:sp>
        <p:nvSpPr>
          <p:cNvPr id="207" name="Google Shape;207;p19"/>
          <p:cNvSpPr/>
          <p:nvPr/>
        </p:nvSpPr>
        <p:spPr>
          <a:xfrm>
            <a:off x="6405760" y="3788708"/>
            <a:ext cx="2694600" cy="2025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172331"/>
              </a:buClr>
              <a:buSzPts val="1200"/>
              <a:buFont typeface="Arial"/>
              <a:buNone/>
            </a:pPr>
            <a:r>
              <a:rPr b="1" lang="en-US" sz="1200">
                <a:solidFill>
                  <a:srgbClr val="172331"/>
                </a:solidFill>
                <a:latin typeface="Noto Sans KR"/>
                <a:ea typeface="Noto Sans KR"/>
                <a:cs typeface="Noto Sans KR"/>
                <a:sym typeface="Noto Sans KR"/>
              </a:rPr>
              <a:t>근거 중심 확인</a:t>
            </a:r>
            <a:endParaRPr i="0" sz="1200" u="none" cap="none" strike="noStrike">
              <a:solidFill>
                <a:srgbClr val="000000"/>
              </a:solidFill>
              <a:latin typeface="Noto Sans KR"/>
              <a:ea typeface="Noto Sans KR"/>
              <a:cs typeface="Noto Sans KR"/>
              <a:sym typeface="Noto Sans KR"/>
            </a:endParaRPr>
          </a:p>
        </p:txBody>
      </p:sp>
      <p:sp>
        <p:nvSpPr>
          <p:cNvPr id="208" name="Google Shape;208;p19"/>
          <p:cNvSpPr/>
          <p:nvPr/>
        </p:nvSpPr>
        <p:spPr>
          <a:xfrm>
            <a:off x="6405760" y="4010164"/>
            <a:ext cx="2694600" cy="169200"/>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Clr>
                <a:srgbClr val="566473"/>
              </a:buClr>
              <a:buSzPts val="1000"/>
              <a:buFont typeface="Arial"/>
              <a:buNone/>
            </a:pPr>
            <a:r>
              <a:rPr lang="en-US" sz="1000">
                <a:solidFill>
                  <a:srgbClr val="566473"/>
                </a:solidFill>
                <a:latin typeface="Noto Sans KR"/>
                <a:ea typeface="Noto Sans KR"/>
                <a:cs typeface="Noto Sans KR"/>
                <a:sym typeface="Noto Sans KR"/>
              </a:rPr>
              <a:t>문제 셀과 계산 근거 셀 연결</a:t>
            </a:r>
            <a:endParaRPr i="0" sz="1000" u="none" cap="none" strike="noStrike">
              <a:solidFill>
                <a:srgbClr val="000000"/>
              </a:solidFill>
              <a:latin typeface="Noto Sans KR"/>
              <a:ea typeface="Noto Sans KR"/>
              <a:cs typeface="Noto Sans KR"/>
              <a:sym typeface="Noto Sans K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id="213" name="Google Shape;213;p20"/>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사용 흐름</a:t>
            </a:r>
            <a:endParaRPr/>
          </a:p>
        </p:txBody>
      </p:sp>
      <p:sp>
        <p:nvSpPr>
          <p:cNvPr id="214" name="Google Shape;214;p20"/>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업무 처리 흐름</a:t>
            </a:r>
            <a:endParaRPr/>
          </a:p>
        </p:txBody>
      </p:sp>
      <p:pic>
        <p:nvPicPr>
          <p:cNvPr descr="image.png" id="215" name="Google Shape;215;p20"/>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216" name="Google Shape;216;p20"/>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20"/>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업로드부터 다운로드까지, 하나의 검수 흐름</a:t>
            </a:r>
            <a:endParaRPr/>
          </a:p>
        </p:txBody>
      </p:sp>
      <p:sp>
        <p:nvSpPr>
          <p:cNvPr id="218" name="Google Shape;218;p20"/>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219" name="Google Shape;219;p20"/>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6</a:t>
            </a:r>
            <a:endParaRPr/>
          </a:p>
        </p:txBody>
      </p:sp>
      <p:sp>
        <p:nvSpPr>
          <p:cNvPr id="220" name="Google Shape;220;p20"/>
          <p:cNvSpPr/>
          <p:nvPr/>
        </p:nvSpPr>
        <p:spPr>
          <a:xfrm>
            <a:off x="475488" y="2006193"/>
            <a:ext cx="1243584" cy="124431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20"/>
          <p:cNvSpPr txBox="1"/>
          <p:nvPr/>
        </p:nvSpPr>
        <p:spPr>
          <a:xfrm>
            <a:off x="585216" y="2090684"/>
            <a:ext cx="3657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t/>
            </a:r>
            <a:endParaRPr/>
          </a:p>
        </p:txBody>
      </p:sp>
      <p:sp>
        <p:nvSpPr>
          <p:cNvPr id="222" name="Google Shape;222;p20"/>
          <p:cNvSpPr txBox="1"/>
          <p:nvPr/>
        </p:nvSpPr>
        <p:spPr>
          <a:xfrm>
            <a:off x="585216" y="2413284"/>
            <a:ext cx="102412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업로드</a:t>
            </a:r>
            <a:endParaRPr/>
          </a:p>
        </p:txBody>
      </p:sp>
      <p:sp>
        <p:nvSpPr>
          <p:cNvPr id="223" name="Google Shape;223;p20"/>
          <p:cNvSpPr txBox="1"/>
          <p:nvPr/>
        </p:nvSpPr>
        <p:spPr>
          <a:xfrm>
            <a:off x="566928" y="2682118"/>
            <a:ext cx="1060704" cy="4572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0" i="0" lang="en-US" sz="860" u="none" cap="none" strike="noStrike">
                <a:solidFill>
                  <a:srgbClr val="667085"/>
                </a:solidFill>
                <a:latin typeface="Arial"/>
                <a:ea typeface="Arial"/>
                <a:cs typeface="Arial"/>
                <a:sym typeface="Arial"/>
              </a:rPr>
              <a:t>완성 연보 또는</a:t>
            </a:r>
            <a:br>
              <a:rPr b="0" i="0" lang="en-US" sz="860" u="none" cap="none" strike="noStrike">
                <a:solidFill>
                  <a:srgbClr val="667085"/>
                </a:solidFill>
                <a:latin typeface="Arial"/>
                <a:ea typeface="Arial"/>
                <a:cs typeface="Arial"/>
                <a:sym typeface="Arial"/>
              </a:rPr>
            </a:br>
            <a:r>
              <a:rPr b="0" i="0" lang="en-US" sz="860" u="none" cap="none" strike="noStrike">
                <a:solidFill>
                  <a:srgbClr val="667085"/>
                </a:solidFill>
                <a:latin typeface="Arial"/>
                <a:ea typeface="Arial"/>
                <a:cs typeface="Arial"/>
                <a:sym typeface="Arial"/>
              </a:rPr>
              <a:t>원장 3종 등록</a:t>
            </a:r>
            <a:endParaRPr/>
          </a:p>
        </p:txBody>
      </p:sp>
      <p:sp>
        <p:nvSpPr>
          <p:cNvPr id="224" name="Google Shape;224;p20"/>
          <p:cNvSpPr/>
          <p:nvPr/>
        </p:nvSpPr>
        <p:spPr>
          <a:xfrm>
            <a:off x="1719072" y="2505456"/>
            <a:ext cx="146304" cy="215066"/>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20"/>
          <p:cNvSpPr/>
          <p:nvPr/>
        </p:nvSpPr>
        <p:spPr>
          <a:xfrm>
            <a:off x="1847088" y="2006193"/>
            <a:ext cx="1243584" cy="124431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20"/>
          <p:cNvSpPr txBox="1"/>
          <p:nvPr/>
        </p:nvSpPr>
        <p:spPr>
          <a:xfrm>
            <a:off x="1956816" y="2413284"/>
            <a:ext cx="102412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구조화·확정</a:t>
            </a:r>
            <a:endParaRPr/>
          </a:p>
        </p:txBody>
      </p:sp>
      <p:sp>
        <p:nvSpPr>
          <p:cNvPr id="227" name="Google Shape;227;p20"/>
          <p:cNvSpPr txBox="1"/>
          <p:nvPr/>
        </p:nvSpPr>
        <p:spPr>
          <a:xfrm>
            <a:off x="1938528" y="2682118"/>
            <a:ext cx="1060704" cy="4572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0" i="0" lang="en-US" sz="860" u="none" cap="none" strike="noStrike">
                <a:solidFill>
                  <a:srgbClr val="667085"/>
                </a:solidFill>
                <a:latin typeface="Arial"/>
                <a:ea typeface="Arial"/>
                <a:cs typeface="Arial"/>
                <a:sym typeface="Arial"/>
              </a:rPr>
              <a:t>표·셀·메타정보</a:t>
            </a:r>
            <a:br>
              <a:rPr b="0" i="0" lang="en-US" sz="860" u="none" cap="none" strike="noStrike">
                <a:solidFill>
                  <a:srgbClr val="667085"/>
                </a:solidFill>
                <a:latin typeface="Arial"/>
                <a:ea typeface="Arial"/>
                <a:cs typeface="Arial"/>
                <a:sym typeface="Arial"/>
              </a:rPr>
            </a:br>
            <a:r>
              <a:rPr b="0" i="0" lang="en-US" sz="860" u="none" cap="none" strike="noStrike">
                <a:solidFill>
                  <a:srgbClr val="667085"/>
                </a:solidFill>
                <a:latin typeface="Arial"/>
                <a:ea typeface="Arial"/>
                <a:cs typeface="Arial"/>
                <a:sym typeface="Arial"/>
              </a:rPr>
              <a:t>초안 확인</a:t>
            </a:r>
            <a:endParaRPr/>
          </a:p>
        </p:txBody>
      </p:sp>
      <p:sp>
        <p:nvSpPr>
          <p:cNvPr id="228" name="Google Shape;228;p20"/>
          <p:cNvSpPr/>
          <p:nvPr/>
        </p:nvSpPr>
        <p:spPr>
          <a:xfrm>
            <a:off x="3090672" y="2505456"/>
            <a:ext cx="146304" cy="215066"/>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20"/>
          <p:cNvSpPr/>
          <p:nvPr/>
        </p:nvSpPr>
        <p:spPr>
          <a:xfrm>
            <a:off x="3218688" y="2006193"/>
            <a:ext cx="1243584" cy="124431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0" name="Google Shape;230;p20"/>
          <p:cNvSpPr txBox="1"/>
          <p:nvPr/>
        </p:nvSpPr>
        <p:spPr>
          <a:xfrm>
            <a:off x="3328416" y="2413284"/>
            <a:ext cx="102412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검수 실행</a:t>
            </a:r>
            <a:endParaRPr/>
          </a:p>
        </p:txBody>
      </p:sp>
      <p:sp>
        <p:nvSpPr>
          <p:cNvPr id="231" name="Google Shape;231;p20"/>
          <p:cNvSpPr txBox="1"/>
          <p:nvPr/>
        </p:nvSpPr>
        <p:spPr>
          <a:xfrm>
            <a:off x="3310128" y="2682118"/>
            <a:ext cx="1060704" cy="4572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0" i="0" lang="en-US" sz="860" u="none" cap="none" strike="noStrike">
                <a:solidFill>
                  <a:srgbClr val="667085"/>
                </a:solidFill>
                <a:latin typeface="Arial"/>
                <a:ea typeface="Arial"/>
                <a:cs typeface="Arial"/>
                <a:sym typeface="Arial"/>
              </a:rPr>
              <a:t>필요 항목과</a:t>
            </a:r>
            <a:br>
              <a:rPr b="0" i="0" lang="en-US" sz="860" u="none" cap="none" strike="noStrike">
                <a:solidFill>
                  <a:srgbClr val="667085"/>
                </a:solidFill>
                <a:latin typeface="Arial"/>
                <a:ea typeface="Arial"/>
                <a:cs typeface="Arial"/>
                <a:sym typeface="Arial"/>
              </a:rPr>
            </a:br>
            <a:r>
              <a:rPr b="0" i="0" lang="en-US" sz="860" u="none" cap="none" strike="noStrike">
                <a:solidFill>
                  <a:srgbClr val="667085"/>
                </a:solidFill>
                <a:latin typeface="Arial"/>
                <a:ea typeface="Arial"/>
                <a:cs typeface="Arial"/>
                <a:sym typeface="Arial"/>
              </a:rPr>
              <a:t>재사용 옵션 선택</a:t>
            </a:r>
            <a:endParaRPr/>
          </a:p>
        </p:txBody>
      </p:sp>
      <p:sp>
        <p:nvSpPr>
          <p:cNvPr id="232" name="Google Shape;232;p20"/>
          <p:cNvSpPr/>
          <p:nvPr/>
        </p:nvSpPr>
        <p:spPr>
          <a:xfrm>
            <a:off x="4462272" y="2505456"/>
            <a:ext cx="146304" cy="215066"/>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20"/>
          <p:cNvSpPr/>
          <p:nvPr/>
        </p:nvSpPr>
        <p:spPr>
          <a:xfrm>
            <a:off x="4590288" y="2006193"/>
            <a:ext cx="1243584" cy="124431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4" name="Google Shape;234;p20"/>
          <p:cNvSpPr txBox="1"/>
          <p:nvPr/>
        </p:nvSpPr>
        <p:spPr>
          <a:xfrm>
            <a:off x="4700016" y="2413284"/>
            <a:ext cx="102412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결과 확인</a:t>
            </a:r>
            <a:endParaRPr/>
          </a:p>
        </p:txBody>
      </p:sp>
      <p:sp>
        <p:nvSpPr>
          <p:cNvPr id="235" name="Google Shape;235;p20"/>
          <p:cNvSpPr txBox="1"/>
          <p:nvPr/>
        </p:nvSpPr>
        <p:spPr>
          <a:xfrm>
            <a:off x="4681727" y="2682118"/>
            <a:ext cx="1060704" cy="4572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0" i="0" lang="en-US" sz="860" u="none" cap="none" strike="noStrike">
                <a:solidFill>
                  <a:srgbClr val="667085"/>
                </a:solidFill>
                <a:latin typeface="Arial"/>
                <a:ea typeface="Arial"/>
                <a:cs typeface="Arial"/>
                <a:sym typeface="Arial"/>
              </a:rPr>
              <a:t>상태·문제 셀·</a:t>
            </a:r>
            <a:br>
              <a:rPr b="0" i="0" lang="en-US" sz="860" u="none" cap="none" strike="noStrike">
                <a:solidFill>
                  <a:srgbClr val="667085"/>
                </a:solidFill>
                <a:latin typeface="Arial"/>
                <a:ea typeface="Arial"/>
                <a:cs typeface="Arial"/>
                <a:sym typeface="Arial"/>
              </a:rPr>
            </a:br>
            <a:r>
              <a:rPr b="0" i="0" lang="en-US" sz="860" u="none" cap="none" strike="noStrike">
                <a:solidFill>
                  <a:srgbClr val="667085"/>
                </a:solidFill>
                <a:latin typeface="Arial"/>
                <a:ea typeface="Arial"/>
                <a:cs typeface="Arial"/>
                <a:sym typeface="Arial"/>
              </a:rPr>
              <a:t>판정 근거 확인</a:t>
            </a:r>
            <a:endParaRPr/>
          </a:p>
        </p:txBody>
      </p:sp>
      <p:sp>
        <p:nvSpPr>
          <p:cNvPr id="236" name="Google Shape;236;p20"/>
          <p:cNvSpPr/>
          <p:nvPr/>
        </p:nvSpPr>
        <p:spPr>
          <a:xfrm>
            <a:off x="5833871" y="2505456"/>
            <a:ext cx="146304" cy="215066"/>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7" name="Google Shape;237;p20"/>
          <p:cNvSpPr/>
          <p:nvPr/>
        </p:nvSpPr>
        <p:spPr>
          <a:xfrm>
            <a:off x="5961888" y="2006193"/>
            <a:ext cx="1243584" cy="124431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8" name="Google Shape;238;p20"/>
          <p:cNvSpPr txBox="1"/>
          <p:nvPr/>
        </p:nvSpPr>
        <p:spPr>
          <a:xfrm>
            <a:off x="6071616" y="2413284"/>
            <a:ext cx="102412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수정·재검수</a:t>
            </a:r>
            <a:endParaRPr/>
          </a:p>
        </p:txBody>
      </p:sp>
      <p:sp>
        <p:nvSpPr>
          <p:cNvPr id="239" name="Google Shape;239;p20"/>
          <p:cNvSpPr txBox="1"/>
          <p:nvPr/>
        </p:nvSpPr>
        <p:spPr>
          <a:xfrm>
            <a:off x="6053327" y="2682118"/>
            <a:ext cx="1060704" cy="4572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0" i="0" lang="en-US" sz="860" u="none" cap="none" strike="noStrike">
                <a:solidFill>
                  <a:srgbClr val="667085"/>
                </a:solidFill>
                <a:latin typeface="Arial"/>
                <a:ea typeface="Arial"/>
                <a:cs typeface="Arial"/>
                <a:sym typeface="Arial"/>
              </a:rPr>
              <a:t>권한 인증 후 수정</a:t>
            </a:r>
            <a:br>
              <a:rPr b="0" i="0" lang="en-US" sz="860" u="none" cap="none" strike="noStrike">
                <a:solidFill>
                  <a:srgbClr val="667085"/>
                </a:solidFill>
                <a:latin typeface="Arial"/>
                <a:ea typeface="Arial"/>
                <a:cs typeface="Arial"/>
                <a:sym typeface="Arial"/>
              </a:rPr>
            </a:br>
            <a:r>
              <a:rPr b="0" i="0" lang="en-US" sz="860" u="none" cap="none" strike="noStrike">
                <a:solidFill>
                  <a:srgbClr val="667085"/>
                </a:solidFill>
                <a:latin typeface="Arial"/>
                <a:ea typeface="Arial"/>
                <a:cs typeface="Arial"/>
                <a:sym typeface="Arial"/>
              </a:rPr>
              <a:t>변경 표 재검수</a:t>
            </a:r>
            <a:endParaRPr/>
          </a:p>
        </p:txBody>
      </p:sp>
      <p:sp>
        <p:nvSpPr>
          <p:cNvPr id="240" name="Google Shape;240;p20"/>
          <p:cNvSpPr/>
          <p:nvPr/>
        </p:nvSpPr>
        <p:spPr>
          <a:xfrm>
            <a:off x="7205471" y="2505456"/>
            <a:ext cx="146304" cy="215066"/>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20"/>
          <p:cNvSpPr/>
          <p:nvPr/>
        </p:nvSpPr>
        <p:spPr>
          <a:xfrm>
            <a:off x="7333488" y="2006193"/>
            <a:ext cx="1243584" cy="124431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20"/>
          <p:cNvSpPr txBox="1"/>
          <p:nvPr/>
        </p:nvSpPr>
        <p:spPr>
          <a:xfrm>
            <a:off x="7443215" y="2413284"/>
            <a:ext cx="1024128"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다운로드</a:t>
            </a:r>
            <a:endParaRPr/>
          </a:p>
        </p:txBody>
      </p:sp>
      <p:sp>
        <p:nvSpPr>
          <p:cNvPr id="243" name="Google Shape;243;p20"/>
          <p:cNvSpPr txBox="1"/>
          <p:nvPr/>
        </p:nvSpPr>
        <p:spPr>
          <a:xfrm>
            <a:off x="7424927" y="2682118"/>
            <a:ext cx="1060704" cy="4572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0" i="0" lang="en-US" sz="860" u="none" cap="none" strike="noStrike">
                <a:solidFill>
                  <a:srgbClr val="667085"/>
                </a:solidFill>
                <a:latin typeface="Arial"/>
                <a:ea typeface="Arial"/>
                <a:cs typeface="Arial"/>
                <a:sym typeface="Arial"/>
              </a:rPr>
              <a:t>표·연보·</a:t>
            </a:r>
            <a:br>
              <a:rPr b="0" i="0" lang="en-US" sz="860" u="none" cap="none" strike="noStrike">
                <a:solidFill>
                  <a:srgbClr val="667085"/>
                </a:solidFill>
                <a:latin typeface="Arial"/>
                <a:ea typeface="Arial"/>
                <a:cs typeface="Arial"/>
                <a:sym typeface="Arial"/>
              </a:rPr>
            </a:br>
            <a:r>
              <a:rPr b="0" i="0" lang="en-US" sz="860" u="none" cap="none" strike="noStrike">
                <a:solidFill>
                  <a:srgbClr val="667085"/>
                </a:solidFill>
                <a:latin typeface="Arial"/>
                <a:ea typeface="Arial"/>
                <a:cs typeface="Arial"/>
                <a:sym typeface="Arial"/>
              </a:rPr>
              <a:t>검수 리포트 출력</a:t>
            </a:r>
            <a:endParaRPr/>
          </a:p>
        </p:txBody>
      </p:sp>
      <p:sp>
        <p:nvSpPr>
          <p:cNvPr id="244" name="Google Shape;244;p20"/>
          <p:cNvSpPr/>
          <p:nvPr/>
        </p:nvSpPr>
        <p:spPr>
          <a:xfrm>
            <a:off x="932688" y="3565428"/>
            <a:ext cx="7278624" cy="714329"/>
          </a:xfrm>
          <a:prstGeom prst="rect">
            <a:avLst/>
          </a:prstGeom>
          <a:solidFill>
            <a:srgbClr val="EEF6FB"/>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20"/>
          <p:cNvSpPr/>
          <p:nvPr/>
        </p:nvSpPr>
        <p:spPr>
          <a:xfrm>
            <a:off x="1115568" y="3742090"/>
            <a:ext cx="1078992" cy="261152"/>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20"/>
          <p:cNvSpPr txBox="1"/>
          <p:nvPr/>
        </p:nvSpPr>
        <p:spPr>
          <a:xfrm>
            <a:off x="1115568" y="3742090"/>
            <a:ext cx="1078992" cy="31089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재검수 원칙</a:t>
            </a:r>
            <a:endParaRPr/>
          </a:p>
        </p:txBody>
      </p:sp>
      <p:sp>
        <p:nvSpPr>
          <p:cNvPr id="247" name="Google Shape;247;p20"/>
          <p:cNvSpPr txBox="1"/>
          <p:nvPr/>
        </p:nvSpPr>
        <p:spPr>
          <a:xfrm>
            <a:off x="2395728" y="3703685"/>
            <a:ext cx="5596128"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940" u="none" cap="none" strike="noStrike">
                <a:solidFill>
                  <a:srgbClr val="1F5A91"/>
                </a:solidFill>
                <a:latin typeface="Arial"/>
                <a:ea typeface="Arial"/>
                <a:cs typeface="Arial"/>
                <a:sym typeface="Arial"/>
              </a:rPr>
              <a:t>변경 표</a:t>
            </a:r>
            <a:r>
              <a:rPr b="0" i="0" lang="en-US" sz="940" u="none" cap="none" strike="noStrike">
                <a:solidFill>
                  <a:srgbClr val="172331"/>
                </a:solidFill>
                <a:latin typeface="Arial"/>
                <a:ea typeface="Arial"/>
                <a:cs typeface="Arial"/>
                <a:sym typeface="Arial"/>
              </a:rPr>
              <a:t>는 현재 값으로 다시 검수하고,  </a:t>
            </a:r>
            <a:r>
              <a:rPr b="1" i="0" lang="en-US" sz="940" u="none" cap="none" strike="noStrike">
                <a:solidFill>
                  <a:srgbClr val="1F5A91"/>
                </a:solidFill>
                <a:latin typeface="Arial"/>
                <a:ea typeface="Arial"/>
                <a:cs typeface="Arial"/>
                <a:sym typeface="Arial"/>
              </a:rPr>
              <a:t>구조 변경</a:t>
            </a:r>
            <a:r>
              <a:rPr b="0" i="0" lang="en-US" sz="940" u="none" cap="none" strike="noStrike">
                <a:solidFill>
                  <a:srgbClr val="172331"/>
                </a:solidFill>
                <a:latin typeface="Arial"/>
                <a:ea typeface="Arial"/>
                <a:cs typeface="Arial"/>
                <a:sym typeface="Arial"/>
              </a:rPr>
              <a:t>은 프로파일을 재생성하며,  </a:t>
            </a:r>
            <a:r>
              <a:rPr b="1" i="0" lang="en-US" sz="940" u="none" cap="none" strike="noStrike">
                <a:solidFill>
                  <a:srgbClr val="2F7D68"/>
                </a:solidFill>
                <a:latin typeface="Arial"/>
                <a:ea typeface="Arial"/>
                <a:cs typeface="Arial"/>
                <a:sym typeface="Arial"/>
              </a:rPr>
              <a:t>동일 표</a:t>
            </a:r>
            <a:r>
              <a:rPr b="0" i="0" lang="en-US" sz="940" u="none" cap="none" strike="noStrike">
                <a:solidFill>
                  <a:srgbClr val="172331"/>
                </a:solidFill>
                <a:latin typeface="Arial"/>
                <a:ea typeface="Arial"/>
                <a:cs typeface="Arial"/>
                <a:sym typeface="Arial"/>
              </a:rPr>
              <a:t>는 이전 결과를 재사용합니다.</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1" name="Shape 251"/>
        <p:cNvGrpSpPr/>
        <p:nvPr/>
      </p:nvGrpSpPr>
      <p:grpSpPr>
        <a:xfrm>
          <a:off x="0" y="0"/>
          <a:ext cx="0" cy="0"/>
          <a:chOff x="0" y="0"/>
          <a:chExt cx="0" cy="0"/>
        </a:xfrm>
      </p:grpSpPr>
      <p:sp>
        <p:nvSpPr>
          <p:cNvPr id="252" name="Google Shape;252;p21"/>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업로드</a:t>
            </a:r>
            <a:endParaRPr/>
          </a:p>
        </p:txBody>
      </p:sp>
      <p:sp>
        <p:nvSpPr>
          <p:cNvPr id="253" name="Google Shape;253;p21"/>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연보 등록</a:t>
            </a:r>
            <a:endParaRPr/>
          </a:p>
        </p:txBody>
      </p:sp>
      <p:pic>
        <p:nvPicPr>
          <p:cNvPr descr="image.png" id="254" name="Google Shape;254;p21"/>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255" name="Google Shape;255;p21"/>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21"/>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두 가지 업로드 경로와 공통 구조화</a:t>
            </a:r>
            <a:endParaRPr/>
          </a:p>
        </p:txBody>
      </p:sp>
      <p:sp>
        <p:nvSpPr>
          <p:cNvPr id="257" name="Google Shape;257;p21"/>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258" name="Google Shape;258;p21"/>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7</a:t>
            </a:r>
            <a:endParaRPr/>
          </a:p>
        </p:txBody>
      </p:sp>
      <p:sp>
        <p:nvSpPr>
          <p:cNvPr id="259" name="Google Shape;259;p21"/>
          <p:cNvSpPr/>
          <p:nvPr/>
        </p:nvSpPr>
        <p:spPr>
          <a:xfrm>
            <a:off x="512064" y="1829531"/>
            <a:ext cx="3895344" cy="1797344"/>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21"/>
          <p:cNvSpPr/>
          <p:nvPr/>
        </p:nvSpPr>
        <p:spPr>
          <a:xfrm>
            <a:off x="512064" y="1829531"/>
            <a:ext cx="3895344" cy="361005"/>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p21"/>
          <p:cNvSpPr txBox="1"/>
          <p:nvPr/>
        </p:nvSpPr>
        <p:spPr>
          <a:xfrm>
            <a:off x="658368" y="1914022"/>
            <a:ext cx="228600" cy="22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a:t>
            </a:r>
            <a:endParaRPr/>
          </a:p>
        </p:txBody>
      </p:sp>
      <p:sp>
        <p:nvSpPr>
          <p:cNvPr id="262" name="Google Shape;262;p21"/>
          <p:cNvSpPr txBox="1"/>
          <p:nvPr/>
        </p:nvSpPr>
        <p:spPr>
          <a:xfrm>
            <a:off x="658368" y="1914022"/>
            <a:ext cx="228600" cy="22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0C2F61"/>
                </a:solidFill>
                <a:latin typeface="Arial"/>
                <a:ea typeface="Arial"/>
                <a:cs typeface="Arial"/>
                <a:sym typeface="Arial"/>
              </a:rPr>
              <a:t>A</a:t>
            </a:r>
            <a:endParaRPr/>
          </a:p>
        </p:txBody>
      </p:sp>
      <p:sp>
        <p:nvSpPr>
          <p:cNvPr id="263" name="Google Shape;263;p21"/>
          <p:cNvSpPr txBox="1"/>
          <p:nvPr/>
        </p:nvSpPr>
        <p:spPr>
          <a:xfrm>
            <a:off x="987552" y="1914022"/>
            <a:ext cx="320040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FFFFFF"/>
                </a:solidFill>
                <a:latin typeface="Arial"/>
                <a:ea typeface="Arial"/>
                <a:cs typeface="Arial"/>
                <a:sym typeface="Arial"/>
              </a:rPr>
              <a:t>완성 연보 새로 업로드</a:t>
            </a:r>
            <a:endParaRPr/>
          </a:p>
        </p:txBody>
      </p:sp>
      <p:sp>
        <p:nvSpPr>
          <p:cNvPr id="264" name="Google Shape;264;p21"/>
          <p:cNvSpPr txBox="1"/>
          <p:nvPr/>
        </p:nvSpPr>
        <p:spPr>
          <a:xfrm>
            <a:off x="694944" y="2351836"/>
            <a:ext cx="749808"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50" u="none" cap="none" strike="noStrike">
                <a:solidFill>
                  <a:srgbClr val="667085"/>
                </a:solidFill>
                <a:latin typeface="Arial"/>
                <a:ea typeface="Arial"/>
                <a:cs typeface="Arial"/>
                <a:sym typeface="Arial"/>
              </a:rPr>
              <a:t>입력 파일</a:t>
            </a:r>
            <a:endParaRPr/>
          </a:p>
        </p:txBody>
      </p:sp>
      <p:sp>
        <p:nvSpPr>
          <p:cNvPr id="265" name="Google Shape;265;p21"/>
          <p:cNvSpPr txBox="1"/>
          <p:nvPr/>
        </p:nvSpPr>
        <p:spPr>
          <a:xfrm>
            <a:off x="1517904" y="2328793"/>
            <a:ext cx="2670048" cy="24688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0C2F61"/>
                </a:solidFill>
                <a:latin typeface="Arial"/>
                <a:ea typeface="Arial"/>
                <a:cs typeface="Arial"/>
                <a:sym typeface="Arial"/>
              </a:rPr>
              <a:t>HWPX · Markdown</a:t>
            </a:r>
            <a:endParaRPr/>
          </a:p>
        </p:txBody>
      </p:sp>
      <p:sp>
        <p:nvSpPr>
          <p:cNvPr id="266" name="Google Shape;266;p21"/>
          <p:cNvSpPr txBox="1"/>
          <p:nvPr/>
        </p:nvSpPr>
        <p:spPr>
          <a:xfrm>
            <a:off x="694944" y="2712841"/>
            <a:ext cx="749808"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50" u="none" cap="none" strike="noStrike">
                <a:solidFill>
                  <a:srgbClr val="667085"/>
                </a:solidFill>
                <a:latin typeface="Arial"/>
                <a:ea typeface="Arial"/>
                <a:cs typeface="Arial"/>
                <a:sym typeface="Arial"/>
              </a:rPr>
              <a:t>공통 입력</a:t>
            </a:r>
            <a:endParaRPr/>
          </a:p>
        </p:txBody>
      </p:sp>
      <p:sp>
        <p:nvSpPr>
          <p:cNvPr id="267" name="Google Shape;267;p21"/>
          <p:cNvSpPr txBox="1"/>
          <p:nvPr/>
        </p:nvSpPr>
        <p:spPr>
          <a:xfrm>
            <a:off x="1517904" y="2689799"/>
            <a:ext cx="2670048" cy="24688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919" u="none" cap="none" strike="noStrike">
                <a:solidFill>
                  <a:srgbClr val="172331"/>
                </a:solidFill>
                <a:latin typeface="Arial"/>
                <a:ea typeface="Arial"/>
                <a:cs typeface="Arial"/>
                <a:sym typeface="Arial"/>
              </a:rPr>
              <a:t>대상 연도 · 연보명 · 원본 파일</a:t>
            </a:r>
            <a:endParaRPr/>
          </a:p>
        </p:txBody>
      </p:sp>
      <p:sp>
        <p:nvSpPr>
          <p:cNvPr id="268" name="Google Shape;268;p21"/>
          <p:cNvSpPr txBox="1"/>
          <p:nvPr/>
        </p:nvSpPr>
        <p:spPr>
          <a:xfrm>
            <a:off x="694944" y="3066166"/>
            <a:ext cx="749808"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50" u="none" cap="none" strike="noStrike">
                <a:solidFill>
                  <a:srgbClr val="667085"/>
                </a:solidFill>
                <a:latin typeface="Arial"/>
                <a:ea typeface="Arial"/>
                <a:cs typeface="Arial"/>
                <a:sym typeface="Arial"/>
              </a:rPr>
              <a:t>처리 결과</a:t>
            </a:r>
            <a:endParaRPr/>
          </a:p>
        </p:txBody>
      </p:sp>
      <p:sp>
        <p:nvSpPr>
          <p:cNvPr id="269" name="Google Shape;269;p21"/>
          <p:cNvSpPr/>
          <p:nvPr/>
        </p:nvSpPr>
        <p:spPr>
          <a:xfrm>
            <a:off x="1517904" y="3012399"/>
            <a:ext cx="1481328" cy="261152"/>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21"/>
          <p:cNvSpPr txBox="1"/>
          <p:nvPr/>
        </p:nvSpPr>
        <p:spPr>
          <a:xfrm>
            <a:off x="1517904" y="3012399"/>
            <a:ext cx="1481328" cy="31089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919" u="none" cap="none" strike="noStrike">
                <a:solidFill>
                  <a:srgbClr val="0C2F61"/>
                </a:solidFill>
                <a:latin typeface="Arial"/>
                <a:ea typeface="Arial"/>
                <a:cs typeface="Arial"/>
                <a:sym typeface="Arial"/>
              </a:rPr>
              <a:t>업로드 초안</a:t>
            </a:r>
            <a:endParaRPr/>
          </a:p>
        </p:txBody>
      </p:sp>
      <p:sp>
        <p:nvSpPr>
          <p:cNvPr id="271" name="Google Shape;271;p21"/>
          <p:cNvSpPr txBox="1"/>
          <p:nvPr/>
        </p:nvSpPr>
        <p:spPr>
          <a:xfrm>
            <a:off x="3118104" y="3073847"/>
            <a:ext cx="1005840" cy="164592"/>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720" u="none" cap="none" strike="noStrike">
                <a:solidFill>
                  <a:srgbClr val="8A96A3"/>
                </a:solidFill>
                <a:latin typeface="Arial"/>
                <a:ea typeface="Arial"/>
                <a:cs typeface="Arial"/>
                <a:sym typeface="Arial"/>
              </a:rPr>
              <a:t>화면 기준 지원 형식</a:t>
            </a:r>
            <a:endParaRPr/>
          </a:p>
        </p:txBody>
      </p:sp>
      <p:sp>
        <p:nvSpPr>
          <p:cNvPr id="272" name="Google Shape;272;p21"/>
          <p:cNvSpPr/>
          <p:nvPr/>
        </p:nvSpPr>
        <p:spPr>
          <a:xfrm>
            <a:off x="4736592" y="1829531"/>
            <a:ext cx="3895344" cy="1797344"/>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21"/>
          <p:cNvSpPr/>
          <p:nvPr/>
        </p:nvSpPr>
        <p:spPr>
          <a:xfrm>
            <a:off x="4736592" y="1829531"/>
            <a:ext cx="3895344" cy="361005"/>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21"/>
          <p:cNvSpPr txBox="1"/>
          <p:nvPr/>
        </p:nvSpPr>
        <p:spPr>
          <a:xfrm>
            <a:off x="4882896" y="1914022"/>
            <a:ext cx="228600" cy="22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450" u="none" cap="none" strike="noStrike">
                <a:solidFill>
                  <a:srgbClr val="FFFFFF"/>
                </a:solidFill>
                <a:latin typeface="Arial"/>
                <a:ea typeface="Arial"/>
                <a:cs typeface="Arial"/>
                <a:sym typeface="Arial"/>
              </a:rPr>
              <a:t>●</a:t>
            </a:r>
            <a:endParaRPr/>
          </a:p>
        </p:txBody>
      </p:sp>
      <p:sp>
        <p:nvSpPr>
          <p:cNvPr id="275" name="Google Shape;275;p21"/>
          <p:cNvSpPr txBox="1"/>
          <p:nvPr/>
        </p:nvSpPr>
        <p:spPr>
          <a:xfrm>
            <a:off x="4882896" y="1914022"/>
            <a:ext cx="228600" cy="2286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850" u="none" cap="none" strike="noStrike">
                <a:solidFill>
                  <a:srgbClr val="1F5A91"/>
                </a:solidFill>
                <a:latin typeface="Arial"/>
                <a:ea typeface="Arial"/>
                <a:cs typeface="Arial"/>
                <a:sym typeface="Arial"/>
              </a:rPr>
              <a:t>B</a:t>
            </a:r>
            <a:endParaRPr/>
          </a:p>
        </p:txBody>
      </p:sp>
      <p:sp>
        <p:nvSpPr>
          <p:cNvPr id="276" name="Google Shape;276;p21"/>
          <p:cNvSpPr txBox="1"/>
          <p:nvPr/>
        </p:nvSpPr>
        <p:spPr>
          <a:xfrm>
            <a:off x="5212079" y="1914022"/>
            <a:ext cx="320040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120" u="none" cap="none" strike="noStrike">
                <a:solidFill>
                  <a:srgbClr val="FFFFFF"/>
                </a:solidFill>
                <a:latin typeface="Arial"/>
                <a:ea typeface="Arial"/>
                <a:cs typeface="Arial"/>
                <a:sym typeface="Arial"/>
              </a:rPr>
              <a:t>기준 연보에 새 연도 원장 추가</a:t>
            </a:r>
            <a:endParaRPr/>
          </a:p>
        </p:txBody>
      </p:sp>
      <p:sp>
        <p:nvSpPr>
          <p:cNvPr id="277" name="Google Shape;277;p21"/>
          <p:cNvSpPr txBox="1"/>
          <p:nvPr/>
        </p:nvSpPr>
        <p:spPr>
          <a:xfrm>
            <a:off x="4919472" y="2351836"/>
            <a:ext cx="749808"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50" u="none" cap="none" strike="noStrike">
                <a:solidFill>
                  <a:srgbClr val="667085"/>
                </a:solidFill>
                <a:latin typeface="Arial"/>
                <a:ea typeface="Arial"/>
                <a:cs typeface="Arial"/>
                <a:sym typeface="Arial"/>
              </a:rPr>
              <a:t>입력 파일</a:t>
            </a:r>
            <a:endParaRPr/>
          </a:p>
        </p:txBody>
      </p:sp>
      <p:sp>
        <p:nvSpPr>
          <p:cNvPr id="278" name="Google Shape;278;p21"/>
          <p:cNvSpPr txBox="1"/>
          <p:nvPr/>
        </p:nvSpPr>
        <p:spPr>
          <a:xfrm>
            <a:off x="5742431" y="2328793"/>
            <a:ext cx="2670048" cy="24688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100" u="none" cap="none" strike="noStrike">
                <a:solidFill>
                  <a:srgbClr val="0C2F61"/>
                </a:solidFill>
                <a:latin typeface="Arial"/>
                <a:ea typeface="Arial"/>
                <a:cs typeface="Arial"/>
                <a:sym typeface="Arial"/>
              </a:rPr>
              <a:t>표정보 · 표항목 · 표데이터</a:t>
            </a:r>
            <a:endParaRPr/>
          </a:p>
        </p:txBody>
      </p:sp>
      <p:sp>
        <p:nvSpPr>
          <p:cNvPr id="279" name="Google Shape;279;p21"/>
          <p:cNvSpPr txBox="1"/>
          <p:nvPr/>
        </p:nvSpPr>
        <p:spPr>
          <a:xfrm>
            <a:off x="4919472" y="2712841"/>
            <a:ext cx="749808"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50" u="none" cap="none" strike="noStrike">
                <a:solidFill>
                  <a:srgbClr val="667085"/>
                </a:solidFill>
                <a:latin typeface="Arial"/>
                <a:ea typeface="Arial"/>
                <a:cs typeface="Arial"/>
                <a:sym typeface="Arial"/>
              </a:rPr>
              <a:t>공통 입력</a:t>
            </a:r>
            <a:endParaRPr/>
          </a:p>
        </p:txBody>
      </p:sp>
      <p:sp>
        <p:nvSpPr>
          <p:cNvPr id="280" name="Google Shape;280;p21"/>
          <p:cNvSpPr txBox="1"/>
          <p:nvPr/>
        </p:nvSpPr>
        <p:spPr>
          <a:xfrm>
            <a:off x="5742431" y="2689799"/>
            <a:ext cx="2670048" cy="24688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919" u="none" cap="none" strike="noStrike">
                <a:solidFill>
                  <a:srgbClr val="172331"/>
                </a:solidFill>
                <a:latin typeface="Arial"/>
                <a:ea typeface="Arial"/>
                <a:cs typeface="Arial"/>
                <a:sym typeface="Arial"/>
              </a:rPr>
              <a:t>대상 연도 · 기준 연보 · Excel 3종(.xls/.xlsx)</a:t>
            </a:r>
            <a:endParaRPr/>
          </a:p>
        </p:txBody>
      </p:sp>
      <p:sp>
        <p:nvSpPr>
          <p:cNvPr id="281" name="Google Shape;281;p21"/>
          <p:cNvSpPr txBox="1"/>
          <p:nvPr/>
        </p:nvSpPr>
        <p:spPr>
          <a:xfrm>
            <a:off x="4919472" y="3066166"/>
            <a:ext cx="749808"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50" u="none" cap="none" strike="noStrike">
                <a:solidFill>
                  <a:srgbClr val="667085"/>
                </a:solidFill>
                <a:latin typeface="Arial"/>
                <a:ea typeface="Arial"/>
                <a:cs typeface="Arial"/>
                <a:sym typeface="Arial"/>
              </a:rPr>
              <a:t>처리 결과</a:t>
            </a:r>
            <a:endParaRPr/>
          </a:p>
        </p:txBody>
      </p:sp>
      <p:sp>
        <p:nvSpPr>
          <p:cNvPr id="282" name="Google Shape;282;p21"/>
          <p:cNvSpPr/>
          <p:nvPr/>
        </p:nvSpPr>
        <p:spPr>
          <a:xfrm>
            <a:off x="5742431" y="3012399"/>
            <a:ext cx="1481328" cy="261152"/>
          </a:xfrm>
          <a:prstGeom prst="rect">
            <a:avLst/>
          </a:prstGeom>
          <a:solidFill>
            <a:srgbClr val="E8F5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21"/>
          <p:cNvSpPr txBox="1"/>
          <p:nvPr/>
        </p:nvSpPr>
        <p:spPr>
          <a:xfrm>
            <a:off x="5742431" y="3012399"/>
            <a:ext cx="1481328" cy="31089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919" u="none" cap="none" strike="noStrike">
                <a:solidFill>
                  <a:srgbClr val="2F7D68"/>
                </a:solidFill>
                <a:latin typeface="Arial"/>
                <a:ea typeface="Arial"/>
                <a:cs typeface="Arial"/>
                <a:sym typeface="Arial"/>
              </a:rPr>
              <a:t>다음 연도 초안</a:t>
            </a:r>
            <a:endParaRPr/>
          </a:p>
        </p:txBody>
      </p:sp>
      <p:sp>
        <p:nvSpPr>
          <p:cNvPr id="284" name="Google Shape;284;p21"/>
          <p:cNvSpPr/>
          <p:nvPr/>
        </p:nvSpPr>
        <p:spPr>
          <a:xfrm>
            <a:off x="2258568" y="3672961"/>
            <a:ext cx="329184" cy="245790"/>
          </a:xfrm>
          <a:prstGeom prst="down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5" name="Google Shape;285;p21"/>
          <p:cNvSpPr/>
          <p:nvPr/>
        </p:nvSpPr>
        <p:spPr>
          <a:xfrm>
            <a:off x="6483096" y="3672961"/>
            <a:ext cx="329184" cy="245790"/>
          </a:xfrm>
          <a:prstGeom prst="down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21"/>
          <p:cNvSpPr/>
          <p:nvPr/>
        </p:nvSpPr>
        <p:spPr>
          <a:xfrm>
            <a:off x="749808" y="3957157"/>
            <a:ext cx="7644383" cy="483900"/>
          </a:xfrm>
          <a:prstGeom prst="rect">
            <a:avLst/>
          </a:prstGeom>
          <a:solidFill>
            <a:srgbClr val="EEF6FB"/>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21"/>
          <p:cNvSpPr txBox="1"/>
          <p:nvPr/>
        </p:nvSpPr>
        <p:spPr>
          <a:xfrm>
            <a:off x="914400" y="4103095"/>
            <a:ext cx="109728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60" u="none" cap="none" strike="noStrike">
                <a:solidFill>
                  <a:srgbClr val="0C2F61"/>
                </a:solidFill>
                <a:latin typeface="Arial"/>
                <a:ea typeface="Arial"/>
                <a:cs typeface="Arial"/>
                <a:sym typeface="Arial"/>
              </a:rPr>
              <a:t>파서 선택</a:t>
            </a:r>
            <a:endParaRPr/>
          </a:p>
        </p:txBody>
      </p:sp>
      <p:sp>
        <p:nvSpPr>
          <p:cNvPr id="288" name="Google Shape;288;p21"/>
          <p:cNvSpPr/>
          <p:nvPr/>
        </p:nvSpPr>
        <p:spPr>
          <a:xfrm>
            <a:off x="2084832" y="4110775"/>
            <a:ext cx="146304" cy="145938"/>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21"/>
          <p:cNvSpPr txBox="1"/>
          <p:nvPr/>
        </p:nvSpPr>
        <p:spPr>
          <a:xfrm>
            <a:off x="2450592" y="4103095"/>
            <a:ext cx="1792224"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60" u="none" cap="none" strike="noStrike">
                <a:solidFill>
                  <a:srgbClr val="0C2F61"/>
                </a:solidFill>
                <a:latin typeface="Arial"/>
                <a:ea typeface="Arial"/>
                <a:cs typeface="Arial"/>
                <a:sym typeface="Arial"/>
              </a:rPr>
              <a:t>표 번호·좌표·중복 검증</a:t>
            </a:r>
            <a:endParaRPr/>
          </a:p>
        </p:txBody>
      </p:sp>
      <p:sp>
        <p:nvSpPr>
          <p:cNvPr id="290" name="Google Shape;290;p21"/>
          <p:cNvSpPr/>
          <p:nvPr/>
        </p:nvSpPr>
        <p:spPr>
          <a:xfrm>
            <a:off x="4315968" y="4110775"/>
            <a:ext cx="146304" cy="145938"/>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21"/>
          <p:cNvSpPr txBox="1"/>
          <p:nvPr/>
        </p:nvSpPr>
        <p:spPr>
          <a:xfrm>
            <a:off x="4617720" y="4103095"/>
            <a:ext cx="1664208"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60" u="none" cap="none" strike="noStrike">
                <a:solidFill>
                  <a:srgbClr val="0C2F61"/>
                </a:solidFill>
                <a:latin typeface="Arial"/>
                <a:ea typeface="Arial"/>
                <a:cs typeface="Arial"/>
                <a:sym typeface="Arial"/>
              </a:rPr>
              <a:t>표·셀·메타정보 DB 저장</a:t>
            </a:r>
            <a:endParaRPr/>
          </a:p>
        </p:txBody>
      </p:sp>
      <p:sp>
        <p:nvSpPr>
          <p:cNvPr id="292" name="Google Shape;292;p21"/>
          <p:cNvSpPr/>
          <p:nvPr/>
        </p:nvSpPr>
        <p:spPr>
          <a:xfrm>
            <a:off x="6355080" y="4110775"/>
            <a:ext cx="146304" cy="145938"/>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21"/>
          <p:cNvSpPr txBox="1"/>
          <p:nvPr/>
        </p:nvSpPr>
        <p:spPr>
          <a:xfrm>
            <a:off x="6629400" y="4103095"/>
            <a:ext cx="1536192"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60" u="none" cap="none" strike="noStrike">
                <a:solidFill>
                  <a:srgbClr val="0C2F61"/>
                </a:solidFill>
                <a:latin typeface="Arial"/>
                <a:ea typeface="Arial"/>
                <a:cs typeface="Arial"/>
                <a:sym typeface="Arial"/>
              </a:rPr>
              <a:t>초안 확인 후 연보 확정</a:t>
            </a:r>
            <a:endParaRPr/>
          </a:p>
        </p:txBody>
      </p:sp>
      <p:sp>
        <p:nvSpPr>
          <p:cNvPr id="294" name="Google Shape;294;p21"/>
          <p:cNvSpPr txBox="1"/>
          <p:nvPr/>
        </p:nvSpPr>
        <p:spPr>
          <a:xfrm>
            <a:off x="1508760" y="4517867"/>
            <a:ext cx="6126480"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790" u="none" cap="none" strike="noStrike">
                <a:solidFill>
                  <a:srgbClr val="667085"/>
                </a:solidFill>
                <a:latin typeface="Arial"/>
                <a:ea typeface="Arial"/>
                <a:cs typeface="Arial"/>
                <a:sym typeface="Arial"/>
              </a:rPr>
              <a:t>판단이 어려운 구조·항목 연결은 확인 필요로 보존하고, 선택한 경우에만 LLM 보조를 적용</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8" name="Shape 298"/>
        <p:cNvGrpSpPr/>
        <p:nvPr/>
      </p:nvGrpSpPr>
      <p:grpSpPr>
        <a:xfrm>
          <a:off x="0" y="0"/>
          <a:ext cx="0" cy="0"/>
          <a:chOff x="0" y="0"/>
          <a:chExt cx="0" cy="0"/>
        </a:xfrm>
      </p:grpSpPr>
      <p:sp>
        <p:nvSpPr>
          <p:cNvPr id="299" name="Google Shape;299;p22"/>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검수</a:t>
            </a:r>
            <a:endParaRPr/>
          </a:p>
        </p:txBody>
      </p:sp>
      <p:sp>
        <p:nvSpPr>
          <p:cNvPr id="300" name="Google Shape;300;p22"/>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검수 체계</a:t>
            </a:r>
            <a:endParaRPr/>
          </a:p>
        </p:txBody>
      </p:sp>
      <p:pic>
        <p:nvPicPr>
          <p:cNvPr descr="image.png" id="301" name="Google Shape;301;p22"/>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302" name="Google Shape;302;p22"/>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22"/>
          <p:cNvSpPr txBox="1"/>
          <p:nvPr/>
        </p:nvSpPr>
        <p:spPr>
          <a:xfrm>
            <a:off x="457200" y="1316736"/>
            <a:ext cx="8138100" cy="22170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검수 항목과 </a:t>
            </a:r>
            <a:r>
              <a:rPr b="0" i="0" lang="en-US" sz="1200" u="none" cap="none" strike="noStrike">
                <a:solidFill>
                  <a:srgbClr val="667085"/>
                </a:solidFill>
                <a:latin typeface="Arial"/>
                <a:ea typeface="Arial"/>
                <a:cs typeface="Arial"/>
                <a:sym typeface="Arial"/>
              </a:rPr>
              <a:t>판정 방식</a:t>
            </a:r>
            <a:endParaRPr/>
          </a:p>
        </p:txBody>
      </p:sp>
      <p:sp>
        <p:nvSpPr>
          <p:cNvPr id="304" name="Google Shape;304;p22"/>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305" name="Google Shape;305;p22"/>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8</a:t>
            </a:r>
            <a:endParaRPr/>
          </a:p>
        </p:txBody>
      </p:sp>
      <p:sp>
        <p:nvSpPr>
          <p:cNvPr id="306" name="Google Shape;306;p22"/>
          <p:cNvSpPr/>
          <p:nvPr/>
        </p:nvSpPr>
        <p:spPr>
          <a:xfrm>
            <a:off x="475488" y="1783445"/>
            <a:ext cx="3986784" cy="1858792"/>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22"/>
          <p:cNvSpPr/>
          <p:nvPr/>
        </p:nvSpPr>
        <p:spPr>
          <a:xfrm>
            <a:off x="475488" y="1783445"/>
            <a:ext cx="3986784" cy="330281"/>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22"/>
          <p:cNvSpPr txBox="1"/>
          <p:nvPr/>
        </p:nvSpPr>
        <p:spPr>
          <a:xfrm>
            <a:off x="640080" y="1867936"/>
            <a:ext cx="3639312"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30" u="none" cap="none" strike="noStrike">
                <a:solidFill>
                  <a:srgbClr val="FFFFFF"/>
                </a:solidFill>
                <a:latin typeface="Arial"/>
                <a:ea typeface="Arial"/>
                <a:cs typeface="Arial"/>
                <a:sym typeface="Arial"/>
              </a:rPr>
              <a:t>규칙·통계 기반 검수</a:t>
            </a:r>
            <a:endParaRPr/>
          </a:p>
        </p:txBody>
      </p:sp>
      <p:sp>
        <p:nvSpPr>
          <p:cNvPr id="309" name="Google Shape;309;p22"/>
          <p:cNvSpPr/>
          <p:nvPr/>
        </p:nvSpPr>
        <p:spPr>
          <a:xfrm>
            <a:off x="658368" y="2259665"/>
            <a:ext cx="1737360" cy="491581"/>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22"/>
          <p:cNvSpPr txBox="1"/>
          <p:nvPr/>
        </p:nvSpPr>
        <p:spPr>
          <a:xfrm>
            <a:off x="749808" y="2328793"/>
            <a:ext cx="640080"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1F5A91"/>
                </a:solidFill>
                <a:latin typeface="Arial"/>
                <a:ea typeface="Arial"/>
                <a:cs typeface="Arial"/>
                <a:sym typeface="Arial"/>
              </a:rPr>
              <a:t>합계</a:t>
            </a:r>
            <a:endParaRPr/>
          </a:p>
        </p:txBody>
      </p:sp>
      <p:sp>
        <p:nvSpPr>
          <p:cNvPr id="311" name="Google Shape;311;p22"/>
          <p:cNvSpPr txBox="1"/>
          <p:nvPr/>
        </p:nvSpPr>
        <p:spPr>
          <a:xfrm>
            <a:off x="1316736" y="2313431"/>
            <a:ext cx="987552"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830" u="none" cap="none" strike="noStrike">
                <a:solidFill>
                  <a:srgbClr val="172331"/>
                </a:solidFill>
                <a:latin typeface="Arial"/>
                <a:ea typeface="Arial"/>
                <a:cs typeface="Arial"/>
                <a:sym typeface="Arial"/>
              </a:rPr>
              <a:t>행·열 합계, 소계, 명시 산식</a:t>
            </a:r>
            <a:endParaRPr/>
          </a:p>
        </p:txBody>
      </p:sp>
      <p:sp>
        <p:nvSpPr>
          <p:cNvPr id="312" name="Google Shape;312;p22"/>
          <p:cNvSpPr/>
          <p:nvPr/>
        </p:nvSpPr>
        <p:spPr>
          <a:xfrm>
            <a:off x="2532888" y="2259665"/>
            <a:ext cx="1737360" cy="491581"/>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22"/>
          <p:cNvSpPr txBox="1"/>
          <p:nvPr/>
        </p:nvSpPr>
        <p:spPr>
          <a:xfrm>
            <a:off x="2624328" y="2328793"/>
            <a:ext cx="640080"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1F5A91"/>
                </a:solidFill>
                <a:latin typeface="Arial"/>
                <a:ea typeface="Arial"/>
                <a:cs typeface="Arial"/>
                <a:sym typeface="Arial"/>
              </a:rPr>
              <a:t>비율</a:t>
            </a:r>
            <a:endParaRPr/>
          </a:p>
        </p:txBody>
      </p:sp>
      <p:sp>
        <p:nvSpPr>
          <p:cNvPr id="314" name="Google Shape;314;p22"/>
          <p:cNvSpPr txBox="1"/>
          <p:nvPr/>
        </p:nvSpPr>
        <p:spPr>
          <a:xfrm>
            <a:off x="3191256" y="2313431"/>
            <a:ext cx="987552"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830" u="none" cap="none" strike="noStrike">
                <a:solidFill>
                  <a:srgbClr val="172331"/>
                </a:solidFill>
                <a:latin typeface="Arial"/>
                <a:ea typeface="Arial"/>
                <a:cs typeface="Arial"/>
                <a:sym typeface="Arial"/>
              </a:rPr>
              <a:t>구성비·증감액·증감률 포함</a:t>
            </a:r>
            <a:endParaRPr/>
          </a:p>
        </p:txBody>
      </p:sp>
      <p:sp>
        <p:nvSpPr>
          <p:cNvPr id="315" name="Google Shape;315;p22"/>
          <p:cNvSpPr/>
          <p:nvPr/>
        </p:nvSpPr>
        <p:spPr>
          <a:xfrm>
            <a:off x="658368" y="2904865"/>
            <a:ext cx="1737360" cy="491581"/>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22"/>
          <p:cNvSpPr txBox="1"/>
          <p:nvPr/>
        </p:nvSpPr>
        <p:spPr>
          <a:xfrm>
            <a:off x="749808" y="2973993"/>
            <a:ext cx="640080"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1F5A91"/>
                </a:solidFill>
                <a:latin typeface="Arial"/>
                <a:ea typeface="Arial"/>
                <a:cs typeface="Arial"/>
                <a:sym typeface="Arial"/>
              </a:rPr>
              <a:t>메타데이터</a:t>
            </a:r>
            <a:endParaRPr/>
          </a:p>
        </p:txBody>
      </p:sp>
      <p:sp>
        <p:nvSpPr>
          <p:cNvPr id="317" name="Google Shape;317;p22"/>
          <p:cNvSpPr txBox="1"/>
          <p:nvPr/>
        </p:nvSpPr>
        <p:spPr>
          <a:xfrm>
            <a:off x="1316736" y="2958631"/>
            <a:ext cx="987552"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830" u="none" cap="none" strike="noStrike">
                <a:solidFill>
                  <a:srgbClr val="172331"/>
                </a:solidFill>
                <a:latin typeface="Arial"/>
                <a:ea typeface="Arial"/>
                <a:cs typeface="Arial"/>
                <a:sym typeface="Arial"/>
              </a:rPr>
              <a:t>단위·기준일·출처 확인</a:t>
            </a:r>
            <a:endParaRPr/>
          </a:p>
        </p:txBody>
      </p:sp>
      <p:sp>
        <p:nvSpPr>
          <p:cNvPr id="318" name="Google Shape;318;p22"/>
          <p:cNvSpPr/>
          <p:nvPr/>
        </p:nvSpPr>
        <p:spPr>
          <a:xfrm>
            <a:off x="2532888" y="2904865"/>
            <a:ext cx="1737360" cy="491581"/>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22"/>
          <p:cNvSpPr txBox="1"/>
          <p:nvPr/>
        </p:nvSpPr>
        <p:spPr>
          <a:xfrm>
            <a:off x="2624328" y="2973993"/>
            <a:ext cx="640080"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1F5A91"/>
                </a:solidFill>
                <a:latin typeface="Arial"/>
                <a:ea typeface="Arial"/>
                <a:cs typeface="Arial"/>
                <a:sym typeface="Arial"/>
              </a:rPr>
              <a:t>이상치</a:t>
            </a:r>
            <a:endParaRPr/>
          </a:p>
        </p:txBody>
      </p:sp>
      <p:sp>
        <p:nvSpPr>
          <p:cNvPr id="320" name="Google Shape;320;p22"/>
          <p:cNvSpPr txBox="1"/>
          <p:nvPr/>
        </p:nvSpPr>
        <p:spPr>
          <a:xfrm>
            <a:off x="3191256" y="2958631"/>
            <a:ext cx="987552"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830" u="none" cap="none" strike="noStrike">
                <a:solidFill>
                  <a:srgbClr val="172331"/>
                </a:solidFill>
                <a:latin typeface="Arial"/>
                <a:ea typeface="Arial"/>
                <a:cs typeface="Arial"/>
                <a:sym typeface="Arial"/>
              </a:rPr>
              <a:t>열별 중앙값·MAD 기반 후보</a:t>
            </a:r>
            <a:endParaRPr/>
          </a:p>
        </p:txBody>
      </p:sp>
      <p:sp>
        <p:nvSpPr>
          <p:cNvPr id="321" name="Google Shape;321;p22"/>
          <p:cNvSpPr/>
          <p:nvPr/>
        </p:nvSpPr>
        <p:spPr>
          <a:xfrm>
            <a:off x="4681728" y="1783445"/>
            <a:ext cx="3986784" cy="1858792"/>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22"/>
          <p:cNvSpPr/>
          <p:nvPr/>
        </p:nvSpPr>
        <p:spPr>
          <a:xfrm>
            <a:off x="4681728" y="1783445"/>
            <a:ext cx="3986784" cy="330281"/>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22"/>
          <p:cNvSpPr txBox="1"/>
          <p:nvPr/>
        </p:nvSpPr>
        <p:spPr>
          <a:xfrm>
            <a:off x="4846320" y="1867936"/>
            <a:ext cx="365760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30" u="none" cap="none" strike="noStrike">
                <a:solidFill>
                  <a:srgbClr val="FFFFFF"/>
                </a:solidFill>
                <a:latin typeface="Arial"/>
                <a:ea typeface="Arial"/>
                <a:cs typeface="Arial"/>
                <a:sym typeface="Arial"/>
              </a:rPr>
              <a:t>언어 검수</a:t>
            </a:r>
            <a:endParaRPr/>
          </a:p>
        </p:txBody>
      </p:sp>
      <p:sp>
        <p:nvSpPr>
          <p:cNvPr id="324" name="Google Shape;324;p22"/>
          <p:cNvSpPr/>
          <p:nvPr/>
        </p:nvSpPr>
        <p:spPr>
          <a:xfrm>
            <a:off x="4892040" y="2259665"/>
            <a:ext cx="1517904" cy="645200"/>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22"/>
          <p:cNvSpPr txBox="1"/>
          <p:nvPr/>
        </p:nvSpPr>
        <p:spPr>
          <a:xfrm>
            <a:off x="5020056" y="2336474"/>
            <a:ext cx="1261872"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69" u="none" cap="none" strike="noStrike">
                <a:solidFill>
                  <a:srgbClr val="1F5A91"/>
                </a:solidFill>
                <a:latin typeface="Arial"/>
                <a:ea typeface="Arial"/>
                <a:cs typeface="Arial"/>
                <a:sym typeface="Arial"/>
              </a:rPr>
              <a:t>오탈자</a:t>
            </a:r>
            <a:endParaRPr/>
          </a:p>
        </p:txBody>
      </p:sp>
      <p:sp>
        <p:nvSpPr>
          <p:cNvPr id="326" name="Google Shape;326;p22"/>
          <p:cNvSpPr txBox="1"/>
          <p:nvPr/>
        </p:nvSpPr>
        <p:spPr>
          <a:xfrm>
            <a:off x="5001768" y="2543860"/>
            <a:ext cx="1298448" cy="31089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철자·문자 깨짐·</a:t>
            </a:r>
            <a:br>
              <a:rPr b="0" i="0" lang="en-US" sz="819" u="none" cap="none" strike="noStrike">
                <a:solidFill>
                  <a:srgbClr val="172331"/>
                </a:solidFill>
                <a:latin typeface="Arial"/>
                <a:ea typeface="Arial"/>
                <a:cs typeface="Arial"/>
                <a:sym typeface="Arial"/>
              </a:rPr>
            </a:br>
            <a:r>
              <a:rPr b="0" i="0" lang="en-US" sz="819" u="none" cap="none" strike="noStrike">
                <a:solidFill>
                  <a:srgbClr val="172331"/>
                </a:solidFill>
                <a:latin typeface="Arial"/>
                <a:ea typeface="Arial"/>
                <a:cs typeface="Arial"/>
                <a:sym typeface="Arial"/>
              </a:rPr>
              <a:t>숫자 표기 후보</a:t>
            </a:r>
            <a:endParaRPr/>
          </a:p>
        </p:txBody>
      </p:sp>
      <p:sp>
        <p:nvSpPr>
          <p:cNvPr id="327" name="Google Shape;327;p22"/>
          <p:cNvSpPr/>
          <p:nvPr/>
        </p:nvSpPr>
        <p:spPr>
          <a:xfrm>
            <a:off x="6940296" y="2259665"/>
            <a:ext cx="1517904" cy="645200"/>
          </a:xfrm>
          <a:prstGeom prst="rect">
            <a:avLst/>
          </a:prstGeom>
          <a:solidFill>
            <a:srgbClr val="E8F5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22"/>
          <p:cNvSpPr txBox="1"/>
          <p:nvPr/>
        </p:nvSpPr>
        <p:spPr>
          <a:xfrm>
            <a:off x="7068312" y="2336474"/>
            <a:ext cx="1261872"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69" u="none" cap="none" strike="noStrike">
                <a:solidFill>
                  <a:srgbClr val="2F7D68"/>
                </a:solidFill>
                <a:latin typeface="Arial"/>
                <a:ea typeface="Arial"/>
                <a:cs typeface="Arial"/>
                <a:sym typeface="Arial"/>
              </a:rPr>
              <a:t>번역</a:t>
            </a:r>
            <a:endParaRPr/>
          </a:p>
        </p:txBody>
      </p:sp>
      <p:sp>
        <p:nvSpPr>
          <p:cNvPr id="329" name="Google Shape;329;p22"/>
          <p:cNvSpPr txBox="1"/>
          <p:nvPr/>
        </p:nvSpPr>
        <p:spPr>
          <a:xfrm>
            <a:off x="7050024" y="2543860"/>
            <a:ext cx="1298448" cy="31089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명확한 국·영문 쌍의</a:t>
            </a:r>
            <a:br>
              <a:rPr b="0" i="0" lang="en-US" sz="819" u="none" cap="none" strike="noStrike">
                <a:solidFill>
                  <a:srgbClr val="172331"/>
                </a:solidFill>
                <a:latin typeface="Arial"/>
                <a:ea typeface="Arial"/>
                <a:cs typeface="Arial"/>
                <a:sym typeface="Arial"/>
              </a:rPr>
            </a:br>
            <a:r>
              <a:rPr b="0" i="0" lang="en-US" sz="819" u="none" cap="none" strike="noStrike">
                <a:solidFill>
                  <a:srgbClr val="172331"/>
                </a:solidFill>
                <a:latin typeface="Arial"/>
                <a:ea typeface="Arial"/>
                <a:cs typeface="Arial"/>
                <a:sym typeface="Arial"/>
              </a:rPr>
              <a:t>의미 대응 후보</a:t>
            </a:r>
            <a:endParaRPr/>
          </a:p>
        </p:txBody>
      </p:sp>
      <p:sp>
        <p:nvSpPr>
          <p:cNvPr id="330" name="Google Shape;330;p22"/>
          <p:cNvSpPr/>
          <p:nvPr/>
        </p:nvSpPr>
        <p:spPr>
          <a:xfrm>
            <a:off x="5010912" y="3081528"/>
            <a:ext cx="3328416" cy="345643"/>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22"/>
          <p:cNvSpPr txBox="1"/>
          <p:nvPr/>
        </p:nvSpPr>
        <p:spPr>
          <a:xfrm>
            <a:off x="5166360" y="3166018"/>
            <a:ext cx="3017520"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90" u="none" cap="none" strike="noStrike">
                <a:solidFill>
                  <a:srgbClr val="0C2F61"/>
                </a:solidFill>
                <a:latin typeface="Arial"/>
                <a:ea typeface="Arial"/>
                <a:cs typeface="Arial"/>
                <a:sym typeface="Arial"/>
              </a:rPr>
              <a:t>공식 사전  →  문맥 이력  →  선택적 LLM</a:t>
            </a:r>
            <a:endParaRPr/>
          </a:p>
        </p:txBody>
      </p:sp>
      <p:sp>
        <p:nvSpPr>
          <p:cNvPr id="332" name="Google Shape;332;p22"/>
          <p:cNvSpPr txBox="1"/>
          <p:nvPr/>
        </p:nvSpPr>
        <p:spPr>
          <a:xfrm>
            <a:off x="566928" y="3857304"/>
            <a:ext cx="1097280" cy="2103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19" u="none" cap="none" strike="noStrike">
                <a:solidFill>
                  <a:srgbClr val="667085"/>
                </a:solidFill>
                <a:latin typeface="Arial"/>
                <a:ea typeface="Arial"/>
                <a:cs typeface="Arial"/>
                <a:sym typeface="Arial"/>
              </a:rPr>
              <a:t>검수 결과 상태</a:t>
            </a:r>
            <a:endParaRPr/>
          </a:p>
        </p:txBody>
      </p:sp>
      <p:sp>
        <p:nvSpPr>
          <p:cNvPr id="333" name="Google Shape;333;p22"/>
          <p:cNvSpPr/>
          <p:nvPr/>
        </p:nvSpPr>
        <p:spPr>
          <a:xfrm>
            <a:off x="566928" y="4087733"/>
            <a:ext cx="2432304" cy="468538"/>
          </a:xfrm>
          <a:prstGeom prst="rect">
            <a:avLst/>
          </a:prstGeom>
          <a:solidFill>
            <a:srgbClr val="E8F5F1"/>
          </a:solidFill>
          <a:ln cap="flat" cmpd="sng" w="10150">
            <a:solidFill>
              <a:srgbClr val="2F7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22"/>
          <p:cNvSpPr txBox="1"/>
          <p:nvPr/>
        </p:nvSpPr>
        <p:spPr>
          <a:xfrm>
            <a:off x="676656" y="4187586"/>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855" u="none" cap="none" strike="noStrike">
                <a:solidFill>
                  <a:srgbClr val="2F7D68"/>
                </a:solidFill>
                <a:latin typeface="Arial"/>
                <a:ea typeface="Arial"/>
                <a:cs typeface="Arial"/>
                <a:sym typeface="Arial"/>
              </a:rPr>
              <a:t>●</a:t>
            </a:r>
            <a:endParaRPr/>
          </a:p>
        </p:txBody>
      </p:sp>
      <p:sp>
        <p:nvSpPr>
          <p:cNvPr id="335" name="Google Shape;335;p22"/>
          <p:cNvSpPr txBox="1"/>
          <p:nvPr/>
        </p:nvSpPr>
        <p:spPr>
          <a:xfrm>
            <a:off x="676656" y="4187586"/>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19" u="none" cap="none" strike="noStrike">
                <a:solidFill>
                  <a:srgbClr val="FFFFFF"/>
                </a:solidFill>
                <a:latin typeface="Arial"/>
                <a:ea typeface="Arial"/>
                <a:cs typeface="Arial"/>
                <a:sym typeface="Arial"/>
              </a:rPr>
              <a:t>1</a:t>
            </a:r>
            <a:endParaRPr/>
          </a:p>
        </p:txBody>
      </p:sp>
      <p:sp>
        <p:nvSpPr>
          <p:cNvPr id="336" name="Google Shape;336;p22"/>
          <p:cNvSpPr txBox="1"/>
          <p:nvPr/>
        </p:nvSpPr>
        <p:spPr>
          <a:xfrm>
            <a:off x="1042416" y="4141499"/>
            <a:ext cx="731520"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19" u="none" cap="none" strike="noStrike">
                <a:solidFill>
                  <a:srgbClr val="2F7D68"/>
                </a:solidFill>
                <a:latin typeface="Arial"/>
                <a:ea typeface="Arial"/>
                <a:cs typeface="Arial"/>
                <a:sym typeface="Arial"/>
              </a:rPr>
              <a:t>정상</a:t>
            </a:r>
            <a:endParaRPr/>
          </a:p>
        </p:txBody>
      </p:sp>
      <p:sp>
        <p:nvSpPr>
          <p:cNvPr id="337" name="Google Shape;337;p22"/>
          <p:cNvSpPr txBox="1"/>
          <p:nvPr/>
        </p:nvSpPr>
        <p:spPr>
          <a:xfrm>
            <a:off x="1042416" y="4318162"/>
            <a:ext cx="1810512"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00" u="none" cap="none" strike="noStrike">
                <a:solidFill>
                  <a:srgbClr val="172331"/>
                </a:solidFill>
                <a:latin typeface="Arial"/>
                <a:ea typeface="Arial"/>
                <a:cs typeface="Arial"/>
                <a:sym typeface="Arial"/>
              </a:rPr>
              <a:t>자동 검수에서 문제 없음</a:t>
            </a:r>
            <a:endParaRPr/>
          </a:p>
        </p:txBody>
      </p:sp>
      <p:sp>
        <p:nvSpPr>
          <p:cNvPr id="338" name="Google Shape;338;p22"/>
          <p:cNvSpPr/>
          <p:nvPr/>
        </p:nvSpPr>
        <p:spPr>
          <a:xfrm>
            <a:off x="3355848" y="4087733"/>
            <a:ext cx="2432304" cy="468538"/>
          </a:xfrm>
          <a:prstGeom prst="rect">
            <a:avLst/>
          </a:prstGeom>
          <a:solidFill>
            <a:srgbClr val="FFF4DE"/>
          </a:solidFill>
          <a:ln cap="flat" cmpd="sng" w="10150">
            <a:solidFill>
              <a:srgbClr val="B978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22"/>
          <p:cNvSpPr txBox="1"/>
          <p:nvPr/>
        </p:nvSpPr>
        <p:spPr>
          <a:xfrm>
            <a:off x="3465576" y="4187586"/>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855" u="none" cap="none" strike="noStrike">
                <a:solidFill>
                  <a:srgbClr val="B97818"/>
                </a:solidFill>
                <a:latin typeface="Arial"/>
                <a:ea typeface="Arial"/>
                <a:cs typeface="Arial"/>
                <a:sym typeface="Arial"/>
              </a:rPr>
              <a:t>●</a:t>
            </a:r>
            <a:endParaRPr/>
          </a:p>
        </p:txBody>
      </p:sp>
      <p:sp>
        <p:nvSpPr>
          <p:cNvPr id="340" name="Google Shape;340;p22"/>
          <p:cNvSpPr txBox="1"/>
          <p:nvPr/>
        </p:nvSpPr>
        <p:spPr>
          <a:xfrm>
            <a:off x="3465576" y="4187586"/>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19" u="none" cap="none" strike="noStrike">
                <a:solidFill>
                  <a:srgbClr val="FFFFFF"/>
                </a:solidFill>
                <a:latin typeface="Arial"/>
                <a:ea typeface="Arial"/>
                <a:cs typeface="Arial"/>
                <a:sym typeface="Arial"/>
              </a:rPr>
              <a:t>2</a:t>
            </a:r>
            <a:endParaRPr/>
          </a:p>
        </p:txBody>
      </p:sp>
      <p:sp>
        <p:nvSpPr>
          <p:cNvPr id="341" name="Google Shape;341;p22"/>
          <p:cNvSpPr txBox="1"/>
          <p:nvPr/>
        </p:nvSpPr>
        <p:spPr>
          <a:xfrm>
            <a:off x="3831335" y="4141499"/>
            <a:ext cx="731520"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19" u="none" cap="none" strike="noStrike">
                <a:solidFill>
                  <a:srgbClr val="B97818"/>
                </a:solidFill>
                <a:latin typeface="Arial"/>
                <a:ea typeface="Arial"/>
                <a:cs typeface="Arial"/>
                <a:sym typeface="Arial"/>
              </a:rPr>
              <a:t>확인 필요</a:t>
            </a:r>
            <a:endParaRPr/>
          </a:p>
        </p:txBody>
      </p:sp>
      <p:sp>
        <p:nvSpPr>
          <p:cNvPr id="342" name="Google Shape;342;p22"/>
          <p:cNvSpPr txBox="1"/>
          <p:nvPr/>
        </p:nvSpPr>
        <p:spPr>
          <a:xfrm>
            <a:off x="3831335" y="4318162"/>
            <a:ext cx="1810512"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00" u="none" cap="none" strike="noStrike">
                <a:solidFill>
                  <a:srgbClr val="172331"/>
                </a:solidFill>
                <a:latin typeface="Arial"/>
                <a:ea typeface="Arial"/>
                <a:cs typeface="Arial"/>
                <a:sym typeface="Arial"/>
              </a:rPr>
              <a:t>문맥·특이값 등 담당자 판단</a:t>
            </a:r>
            <a:endParaRPr/>
          </a:p>
        </p:txBody>
      </p:sp>
      <p:sp>
        <p:nvSpPr>
          <p:cNvPr id="343" name="Google Shape;343;p22"/>
          <p:cNvSpPr/>
          <p:nvPr/>
        </p:nvSpPr>
        <p:spPr>
          <a:xfrm>
            <a:off x="6144768" y="4087733"/>
            <a:ext cx="2432304" cy="468538"/>
          </a:xfrm>
          <a:prstGeom prst="rect">
            <a:avLst/>
          </a:prstGeom>
          <a:solidFill>
            <a:srgbClr val="FDECEF"/>
          </a:solidFill>
          <a:ln cap="flat" cmpd="sng" w="10150">
            <a:solidFill>
              <a:srgbClr val="C946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22"/>
          <p:cNvSpPr txBox="1"/>
          <p:nvPr/>
        </p:nvSpPr>
        <p:spPr>
          <a:xfrm>
            <a:off x="6254496" y="4187586"/>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855" u="none" cap="none" strike="noStrike">
                <a:solidFill>
                  <a:srgbClr val="C94655"/>
                </a:solidFill>
                <a:latin typeface="Arial"/>
                <a:ea typeface="Arial"/>
                <a:cs typeface="Arial"/>
                <a:sym typeface="Arial"/>
              </a:rPr>
              <a:t>●</a:t>
            </a:r>
            <a:endParaRPr/>
          </a:p>
        </p:txBody>
      </p:sp>
      <p:sp>
        <p:nvSpPr>
          <p:cNvPr id="345" name="Google Shape;345;p22"/>
          <p:cNvSpPr txBox="1"/>
          <p:nvPr/>
        </p:nvSpPr>
        <p:spPr>
          <a:xfrm>
            <a:off x="6254496" y="4187586"/>
            <a:ext cx="292608" cy="29260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19" u="none" cap="none" strike="noStrike">
                <a:solidFill>
                  <a:srgbClr val="FFFFFF"/>
                </a:solidFill>
                <a:latin typeface="Arial"/>
                <a:ea typeface="Arial"/>
                <a:cs typeface="Arial"/>
                <a:sym typeface="Arial"/>
              </a:rPr>
              <a:t>3</a:t>
            </a:r>
            <a:endParaRPr/>
          </a:p>
        </p:txBody>
      </p:sp>
      <p:sp>
        <p:nvSpPr>
          <p:cNvPr id="346" name="Google Shape;346;p22"/>
          <p:cNvSpPr txBox="1"/>
          <p:nvPr/>
        </p:nvSpPr>
        <p:spPr>
          <a:xfrm>
            <a:off x="6620256" y="4141499"/>
            <a:ext cx="731520"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19" u="none" cap="none" strike="noStrike">
                <a:solidFill>
                  <a:srgbClr val="C94655"/>
                </a:solidFill>
                <a:latin typeface="Arial"/>
                <a:ea typeface="Arial"/>
                <a:cs typeface="Arial"/>
                <a:sym typeface="Arial"/>
              </a:rPr>
              <a:t>오류 의심</a:t>
            </a:r>
            <a:endParaRPr/>
          </a:p>
        </p:txBody>
      </p:sp>
      <p:sp>
        <p:nvSpPr>
          <p:cNvPr id="347" name="Google Shape;347;p22"/>
          <p:cNvSpPr txBox="1"/>
          <p:nvPr/>
        </p:nvSpPr>
        <p:spPr>
          <a:xfrm>
            <a:off x="6620256" y="4318162"/>
            <a:ext cx="1810512"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00" u="none" cap="none" strike="noStrike">
                <a:solidFill>
                  <a:srgbClr val="172331"/>
                </a:solidFill>
                <a:latin typeface="Arial"/>
                <a:ea typeface="Arial"/>
                <a:cs typeface="Arial"/>
                <a:sym typeface="Arial"/>
              </a:rPr>
              <a:t>계산 불일치 등 우선 확인</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1" name="Shape 351"/>
        <p:cNvGrpSpPr/>
        <p:nvPr/>
      </p:nvGrpSpPr>
      <p:grpSpPr>
        <a:xfrm>
          <a:off x="0" y="0"/>
          <a:ext cx="0" cy="0"/>
          <a:chOff x="0" y="0"/>
          <a:chExt cx="0" cy="0"/>
        </a:xfrm>
      </p:grpSpPr>
      <p:sp>
        <p:nvSpPr>
          <p:cNvPr id="352" name="Google Shape;352;p23"/>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검수 프로파일</a:t>
            </a:r>
            <a:endParaRPr/>
          </a:p>
        </p:txBody>
      </p:sp>
      <p:sp>
        <p:nvSpPr>
          <p:cNvPr id="353" name="Google Shape;353;p23"/>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검수 프로파일</a:t>
            </a:r>
            <a:endParaRPr/>
          </a:p>
        </p:txBody>
      </p:sp>
      <p:pic>
        <p:nvPicPr>
          <p:cNvPr descr="image.png" id="354" name="Google Shape;354;p23"/>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355" name="Google Shape;355;p23"/>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23"/>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공통·표유형·표별·통계별 규칙을 하나의 실행 명세로 구성</a:t>
            </a:r>
            <a:endParaRPr/>
          </a:p>
        </p:txBody>
      </p:sp>
      <p:sp>
        <p:nvSpPr>
          <p:cNvPr id="357" name="Google Shape;357;p23"/>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358" name="Google Shape;358;p23"/>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9</a:t>
            </a:r>
            <a:endParaRPr/>
          </a:p>
        </p:txBody>
      </p:sp>
      <p:sp>
        <p:nvSpPr>
          <p:cNvPr id="359" name="Google Shape;359;p23"/>
          <p:cNvSpPr/>
          <p:nvPr/>
        </p:nvSpPr>
        <p:spPr>
          <a:xfrm>
            <a:off x="621792" y="1737360"/>
            <a:ext cx="7900416" cy="361005"/>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23"/>
          <p:cNvSpPr/>
          <p:nvPr/>
        </p:nvSpPr>
        <p:spPr>
          <a:xfrm>
            <a:off x="804672" y="1814169"/>
            <a:ext cx="841248" cy="207385"/>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23"/>
          <p:cNvSpPr txBox="1"/>
          <p:nvPr/>
        </p:nvSpPr>
        <p:spPr>
          <a:xfrm>
            <a:off x="804672" y="1814169"/>
            <a:ext cx="841248" cy="246888"/>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구조 서명</a:t>
            </a:r>
            <a:endParaRPr/>
          </a:p>
        </p:txBody>
      </p:sp>
      <p:sp>
        <p:nvSpPr>
          <p:cNvPr id="362" name="Google Shape;362;p23"/>
          <p:cNvSpPr txBox="1"/>
          <p:nvPr/>
        </p:nvSpPr>
        <p:spPr>
          <a:xfrm>
            <a:off x="1810512" y="1806488"/>
            <a:ext cx="6419088" cy="219456"/>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890" u="none" cap="none" strike="noStrike">
                <a:solidFill>
                  <a:srgbClr val="0C2F61"/>
                </a:solidFill>
                <a:latin typeface="Arial"/>
                <a:ea typeface="Arial"/>
                <a:cs typeface="Arial"/>
                <a:sym typeface="Arial"/>
              </a:rPr>
              <a:t>헤더 행 수 · 행/열 수 · 라벨 열 · 정규화 헤더 · 데이터 행 항목 순서를 분석</a:t>
            </a:r>
            <a:endParaRPr/>
          </a:p>
        </p:txBody>
      </p:sp>
      <p:sp>
        <p:nvSpPr>
          <p:cNvPr id="363" name="Google Shape;363;p23"/>
          <p:cNvSpPr/>
          <p:nvPr/>
        </p:nvSpPr>
        <p:spPr>
          <a:xfrm>
            <a:off x="502920" y="2259665"/>
            <a:ext cx="1938528" cy="1758939"/>
          </a:xfrm>
          <a:prstGeom prst="rect">
            <a:avLst/>
          </a:prstGeom>
          <a:solidFill>
            <a:srgbClr val="FFFFFF"/>
          </a:solidFill>
          <a:ln cap="flat" cmpd="sng" w="10150">
            <a:solidFill>
              <a:srgbClr val="0C2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23"/>
          <p:cNvSpPr/>
          <p:nvPr/>
        </p:nvSpPr>
        <p:spPr>
          <a:xfrm>
            <a:off x="502920" y="2259665"/>
            <a:ext cx="1938528" cy="322600"/>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23"/>
          <p:cNvSpPr txBox="1"/>
          <p:nvPr/>
        </p:nvSpPr>
        <p:spPr>
          <a:xfrm>
            <a:off x="621792" y="2336474"/>
            <a:ext cx="29260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FFFFFF"/>
                </a:solidFill>
                <a:latin typeface="Arial"/>
                <a:ea typeface="Arial"/>
                <a:cs typeface="Arial"/>
                <a:sym typeface="Arial"/>
              </a:rPr>
              <a:t>01</a:t>
            </a:r>
            <a:endParaRPr/>
          </a:p>
        </p:txBody>
      </p:sp>
      <p:sp>
        <p:nvSpPr>
          <p:cNvPr id="366" name="Google Shape;366;p23"/>
          <p:cNvSpPr txBox="1"/>
          <p:nvPr/>
        </p:nvSpPr>
        <p:spPr>
          <a:xfrm>
            <a:off x="941832" y="2336474"/>
            <a:ext cx="1362456"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40" u="none" cap="none" strike="noStrike">
                <a:solidFill>
                  <a:srgbClr val="FFFFFF"/>
                </a:solidFill>
                <a:latin typeface="Arial"/>
                <a:ea typeface="Arial"/>
                <a:cs typeface="Arial"/>
                <a:sym typeface="Arial"/>
              </a:rPr>
              <a:t>공통 프로파일</a:t>
            </a:r>
            <a:endParaRPr/>
          </a:p>
        </p:txBody>
      </p:sp>
      <p:sp>
        <p:nvSpPr>
          <p:cNvPr id="367" name="Google Shape;367;p23"/>
          <p:cNvSpPr txBox="1"/>
          <p:nvPr/>
        </p:nvSpPr>
        <p:spPr>
          <a:xfrm>
            <a:off x="658368" y="2735884"/>
            <a:ext cx="1627632" cy="1353312"/>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800" u="none" cap="none" strike="noStrike">
                <a:solidFill>
                  <a:srgbClr val="0C2F6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모든 표에 기본 규칙 적용</a:t>
            </a:r>
            <a:endParaRPr/>
          </a:p>
          <a:p>
            <a:pPr indent="0" lvl="0" marL="0" marR="0" rtl="0" algn="l">
              <a:lnSpc>
                <a:spcPct val="108000"/>
              </a:lnSpc>
              <a:spcBef>
                <a:spcPts val="500"/>
              </a:spcBef>
              <a:spcAft>
                <a:spcPts val="0"/>
              </a:spcAft>
              <a:buNone/>
            </a:pPr>
            <a:r>
              <a:rPr b="1" i="0" lang="en-US" sz="800" u="none" cap="none" strike="noStrike">
                <a:solidFill>
                  <a:srgbClr val="0C2F6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단위·기준일·출처 확인</a:t>
            </a:r>
            <a:endParaRPr/>
          </a:p>
          <a:p>
            <a:pPr indent="0" lvl="0" marL="0" marR="0" rtl="0" algn="l">
              <a:lnSpc>
                <a:spcPct val="108000"/>
              </a:lnSpc>
              <a:spcBef>
                <a:spcPts val="500"/>
              </a:spcBef>
              <a:spcAft>
                <a:spcPts val="0"/>
              </a:spcAft>
              <a:buNone/>
            </a:pPr>
            <a:r>
              <a:rPr b="1" i="0" lang="en-US" sz="800" u="none" cap="none" strike="noStrike">
                <a:solidFill>
                  <a:srgbClr val="0C2F6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숫자열의 이상치 적용 가능성 분석</a:t>
            </a:r>
            <a:endParaRPr/>
          </a:p>
        </p:txBody>
      </p:sp>
      <p:sp>
        <p:nvSpPr>
          <p:cNvPr id="368" name="Google Shape;368;p23"/>
          <p:cNvSpPr/>
          <p:nvPr/>
        </p:nvSpPr>
        <p:spPr>
          <a:xfrm>
            <a:off x="2551176" y="2259665"/>
            <a:ext cx="1938528" cy="1758939"/>
          </a:xfrm>
          <a:prstGeom prst="rect">
            <a:avLst/>
          </a:prstGeom>
          <a:solidFill>
            <a:srgbClr val="FFFFFF"/>
          </a:solidFill>
          <a:ln cap="flat" cmpd="sng" w="10150">
            <a:solidFill>
              <a:srgbClr val="1F5A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23"/>
          <p:cNvSpPr/>
          <p:nvPr/>
        </p:nvSpPr>
        <p:spPr>
          <a:xfrm>
            <a:off x="2551176" y="2259665"/>
            <a:ext cx="1938528" cy="322600"/>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23"/>
          <p:cNvSpPr txBox="1"/>
          <p:nvPr/>
        </p:nvSpPr>
        <p:spPr>
          <a:xfrm>
            <a:off x="2670048" y="2336474"/>
            <a:ext cx="29260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FFFFFF"/>
                </a:solidFill>
                <a:latin typeface="Arial"/>
                <a:ea typeface="Arial"/>
                <a:cs typeface="Arial"/>
                <a:sym typeface="Arial"/>
              </a:rPr>
              <a:t>02</a:t>
            </a:r>
            <a:endParaRPr/>
          </a:p>
        </p:txBody>
      </p:sp>
      <p:sp>
        <p:nvSpPr>
          <p:cNvPr id="371" name="Google Shape;371;p23"/>
          <p:cNvSpPr txBox="1"/>
          <p:nvPr/>
        </p:nvSpPr>
        <p:spPr>
          <a:xfrm>
            <a:off x="2990088" y="2336474"/>
            <a:ext cx="1362456"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40" u="none" cap="none" strike="noStrike">
                <a:solidFill>
                  <a:srgbClr val="FFFFFF"/>
                </a:solidFill>
                <a:latin typeface="Arial"/>
                <a:ea typeface="Arial"/>
                <a:cs typeface="Arial"/>
                <a:sym typeface="Arial"/>
              </a:rPr>
              <a:t>표유형 프로파일</a:t>
            </a:r>
            <a:endParaRPr/>
          </a:p>
        </p:txBody>
      </p:sp>
      <p:sp>
        <p:nvSpPr>
          <p:cNvPr id="372" name="Google Shape;372;p23"/>
          <p:cNvSpPr txBox="1"/>
          <p:nvPr/>
        </p:nvSpPr>
        <p:spPr>
          <a:xfrm>
            <a:off x="2706624" y="2735884"/>
            <a:ext cx="1627632" cy="1353312"/>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800" u="none" cap="none" strike="noStrike">
                <a:solidFill>
                  <a:srgbClr val="1F5A9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지역형·연도추이형 등 유형 식별</a:t>
            </a:r>
            <a:endParaRPr/>
          </a:p>
          <a:p>
            <a:pPr indent="0" lvl="0" marL="0" marR="0" rtl="0" algn="l">
              <a:lnSpc>
                <a:spcPct val="108000"/>
              </a:lnSpc>
              <a:spcBef>
                <a:spcPts val="500"/>
              </a:spcBef>
              <a:spcAft>
                <a:spcPts val="0"/>
              </a:spcAft>
              <a:buNone/>
            </a:pPr>
            <a:r>
              <a:rPr b="1" i="0" lang="en-US" sz="800" u="none" cap="none" strike="noStrike">
                <a:solidFill>
                  <a:srgbClr val="1F5A9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지역형: 전국계 = 시도별 값 합계</a:t>
            </a:r>
            <a:endParaRPr/>
          </a:p>
          <a:p>
            <a:pPr indent="0" lvl="0" marL="0" marR="0" rtl="0" algn="l">
              <a:lnSpc>
                <a:spcPct val="108000"/>
              </a:lnSpc>
              <a:spcBef>
                <a:spcPts val="500"/>
              </a:spcBef>
              <a:spcAft>
                <a:spcPts val="0"/>
              </a:spcAft>
              <a:buNone/>
            </a:pPr>
            <a:r>
              <a:rPr b="1" i="0" lang="en-US" sz="800" u="none" cap="none" strike="noStrike">
                <a:solidFill>
                  <a:srgbClr val="1F5A9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헤더·행 라벨 구조를 유형 정보로 저장</a:t>
            </a:r>
            <a:endParaRPr/>
          </a:p>
        </p:txBody>
      </p:sp>
      <p:sp>
        <p:nvSpPr>
          <p:cNvPr id="373" name="Google Shape;373;p23"/>
          <p:cNvSpPr/>
          <p:nvPr/>
        </p:nvSpPr>
        <p:spPr>
          <a:xfrm>
            <a:off x="4599432" y="2259665"/>
            <a:ext cx="1938528" cy="1758939"/>
          </a:xfrm>
          <a:prstGeom prst="rect">
            <a:avLst/>
          </a:prstGeom>
          <a:solidFill>
            <a:srgbClr val="FFFFFF"/>
          </a:solidFill>
          <a:ln cap="flat" cmpd="sng" w="10150">
            <a:solidFill>
              <a:srgbClr val="1F5A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23"/>
          <p:cNvSpPr/>
          <p:nvPr/>
        </p:nvSpPr>
        <p:spPr>
          <a:xfrm>
            <a:off x="4599432" y="2259665"/>
            <a:ext cx="1938528" cy="322600"/>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23"/>
          <p:cNvSpPr txBox="1"/>
          <p:nvPr/>
        </p:nvSpPr>
        <p:spPr>
          <a:xfrm>
            <a:off x="4718304" y="2336474"/>
            <a:ext cx="29260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FFFFFF"/>
                </a:solidFill>
                <a:latin typeface="Arial"/>
                <a:ea typeface="Arial"/>
                <a:cs typeface="Arial"/>
                <a:sym typeface="Arial"/>
              </a:rPr>
              <a:t>03</a:t>
            </a:r>
            <a:endParaRPr/>
          </a:p>
        </p:txBody>
      </p:sp>
      <p:sp>
        <p:nvSpPr>
          <p:cNvPr id="376" name="Google Shape;376;p23"/>
          <p:cNvSpPr txBox="1"/>
          <p:nvPr/>
        </p:nvSpPr>
        <p:spPr>
          <a:xfrm>
            <a:off x="5038344" y="2336474"/>
            <a:ext cx="1362456"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40" u="none" cap="none" strike="noStrike">
                <a:solidFill>
                  <a:srgbClr val="FFFFFF"/>
                </a:solidFill>
                <a:latin typeface="Arial"/>
                <a:ea typeface="Arial"/>
                <a:cs typeface="Arial"/>
                <a:sym typeface="Arial"/>
              </a:rPr>
              <a:t>표별 자동 추론</a:t>
            </a:r>
            <a:endParaRPr/>
          </a:p>
        </p:txBody>
      </p:sp>
      <p:sp>
        <p:nvSpPr>
          <p:cNvPr id="377" name="Google Shape;377;p23"/>
          <p:cNvSpPr txBox="1"/>
          <p:nvPr/>
        </p:nvSpPr>
        <p:spPr>
          <a:xfrm>
            <a:off x="4754880" y="2735884"/>
            <a:ext cx="1627632" cy="1353312"/>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800" u="none" cap="none" strike="noStrike">
                <a:solidFill>
                  <a:srgbClr val="1F5A9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계·합계·소계와 헤더 계층 분석</a:t>
            </a:r>
            <a:endParaRPr/>
          </a:p>
          <a:p>
            <a:pPr indent="0" lvl="0" marL="0" marR="0" rtl="0" algn="l">
              <a:lnSpc>
                <a:spcPct val="108000"/>
              </a:lnSpc>
              <a:spcBef>
                <a:spcPts val="500"/>
              </a:spcBef>
              <a:spcAft>
                <a:spcPts val="0"/>
              </a:spcAft>
              <a:buNone/>
            </a:pPr>
            <a:r>
              <a:rPr b="1" i="0" lang="en-US" sz="800" u="none" cap="none" strike="noStrike">
                <a:solidFill>
                  <a:srgbClr val="1F5A9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분자·분모·증감·명시 산식 후보 생성</a:t>
            </a:r>
            <a:endParaRPr/>
          </a:p>
          <a:p>
            <a:pPr indent="0" lvl="0" marL="0" marR="0" rtl="0" algn="l">
              <a:lnSpc>
                <a:spcPct val="108000"/>
              </a:lnSpc>
              <a:spcBef>
                <a:spcPts val="500"/>
              </a:spcBef>
              <a:spcAft>
                <a:spcPts val="0"/>
              </a:spcAft>
              <a:buNone/>
            </a:pPr>
            <a:r>
              <a:rPr b="1" i="0" lang="en-US" sz="800" u="none" cap="none" strike="noStrike">
                <a:solidFill>
                  <a:srgbClr val="1F5A91"/>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현재 값 일치율로 후보 신뢰도 검증</a:t>
            </a:r>
            <a:endParaRPr/>
          </a:p>
        </p:txBody>
      </p:sp>
      <p:sp>
        <p:nvSpPr>
          <p:cNvPr id="378" name="Google Shape;378;p23"/>
          <p:cNvSpPr/>
          <p:nvPr/>
        </p:nvSpPr>
        <p:spPr>
          <a:xfrm>
            <a:off x="6647688" y="2259665"/>
            <a:ext cx="1938528" cy="1758939"/>
          </a:xfrm>
          <a:prstGeom prst="rect">
            <a:avLst/>
          </a:prstGeom>
          <a:solidFill>
            <a:srgbClr val="FFFFFF"/>
          </a:solidFill>
          <a:ln cap="flat" cmpd="sng" w="10150">
            <a:solidFill>
              <a:srgbClr val="2F7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23"/>
          <p:cNvSpPr/>
          <p:nvPr/>
        </p:nvSpPr>
        <p:spPr>
          <a:xfrm>
            <a:off x="6647688" y="2259665"/>
            <a:ext cx="1938528" cy="322600"/>
          </a:xfrm>
          <a:prstGeom prst="rect">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23"/>
          <p:cNvSpPr txBox="1"/>
          <p:nvPr/>
        </p:nvSpPr>
        <p:spPr>
          <a:xfrm>
            <a:off x="6766559" y="2336474"/>
            <a:ext cx="29260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FFFFFF"/>
                </a:solidFill>
                <a:latin typeface="Arial"/>
                <a:ea typeface="Arial"/>
                <a:cs typeface="Arial"/>
                <a:sym typeface="Arial"/>
              </a:rPr>
              <a:t>04</a:t>
            </a:r>
            <a:endParaRPr/>
          </a:p>
        </p:txBody>
      </p:sp>
      <p:sp>
        <p:nvSpPr>
          <p:cNvPr id="381" name="Google Shape;381;p23"/>
          <p:cNvSpPr txBox="1"/>
          <p:nvPr/>
        </p:nvSpPr>
        <p:spPr>
          <a:xfrm>
            <a:off x="7086600" y="2336474"/>
            <a:ext cx="1362456"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40" u="none" cap="none" strike="noStrike">
                <a:solidFill>
                  <a:srgbClr val="FFFFFF"/>
                </a:solidFill>
                <a:latin typeface="Arial"/>
                <a:ea typeface="Arial"/>
                <a:cs typeface="Arial"/>
                <a:sym typeface="Arial"/>
              </a:rPr>
              <a:t>통계별 지정 규칙</a:t>
            </a:r>
            <a:endParaRPr/>
          </a:p>
        </p:txBody>
      </p:sp>
      <p:sp>
        <p:nvSpPr>
          <p:cNvPr id="382" name="Google Shape;382;p23"/>
          <p:cNvSpPr txBox="1"/>
          <p:nvPr/>
        </p:nvSpPr>
        <p:spPr>
          <a:xfrm>
            <a:off x="6803136" y="2735884"/>
            <a:ext cx="1627632" cy="1353312"/>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800" u="none" cap="none" strike="noStrike">
                <a:solidFill>
                  <a:srgbClr val="2F7D68"/>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통계번호별 검증 규칙을 병합</a:t>
            </a:r>
            <a:endParaRPr/>
          </a:p>
          <a:p>
            <a:pPr indent="0" lvl="0" marL="0" marR="0" rtl="0" algn="l">
              <a:lnSpc>
                <a:spcPct val="108000"/>
              </a:lnSpc>
              <a:spcBef>
                <a:spcPts val="500"/>
              </a:spcBef>
              <a:spcAft>
                <a:spcPts val="0"/>
              </a:spcAft>
              <a:buNone/>
            </a:pPr>
            <a:r>
              <a:rPr b="1" i="0" lang="en-US" sz="800" u="none" cap="none" strike="noStrike">
                <a:solidFill>
                  <a:srgbClr val="2F7D68"/>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자동 후보의 추가·억제·신뢰도 보정</a:t>
            </a:r>
            <a:endParaRPr/>
          </a:p>
          <a:p>
            <a:pPr indent="0" lvl="0" marL="0" marR="0" rtl="0" algn="l">
              <a:lnSpc>
                <a:spcPct val="108000"/>
              </a:lnSpc>
              <a:spcBef>
                <a:spcPts val="500"/>
              </a:spcBef>
              <a:spcAft>
                <a:spcPts val="0"/>
              </a:spcAft>
              <a:buNone/>
            </a:pPr>
            <a:r>
              <a:rPr b="1" i="0" lang="en-US" sz="800" u="none" cap="none" strike="noStrike">
                <a:solidFill>
                  <a:srgbClr val="2F7D68"/>
                </a:solidFill>
                <a:latin typeface="Arial"/>
                <a:ea typeface="Arial"/>
                <a:cs typeface="Arial"/>
                <a:sym typeface="Arial"/>
              </a:rPr>
              <a:t>• </a:t>
            </a:r>
            <a:r>
              <a:rPr b="0" i="0" lang="en-US" sz="800" u="none" cap="none" strike="noStrike">
                <a:solidFill>
                  <a:srgbClr val="172331"/>
                </a:solidFill>
                <a:latin typeface="Arial"/>
                <a:ea typeface="Arial"/>
                <a:cs typeface="Arial"/>
                <a:sym typeface="Arial"/>
              </a:rPr>
              <a:t>분할표·고정 셀·가중평균 등 예외 반영</a:t>
            </a:r>
            <a:endParaRPr/>
          </a:p>
        </p:txBody>
      </p:sp>
      <p:sp>
        <p:nvSpPr>
          <p:cNvPr id="383" name="Google Shape;383;p23"/>
          <p:cNvSpPr/>
          <p:nvPr/>
        </p:nvSpPr>
        <p:spPr>
          <a:xfrm>
            <a:off x="621792" y="4210628"/>
            <a:ext cx="7900416" cy="391728"/>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23"/>
          <p:cNvSpPr txBox="1"/>
          <p:nvPr/>
        </p:nvSpPr>
        <p:spPr>
          <a:xfrm>
            <a:off x="859536" y="4325843"/>
            <a:ext cx="1060704"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50" u="none" cap="none" strike="noStrike">
                <a:solidFill>
                  <a:srgbClr val="48A9C7"/>
                </a:solidFill>
                <a:latin typeface="Arial"/>
                <a:ea typeface="Arial"/>
                <a:cs typeface="Arial"/>
                <a:sym typeface="Arial"/>
              </a:rPr>
              <a:t>병합·중복 제거</a:t>
            </a:r>
            <a:endParaRPr/>
          </a:p>
        </p:txBody>
      </p:sp>
      <p:sp>
        <p:nvSpPr>
          <p:cNvPr id="385" name="Google Shape;385;p23"/>
          <p:cNvSpPr txBox="1"/>
          <p:nvPr/>
        </p:nvSpPr>
        <p:spPr>
          <a:xfrm>
            <a:off x="1993392" y="4302800"/>
            <a:ext cx="6281928"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25" u="none" cap="none" strike="noStrike">
                <a:solidFill>
                  <a:srgbClr val="FFFFFF"/>
                </a:solidFill>
                <a:latin typeface="Arial"/>
                <a:ea typeface="Arial"/>
                <a:cs typeface="Arial"/>
                <a:sym typeface="Arial"/>
              </a:rPr>
              <a:t>실행 가능한 JSON 명세로 저장  |  동일 표번호+구조서명 우선 재사용  |  구조 변경·미확정 규칙만 선택적 LLM 보조</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9" name="Shape 389"/>
        <p:cNvGrpSpPr/>
        <p:nvPr/>
      </p:nvGrpSpPr>
      <p:grpSpPr>
        <a:xfrm>
          <a:off x="0" y="0"/>
          <a:ext cx="0" cy="0"/>
          <a:chOff x="0" y="0"/>
          <a:chExt cx="0" cy="0"/>
        </a:xfrm>
      </p:grpSpPr>
      <p:sp>
        <p:nvSpPr>
          <p:cNvPr id="390" name="Google Shape;390;p24"/>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합계 검수</a:t>
            </a:r>
            <a:endParaRPr/>
          </a:p>
        </p:txBody>
      </p:sp>
      <p:sp>
        <p:nvSpPr>
          <p:cNvPr id="391" name="Google Shape;391;p24"/>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합계 검수</a:t>
            </a:r>
            <a:endParaRPr/>
          </a:p>
        </p:txBody>
      </p:sp>
      <p:pic>
        <p:nvPicPr>
          <p:cNvPr descr="image.png" id="392" name="Google Shape;392;p24"/>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393" name="Google Shape;393;p24"/>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24"/>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표의 방향·계층·명시 산식에 따라 구성값을 다시 합산</a:t>
            </a:r>
            <a:endParaRPr/>
          </a:p>
        </p:txBody>
      </p:sp>
      <p:sp>
        <p:nvSpPr>
          <p:cNvPr id="395" name="Google Shape;395;p24"/>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396" name="Google Shape;396;p24"/>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10</a:t>
            </a:r>
            <a:endParaRPr/>
          </a:p>
        </p:txBody>
      </p:sp>
      <p:sp>
        <p:nvSpPr>
          <p:cNvPr id="397" name="Google Shape;397;p24"/>
          <p:cNvSpPr/>
          <p:nvPr/>
        </p:nvSpPr>
        <p:spPr>
          <a:xfrm>
            <a:off x="502920" y="1783080"/>
            <a:ext cx="2578608" cy="2880360"/>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24"/>
          <p:cNvSpPr/>
          <p:nvPr/>
        </p:nvSpPr>
        <p:spPr>
          <a:xfrm>
            <a:off x="502920" y="1783080"/>
            <a:ext cx="2578608" cy="420624"/>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24"/>
          <p:cNvSpPr txBox="1"/>
          <p:nvPr/>
        </p:nvSpPr>
        <p:spPr>
          <a:xfrm>
            <a:off x="731520" y="1901952"/>
            <a:ext cx="2121408"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Arial"/>
                <a:ea typeface="Arial"/>
                <a:cs typeface="Arial"/>
                <a:sym typeface="Arial"/>
              </a:rPr>
              <a:t>검수 범위</a:t>
            </a:r>
            <a:endParaRPr/>
          </a:p>
        </p:txBody>
      </p:sp>
      <p:sp>
        <p:nvSpPr>
          <p:cNvPr id="400" name="Google Shape;400;p24"/>
          <p:cNvSpPr/>
          <p:nvPr/>
        </p:nvSpPr>
        <p:spPr>
          <a:xfrm>
            <a:off x="694944" y="23317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24"/>
          <p:cNvSpPr/>
          <p:nvPr/>
        </p:nvSpPr>
        <p:spPr>
          <a:xfrm>
            <a:off x="786384" y="2404872"/>
            <a:ext cx="365760" cy="228600"/>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24"/>
          <p:cNvSpPr txBox="1"/>
          <p:nvPr/>
        </p:nvSpPr>
        <p:spPr>
          <a:xfrm>
            <a:off x="786384" y="24048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01</a:t>
            </a:r>
            <a:endParaRPr/>
          </a:p>
        </p:txBody>
      </p:sp>
      <p:sp>
        <p:nvSpPr>
          <p:cNvPr id="403" name="Google Shape;403;p24"/>
          <p:cNvSpPr txBox="1"/>
          <p:nvPr/>
        </p:nvSpPr>
        <p:spPr>
          <a:xfrm>
            <a:off x="1243584" y="23728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행 방향 합계</a:t>
            </a:r>
            <a:endParaRPr/>
          </a:p>
        </p:txBody>
      </p:sp>
      <p:sp>
        <p:nvSpPr>
          <p:cNvPr id="404" name="Google Shape;404;p24"/>
          <p:cNvSpPr txBox="1"/>
          <p:nvPr/>
        </p:nvSpPr>
        <p:spPr>
          <a:xfrm>
            <a:off x="1243584" y="2537460"/>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같은 행의 하위 열 합산</a:t>
            </a:r>
            <a:endParaRPr/>
          </a:p>
        </p:txBody>
      </p:sp>
      <p:sp>
        <p:nvSpPr>
          <p:cNvPr id="405" name="Google Shape;405;p24"/>
          <p:cNvSpPr/>
          <p:nvPr/>
        </p:nvSpPr>
        <p:spPr>
          <a:xfrm>
            <a:off x="694944" y="27889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24"/>
          <p:cNvSpPr/>
          <p:nvPr/>
        </p:nvSpPr>
        <p:spPr>
          <a:xfrm>
            <a:off x="786384" y="2862072"/>
            <a:ext cx="365760" cy="228600"/>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24"/>
          <p:cNvSpPr txBox="1"/>
          <p:nvPr/>
        </p:nvSpPr>
        <p:spPr>
          <a:xfrm>
            <a:off x="786384" y="28620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02</a:t>
            </a:r>
            <a:endParaRPr/>
          </a:p>
        </p:txBody>
      </p:sp>
      <p:sp>
        <p:nvSpPr>
          <p:cNvPr id="408" name="Google Shape;408;p24"/>
          <p:cNvSpPr txBox="1"/>
          <p:nvPr/>
        </p:nvSpPr>
        <p:spPr>
          <a:xfrm>
            <a:off x="1243584" y="28300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열 방향 합계·소계</a:t>
            </a:r>
            <a:endParaRPr/>
          </a:p>
        </p:txBody>
      </p:sp>
      <p:sp>
        <p:nvSpPr>
          <p:cNvPr id="409" name="Google Shape;409;p24"/>
          <p:cNvSpPr txBox="1"/>
          <p:nvPr/>
        </p:nvSpPr>
        <p:spPr>
          <a:xfrm>
            <a:off x="1243584" y="2994660"/>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세부 행·시도별 값 합산</a:t>
            </a:r>
            <a:endParaRPr/>
          </a:p>
        </p:txBody>
      </p:sp>
      <p:sp>
        <p:nvSpPr>
          <p:cNvPr id="410" name="Google Shape;410;p24"/>
          <p:cNvSpPr/>
          <p:nvPr/>
        </p:nvSpPr>
        <p:spPr>
          <a:xfrm>
            <a:off x="694944" y="32461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24"/>
          <p:cNvSpPr/>
          <p:nvPr/>
        </p:nvSpPr>
        <p:spPr>
          <a:xfrm>
            <a:off x="786384" y="3319272"/>
            <a:ext cx="365760" cy="228600"/>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24"/>
          <p:cNvSpPr txBox="1"/>
          <p:nvPr/>
        </p:nvSpPr>
        <p:spPr>
          <a:xfrm>
            <a:off x="786384" y="33192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03</a:t>
            </a:r>
            <a:endParaRPr/>
          </a:p>
        </p:txBody>
      </p:sp>
      <p:sp>
        <p:nvSpPr>
          <p:cNvPr id="413" name="Google Shape;413;p24"/>
          <p:cNvSpPr txBox="1"/>
          <p:nvPr/>
        </p:nvSpPr>
        <p:spPr>
          <a:xfrm>
            <a:off x="1243584" y="32872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명시 산식</a:t>
            </a:r>
            <a:endParaRPr/>
          </a:p>
        </p:txBody>
      </p:sp>
      <p:sp>
        <p:nvSpPr>
          <p:cNvPr id="414" name="Google Shape;414;p24"/>
          <p:cNvSpPr txBox="1"/>
          <p:nvPr/>
        </p:nvSpPr>
        <p:spPr>
          <a:xfrm>
            <a:off x="1243584" y="3451860"/>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a+b·a-b 관계 실행</a:t>
            </a:r>
            <a:endParaRPr/>
          </a:p>
        </p:txBody>
      </p:sp>
      <p:sp>
        <p:nvSpPr>
          <p:cNvPr id="415" name="Google Shape;415;p24"/>
          <p:cNvSpPr/>
          <p:nvPr/>
        </p:nvSpPr>
        <p:spPr>
          <a:xfrm>
            <a:off x="694944" y="37033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24"/>
          <p:cNvSpPr/>
          <p:nvPr/>
        </p:nvSpPr>
        <p:spPr>
          <a:xfrm>
            <a:off x="786384" y="3776472"/>
            <a:ext cx="365760" cy="228600"/>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24"/>
          <p:cNvSpPr txBox="1"/>
          <p:nvPr/>
        </p:nvSpPr>
        <p:spPr>
          <a:xfrm>
            <a:off x="786384" y="37764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04</a:t>
            </a:r>
            <a:endParaRPr/>
          </a:p>
        </p:txBody>
      </p:sp>
      <p:sp>
        <p:nvSpPr>
          <p:cNvPr id="418" name="Google Shape;418;p24"/>
          <p:cNvSpPr txBox="1"/>
          <p:nvPr/>
        </p:nvSpPr>
        <p:spPr>
          <a:xfrm>
            <a:off x="1243584" y="37444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셀·분할표 관계</a:t>
            </a:r>
            <a:endParaRPr/>
          </a:p>
        </p:txBody>
      </p:sp>
      <p:sp>
        <p:nvSpPr>
          <p:cNvPr id="419" name="Google Shape;419;p24"/>
          <p:cNvSpPr txBox="1"/>
          <p:nvPr/>
        </p:nvSpPr>
        <p:spPr>
          <a:xfrm>
            <a:off x="1243584" y="3909059"/>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고정 셀·반복 구역 합산</a:t>
            </a:r>
            <a:endParaRPr/>
          </a:p>
        </p:txBody>
      </p:sp>
      <p:sp>
        <p:nvSpPr>
          <p:cNvPr id="420" name="Google Shape;420;p24"/>
          <p:cNvSpPr/>
          <p:nvPr/>
        </p:nvSpPr>
        <p:spPr>
          <a:xfrm>
            <a:off x="694944" y="4242816"/>
            <a:ext cx="2194560" cy="256032"/>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24"/>
          <p:cNvSpPr txBox="1"/>
          <p:nvPr/>
        </p:nvSpPr>
        <p:spPr>
          <a:xfrm>
            <a:off x="822960" y="4297680"/>
            <a:ext cx="694944"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60" u="none" cap="none" strike="noStrike">
                <a:solidFill>
                  <a:srgbClr val="1F5A91"/>
                </a:solidFill>
                <a:latin typeface="Arial"/>
                <a:ea typeface="Arial"/>
                <a:cs typeface="Arial"/>
                <a:sym typeface="Arial"/>
              </a:rPr>
              <a:t>판정 원칙</a:t>
            </a:r>
            <a:endParaRPr/>
          </a:p>
        </p:txBody>
      </p:sp>
      <p:sp>
        <p:nvSpPr>
          <p:cNvPr id="422" name="Google Shape;422;p24"/>
          <p:cNvSpPr txBox="1"/>
          <p:nvPr/>
        </p:nvSpPr>
        <p:spPr>
          <a:xfrm>
            <a:off x="1444752" y="4288536"/>
            <a:ext cx="1307592" cy="15544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172331"/>
                </a:solidFill>
                <a:latin typeface="Arial"/>
                <a:ea typeface="Arial"/>
                <a:cs typeface="Arial"/>
                <a:sym typeface="Arial"/>
              </a:rPr>
              <a:t>평균 열 제외 · 허용오차 적용</a:t>
            </a:r>
            <a:endParaRPr/>
          </a:p>
        </p:txBody>
      </p:sp>
      <p:sp>
        <p:nvSpPr>
          <p:cNvPr id="423" name="Google Shape;423;p24"/>
          <p:cNvSpPr/>
          <p:nvPr/>
        </p:nvSpPr>
        <p:spPr>
          <a:xfrm>
            <a:off x="3310128" y="1783080"/>
            <a:ext cx="5330952" cy="2468880"/>
          </a:xfrm>
          <a:prstGeom prst="rect">
            <a:avLst/>
          </a:prstGeom>
          <a:solidFill>
            <a:srgbClr val="F7F9FB"/>
          </a:solidFill>
          <a:ln cap="flat" cmpd="sng" w="15225">
            <a:solidFill>
              <a:srgbClr val="B7C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24"/>
          <p:cNvSpPr txBox="1"/>
          <p:nvPr/>
        </p:nvSpPr>
        <p:spPr>
          <a:xfrm>
            <a:off x="5719572" y="2542032"/>
            <a:ext cx="512064" cy="4754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500" u="none" cap="none" strike="noStrike">
                <a:solidFill>
                  <a:srgbClr val="1F5A91"/>
                </a:solidFill>
                <a:latin typeface="Arial"/>
                <a:ea typeface="Arial"/>
                <a:cs typeface="Arial"/>
                <a:sym typeface="Arial"/>
              </a:rPr>
              <a:t>+</a:t>
            </a:r>
            <a:endParaRPr/>
          </a:p>
        </p:txBody>
      </p:sp>
      <p:sp>
        <p:nvSpPr>
          <p:cNvPr id="425" name="Google Shape;425;p24"/>
          <p:cNvSpPr txBox="1"/>
          <p:nvPr/>
        </p:nvSpPr>
        <p:spPr>
          <a:xfrm>
            <a:off x="3529584" y="3035808"/>
            <a:ext cx="4892040"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합계 검수 화면 이미지 삽입</a:t>
            </a:r>
            <a:endParaRPr/>
          </a:p>
        </p:txBody>
      </p:sp>
      <p:sp>
        <p:nvSpPr>
          <p:cNvPr id="426" name="Google Shape;426;p24"/>
          <p:cNvSpPr txBox="1"/>
          <p:nvPr/>
        </p:nvSpPr>
        <p:spPr>
          <a:xfrm>
            <a:off x="3529584" y="3364991"/>
            <a:ext cx="4892040"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00" u="none" cap="none" strike="noStrike">
                <a:solidFill>
                  <a:srgbClr val="667085"/>
                </a:solidFill>
                <a:latin typeface="Arial"/>
                <a:ea typeface="Arial"/>
                <a:cs typeface="Arial"/>
                <a:sym typeface="Arial"/>
              </a:rPr>
              <a:t>오류 셀과 재계산 근거가 함께 보이는 실제 화면 권장</a:t>
            </a:r>
            <a:endParaRPr/>
          </a:p>
        </p:txBody>
      </p:sp>
      <p:sp>
        <p:nvSpPr>
          <p:cNvPr id="427" name="Google Shape;427;p24"/>
          <p:cNvSpPr/>
          <p:nvPr/>
        </p:nvSpPr>
        <p:spPr>
          <a:xfrm>
            <a:off x="3310128" y="4370832"/>
            <a:ext cx="5330952" cy="292608"/>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8" name="Google Shape;428;p24"/>
          <p:cNvSpPr txBox="1"/>
          <p:nvPr/>
        </p:nvSpPr>
        <p:spPr>
          <a:xfrm>
            <a:off x="3529584" y="4443984"/>
            <a:ext cx="987552" cy="15544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1F5A91"/>
                </a:solidFill>
                <a:latin typeface="Arial"/>
                <a:ea typeface="Arial"/>
                <a:cs typeface="Arial"/>
                <a:sym typeface="Arial"/>
              </a:rPr>
              <a:t>이미지 확인 항목</a:t>
            </a:r>
            <a:endParaRPr/>
          </a:p>
        </p:txBody>
      </p:sp>
      <p:sp>
        <p:nvSpPr>
          <p:cNvPr id="429" name="Google Shape;429;p24"/>
          <p:cNvSpPr txBox="1"/>
          <p:nvPr/>
        </p:nvSpPr>
        <p:spPr>
          <a:xfrm>
            <a:off x="4590288" y="4434840"/>
            <a:ext cx="3776472"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50" u="none" cap="none" strike="noStrike">
                <a:solidFill>
                  <a:srgbClr val="172331"/>
                </a:solidFill>
                <a:latin typeface="Arial"/>
                <a:ea typeface="Arial"/>
                <a:cs typeface="Arial"/>
                <a:sym typeface="Arial"/>
              </a:rPr>
              <a:t>오류 위치  ·  현재값  ·  재계산값  ·  판정 근거</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3" name="Shape 433"/>
        <p:cNvGrpSpPr/>
        <p:nvPr/>
      </p:nvGrpSpPr>
      <p:grpSpPr>
        <a:xfrm>
          <a:off x="0" y="0"/>
          <a:ext cx="0" cy="0"/>
          <a:chOff x="0" y="0"/>
          <a:chExt cx="0" cy="0"/>
        </a:xfrm>
      </p:grpSpPr>
      <p:sp>
        <p:nvSpPr>
          <p:cNvPr id="434" name="Google Shape;434;p25"/>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비율 검수</a:t>
            </a:r>
            <a:endParaRPr/>
          </a:p>
        </p:txBody>
      </p:sp>
      <p:sp>
        <p:nvSpPr>
          <p:cNvPr id="435" name="Google Shape;435;p25"/>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비율·증감 검수</a:t>
            </a:r>
            <a:endParaRPr/>
          </a:p>
        </p:txBody>
      </p:sp>
      <p:pic>
        <p:nvPicPr>
          <p:cNvPr descr="image.png" id="436" name="Google Shape;436;p25"/>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437" name="Google Shape;437;p25"/>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25"/>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분자·분모 관계를 재계산하며 증감액·증감률도 함께 확인</a:t>
            </a:r>
            <a:endParaRPr/>
          </a:p>
        </p:txBody>
      </p:sp>
      <p:sp>
        <p:nvSpPr>
          <p:cNvPr id="439" name="Google Shape;439;p25"/>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440" name="Google Shape;440;p25"/>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11</a:t>
            </a:r>
            <a:endParaRPr/>
          </a:p>
        </p:txBody>
      </p:sp>
      <p:sp>
        <p:nvSpPr>
          <p:cNvPr id="441" name="Google Shape;441;p25"/>
          <p:cNvSpPr/>
          <p:nvPr/>
        </p:nvSpPr>
        <p:spPr>
          <a:xfrm>
            <a:off x="502920" y="1783080"/>
            <a:ext cx="2578608" cy="2880360"/>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25"/>
          <p:cNvSpPr/>
          <p:nvPr/>
        </p:nvSpPr>
        <p:spPr>
          <a:xfrm>
            <a:off x="502920" y="1783080"/>
            <a:ext cx="2578608" cy="420624"/>
          </a:xfrm>
          <a:prstGeom prst="rect">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25"/>
          <p:cNvSpPr txBox="1"/>
          <p:nvPr/>
        </p:nvSpPr>
        <p:spPr>
          <a:xfrm>
            <a:off x="731520" y="1901952"/>
            <a:ext cx="2121408"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Arial"/>
                <a:ea typeface="Arial"/>
                <a:cs typeface="Arial"/>
                <a:sym typeface="Arial"/>
              </a:rPr>
              <a:t>검수 범위</a:t>
            </a:r>
            <a:endParaRPr/>
          </a:p>
        </p:txBody>
      </p:sp>
      <p:sp>
        <p:nvSpPr>
          <p:cNvPr id="444" name="Google Shape;444;p25"/>
          <p:cNvSpPr/>
          <p:nvPr/>
        </p:nvSpPr>
        <p:spPr>
          <a:xfrm>
            <a:off x="694944" y="23317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25"/>
          <p:cNvSpPr/>
          <p:nvPr/>
        </p:nvSpPr>
        <p:spPr>
          <a:xfrm>
            <a:off x="786384" y="2404872"/>
            <a:ext cx="365760" cy="228600"/>
          </a:xfrm>
          <a:prstGeom prst="rect">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6" name="Google Shape;446;p25"/>
          <p:cNvSpPr txBox="1"/>
          <p:nvPr/>
        </p:nvSpPr>
        <p:spPr>
          <a:xfrm>
            <a:off x="786384" y="24048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01</a:t>
            </a:r>
            <a:endParaRPr/>
          </a:p>
        </p:txBody>
      </p:sp>
      <p:sp>
        <p:nvSpPr>
          <p:cNvPr id="447" name="Google Shape;447;p25"/>
          <p:cNvSpPr txBox="1"/>
          <p:nvPr/>
        </p:nvSpPr>
        <p:spPr>
          <a:xfrm>
            <a:off x="1243584" y="23728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동일 행 비율</a:t>
            </a:r>
            <a:endParaRPr/>
          </a:p>
        </p:txBody>
      </p:sp>
      <p:sp>
        <p:nvSpPr>
          <p:cNvPr id="448" name="Google Shape;448;p25"/>
          <p:cNvSpPr txBox="1"/>
          <p:nvPr/>
        </p:nvSpPr>
        <p:spPr>
          <a:xfrm>
            <a:off x="1243584" y="2537460"/>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분자 열 ÷ 분모 열 × 100</a:t>
            </a:r>
            <a:endParaRPr/>
          </a:p>
        </p:txBody>
      </p:sp>
      <p:sp>
        <p:nvSpPr>
          <p:cNvPr id="449" name="Google Shape;449;p25"/>
          <p:cNvSpPr/>
          <p:nvPr/>
        </p:nvSpPr>
        <p:spPr>
          <a:xfrm>
            <a:off x="694944" y="27889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25"/>
          <p:cNvSpPr/>
          <p:nvPr/>
        </p:nvSpPr>
        <p:spPr>
          <a:xfrm>
            <a:off x="786384" y="2862072"/>
            <a:ext cx="365760" cy="228600"/>
          </a:xfrm>
          <a:prstGeom prst="rect">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25"/>
          <p:cNvSpPr txBox="1"/>
          <p:nvPr/>
        </p:nvSpPr>
        <p:spPr>
          <a:xfrm>
            <a:off x="786384" y="28620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02</a:t>
            </a:r>
            <a:endParaRPr/>
          </a:p>
        </p:txBody>
      </p:sp>
      <p:sp>
        <p:nvSpPr>
          <p:cNvPr id="452" name="Google Shape;452;p25"/>
          <p:cNvSpPr txBox="1"/>
          <p:nvPr/>
        </p:nvSpPr>
        <p:spPr>
          <a:xfrm>
            <a:off x="1243584" y="28300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전체 대비 구성비</a:t>
            </a:r>
            <a:endParaRPr/>
          </a:p>
        </p:txBody>
      </p:sp>
      <p:sp>
        <p:nvSpPr>
          <p:cNvPr id="453" name="Google Shape;453;p25"/>
          <p:cNvSpPr txBox="1"/>
          <p:nvPr/>
        </p:nvSpPr>
        <p:spPr>
          <a:xfrm>
            <a:off x="1243584" y="2994660"/>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지역값 ÷ 총계값 × 100</a:t>
            </a:r>
            <a:endParaRPr/>
          </a:p>
        </p:txBody>
      </p:sp>
      <p:sp>
        <p:nvSpPr>
          <p:cNvPr id="454" name="Google Shape;454;p25"/>
          <p:cNvSpPr/>
          <p:nvPr/>
        </p:nvSpPr>
        <p:spPr>
          <a:xfrm>
            <a:off x="694944" y="32461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25"/>
          <p:cNvSpPr/>
          <p:nvPr/>
        </p:nvSpPr>
        <p:spPr>
          <a:xfrm>
            <a:off x="786384" y="3319272"/>
            <a:ext cx="365760" cy="228600"/>
          </a:xfrm>
          <a:prstGeom prst="rect">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25"/>
          <p:cNvSpPr txBox="1"/>
          <p:nvPr/>
        </p:nvSpPr>
        <p:spPr>
          <a:xfrm>
            <a:off x="786384" y="33192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03</a:t>
            </a:r>
            <a:endParaRPr/>
          </a:p>
        </p:txBody>
      </p:sp>
      <p:sp>
        <p:nvSpPr>
          <p:cNvPr id="457" name="Google Shape;457;p25"/>
          <p:cNvSpPr txBox="1"/>
          <p:nvPr/>
        </p:nvSpPr>
        <p:spPr>
          <a:xfrm>
            <a:off x="1243584" y="32872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행 간·원단위</a:t>
            </a:r>
            <a:endParaRPr/>
          </a:p>
        </p:txBody>
      </p:sp>
      <p:sp>
        <p:nvSpPr>
          <p:cNvPr id="458" name="Google Shape;458;p25"/>
          <p:cNvSpPr txBox="1"/>
          <p:nvPr/>
        </p:nvSpPr>
        <p:spPr>
          <a:xfrm>
            <a:off x="1243584" y="3451860"/>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건당·인당 값 재계산</a:t>
            </a:r>
            <a:endParaRPr/>
          </a:p>
        </p:txBody>
      </p:sp>
      <p:sp>
        <p:nvSpPr>
          <p:cNvPr id="459" name="Google Shape;459;p25"/>
          <p:cNvSpPr/>
          <p:nvPr/>
        </p:nvSpPr>
        <p:spPr>
          <a:xfrm>
            <a:off x="694944" y="3703320"/>
            <a:ext cx="2194560" cy="384048"/>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25"/>
          <p:cNvSpPr/>
          <p:nvPr/>
        </p:nvSpPr>
        <p:spPr>
          <a:xfrm>
            <a:off x="786384" y="3776472"/>
            <a:ext cx="365760" cy="228600"/>
          </a:xfrm>
          <a:prstGeom prst="rect">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25"/>
          <p:cNvSpPr txBox="1"/>
          <p:nvPr/>
        </p:nvSpPr>
        <p:spPr>
          <a:xfrm>
            <a:off x="786384" y="3776472"/>
            <a:ext cx="365760" cy="22860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04</a:t>
            </a:r>
            <a:endParaRPr/>
          </a:p>
        </p:txBody>
      </p:sp>
      <p:sp>
        <p:nvSpPr>
          <p:cNvPr id="462" name="Google Shape;462;p25"/>
          <p:cNvSpPr txBox="1"/>
          <p:nvPr/>
        </p:nvSpPr>
        <p:spPr>
          <a:xfrm>
            <a:off x="1243584" y="3744468"/>
            <a:ext cx="1481328" cy="17373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0C2F61"/>
                </a:solidFill>
                <a:latin typeface="Arial"/>
                <a:ea typeface="Arial"/>
                <a:cs typeface="Arial"/>
                <a:sym typeface="Arial"/>
              </a:rPr>
              <a:t>증감·지정식</a:t>
            </a:r>
            <a:endParaRPr/>
          </a:p>
        </p:txBody>
      </p:sp>
      <p:sp>
        <p:nvSpPr>
          <p:cNvPr id="463" name="Google Shape;463;p25"/>
          <p:cNvSpPr txBox="1"/>
          <p:nvPr/>
        </p:nvSpPr>
        <p:spPr>
          <a:xfrm>
            <a:off x="1243584" y="3909059"/>
            <a:ext cx="1481328"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0" u="none" cap="none" strike="noStrike">
                <a:solidFill>
                  <a:srgbClr val="667085"/>
                </a:solidFill>
                <a:latin typeface="Arial"/>
                <a:ea typeface="Arial"/>
                <a:cs typeface="Arial"/>
                <a:sym typeface="Arial"/>
              </a:rPr>
              <a:t>증감액·증감률·가중평균</a:t>
            </a:r>
            <a:endParaRPr/>
          </a:p>
        </p:txBody>
      </p:sp>
      <p:sp>
        <p:nvSpPr>
          <p:cNvPr id="464" name="Google Shape;464;p25"/>
          <p:cNvSpPr/>
          <p:nvPr/>
        </p:nvSpPr>
        <p:spPr>
          <a:xfrm>
            <a:off x="694944" y="4242816"/>
            <a:ext cx="2194560" cy="256032"/>
          </a:xfrm>
          <a:prstGeom prst="rect">
            <a:avLst/>
          </a:prstGeom>
          <a:solidFill>
            <a:srgbClr val="E8F5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25"/>
          <p:cNvSpPr txBox="1"/>
          <p:nvPr/>
        </p:nvSpPr>
        <p:spPr>
          <a:xfrm>
            <a:off x="822960" y="4297680"/>
            <a:ext cx="694944" cy="14630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60" u="none" cap="none" strike="noStrike">
                <a:solidFill>
                  <a:srgbClr val="2F7D68"/>
                </a:solidFill>
                <a:latin typeface="Arial"/>
                <a:ea typeface="Arial"/>
                <a:cs typeface="Arial"/>
                <a:sym typeface="Arial"/>
              </a:rPr>
              <a:t>집계 원칙</a:t>
            </a:r>
            <a:endParaRPr/>
          </a:p>
        </p:txBody>
      </p:sp>
      <p:sp>
        <p:nvSpPr>
          <p:cNvPr id="466" name="Google Shape;466;p25"/>
          <p:cNvSpPr txBox="1"/>
          <p:nvPr/>
        </p:nvSpPr>
        <p:spPr>
          <a:xfrm>
            <a:off x="1444752" y="4288536"/>
            <a:ext cx="1307592" cy="15544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0" i="0" lang="en-US" sz="800" u="none" cap="none" strike="noStrike">
                <a:solidFill>
                  <a:srgbClr val="172331"/>
                </a:solidFill>
                <a:latin typeface="Arial"/>
                <a:ea typeface="Arial"/>
                <a:cs typeface="Arial"/>
                <a:sym typeface="Arial"/>
              </a:rPr>
              <a:t>총계 재계산 · 분모 0 제외</a:t>
            </a:r>
            <a:endParaRPr/>
          </a:p>
        </p:txBody>
      </p:sp>
      <p:sp>
        <p:nvSpPr>
          <p:cNvPr id="467" name="Google Shape;467;p25"/>
          <p:cNvSpPr/>
          <p:nvPr/>
        </p:nvSpPr>
        <p:spPr>
          <a:xfrm>
            <a:off x="3310128" y="1783080"/>
            <a:ext cx="5330952" cy="2468880"/>
          </a:xfrm>
          <a:prstGeom prst="rect">
            <a:avLst/>
          </a:prstGeom>
          <a:solidFill>
            <a:srgbClr val="F7F9FB"/>
          </a:solidFill>
          <a:ln cap="flat" cmpd="sng" w="15225">
            <a:solidFill>
              <a:srgbClr val="B7C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25"/>
          <p:cNvSpPr txBox="1"/>
          <p:nvPr/>
        </p:nvSpPr>
        <p:spPr>
          <a:xfrm>
            <a:off x="5719572" y="2542032"/>
            <a:ext cx="512064" cy="4754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500" u="none" cap="none" strike="noStrike">
                <a:solidFill>
                  <a:srgbClr val="1F5A91"/>
                </a:solidFill>
                <a:latin typeface="Arial"/>
                <a:ea typeface="Arial"/>
                <a:cs typeface="Arial"/>
                <a:sym typeface="Arial"/>
              </a:rPr>
              <a:t>+</a:t>
            </a:r>
            <a:endParaRPr/>
          </a:p>
        </p:txBody>
      </p:sp>
      <p:sp>
        <p:nvSpPr>
          <p:cNvPr id="469" name="Google Shape;469;p25"/>
          <p:cNvSpPr txBox="1"/>
          <p:nvPr/>
        </p:nvSpPr>
        <p:spPr>
          <a:xfrm>
            <a:off x="3529584" y="3035808"/>
            <a:ext cx="4892040"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50" u="none" cap="none" strike="noStrike">
                <a:solidFill>
                  <a:srgbClr val="0C2F61"/>
                </a:solidFill>
                <a:latin typeface="Arial"/>
                <a:ea typeface="Arial"/>
                <a:cs typeface="Arial"/>
                <a:sym typeface="Arial"/>
              </a:rPr>
              <a:t>비율·증감 검수 화면 이미지 삽입</a:t>
            </a:r>
            <a:endParaRPr/>
          </a:p>
        </p:txBody>
      </p:sp>
      <p:sp>
        <p:nvSpPr>
          <p:cNvPr id="470" name="Google Shape;470;p25"/>
          <p:cNvSpPr txBox="1"/>
          <p:nvPr/>
        </p:nvSpPr>
        <p:spPr>
          <a:xfrm>
            <a:off x="3529584" y="3364991"/>
            <a:ext cx="4892040"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00" u="none" cap="none" strike="noStrike">
                <a:solidFill>
                  <a:srgbClr val="667085"/>
                </a:solidFill>
                <a:latin typeface="Arial"/>
                <a:ea typeface="Arial"/>
                <a:cs typeface="Arial"/>
                <a:sym typeface="Arial"/>
              </a:rPr>
              <a:t>분자·분모와 판정 결과가 함께 보이는 실제 화면 권장</a:t>
            </a:r>
            <a:endParaRPr/>
          </a:p>
        </p:txBody>
      </p:sp>
      <p:sp>
        <p:nvSpPr>
          <p:cNvPr id="471" name="Google Shape;471;p25"/>
          <p:cNvSpPr/>
          <p:nvPr/>
        </p:nvSpPr>
        <p:spPr>
          <a:xfrm>
            <a:off x="3310128" y="4370832"/>
            <a:ext cx="5330952" cy="292608"/>
          </a:xfrm>
          <a:prstGeom prst="rect">
            <a:avLst/>
          </a:prstGeom>
          <a:solidFill>
            <a:srgbClr val="E8F5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25"/>
          <p:cNvSpPr txBox="1"/>
          <p:nvPr/>
        </p:nvSpPr>
        <p:spPr>
          <a:xfrm>
            <a:off x="3529584" y="4443984"/>
            <a:ext cx="987552" cy="15544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2F7D68"/>
                </a:solidFill>
                <a:latin typeface="Arial"/>
                <a:ea typeface="Arial"/>
                <a:cs typeface="Arial"/>
                <a:sym typeface="Arial"/>
              </a:rPr>
              <a:t>이미지 확인 항목</a:t>
            </a:r>
            <a:endParaRPr/>
          </a:p>
        </p:txBody>
      </p:sp>
      <p:sp>
        <p:nvSpPr>
          <p:cNvPr id="473" name="Google Shape;473;p25"/>
          <p:cNvSpPr txBox="1"/>
          <p:nvPr/>
        </p:nvSpPr>
        <p:spPr>
          <a:xfrm>
            <a:off x="4590288" y="4434840"/>
            <a:ext cx="3776472"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50" u="none" cap="none" strike="noStrike">
                <a:solidFill>
                  <a:srgbClr val="172331"/>
                </a:solidFill>
                <a:latin typeface="Arial"/>
                <a:ea typeface="Arial"/>
                <a:cs typeface="Arial"/>
                <a:sym typeface="Arial"/>
              </a:rPr>
              <a:t>오류 위치  ·  현재값  ·  재계산값  ·  판정 근거</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7" name="Shape 477"/>
        <p:cNvGrpSpPr/>
        <p:nvPr/>
      </p:nvGrpSpPr>
      <p:grpSpPr>
        <a:xfrm>
          <a:off x="0" y="0"/>
          <a:ext cx="0" cy="0"/>
          <a:chOff x="0" y="0"/>
          <a:chExt cx="0" cy="0"/>
        </a:xfrm>
      </p:grpSpPr>
      <p:sp>
        <p:nvSpPr>
          <p:cNvPr id="478" name="Google Shape;478;p26"/>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오탈자·번역 검수</a:t>
            </a:r>
            <a:endParaRPr/>
          </a:p>
        </p:txBody>
      </p:sp>
      <p:sp>
        <p:nvSpPr>
          <p:cNvPr id="479" name="Google Shape;479;p26"/>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언어 후보 생성</a:t>
            </a:r>
            <a:endParaRPr/>
          </a:p>
        </p:txBody>
      </p:sp>
      <p:pic>
        <p:nvPicPr>
          <p:cNvPr descr="image.png" id="480" name="Google Shape;480;p26"/>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481" name="Google Shape;481;p26"/>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2" name="Google Shape;482;p26"/>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검수 후보는 먼저 좁혀서 생성</a:t>
            </a:r>
            <a:endParaRPr/>
          </a:p>
        </p:txBody>
      </p:sp>
      <p:sp>
        <p:nvSpPr>
          <p:cNvPr id="483" name="Google Shape;483;p26"/>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484" name="Google Shape;484;p26"/>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12</a:t>
            </a:r>
            <a:endParaRPr/>
          </a:p>
        </p:txBody>
      </p:sp>
      <p:sp>
        <p:nvSpPr>
          <p:cNvPr id="485" name="Google Shape;485;p26"/>
          <p:cNvSpPr/>
          <p:nvPr/>
        </p:nvSpPr>
        <p:spPr>
          <a:xfrm>
            <a:off x="548640" y="1814169"/>
            <a:ext cx="8046720" cy="476219"/>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26"/>
          <p:cNvSpPr txBox="1"/>
          <p:nvPr/>
        </p:nvSpPr>
        <p:spPr>
          <a:xfrm>
            <a:off x="694944" y="1929384"/>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320" u="none" cap="none" strike="noStrike">
                <a:solidFill>
                  <a:srgbClr val="0C2F61"/>
                </a:solidFill>
                <a:latin typeface="Arial"/>
                <a:ea typeface="Arial"/>
                <a:cs typeface="Arial"/>
                <a:sym typeface="Arial"/>
              </a:rPr>
              <a:t>●</a:t>
            </a:r>
            <a:endParaRPr/>
          </a:p>
        </p:txBody>
      </p:sp>
      <p:sp>
        <p:nvSpPr>
          <p:cNvPr id="487" name="Google Shape;487;p26"/>
          <p:cNvSpPr txBox="1"/>
          <p:nvPr/>
        </p:nvSpPr>
        <p:spPr>
          <a:xfrm>
            <a:off x="694944" y="1929384"/>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80" u="none" cap="none" strike="noStrike">
                <a:solidFill>
                  <a:srgbClr val="FFFFFF"/>
                </a:solidFill>
                <a:latin typeface="Arial"/>
                <a:ea typeface="Arial"/>
                <a:cs typeface="Arial"/>
                <a:sym typeface="Arial"/>
              </a:rPr>
              <a:t>1</a:t>
            </a:r>
            <a:endParaRPr/>
          </a:p>
        </p:txBody>
      </p:sp>
      <p:sp>
        <p:nvSpPr>
          <p:cNvPr id="488" name="Google Shape;488;p26"/>
          <p:cNvSpPr txBox="1"/>
          <p:nvPr/>
        </p:nvSpPr>
        <p:spPr>
          <a:xfrm>
            <a:off x="1078992" y="1906341"/>
            <a:ext cx="123444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30" u="none" cap="none" strike="noStrike">
                <a:solidFill>
                  <a:srgbClr val="0C2F61"/>
                </a:solidFill>
                <a:latin typeface="Arial"/>
                <a:ea typeface="Arial"/>
                <a:cs typeface="Arial"/>
                <a:sym typeface="Arial"/>
              </a:rPr>
              <a:t>언어 위치 수집</a:t>
            </a:r>
            <a:endParaRPr/>
          </a:p>
        </p:txBody>
      </p:sp>
      <p:sp>
        <p:nvSpPr>
          <p:cNvPr id="489" name="Google Shape;489;p26"/>
          <p:cNvSpPr txBox="1"/>
          <p:nvPr/>
        </p:nvSpPr>
        <p:spPr>
          <a:xfrm>
            <a:off x="2432304" y="1883298"/>
            <a:ext cx="5897880" cy="27432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919" u="none" cap="none" strike="noStrike">
                <a:solidFill>
                  <a:srgbClr val="172331"/>
                </a:solidFill>
                <a:latin typeface="Arial"/>
                <a:ea typeface="Arial"/>
                <a:cs typeface="Arial"/>
                <a:sym typeface="Arial"/>
              </a:rPr>
              <a:t>표 제목 · 대제목 · 하위 표 제목 · 헤더 · 국문/영문 텍스트 셀</a:t>
            </a:r>
            <a:endParaRPr/>
          </a:p>
        </p:txBody>
      </p:sp>
      <p:sp>
        <p:nvSpPr>
          <p:cNvPr id="490" name="Google Shape;490;p26"/>
          <p:cNvSpPr/>
          <p:nvPr/>
        </p:nvSpPr>
        <p:spPr>
          <a:xfrm>
            <a:off x="4425696" y="2328793"/>
            <a:ext cx="292608" cy="199704"/>
          </a:xfrm>
          <a:prstGeom prst="down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26"/>
          <p:cNvSpPr/>
          <p:nvPr/>
        </p:nvSpPr>
        <p:spPr>
          <a:xfrm>
            <a:off x="932688" y="2551541"/>
            <a:ext cx="7278624" cy="476219"/>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26"/>
          <p:cNvSpPr txBox="1"/>
          <p:nvPr/>
        </p:nvSpPr>
        <p:spPr>
          <a:xfrm>
            <a:off x="1078992" y="2666756"/>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320" u="none" cap="none" strike="noStrike">
                <a:solidFill>
                  <a:srgbClr val="1F5A91"/>
                </a:solidFill>
                <a:latin typeface="Arial"/>
                <a:ea typeface="Arial"/>
                <a:cs typeface="Arial"/>
                <a:sym typeface="Arial"/>
              </a:rPr>
              <a:t>●</a:t>
            </a:r>
            <a:endParaRPr/>
          </a:p>
        </p:txBody>
      </p:sp>
      <p:sp>
        <p:nvSpPr>
          <p:cNvPr id="493" name="Google Shape;493;p26"/>
          <p:cNvSpPr txBox="1"/>
          <p:nvPr/>
        </p:nvSpPr>
        <p:spPr>
          <a:xfrm>
            <a:off x="1078992" y="2666756"/>
            <a:ext cx="365760" cy="36576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080" u="none" cap="none" strike="noStrike">
                <a:solidFill>
                  <a:srgbClr val="FFFFFF"/>
                </a:solidFill>
                <a:latin typeface="Arial"/>
                <a:ea typeface="Arial"/>
                <a:cs typeface="Arial"/>
                <a:sym typeface="Arial"/>
              </a:rPr>
              <a:t>2</a:t>
            </a:r>
            <a:endParaRPr/>
          </a:p>
        </p:txBody>
      </p:sp>
      <p:sp>
        <p:nvSpPr>
          <p:cNvPr id="494" name="Google Shape;494;p26"/>
          <p:cNvSpPr txBox="1"/>
          <p:nvPr/>
        </p:nvSpPr>
        <p:spPr>
          <a:xfrm>
            <a:off x="1463040" y="2643713"/>
            <a:ext cx="141732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30" u="none" cap="none" strike="noStrike">
                <a:solidFill>
                  <a:srgbClr val="1F5A91"/>
                </a:solidFill>
                <a:latin typeface="Arial"/>
                <a:ea typeface="Arial"/>
                <a:cs typeface="Arial"/>
                <a:sym typeface="Arial"/>
              </a:rPr>
              <a:t>불필요 항목 제외</a:t>
            </a:r>
            <a:endParaRPr/>
          </a:p>
        </p:txBody>
      </p:sp>
      <p:sp>
        <p:nvSpPr>
          <p:cNvPr id="495" name="Google Shape;495;p26"/>
          <p:cNvSpPr txBox="1"/>
          <p:nvPr/>
        </p:nvSpPr>
        <p:spPr>
          <a:xfrm>
            <a:off x="2999232" y="2620670"/>
            <a:ext cx="4956048" cy="27432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900" u="none" cap="none" strike="noStrike">
                <a:solidFill>
                  <a:srgbClr val="172331"/>
                </a:solidFill>
                <a:latin typeface="Arial"/>
                <a:ea typeface="Arial"/>
                <a:cs typeface="Arial"/>
                <a:sym typeface="Arial"/>
              </a:rPr>
              <a:t>숫자만 있는 값·불필요 메타정보 제외  /  긴 문장은 적정 길이로 분할</a:t>
            </a:r>
            <a:endParaRPr/>
          </a:p>
        </p:txBody>
      </p:sp>
      <p:sp>
        <p:nvSpPr>
          <p:cNvPr id="496" name="Google Shape;496;p26"/>
          <p:cNvSpPr/>
          <p:nvPr/>
        </p:nvSpPr>
        <p:spPr>
          <a:xfrm>
            <a:off x="4425696" y="3066166"/>
            <a:ext cx="292608" cy="199704"/>
          </a:xfrm>
          <a:prstGeom prst="down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26"/>
          <p:cNvSpPr/>
          <p:nvPr/>
        </p:nvSpPr>
        <p:spPr>
          <a:xfrm>
            <a:off x="1005840" y="3311956"/>
            <a:ext cx="3383280" cy="860267"/>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26"/>
          <p:cNvSpPr txBox="1"/>
          <p:nvPr/>
        </p:nvSpPr>
        <p:spPr>
          <a:xfrm>
            <a:off x="1170432" y="3711366"/>
            <a:ext cx="29718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830" u="none" cap="none" strike="noStrike">
                <a:solidFill>
                  <a:srgbClr val="1F5A91"/>
                </a:solidFill>
                <a:latin typeface="Arial"/>
                <a:ea typeface="Arial"/>
                <a:cs typeface="Arial"/>
                <a:sym typeface="Arial"/>
              </a:rPr>
              <a:t>• </a:t>
            </a:r>
            <a:r>
              <a:rPr b="0" i="0" lang="en-US" sz="830" u="none" cap="none" strike="noStrike">
                <a:solidFill>
                  <a:srgbClr val="172331"/>
                </a:solidFill>
                <a:latin typeface="Arial"/>
                <a:ea typeface="Arial"/>
                <a:cs typeface="Arial"/>
                <a:sym typeface="Arial"/>
              </a:rPr>
              <a:t>국문·영문 철자와 문자 깨짐</a:t>
            </a:r>
            <a:endParaRPr/>
          </a:p>
          <a:p>
            <a:pPr indent="0" lvl="0" marL="0" marR="0" rtl="0" algn="l">
              <a:lnSpc>
                <a:spcPct val="108000"/>
              </a:lnSpc>
              <a:spcBef>
                <a:spcPts val="200"/>
              </a:spcBef>
              <a:spcAft>
                <a:spcPts val="0"/>
              </a:spcAft>
              <a:buNone/>
            </a:pPr>
            <a:r>
              <a:rPr b="1" i="0" lang="en-US" sz="830" u="none" cap="none" strike="noStrike">
                <a:solidFill>
                  <a:srgbClr val="1F5A91"/>
                </a:solidFill>
                <a:latin typeface="Arial"/>
                <a:ea typeface="Arial"/>
                <a:cs typeface="Arial"/>
                <a:sym typeface="Arial"/>
              </a:rPr>
              <a:t>• </a:t>
            </a:r>
            <a:r>
              <a:rPr b="0" i="0" lang="en-US" sz="830" u="none" cap="none" strike="noStrike">
                <a:solidFill>
                  <a:srgbClr val="172331"/>
                </a:solidFill>
                <a:latin typeface="Arial"/>
                <a:ea typeface="Arial"/>
                <a:cs typeface="Arial"/>
                <a:sym typeface="Arial"/>
              </a:rPr>
              <a:t>중복 문장부호·숫자 구분기호·단위 표기</a:t>
            </a:r>
            <a:endParaRPr/>
          </a:p>
        </p:txBody>
      </p:sp>
      <p:sp>
        <p:nvSpPr>
          <p:cNvPr id="499" name="Google Shape;499;p26"/>
          <p:cNvSpPr/>
          <p:nvPr/>
        </p:nvSpPr>
        <p:spPr>
          <a:xfrm>
            <a:off x="4754880" y="3311956"/>
            <a:ext cx="3383280" cy="860267"/>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26"/>
          <p:cNvSpPr txBox="1"/>
          <p:nvPr/>
        </p:nvSpPr>
        <p:spPr>
          <a:xfrm>
            <a:off x="4919472" y="3711366"/>
            <a:ext cx="2971800" cy="438912"/>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830" u="none" cap="none" strike="noStrike">
                <a:solidFill>
                  <a:srgbClr val="2F78B7"/>
                </a:solidFill>
                <a:latin typeface="Arial"/>
                <a:ea typeface="Arial"/>
                <a:cs typeface="Arial"/>
                <a:sym typeface="Arial"/>
              </a:rPr>
              <a:t>• </a:t>
            </a:r>
            <a:r>
              <a:rPr b="0" i="0" lang="en-US" sz="830" u="none" cap="none" strike="noStrike">
                <a:solidFill>
                  <a:srgbClr val="172331"/>
                </a:solidFill>
                <a:latin typeface="Arial"/>
                <a:ea typeface="Arial"/>
                <a:cs typeface="Arial"/>
                <a:sym typeface="Arial"/>
              </a:rPr>
              <a:t>명확한 한·영 병기쌍 또는 혼합 문맥만 생성</a:t>
            </a:r>
            <a:endParaRPr/>
          </a:p>
          <a:p>
            <a:pPr indent="0" lvl="0" marL="0" marR="0" rtl="0" algn="l">
              <a:lnSpc>
                <a:spcPct val="108000"/>
              </a:lnSpc>
              <a:spcBef>
                <a:spcPts val="200"/>
              </a:spcBef>
              <a:spcAft>
                <a:spcPts val="0"/>
              </a:spcAft>
              <a:buNone/>
            </a:pPr>
            <a:r>
              <a:rPr b="1" i="0" lang="en-US" sz="830" u="none" cap="none" strike="noStrike">
                <a:solidFill>
                  <a:srgbClr val="2F78B7"/>
                </a:solidFill>
                <a:latin typeface="Arial"/>
                <a:ea typeface="Arial"/>
                <a:cs typeface="Arial"/>
                <a:sym typeface="Arial"/>
              </a:rPr>
              <a:t>• </a:t>
            </a:r>
            <a:r>
              <a:rPr b="0" i="0" lang="en-US" sz="830" u="none" cap="none" strike="noStrike">
                <a:solidFill>
                  <a:srgbClr val="172331"/>
                </a:solidFill>
                <a:latin typeface="Arial"/>
                <a:ea typeface="Arial"/>
                <a:cs typeface="Arial"/>
                <a:sym typeface="Arial"/>
              </a:rPr>
              <a:t>한국어 단독 셀을 ‘영문 누락’으로 단정하지 않음</a:t>
            </a:r>
            <a:endParaRPr/>
          </a:p>
        </p:txBody>
      </p:sp>
      <p:sp>
        <p:nvSpPr>
          <p:cNvPr id="501" name="Google Shape;501;p26"/>
          <p:cNvSpPr/>
          <p:nvPr/>
        </p:nvSpPr>
        <p:spPr>
          <a:xfrm>
            <a:off x="1005840" y="3373404"/>
            <a:ext cx="3383280" cy="268833"/>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26"/>
          <p:cNvSpPr txBox="1"/>
          <p:nvPr/>
        </p:nvSpPr>
        <p:spPr>
          <a:xfrm>
            <a:off x="1188720" y="3442533"/>
            <a:ext cx="109728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80" u="none" cap="none" strike="noStrike">
                <a:solidFill>
                  <a:srgbClr val="1F5A91"/>
                </a:solidFill>
                <a:latin typeface="Arial"/>
                <a:ea typeface="Arial"/>
                <a:cs typeface="Arial"/>
                <a:sym typeface="Arial"/>
              </a:rPr>
              <a:t>오탈자 후보</a:t>
            </a:r>
            <a:endParaRPr/>
          </a:p>
        </p:txBody>
      </p:sp>
      <p:sp>
        <p:nvSpPr>
          <p:cNvPr id="503" name="Google Shape;503;p26"/>
          <p:cNvSpPr/>
          <p:nvPr/>
        </p:nvSpPr>
        <p:spPr>
          <a:xfrm>
            <a:off x="4754880" y="3373404"/>
            <a:ext cx="3383280" cy="268833"/>
          </a:xfrm>
          <a:prstGeom prst="rect">
            <a:avLst/>
          </a:prstGeom>
          <a:solidFill>
            <a:srgbClr val="EEF6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26"/>
          <p:cNvSpPr txBox="1"/>
          <p:nvPr/>
        </p:nvSpPr>
        <p:spPr>
          <a:xfrm>
            <a:off x="4937760" y="3442533"/>
            <a:ext cx="109728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80" u="none" cap="none" strike="noStrike">
                <a:solidFill>
                  <a:srgbClr val="1F5A91"/>
                </a:solidFill>
                <a:latin typeface="Arial"/>
                <a:ea typeface="Arial"/>
                <a:cs typeface="Arial"/>
                <a:sym typeface="Arial"/>
              </a:rPr>
              <a:t>번역 후보</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8" name="Shape 508"/>
        <p:cNvGrpSpPr/>
        <p:nvPr/>
      </p:nvGrpSpPr>
      <p:grpSpPr>
        <a:xfrm>
          <a:off x="0" y="0"/>
          <a:ext cx="0" cy="0"/>
          <a:chOff x="0" y="0"/>
          <a:chExt cx="0" cy="0"/>
        </a:xfrm>
      </p:grpSpPr>
      <p:sp>
        <p:nvSpPr>
          <p:cNvPr id="509" name="Google Shape;509;p27"/>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오탈자·번역 검수</a:t>
            </a:r>
            <a:endParaRPr/>
          </a:p>
        </p:txBody>
      </p:sp>
      <p:sp>
        <p:nvSpPr>
          <p:cNvPr id="510" name="Google Shape;510;p27"/>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언어 검수</a:t>
            </a:r>
            <a:endParaRPr/>
          </a:p>
        </p:txBody>
      </p:sp>
      <p:pic>
        <p:nvPicPr>
          <p:cNvPr descr="image.png" id="511" name="Google Shape;511;p27"/>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512" name="Google Shape;512;p27"/>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27"/>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사전·문맥 이력·선택적 LLM의 단계적 적용</a:t>
            </a:r>
            <a:endParaRPr/>
          </a:p>
        </p:txBody>
      </p:sp>
      <p:sp>
        <p:nvSpPr>
          <p:cNvPr id="514" name="Google Shape;514;p27"/>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515" name="Google Shape;515;p27"/>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13</a:t>
            </a:r>
            <a:endParaRPr/>
          </a:p>
        </p:txBody>
      </p:sp>
      <p:sp>
        <p:nvSpPr>
          <p:cNvPr id="516" name="Google Shape;516;p27"/>
          <p:cNvSpPr/>
          <p:nvPr/>
        </p:nvSpPr>
        <p:spPr>
          <a:xfrm>
            <a:off x="493776" y="1814169"/>
            <a:ext cx="3218688" cy="468538"/>
          </a:xfrm>
          <a:prstGeom prst="rect">
            <a:avLst/>
          </a:prstGeom>
          <a:solidFill>
            <a:srgbClr val="FFFFFF"/>
          </a:solidFill>
          <a:ln cap="flat" cmpd="sng" w="10150">
            <a:solidFill>
              <a:srgbClr val="0C2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27"/>
          <p:cNvSpPr txBox="1"/>
          <p:nvPr/>
        </p:nvSpPr>
        <p:spPr>
          <a:xfrm>
            <a:off x="621792" y="1914021"/>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972" u="none" cap="none" strike="noStrike">
                <a:solidFill>
                  <a:srgbClr val="0C2F61"/>
                </a:solidFill>
                <a:latin typeface="Arial"/>
                <a:ea typeface="Arial"/>
                <a:cs typeface="Arial"/>
                <a:sym typeface="Arial"/>
              </a:rPr>
              <a:t>●</a:t>
            </a:r>
            <a:endParaRPr/>
          </a:p>
        </p:txBody>
      </p:sp>
      <p:sp>
        <p:nvSpPr>
          <p:cNvPr id="518" name="Google Shape;518;p27"/>
          <p:cNvSpPr txBox="1"/>
          <p:nvPr/>
        </p:nvSpPr>
        <p:spPr>
          <a:xfrm>
            <a:off x="621792" y="1914021"/>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19" u="none" cap="none" strike="noStrike">
                <a:solidFill>
                  <a:srgbClr val="FFFFFF"/>
                </a:solidFill>
                <a:latin typeface="Arial"/>
                <a:ea typeface="Arial"/>
                <a:cs typeface="Arial"/>
                <a:sym typeface="Arial"/>
              </a:rPr>
              <a:t>1</a:t>
            </a:r>
            <a:endParaRPr/>
          </a:p>
        </p:txBody>
      </p:sp>
      <p:sp>
        <p:nvSpPr>
          <p:cNvPr id="519" name="Google Shape;519;p27"/>
          <p:cNvSpPr txBox="1"/>
          <p:nvPr/>
        </p:nvSpPr>
        <p:spPr>
          <a:xfrm>
            <a:off x="1005840" y="1890979"/>
            <a:ext cx="1554480"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0C2F61"/>
                </a:solidFill>
                <a:latin typeface="Arial"/>
                <a:ea typeface="Arial"/>
                <a:cs typeface="Arial"/>
                <a:sym typeface="Arial"/>
              </a:rPr>
              <a:t>공식·승인 사전 확인</a:t>
            </a:r>
            <a:endParaRPr/>
          </a:p>
        </p:txBody>
      </p:sp>
      <p:sp>
        <p:nvSpPr>
          <p:cNvPr id="520" name="Google Shape;520;p27"/>
          <p:cNvSpPr txBox="1"/>
          <p:nvPr/>
        </p:nvSpPr>
        <p:spPr>
          <a:xfrm>
            <a:off x="1005840" y="2067641"/>
            <a:ext cx="2487168"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정확 일치 항목을 우선 처리</a:t>
            </a:r>
            <a:endParaRPr/>
          </a:p>
        </p:txBody>
      </p:sp>
      <p:sp>
        <p:nvSpPr>
          <p:cNvPr id="521" name="Google Shape;521;p27"/>
          <p:cNvSpPr/>
          <p:nvPr/>
        </p:nvSpPr>
        <p:spPr>
          <a:xfrm>
            <a:off x="1929384" y="2290389"/>
            <a:ext cx="256032" cy="138257"/>
          </a:xfrm>
          <a:prstGeom prst="downArrow">
            <a:avLst>
              <a:gd fmla="val 50000" name="adj1"/>
              <a:gd fmla="val 50000" name="adj2"/>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27"/>
          <p:cNvSpPr/>
          <p:nvPr/>
        </p:nvSpPr>
        <p:spPr>
          <a:xfrm>
            <a:off x="493776" y="2444007"/>
            <a:ext cx="3218688" cy="468538"/>
          </a:xfrm>
          <a:prstGeom prst="rect">
            <a:avLst/>
          </a:prstGeom>
          <a:solidFill>
            <a:srgbClr val="FFFFFF"/>
          </a:solidFill>
          <a:ln cap="flat" cmpd="sng" w="10150">
            <a:solidFill>
              <a:srgbClr val="1F5A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27"/>
          <p:cNvSpPr txBox="1"/>
          <p:nvPr/>
        </p:nvSpPr>
        <p:spPr>
          <a:xfrm>
            <a:off x="621792" y="2543859"/>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972" u="none" cap="none" strike="noStrike">
                <a:solidFill>
                  <a:srgbClr val="1F5A91"/>
                </a:solidFill>
                <a:latin typeface="Arial"/>
                <a:ea typeface="Arial"/>
                <a:cs typeface="Arial"/>
                <a:sym typeface="Arial"/>
              </a:rPr>
              <a:t>●</a:t>
            </a:r>
            <a:endParaRPr/>
          </a:p>
        </p:txBody>
      </p:sp>
      <p:sp>
        <p:nvSpPr>
          <p:cNvPr id="524" name="Google Shape;524;p27"/>
          <p:cNvSpPr txBox="1"/>
          <p:nvPr/>
        </p:nvSpPr>
        <p:spPr>
          <a:xfrm>
            <a:off x="621792" y="2543859"/>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19" u="none" cap="none" strike="noStrike">
                <a:solidFill>
                  <a:srgbClr val="FFFFFF"/>
                </a:solidFill>
                <a:latin typeface="Arial"/>
                <a:ea typeface="Arial"/>
                <a:cs typeface="Arial"/>
                <a:sym typeface="Arial"/>
              </a:rPr>
              <a:t>2</a:t>
            </a:r>
            <a:endParaRPr/>
          </a:p>
        </p:txBody>
      </p:sp>
      <p:sp>
        <p:nvSpPr>
          <p:cNvPr id="525" name="Google Shape;525;p27"/>
          <p:cNvSpPr txBox="1"/>
          <p:nvPr/>
        </p:nvSpPr>
        <p:spPr>
          <a:xfrm>
            <a:off x="1005840" y="2520817"/>
            <a:ext cx="1554480"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1F5A91"/>
                </a:solidFill>
                <a:latin typeface="Arial"/>
                <a:ea typeface="Arial"/>
                <a:cs typeface="Arial"/>
                <a:sym typeface="Arial"/>
              </a:rPr>
              <a:t>문맥 이력 재사용</a:t>
            </a:r>
            <a:endParaRPr/>
          </a:p>
        </p:txBody>
      </p:sp>
      <p:sp>
        <p:nvSpPr>
          <p:cNvPr id="526" name="Google Shape;526;p27"/>
          <p:cNvSpPr txBox="1"/>
          <p:nvPr/>
        </p:nvSpPr>
        <p:spPr>
          <a:xfrm>
            <a:off x="1005840" y="2697480"/>
            <a:ext cx="2487168"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계보/선택 run + 지문 일치</a:t>
            </a:r>
            <a:endParaRPr/>
          </a:p>
        </p:txBody>
      </p:sp>
      <p:sp>
        <p:nvSpPr>
          <p:cNvPr id="527" name="Google Shape;527;p27"/>
          <p:cNvSpPr/>
          <p:nvPr/>
        </p:nvSpPr>
        <p:spPr>
          <a:xfrm>
            <a:off x="1929384" y="2920227"/>
            <a:ext cx="256032" cy="138257"/>
          </a:xfrm>
          <a:prstGeom prst="down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27"/>
          <p:cNvSpPr/>
          <p:nvPr/>
        </p:nvSpPr>
        <p:spPr>
          <a:xfrm>
            <a:off x="493776" y="3073847"/>
            <a:ext cx="3218688" cy="468538"/>
          </a:xfrm>
          <a:prstGeom prst="rect">
            <a:avLst/>
          </a:prstGeom>
          <a:solidFill>
            <a:srgbClr val="FFFFFF"/>
          </a:solidFill>
          <a:ln cap="flat" cmpd="sng" w="10150">
            <a:solidFill>
              <a:srgbClr val="1F5A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27"/>
          <p:cNvSpPr txBox="1"/>
          <p:nvPr/>
        </p:nvSpPr>
        <p:spPr>
          <a:xfrm>
            <a:off x="621792" y="3173699"/>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972" u="none" cap="none" strike="noStrike">
                <a:solidFill>
                  <a:srgbClr val="1F5A91"/>
                </a:solidFill>
                <a:latin typeface="Arial"/>
                <a:ea typeface="Arial"/>
                <a:cs typeface="Arial"/>
                <a:sym typeface="Arial"/>
              </a:rPr>
              <a:t>●</a:t>
            </a:r>
            <a:endParaRPr/>
          </a:p>
        </p:txBody>
      </p:sp>
      <p:sp>
        <p:nvSpPr>
          <p:cNvPr id="530" name="Google Shape;530;p27"/>
          <p:cNvSpPr txBox="1"/>
          <p:nvPr/>
        </p:nvSpPr>
        <p:spPr>
          <a:xfrm>
            <a:off x="621792" y="3173699"/>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19" u="none" cap="none" strike="noStrike">
                <a:solidFill>
                  <a:srgbClr val="FFFFFF"/>
                </a:solidFill>
                <a:latin typeface="Arial"/>
                <a:ea typeface="Arial"/>
                <a:cs typeface="Arial"/>
                <a:sym typeface="Arial"/>
              </a:rPr>
              <a:t>3</a:t>
            </a:r>
            <a:endParaRPr/>
          </a:p>
        </p:txBody>
      </p:sp>
      <p:sp>
        <p:nvSpPr>
          <p:cNvPr id="531" name="Google Shape;531;p27"/>
          <p:cNvSpPr txBox="1"/>
          <p:nvPr/>
        </p:nvSpPr>
        <p:spPr>
          <a:xfrm>
            <a:off x="1005840" y="3150656"/>
            <a:ext cx="1554480"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1F5A91"/>
                </a:solidFill>
                <a:latin typeface="Arial"/>
                <a:ea typeface="Arial"/>
                <a:cs typeface="Arial"/>
                <a:sym typeface="Arial"/>
              </a:rPr>
              <a:t>남은 후보만 LLM</a:t>
            </a:r>
            <a:endParaRPr/>
          </a:p>
        </p:txBody>
      </p:sp>
      <p:sp>
        <p:nvSpPr>
          <p:cNvPr id="532" name="Google Shape;532;p27"/>
          <p:cNvSpPr txBox="1"/>
          <p:nvPr/>
        </p:nvSpPr>
        <p:spPr>
          <a:xfrm>
            <a:off x="1005840" y="3327318"/>
            <a:ext cx="2487168"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동일 문맥 후보를 구조화 배치</a:t>
            </a:r>
            <a:endParaRPr/>
          </a:p>
        </p:txBody>
      </p:sp>
      <p:sp>
        <p:nvSpPr>
          <p:cNvPr id="533" name="Google Shape;533;p27"/>
          <p:cNvSpPr/>
          <p:nvPr/>
        </p:nvSpPr>
        <p:spPr>
          <a:xfrm>
            <a:off x="1929384" y="3550066"/>
            <a:ext cx="256032" cy="138257"/>
          </a:xfrm>
          <a:prstGeom prst="down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27"/>
          <p:cNvSpPr/>
          <p:nvPr/>
        </p:nvSpPr>
        <p:spPr>
          <a:xfrm>
            <a:off x="493776" y="3703685"/>
            <a:ext cx="3218688" cy="468538"/>
          </a:xfrm>
          <a:prstGeom prst="rect">
            <a:avLst/>
          </a:prstGeom>
          <a:solidFill>
            <a:srgbClr val="FFFFFF"/>
          </a:solidFill>
          <a:ln cap="flat" cmpd="sng" w="10150">
            <a:solidFill>
              <a:srgbClr val="2F7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27"/>
          <p:cNvSpPr txBox="1"/>
          <p:nvPr/>
        </p:nvSpPr>
        <p:spPr>
          <a:xfrm>
            <a:off x="621792" y="3803538"/>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972" u="none" cap="none" strike="noStrike">
                <a:solidFill>
                  <a:srgbClr val="2F7D68"/>
                </a:solidFill>
                <a:latin typeface="Arial"/>
                <a:ea typeface="Arial"/>
                <a:cs typeface="Arial"/>
                <a:sym typeface="Arial"/>
              </a:rPr>
              <a:t>●</a:t>
            </a:r>
            <a:endParaRPr/>
          </a:p>
        </p:txBody>
      </p:sp>
      <p:sp>
        <p:nvSpPr>
          <p:cNvPr id="536" name="Google Shape;536;p27"/>
          <p:cNvSpPr txBox="1"/>
          <p:nvPr/>
        </p:nvSpPr>
        <p:spPr>
          <a:xfrm>
            <a:off x="621792" y="3803538"/>
            <a:ext cx="310896" cy="3108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919" u="none" cap="none" strike="noStrike">
                <a:solidFill>
                  <a:srgbClr val="FFFFFF"/>
                </a:solidFill>
                <a:latin typeface="Arial"/>
                <a:ea typeface="Arial"/>
                <a:cs typeface="Arial"/>
                <a:sym typeface="Arial"/>
              </a:rPr>
              <a:t>4</a:t>
            </a:r>
            <a:endParaRPr/>
          </a:p>
        </p:txBody>
      </p:sp>
      <p:sp>
        <p:nvSpPr>
          <p:cNvPr id="537" name="Google Shape;537;p27"/>
          <p:cNvSpPr txBox="1"/>
          <p:nvPr/>
        </p:nvSpPr>
        <p:spPr>
          <a:xfrm>
            <a:off x="1005840" y="3780495"/>
            <a:ext cx="1554480"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50" u="none" cap="none" strike="noStrike">
                <a:solidFill>
                  <a:srgbClr val="2F7D68"/>
                </a:solidFill>
                <a:latin typeface="Arial"/>
                <a:ea typeface="Arial"/>
                <a:cs typeface="Arial"/>
                <a:sym typeface="Arial"/>
              </a:rPr>
              <a:t>응답 검증·저장</a:t>
            </a:r>
            <a:endParaRPr/>
          </a:p>
        </p:txBody>
      </p:sp>
      <p:sp>
        <p:nvSpPr>
          <p:cNvPr id="538" name="Google Shape;538;p27"/>
          <p:cNvSpPr txBox="1"/>
          <p:nvPr/>
        </p:nvSpPr>
        <p:spPr>
          <a:xfrm>
            <a:off x="1005840" y="3957156"/>
            <a:ext cx="2487168"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후보 ID·현재 원문 일치 확인</a:t>
            </a:r>
            <a:endParaRPr/>
          </a:p>
        </p:txBody>
      </p:sp>
      <p:sp>
        <p:nvSpPr>
          <p:cNvPr id="539" name="Google Shape;539;p27"/>
          <p:cNvSpPr/>
          <p:nvPr/>
        </p:nvSpPr>
        <p:spPr>
          <a:xfrm>
            <a:off x="4023360" y="1814169"/>
            <a:ext cx="4617720" cy="937077"/>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27"/>
          <p:cNvSpPr txBox="1"/>
          <p:nvPr/>
        </p:nvSpPr>
        <p:spPr>
          <a:xfrm>
            <a:off x="4224528" y="1952426"/>
            <a:ext cx="1234440" cy="2103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60" u="none" cap="none" strike="noStrike">
                <a:solidFill>
                  <a:srgbClr val="1F5A91"/>
                </a:solidFill>
                <a:latin typeface="Arial"/>
                <a:ea typeface="Arial"/>
                <a:cs typeface="Arial"/>
                <a:sym typeface="Arial"/>
              </a:rPr>
              <a:t>사전 구성·갱신</a:t>
            </a:r>
            <a:endParaRPr/>
          </a:p>
        </p:txBody>
      </p:sp>
      <p:sp>
        <p:nvSpPr>
          <p:cNvPr id="541" name="Google Shape;541;p27"/>
          <p:cNvSpPr txBox="1"/>
          <p:nvPr/>
        </p:nvSpPr>
        <p:spPr>
          <a:xfrm>
            <a:off x="5504688" y="1952426"/>
            <a:ext cx="2852928"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40" u="none" cap="none" strike="noStrike">
                <a:solidFill>
                  <a:srgbClr val="667085"/>
                </a:solidFill>
                <a:latin typeface="Arial"/>
                <a:ea typeface="Arial"/>
                <a:cs typeface="Arial"/>
                <a:sym typeface="Arial"/>
              </a:rPr>
              <a:t>검수 실행 시 다음 자료를 모아 출처와 상태를 유지</a:t>
            </a:r>
            <a:endParaRPr/>
          </a:p>
        </p:txBody>
      </p:sp>
      <p:sp>
        <p:nvSpPr>
          <p:cNvPr id="542" name="Google Shape;542;p27"/>
          <p:cNvSpPr/>
          <p:nvPr/>
        </p:nvSpPr>
        <p:spPr>
          <a:xfrm>
            <a:off x="4242816" y="2321112"/>
            <a:ext cx="841248"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27"/>
          <p:cNvSpPr txBox="1"/>
          <p:nvPr/>
        </p:nvSpPr>
        <p:spPr>
          <a:xfrm>
            <a:off x="4242816" y="2321112"/>
            <a:ext cx="841248"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90" u="none" cap="none" strike="noStrike">
                <a:solidFill>
                  <a:srgbClr val="0C2F61"/>
                </a:solidFill>
                <a:latin typeface="Arial"/>
                <a:ea typeface="Arial"/>
                <a:cs typeface="Arial"/>
                <a:sym typeface="Arial"/>
              </a:rPr>
              <a:t>기본 용어</a:t>
            </a:r>
            <a:endParaRPr/>
          </a:p>
        </p:txBody>
      </p:sp>
      <p:sp>
        <p:nvSpPr>
          <p:cNvPr id="544" name="Google Shape;544;p27"/>
          <p:cNvSpPr/>
          <p:nvPr/>
        </p:nvSpPr>
        <p:spPr>
          <a:xfrm>
            <a:off x="5248656" y="2321112"/>
            <a:ext cx="1078992"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27"/>
          <p:cNvSpPr txBox="1"/>
          <p:nvPr/>
        </p:nvSpPr>
        <p:spPr>
          <a:xfrm>
            <a:off x="5248656" y="2321112"/>
            <a:ext cx="1078992"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90" u="none" cap="none" strike="noStrike">
                <a:solidFill>
                  <a:srgbClr val="0C2F61"/>
                </a:solidFill>
                <a:latin typeface="Arial"/>
                <a:ea typeface="Arial"/>
                <a:cs typeface="Arial"/>
                <a:sym typeface="Arial"/>
              </a:rPr>
              <a:t>공식 번역</a:t>
            </a:r>
            <a:endParaRPr/>
          </a:p>
        </p:txBody>
      </p:sp>
      <p:sp>
        <p:nvSpPr>
          <p:cNvPr id="546" name="Google Shape;546;p27"/>
          <p:cNvSpPr/>
          <p:nvPr/>
        </p:nvSpPr>
        <p:spPr>
          <a:xfrm>
            <a:off x="6492240" y="2321112"/>
            <a:ext cx="987552"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27"/>
          <p:cNvSpPr txBox="1"/>
          <p:nvPr/>
        </p:nvSpPr>
        <p:spPr>
          <a:xfrm>
            <a:off x="6492240" y="2321112"/>
            <a:ext cx="987552"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90" u="none" cap="none" strike="noStrike">
                <a:solidFill>
                  <a:srgbClr val="0C2F61"/>
                </a:solidFill>
                <a:latin typeface="Arial"/>
                <a:ea typeface="Arial"/>
                <a:cs typeface="Arial"/>
                <a:sym typeface="Arial"/>
              </a:rPr>
              <a:t>기관·행정구역</a:t>
            </a:r>
            <a:endParaRPr/>
          </a:p>
        </p:txBody>
      </p:sp>
      <p:sp>
        <p:nvSpPr>
          <p:cNvPr id="548" name="Google Shape;548;p27"/>
          <p:cNvSpPr/>
          <p:nvPr/>
        </p:nvSpPr>
        <p:spPr>
          <a:xfrm>
            <a:off x="7626096" y="2321112"/>
            <a:ext cx="804672"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27"/>
          <p:cNvSpPr txBox="1"/>
          <p:nvPr/>
        </p:nvSpPr>
        <p:spPr>
          <a:xfrm>
            <a:off x="7626096" y="2321112"/>
            <a:ext cx="804672"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90" u="none" cap="none" strike="noStrike">
                <a:solidFill>
                  <a:srgbClr val="0C2F61"/>
                </a:solidFill>
                <a:latin typeface="Arial"/>
                <a:ea typeface="Arial"/>
                <a:cs typeface="Arial"/>
                <a:sym typeface="Arial"/>
              </a:rPr>
              <a:t>연보 한·영 병기</a:t>
            </a:r>
            <a:endParaRPr/>
          </a:p>
        </p:txBody>
      </p:sp>
      <p:sp>
        <p:nvSpPr>
          <p:cNvPr id="550" name="Google Shape;550;p27"/>
          <p:cNvSpPr/>
          <p:nvPr/>
        </p:nvSpPr>
        <p:spPr>
          <a:xfrm>
            <a:off x="4023360" y="2920227"/>
            <a:ext cx="4617720" cy="1413296"/>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27"/>
          <p:cNvSpPr txBox="1"/>
          <p:nvPr/>
        </p:nvSpPr>
        <p:spPr>
          <a:xfrm>
            <a:off x="4224528" y="3058485"/>
            <a:ext cx="3383280" cy="23774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80" u="none" cap="none" strike="noStrike">
                <a:solidFill>
                  <a:srgbClr val="1F5A91"/>
                </a:solidFill>
                <a:latin typeface="Arial"/>
                <a:ea typeface="Arial"/>
                <a:cs typeface="Arial"/>
                <a:sym typeface="Arial"/>
              </a:rPr>
              <a:t>‘캐시’</a:t>
            </a:r>
            <a:r>
              <a:rPr b="1" i="0" lang="en-US" sz="1080" u="none" cap="none" strike="noStrike">
                <a:solidFill>
                  <a:srgbClr val="0C2F61"/>
                </a:solidFill>
                <a:latin typeface="Arial"/>
                <a:ea typeface="Arial"/>
                <a:cs typeface="Arial"/>
                <a:sym typeface="Arial"/>
              </a:rPr>
              <a:t> = 문맥 지문 기반 검수 이력</a:t>
            </a:r>
            <a:endParaRPr/>
          </a:p>
        </p:txBody>
      </p:sp>
      <p:sp>
        <p:nvSpPr>
          <p:cNvPr id="552" name="Google Shape;552;p27"/>
          <p:cNvSpPr/>
          <p:nvPr/>
        </p:nvSpPr>
        <p:spPr>
          <a:xfrm>
            <a:off x="4242816" y="3411809"/>
            <a:ext cx="768096"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27"/>
          <p:cNvSpPr txBox="1"/>
          <p:nvPr/>
        </p:nvSpPr>
        <p:spPr>
          <a:xfrm>
            <a:off x="4242816" y="3411809"/>
            <a:ext cx="768096"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70" u="none" cap="none" strike="noStrike">
                <a:solidFill>
                  <a:srgbClr val="1F5A91"/>
                </a:solidFill>
                <a:latin typeface="Arial"/>
                <a:ea typeface="Arial"/>
                <a:cs typeface="Arial"/>
                <a:sym typeface="Arial"/>
              </a:rPr>
              <a:t>검수 유형</a:t>
            </a:r>
            <a:endParaRPr/>
          </a:p>
        </p:txBody>
      </p:sp>
      <p:sp>
        <p:nvSpPr>
          <p:cNvPr id="554" name="Google Shape;554;p27"/>
          <p:cNvSpPr/>
          <p:nvPr/>
        </p:nvSpPr>
        <p:spPr>
          <a:xfrm>
            <a:off x="5157216" y="3411809"/>
            <a:ext cx="786384"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5" name="Google Shape;555;p27"/>
          <p:cNvSpPr txBox="1"/>
          <p:nvPr/>
        </p:nvSpPr>
        <p:spPr>
          <a:xfrm>
            <a:off x="5157216" y="3411809"/>
            <a:ext cx="786384"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70" u="none" cap="none" strike="noStrike">
                <a:solidFill>
                  <a:srgbClr val="1F5A91"/>
                </a:solidFill>
                <a:latin typeface="Arial"/>
                <a:ea typeface="Arial"/>
                <a:cs typeface="Arial"/>
                <a:sym typeface="Arial"/>
              </a:rPr>
              <a:t>원문·위치</a:t>
            </a:r>
            <a:endParaRPr/>
          </a:p>
        </p:txBody>
      </p:sp>
      <p:sp>
        <p:nvSpPr>
          <p:cNvPr id="556" name="Google Shape;556;p27"/>
          <p:cNvSpPr/>
          <p:nvPr/>
        </p:nvSpPr>
        <p:spPr>
          <a:xfrm>
            <a:off x="6108192" y="3411809"/>
            <a:ext cx="932688"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27"/>
          <p:cNvSpPr txBox="1"/>
          <p:nvPr/>
        </p:nvSpPr>
        <p:spPr>
          <a:xfrm>
            <a:off x="6108192" y="3411809"/>
            <a:ext cx="932688"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70" u="none" cap="none" strike="noStrike">
                <a:solidFill>
                  <a:srgbClr val="1F5A91"/>
                </a:solidFill>
                <a:latin typeface="Arial"/>
                <a:ea typeface="Arial"/>
                <a:cs typeface="Arial"/>
                <a:sym typeface="Arial"/>
              </a:rPr>
              <a:t>표 제목·단위</a:t>
            </a:r>
            <a:endParaRPr/>
          </a:p>
        </p:txBody>
      </p:sp>
      <p:sp>
        <p:nvSpPr>
          <p:cNvPr id="558" name="Google Shape;558;p27"/>
          <p:cNvSpPr/>
          <p:nvPr/>
        </p:nvSpPr>
        <p:spPr>
          <a:xfrm>
            <a:off x="7159752" y="3411809"/>
            <a:ext cx="877824"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27"/>
          <p:cNvSpPr txBox="1"/>
          <p:nvPr/>
        </p:nvSpPr>
        <p:spPr>
          <a:xfrm>
            <a:off x="7159752" y="3411809"/>
            <a:ext cx="877824"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70" u="none" cap="none" strike="noStrike">
                <a:solidFill>
                  <a:srgbClr val="1F5A91"/>
                </a:solidFill>
                <a:latin typeface="Arial"/>
                <a:ea typeface="Arial"/>
                <a:cs typeface="Arial"/>
                <a:sym typeface="Arial"/>
              </a:rPr>
              <a:t>행·열 라벨</a:t>
            </a:r>
            <a:endParaRPr/>
          </a:p>
        </p:txBody>
      </p:sp>
      <p:sp>
        <p:nvSpPr>
          <p:cNvPr id="560" name="Google Shape;560;p27"/>
          <p:cNvSpPr/>
          <p:nvPr/>
        </p:nvSpPr>
        <p:spPr>
          <a:xfrm>
            <a:off x="4242816" y="3742090"/>
            <a:ext cx="850392"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27"/>
          <p:cNvSpPr txBox="1"/>
          <p:nvPr/>
        </p:nvSpPr>
        <p:spPr>
          <a:xfrm>
            <a:off x="4242816" y="3742090"/>
            <a:ext cx="850392"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70" u="none" cap="none" strike="noStrike">
                <a:solidFill>
                  <a:srgbClr val="1F5A91"/>
                </a:solidFill>
                <a:latin typeface="Arial"/>
                <a:ea typeface="Arial"/>
                <a:cs typeface="Arial"/>
                <a:sym typeface="Arial"/>
              </a:rPr>
              <a:t>주변 문맥</a:t>
            </a:r>
            <a:endParaRPr/>
          </a:p>
        </p:txBody>
      </p:sp>
      <p:sp>
        <p:nvSpPr>
          <p:cNvPr id="562" name="Google Shape;562;p27"/>
          <p:cNvSpPr/>
          <p:nvPr/>
        </p:nvSpPr>
        <p:spPr>
          <a:xfrm>
            <a:off x="5257800" y="3742090"/>
            <a:ext cx="1097280"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27"/>
          <p:cNvSpPr txBox="1"/>
          <p:nvPr/>
        </p:nvSpPr>
        <p:spPr>
          <a:xfrm>
            <a:off x="5257800" y="3742090"/>
            <a:ext cx="1097280"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70" u="none" cap="none" strike="noStrike">
                <a:solidFill>
                  <a:srgbClr val="1F5A91"/>
                </a:solidFill>
                <a:latin typeface="Arial"/>
                <a:ea typeface="Arial"/>
                <a:cs typeface="Arial"/>
                <a:sym typeface="Arial"/>
              </a:rPr>
              <a:t>프롬프트·모델</a:t>
            </a:r>
            <a:endParaRPr/>
          </a:p>
        </p:txBody>
      </p:sp>
      <p:sp>
        <p:nvSpPr>
          <p:cNvPr id="564" name="Google Shape;564;p27"/>
          <p:cNvSpPr/>
          <p:nvPr/>
        </p:nvSpPr>
        <p:spPr>
          <a:xfrm>
            <a:off x="6519672" y="3742090"/>
            <a:ext cx="749808" cy="222747"/>
          </a:xfrm>
          <a:prstGeom prst="rect">
            <a:avLst/>
          </a:prstGeom>
          <a:solidFill>
            <a:srgbClr val="FFFFFF"/>
          </a:solidFill>
          <a:ln cap="flat" cmpd="sng" w="10150">
            <a:solidFill>
              <a:srgbClr val="B9D8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27"/>
          <p:cNvSpPr txBox="1"/>
          <p:nvPr/>
        </p:nvSpPr>
        <p:spPr>
          <a:xfrm>
            <a:off x="6519672" y="3742090"/>
            <a:ext cx="749808" cy="265176"/>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70" u="none" cap="none" strike="noStrike">
                <a:solidFill>
                  <a:srgbClr val="1F5A91"/>
                </a:solidFill>
                <a:latin typeface="Arial"/>
                <a:ea typeface="Arial"/>
                <a:cs typeface="Arial"/>
                <a:sym typeface="Arial"/>
              </a:rPr>
              <a:t>사전 근거</a:t>
            </a:r>
            <a:endParaRPr/>
          </a:p>
        </p:txBody>
      </p:sp>
      <p:sp>
        <p:nvSpPr>
          <p:cNvPr id="566" name="Google Shape;566;p27"/>
          <p:cNvSpPr txBox="1"/>
          <p:nvPr/>
        </p:nvSpPr>
        <p:spPr>
          <a:xfrm>
            <a:off x="4242816" y="4103095"/>
            <a:ext cx="4169663"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790" u="none" cap="none" strike="noStrike">
                <a:solidFill>
                  <a:srgbClr val="667085"/>
                </a:solidFill>
                <a:latin typeface="Arial"/>
                <a:ea typeface="Arial"/>
                <a:cs typeface="Arial"/>
                <a:sym typeface="Arial"/>
              </a:rPr>
              <a:t>보고서 계보 또는 사용자가 선택한 이전 실행에서만 재사용 · 전역 텍스트 캐시가 아님</a:t>
            </a:r>
            <a:endParaRPr/>
          </a:p>
        </p:txBody>
      </p:sp>
      <p:sp>
        <p:nvSpPr>
          <p:cNvPr id="567" name="Google Shape;567;p27"/>
          <p:cNvSpPr/>
          <p:nvPr/>
        </p:nvSpPr>
        <p:spPr>
          <a:xfrm>
            <a:off x="877824" y="4471781"/>
            <a:ext cx="7388352" cy="184343"/>
          </a:xfrm>
          <a:prstGeom prst="rect">
            <a:avLst/>
          </a:prstGeom>
          <a:solidFill>
            <a:srgbClr val="FFF4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p27"/>
          <p:cNvSpPr txBox="1"/>
          <p:nvPr/>
        </p:nvSpPr>
        <p:spPr>
          <a:xfrm>
            <a:off x="1078992" y="4487143"/>
            <a:ext cx="6986016" cy="17373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19" u="none" cap="none" strike="noStrike">
                <a:solidFill>
                  <a:srgbClr val="B97818"/>
                </a:solidFill>
                <a:latin typeface="Arial"/>
                <a:ea typeface="Arial"/>
                <a:cs typeface="Arial"/>
                <a:sym typeface="Arial"/>
              </a:rPr>
              <a:t>LLM 미사용·키 부재·응답 누락 시 후보는 ‘재검수 필요’로 유지하며, 자동으로 원문을 바꾸지 않습니다.</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2" name="Shape 572"/>
        <p:cNvGrpSpPr/>
        <p:nvPr/>
      </p:nvGrpSpPr>
      <p:grpSpPr>
        <a:xfrm>
          <a:off x="0" y="0"/>
          <a:ext cx="0" cy="0"/>
          <a:chOff x="0" y="0"/>
          <a:chExt cx="0" cy="0"/>
        </a:xfrm>
      </p:grpSpPr>
      <p:sp>
        <p:nvSpPr>
          <p:cNvPr id="573" name="Google Shape;573;p28"/>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메타데이터·이상치 검수</a:t>
            </a:r>
            <a:endParaRPr/>
          </a:p>
        </p:txBody>
      </p:sp>
      <p:sp>
        <p:nvSpPr>
          <p:cNvPr id="574" name="Google Shape;574;p28"/>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메타데이터·이상치</a:t>
            </a:r>
            <a:endParaRPr/>
          </a:p>
        </p:txBody>
      </p:sp>
      <p:pic>
        <p:nvPicPr>
          <p:cNvPr descr="image.png" id="575" name="Google Shape;575;p28"/>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576" name="Google Shape;576;p28"/>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7" name="Google Shape;577;p28"/>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누락과 통계적 특이값을 확인 대상으로 제시</a:t>
            </a:r>
            <a:endParaRPr/>
          </a:p>
        </p:txBody>
      </p:sp>
      <p:sp>
        <p:nvSpPr>
          <p:cNvPr id="578" name="Google Shape;578;p28"/>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579" name="Google Shape;579;p28"/>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14</a:t>
            </a:r>
            <a:endParaRPr/>
          </a:p>
        </p:txBody>
      </p:sp>
      <p:sp>
        <p:nvSpPr>
          <p:cNvPr id="580" name="Google Shape;580;p28"/>
          <p:cNvSpPr/>
          <p:nvPr/>
        </p:nvSpPr>
        <p:spPr>
          <a:xfrm>
            <a:off x="502920" y="1798807"/>
            <a:ext cx="3840480" cy="2626888"/>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1" name="Google Shape;581;p28"/>
          <p:cNvSpPr/>
          <p:nvPr/>
        </p:nvSpPr>
        <p:spPr>
          <a:xfrm>
            <a:off x="502920" y="1798807"/>
            <a:ext cx="3840480" cy="345643"/>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2" name="Google Shape;582;p28"/>
          <p:cNvSpPr txBox="1"/>
          <p:nvPr/>
        </p:nvSpPr>
        <p:spPr>
          <a:xfrm>
            <a:off x="685800" y="1890979"/>
            <a:ext cx="347472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20" u="none" cap="none" strike="noStrike">
                <a:solidFill>
                  <a:srgbClr val="FFFFFF"/>
                </a:solidFill>
                <a:latin typeface="Arial"/>
                <a:ea typeface="Arial"/>
                <a:cs typeface="Arial"/>
                <a:sym typeface="Arial"/>
              </a:rPr>
              <a:t>메타데이터 검수</a:t>
            </a:r>
            <a:endParaRPr/>
          </a:p>
        </p:txBody>
      </p:sp>
      <p:sp>
        <p:nvSpPr>
          <p:cNvPr id="583" name="Google Shape;583;p28"/>
          <p:cNvSpPr/>
          <p:nvPr/>
        </p:nvSpPr>
        <p:spPr>
          <a:xfrm>
            <a:off x="731520" y="2313431"/>
            <a:ext cx="3383280" cy="414771"/>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4" name="Google Shape;584;p28"/>
          <p:cNvSpPr/>
          <p:nvPr/>
        </p:nvSpPr>
        <p:spPr>
          <a:xfrm>
            <a:off x="868680" y="2405603"/>
            <a:ext cx="640080" cy="230428"/>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5" name="Google Shape;585;p28"/>
          <p:cNvSpPr txBox="1"/>
          <p:nvPr/>
        </p:nvSpPr>
        <p:spPr>
          <a:xfrm>
            <a:off x="868680" y="2405603"/>
            <a:ext cx="640080" cy="27432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단위</a:t>
            </a:r>
            <a:endParaRPr/>
          </a:p>
        </p:txBody>
      </p:sp>
      <p:sp>
        <p:nvSpPr>
          <p:cNvPr id="586" name="Google Shape;586;p28"/>
          <p:cNvSpPr txBox="1"/>
          <p:nvPr/>
        </p:nvSpPr>
        <p:spPr>
          <a:xfrm>
            <a:off x="1664208" y="2382559"/>
            <a:ext cx="2267712" cy="310896"/>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누락 여부 + 저장 프로파일 기준 단위와 일치</a:t>
            </a:r>
            <a:endParaRPr/>
          </a:p>
        </p:txBody>
      </p:sp>
      <p:sp>
        <p:nvSpPr>
          <p:cNvPr id="587" name="Google Shape;587;p28"/>
          <p:cNvSpPr/>
          <p:nvPr/>
        </p:nvSpPr>
        <p:spPr>
          <a:xfrm>
            <a:off x="731520" y="2866460"/>
            <a:ext cx="3383280" cy="414771"/>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8" name="Google Shape;588;p28"/>
          <p:cNvSpPr/>
          <p:nvPr/>
        </p:nvSpPr>
        <p:spPr>
          <a:xfrm>
            <a:off x="868680" y="2958631"/>
            <a:ext cx="640080" cy="230428"/>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9" name="Google Shape;589;p28"/>
          <p:cNvSpPr txBox="1"/>
          <p:nvPr/>
        </p:nvSpPr>
        <p:spPr>
          <a:xfrm>
            <a:off x="868680" y="2958631"/>
            <a:ext cx="640080" cy="27432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0C2F61"/>
                </a:solidFill>
                <a:latin typeface="Arial"/>
                <a:ea typeface="Arial"/>
                <a:cs typeface="Arial"/>
                <a:sym typeface="Arial"/>
              </a:rPr>
              <a:t>기준일</a:t>
            </a:r>
            <a:endParaRPr/>
          </a:p>
        </p:txBody>
      </p:sp>
      <p:sp>
        <p:nvSpPr>
          <p:cNvPr id="590" name="Google Shape;590;p28"/>
          <p:cNvSpPr txBox="1"/>
          <p:nvPr/>
        </p:nvSpPr>
        <p:spPr>
          <a:xfrm>
            <a:off x="1664208" y="2935588"/>
            <a:ext cx="2267712" cy="310896"/>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필수 정보 입력 여부</a:t>
            </a:r>
            <a:endParaRPr/>
          </a:p>
        </p:txBody>
      </p:sp>
      <p:sp>
        <p:nvSpPr>
          <p:cNvPr id="591" name="Google Shape;591;p28"/>
          <p:cNvSpPr/>
          <p:nvPr/>
        </p:nvSpPr>
        <p:spPr>
          <a:xfrm>
            <a:off x="731520" y="3419490"/>
            <a:ext cx="3383280" cy="414771"/>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2" name="Google Shape;592;p28"/>
          <p:cNvSpPr/>
          <p:nvPr/>
        </p:nvSpPr>
        <p:spPr>
          <a:xfrm>
            <a:off x="868680" y="3511661"/>
            <a:ext cx="640080" cy="230428"/>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3" name="Google Shape;593;p28"/>
          <p:cNvSpPr txBox="1"/>
          <p:nvPr/>
        </p:nvSpPr>
        <p:spPr>
          <a:xfrm>
            <a:off x="868680" y="3511661"/>
            <a:ext cx="640080" cy="27432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0C2F61"/>
                </a:solidFill>
                <a:latin typeface="Arial"/>
                <a:ea typeface="Arial"/>
                <a:cs typeface="Arial"/>
                <a:sym typeface="Arial"/>
              </a:rPr>
              <a:t>출처</a:t>
            </a:r>
            <a:endParaRPr/>
          </a:p>
        </p:txBody>
      </p:sp>
      <p:sp>
        <p:nvSpPr>
          <p:cNvPr id="594" name="Google Shape;594;p28"/>
          <p:cNvSpPr txBox="1"/>
          <p:nvPr/>
        </p:nvSpPr>
        <p:spPr>
          <a:xfrm>
            <a:off x="1664208" y="3488618"/>
            <a:ext cx="2267712" cy="310896"/>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819" u="none" cap="none" strike="noStrike">
                <a:solidFill>
                  <a:srgbClr val="172331"/>
                </a:solidFill>
                <a:latin typeface="Arial"/>
                <a:ea typeface="Arial"/>
                <a:cs typeface="Arial"/>
                <a:sym typeface="Arial"/>
              </a:rPr>
              <a:t>필수 정보 입력 여부</a:t>
            </a:r>
            <a:endParaRPr/>
          </a:p>
        </p:txBody>
      </p:sp>
      <p:sp>
        <p:nvSpPr>
          <p:cNvPr id="595" name="Google Shape;595;p28"/>
          <p:cNvSpPr/>
          <p:nvPr/>
        </p:nvSpPr>
        <p:spPr>
          <a:xfrm>
            <a:off x="804672" y="4087733"/>
            <a:ext cx="3236976" cy="192024"/>
          </a:xfrm>
          <a:prstGeom prst="rect">
            <a:avLst/>
          </a:prstGeom>
          <a:solidFill>
            <a:srgbClr val="FFF4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6" name="Google Shape;596;p28"/>
          <p:cNvSpPr txBox="1"/>
          <p:nvPr/>
        </p:nvSpPr>
        <p:spPr>
          <a:xfrm>
            <a:off x="932688" y="4110775"/>
            <a:ext cx="2980944"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790" u="none" cap="none" strike="noStrike">
                <a:solidFill>
                  <a:srgbClr val="B97818"/>
                </a:solidFill>
                <a:latin typeface="Arial"/>
                <a:ea typeface="Arial"/>
                <a:cs typeface="Arial"/>
                <a:sym typeface="Arial"/>
              </a:rPr>
              <a:t>현재 자동 검수 범위: 위 3개 필드의 누락과 단위 기준</a:t>
            </a:r>
            <a:endParaRPr/>
          </a:p>
        </p:txBody>
      </p:sp>
      <p:sp>
        <p:nvSpPr>
          <p:cNvPr id="597" name="Google Shape;597;p28"/>
          <p:cNvSpPr/>
          <p:nvPr/>
        </p:nvSpPr>
        <p:spPr>
          <a:xfrm>
            <a:off x="4617720" y="1798807"/>
            <a:ext cx="4023360" cy="2626888"/>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8" name="Google Shape;598;p28"/>
          <p:cNvSpPr/>
          <p:nvPr/>
        </p:nvSpPr>
        <p:spPr>
          <a:xfrm>
            <a:off x="4617720" y="1798807"/>
            <a:ext cx="4023360" cy="345643"/>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9" name="Google Shape;599;p28"/>
          <p:cNvSpPr txBox="1"/>
          <p:nvPr/>
        </p:nvSpPr>
        <p:spPr>
          <a:xfrm>
            <a:off x="4800600" y="1890979"/>
            <a:ext cx="365760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20" u="none" cap="none" strike="noStrike">
                <a:solidFill>
                  <a:srgbClr val="FFFFFF"/>
                </a:solidFill>
                <a:latin typeface="Arial"/>
                <a:ea typeface="Arial"/>
                <a:cs typeface="Arial"/>
                <a:sym typeface="Arial"/>
              </a:rPr>
              <a:t>이상치 검수</a:t>
            </a:r>
            <a:endParaRPr/>
          </a:p>
        </p:txBody>
      </p:sp>
      <p:sp>
        <p:nvSpPr>
          <p:cNvPr id="600" name="Google Shape;600;p28"/>
          <p:cNvSpPr txBox="1"/>
          <p:nvPr/>
        </p:nvSpPr>
        <p:spPr>
          <a:xfrm>
            <a:off x="4882896" y="2298069"/>
            <a:ext cx="3493008" cy="21031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40" u="none" cap="none" strike="noStrike">
                <a:solidFill>
                  <a:srgbClr val="0C2F61"/>
                </a:solidFill>
                <a:latin typeface="Arial"/>
                <a:ea typeface="Arial"/>
                <a:cs typeface="Arial"/>
                <a:sym typeface="Arial"/>
              </a:rPr>
              <a:t>동일 숫자 열(관측치 5개 이상)</a:t>
            </a:r>
            <a:endParaRPr/>
          </a:p>
        </p:txBody>
      </p:sp>
      <p:sp>
        <p:nvSpPr>
          <p:cNvPr id="601" name="Google Shape;601;p28"/>
          <p:cNvSpPr/>
          <p:nvPr/>
        </p:nvSpPr>
        <p:spPr>
          <a:xfrm>
            <a:off x="5102352" y="3104570"/>
            <a:ext cx="2907792" cy="18288"/>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2" name="Google Shape;602;p28"/>
          <p:cNvSpPr txBox="1"/>
          <p:nvPr/>
        </p:nvSpPr>
        <p:spPr>
          <a:xfrm>
            <a:off x="5376672" y="2950951"/>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92" u="none" cap="none" strike="noStrike">
                <a:solidFill>
                  <a:srgbClr val="2F7D68"/>
                </a:solidFill>
                <a:latin typeface="Arial"/>
                <a:ea typeface="Arial"/>
                <a:cs typeface="Arial"/>
                <a:sym typeface="Arial"/>
              </a:rPr>
              <a:t>●</a:t>
            </a:r>
            <a:endParaRPr/>
          </a:p>
        </p:txBody>
      </p:sp>
      <p:sp>
        <p:nvSpPr>
          <p:cNvPr id="603" name="Google Shape;603;p28"/>
          <p:cNvSpPr txBox="1"/>
          <p:nvPr/>
        </p:nvSpPr>
        <p:spPr>
          <a:xfrm>
            <a:off x="5321808" y="3181380"/>
            <a:ext cx="32918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00" u="none" cap="none" strike="noStrike">
                <a:solidFill>
                  <a:srgbClr val="2F7D68"/>
                </a:solidFill>
                <a:latin typeface="Arial"/>
                <a:ea typeface="Arial"/>
                <a:cs typeface="Arial"/>
                <a:sym typeface="Arial"/>
              </a:rPr>
              <a:t>9</a:t>
            </a:r>
            <a:endParaRPr/>
          </a:p>
        </p:txBody>
      </p:sp>
      <p:sp>
        <p:nvSpPr>
          <p:cNvPr id="604" name="Google Shape;604;p28"/>
          <p:cNvSpPr txBox="1"/>
          <p:nvPr/>
        </p:nvSpPr>
        <p:spPr>
          <a:xfrm>
            <a:off x="5806440" y="2950951"/>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92" u="none" cap="none" strike="noStrike">
                <a:solidFill>
                  <a:srgbClr val="2F7D68"/>
                </a:solidFill>
                <a:latin typeface="Arial"/>
                <a:ea typeface="Arial"/>
                <a:cs typeface="Arial"/>
                <a:sym typeface="Arial"/>
              </a:rPr>
              <a:t>●</a:t>
            </a:r>
            <a:endParaRPr/>
          </a:p>
        </p:txBody>
      </p:sp>
      <p:sp>
        <p:nvSpPr>
          <p:cNvPr id="605" name="Google Shape;605;p28"/>
          <p:cNvSpPr txBox="1"/>
          <p:nvPr/>
        </p:nvSpPr>
        <p:spPr>
          <a:xfrm>
            <a:off x="5751576" y="3181380"/>
            <a:ext cx="32918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00" u="none" cap="none" strike="noStrike">
                <a:solidFill>
                  <a:srgbClr val="2F7D68"/>
                </a:solidFill>
                <a:latin typeface="Arial"/>
                <a:ea typeface="Arial"/>
                <a:cs typeface="Arial"/>
                <a:sym typeface="Arial"/>
              </a:rPr>
              <a:t>10</a:t>
            </a:r>
            <a:endParaRPr/>
          </a:p>
        </p:txBody>
      </p:sp>
      <p:sp>
        <p:nvSpPr>
          <p:cNvPr id="606" name="Google Shape;606;p28"/>
          <p:cNvSpPr txBox="1"/>
          <p:nvPr/>
        </p:nvSpPr>
        <p:spPr>
          <a:xfrm>
            <a:off x="6236208" y="2950951"/>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92" u="none" cap="none" strike="noStrike">
                <a:solidFill>
                  <a:srgbClr val="2F7D68"/>
                </a:solidFill>
                <a:latin typeface="Arial"/>
                <a:ea typeface="Arial"/>
                <a:cs typeface="Arial"/>
                <a:sym typeface="Arial"/>
              </a:rPr>
              <a:t>●</a:t>
            </a:r>
            <a:endParaRPr/>
          </a:p>
        </p:txBody>
      </p:sp>
      <p:sp>
        <p:nvSpPr>
          <p:cNvPr id="607" name="Google Shape;607;p28"/>
          <p:cNvSpPr txBox="1"/>
          <p:nvPr/>
        </p:nvSpPr>
        <p:spPr>
          <a:xfrm>
            <a:off x="6181344" y="3181380"/>
            <a:ext cx="32918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00" u="none" cap="none" strike="noStrike">
                <a:solidFill>
                  <a:srgbClr val="2F7D68"/>
                </a:solidFill>
                <a:latin typeface="Arial"/>
                <a:ea typeface="Arial"/>
                <a:cs typeface="Arial"/>
                <a:sym typeface="Arial"/>
              </a:rPr>
              <a:t>10</a:t>
            </a:r>
            <a:endParaRPr/>
          </a:p>
        </p:txBody>
      </p:sp>
      <p:sp>
        <p:nvSpPr>
          <p:cNvPr id="608" name="Google Shape;608;p28"/>
          <p:cNvSpPr txBox="1"/>
          <p:nvPr/>
        </p:nvSpPr>
        <p:spPr>
          <a:xfrm>
            <a:off x="6665976" y="2950951"/>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92" u="none" cap="none" strike="noStrike">
                <a:solidFill>
                  <a:srgbClr val="2F7D68"/>
                </a:solidFill>
                <a:latin typeface="Arial"/>
                <a:ea typeface="Arial"/>
                <a:cs typeface="Arial"/>
                <a:sym typeface="Arial"/>
              </a:rPr>
              <a:t>●</a:t>
            </a:r>
            <a:endParaRPr/>
          </a:p>
        </p:txBody>
      </p:sp>
      <p:sp>
        <p:nvSpPr>
          <p:cNvPr id="609" name="Google Shape;609;p28"/>
          <p:cNvSpPr txBox="1"/>
          <p:nvPr/>
        </p:nvSpPr>
        <p:spPr>
          <a:xfrm>
            <a:off x="6611112" y="3181380"/>
            <a:ext cx="32918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00" u="none" cap="none" strike="noStrike">
                <a:solidFill>
                  <a:srgbClr val="2F7D68"/>
                </a:solidFill>
                <a:latin typeface="Arial"/>
                <a:ea typeface="Arial"/>
                <a:cs typeface="Arial"/>
                <a:sym typeface="Arial"/>
              </a:rPr>
              <a:t>11</a:t>
            </a:r>
            <a:endParaRPr/>
          </a:p>
        </p:txBody>
      </p:sp>
      <p:sp>
        <p:nvSpPr>
          <p:cNvPr id="610" name="Google Shape;610;p28"/>
          <p:cNvSpPr txBox="1"/>
          <p:nvPr/>
        </p:nvSpPr>
        <p:spPr>
          <a:xfrm>
            <a:off x="7699248" y="2950951"/>
            <a:ext cx="219456" cy="21945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392" u="none" cap="none" strike="noStrike">
                <a:solidFill>
                  <a:srgbClr val="C94655"/>
                </a:solidFill>
                <a:latin typeface="Arial"/>
                <a:ea typeface="Arial"/>
                <a:cs typeface="Arial"/>
                <a:sym typeface="Arial"/>
              </a:rPr>
              <a:t>●</a:t>
            </a:r>
            <a:endParaRPr/>
          </a:p>
        </p:txBody>
      </p:sp>
      <p:sp>
        <p:nvSpPr>
          <p:cNvPr id="611" name="Google Shape;611;p28"/>
          <p:cNvSpPr txBox="1"/>
          <p:nvPr/>
        </p:nvSpPr>
        <p:spPr>
          <a:xfrm>
            <a:off x="7644383" y="3181380"/>
            <a:ext cx="32918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00" u="none" cap="none" strike="noStrike">
                <a:solidFill>
                  <a:srgbClr val="C94655"/>
                </a:solidFill>
                <a:latin typeface="Arial"/>
                <a:ea typeface="Arial"/>
                <a:cs typeface="Arial"/>
                <a:sym typeface="Arial"/>
              </a:rPr>
              <a:t>43</a:t>
            </a:r>
            <a:endParaRPr/>
          </a:p>
        </p:txBody>
      </p:sp>
      <p:sp>
        <p:nvSpPr>
          <p:cNvPr id="612" name="Google Shape;612;p28"/>
          <p:cNvSpPr txBox="1"/>
          <p:nvPr/>
        </p:nvSpPr>
        <p:spPr>
          <a:xfrm>
            <a:off x="5897880" y="2689799"/>
            <a:ext cx="685800"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00" u="none" cap="none" strike="noStrike">
                <a:solidFill>
                  <a:srgbClr val="2F7D68"/>
                </a:solidFill>
                <a:latin typeface="Arial"/>
                <a:ea typeface="Arial"/>
                <a:cs typeface="Arial"/>
                <a:sym typeface="Arial"/>
              </a:rPr>
              <a:t>중앙값</a:t>
            </a:r>
            <a:endParaRPr/>
          </a:p>
        </p:txBody>
      </p:sp>
      <p:sp>
        <p:nvSpPr>
          <p:cNvPr id="613" name="Google Shape;613;p28"/>
          <p:cNvSpPr/>
          <p:nvPr/>
        </p:nvSpPr>
        <p:spPr>
          <a:xfrm>
            <a:off x="6089904" y="2816534"/>
            <a:ext cx="219456" cy="138257"/>
          </a:xfrm>
          <a:prstGeom prst="downArrow">
            <a:avLst>
              <a:gd fmla="val 50000" name="adj1"/>
              <a:gd fmla="val 50000" name="adj2"/>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4" name="Google Shape;614;p28"/>
          <p:cNvSpPr/>
          <p:nvPr/>
        </p:nvSpPr>
        <p:spPr>
          <a:xfrm>
            <a:off x="7351775" y="2589946"/>
            <a:ext cx="841248" cy="230428"/>
          </a:xfrm>
          <a:prstGeom prst="rect">
            <a:avLst/>
          </a:prstGeom>
          <a:solidFill>
            <a:srgbClr val="FDECEF"/>
          </a:solidFill>
          <a:ln cap="flat" cmpd="sng" w="10150">
            <a:solidFill>
              <a:srgbClr val="C946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5" name="Google Shape;615;p28"/>
          <p:cNvSpPr txBox="1"/>
          <p:nvPr/>
        </p:nvSpPr>
        <p:spPr>
          <a:xfrm>
            <a:off x="7351775" y="2589946"/>
            <a:ext cx="841248" cy="27432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780" u="none" cap="none" strike="noStrike">
                <a:solidFill>
                  <a:srgbClr val="C94655"/>
                </a:solidFill>
                <a:latin typeface="Arial"/>
                <a:ea typeface="Arial"/>
                <a:cs typeface="Arial"/>
                <a:sym typeface="Arial"/>
              </a:rPr>
              <a:t>확인 필요</a:t>
            </a:r>
            <a:endParaRPr/>
          </a:p>
        </p:txBody>
      </p:sp>
      <p:sp>
        <p:nvSpPr>
          <p:cNvPr id="616" name="Google Shape;616;p28"/>
          <p:cNvSpPr txBox="1"/>
          <p:nvPr/>
        </p:nvSpPr>
        <p:spPr>
          <a:xfrm>
            <a:off x="4956048" y="3550066"/>
            <a:ext cx="3328416" cy="502920"/>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819" u="none" cap="none" strike="noStrike">
                <a:solidFill>
                  <a:srgbClr val="1F5A91"/>
                </a:solidFill>
                <a:latin typeface="Arial"/>
                <a:ea typeface="Arial"/>
                <a:cs typeface="Arial"/>
                <a:sym typeface="Arial"/>
              </a:rPr>
              <a:t>• </a:t>
            </a:r>
            <a:r>
              <a:rPr b="0" i="0" lang="en-US" sz="819" u="none" cap="none" strike="noStrike">
                <a:solidFill>
                  <a:srgbClr val="172331"/>
                </a:solidFill>
                <a:latin typeface="Arial"/>
                <a:ea typeface="Arial"/>
                <a:cs typeface="Arial"/>
                <a:sym typeface="Arial"/>
              </a:rPr>
              <a:t>중앙값과 MAD(중앙절대편차)로 이탈 정도 계산</a:t>
            </a:r>
            <a:endParaRPr/>
          </a:p>
          <a:p>
            <a:pPr indent="0" lvl="0" marL="0" marR="0" rtl="0" algn="l">
              <a:lnSpc>
                <a:spcPct val="108000"/>
              </a:lnSpc>
              <a:spcBef>
                <a:spcPts val="200"/>
              </a:spcBef>
              <a:spcAft>
                <a:spcPts val="0"/>
              </a:spcAft>
              <a:buNone/>
            </a:pPr>
            <a:r>
              <a:rPr b="1" i="0" lang="en-US" sz="819" u="none" cap="none" strike="noStrike">
                <a:solidFill>
                  <a:srgbClr val="1F5A91"/>
                </a:solidFill>
                <a:latin typeface="Arial"/>
                <a:ea typeface="Arial"/>
                <a:cs typeface="Arial"/>
                <a:sym typeface="Arial"/>
              </a:rPr>
              <a:t>• </a:t>
            </a:r>
            <a:r>
              <a:rPr b="0" i="0" lang="en-US" sz="819" u="none" cap="none" strike="noStrike">
                <a:solidFill>
                  <a:srgbClr val="172331"/>
                </a:solidFill>
                <a:latin typeface="Arial"/>
                <a:ea typeface="Arial"/>
                <a:cs typeface="Arial"/>
                <a:sym typeface="Arial"/>
              </a:rPr>
              <a:t>합계·소계 행은 제외하고 표당 최대 1건 제시</a:t>
            </a:r>
            <a:endParaRPr/>
          </a:p>
        </p:txBody>
      </p:sp>
      <p:sp>
        <p:nvSpPr>
          <p:cNvPr id="617" name="Google Shape;617;p28"/>
          <p:cNvSpPr/>
          <p:nvPr/>
        </p:nvSpPr>
        <p:spPr>
          <a:xfrm>
            <a:off x="4956048" y="4087733"/>
            <a:ext cx="3328416" cy="192024"/>
          </a:xfrm>
          <a:prstGeom prst="rect">
            <a:avLst/>
          </a:prstGeom>
          <a:solidFill>
            <a:srgbClr val="E8F5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8" name="Google Shape;618;p28"/>
          <p:cNvSpPr txBox="1"/>
          <p:nvPr/>
        </p:nvSpPr>
        <p:spPr>
          <a:xfrm>
            <a:off x="5157216" y="4110775"/>
            <a:ext cx="2926080"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00" u="none" cap="none" strike="noStrike">
                <a:solidFill>
                  <a:srgbClr val="2F7D68"/>
                </a:solidFill>
                <a:latin typeface="Arial"/>
                <a:ea typeface="Arial"/>
                <a:cs typeface="Arial"/>
                <a:sym typeface="Arial"/>
              </a:rPr>
              <a:t>통계적 특이값은 오류를 의미하지 않음</a:t>
            </a:r>
            <a:endParaRPr/>
          </a:p>
        </p:txBody>
      </p:sp>
      <p:sp>
        <p:nvSpPr>
          <p:cNvPr id="619" name="Google Shape;619;p28"/>
          <p:cNvSpPr txBox="1"/>
          <p:nvPr/>
        </p:nvSpPr>
        <p:spPr>
          <a:xfrm>
            <a:off x="1508760" y="4548591"/>
            <a:ext cx="6126480"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00" u="none" cap="none" strike="noStrike">
                <a:solidFill>
                  <a:srgbClr val="667085"/>
                </a:solidFill>
                <a:latin typeface="Arial"/>
                <a:ea typeface="Arial"/>
                <a:cs typeface="Arial"/>
                <a:sym typeface="Arial"/>
              </a:rPr>
              <a:t>담당자는 출처·단위·업무 맥락을 함께 확인한 뒤 최종 판단</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3" name="Shape 623"/>
        <p:cNvGrpSpPr/>
        <p:nvPr/>
      </p:nvGrpSpPr>
      <p:grpSpPr>
        <a:xfrm>
          <a:off x="0" y="0"/>
          <a:ext cx="0" cy="0"/>
          <a:chOff x="0" y="0"/>
          <a:chExt cx="0" cy="0"/>
        </a:xfrm>
      </p:grpSpPr>
      <p:sp>
        <p:nvSpPr>
          <p:cNvPr id="624" name="Google Shape;624;p29"/>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수정·재검수</a:t>
            </a:r>
            <a:endParaRPr/>
          </a:p>
        </p:txBody>
      </p:sp>
      <p:sp>
        <p:nvSpPr>
          <p:cNvPr id="625" name="Google Shape;625;p29"/>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수정·재검수</a:t>
            </a:r>
            <a:endParaRPr/>
          </a:p>
        </p:txBody>
      </p:sp>
      <p:pic>
        <p:nvPicPr>
          <p:cNvPr descr="image.png" id="626" name="Google Shape;626;p29"/>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627" name="Google Shape;627;p29"/>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8" name="Google Shape;628;p29"/>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통계별 편집 보호와 변경 범위 기반 재검수</a:t>
            </a:r>
            <a:endParaRPr/>
          </a:p>
        </p:txBody>
      </p:sp>
      <p:sp>
        <p:nvSpPr>
          <p:cNvPr id="629" name="Google Shape;629;p29"/>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630" name="Google Shape;630;p29"/>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15</a:t>
            </a:r>
            <a:endParaRPr/>
          </a:p>
        </p:txBody>
      </p:sp>
      <p:sp>
        <p:nvSpPr>
          <p:cNvPr id="631" name="Google Shape;631;p29"/>
          <p:cNvSpPr/>
          <p:nvPr/>
        </p:nvSpPr>
        <p:spPr>
          <a:xfrm>
            <a:off x="475488" y="1798807"/>
            <a:ext cx="3840480" cy="1659087"/>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2" name="Google Shape;632;p29"/>
          <p:cNvSpPr/>
          <p:nvPr/>
        </p:nvSpPr>
        <p:spPr>
          <a:xfrm>
            <a:off x="475488" y="1798807"/>
            <a:ext cx="3840480" cy="330281"/>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3" name="Google Shape;633;p29"/>
          <p:cNvSpPr txBox="1"/>
          <p:nvPr/>
        </p:nvSpPr>
        <p:spPr>
          <a:xfrm>
            <a:off x="658368" y="1883298"/>
            <a:ext cx="347472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수정 가능 요소</a:t>
            </a:r>
            <a:endParaRPr/>
          </a:p>
        </p:txBody>
      </p:sp>
      <p:sp>
        <p:nvSpPr>
          <p:cNvPr id="634" name="Google Shape;634;p29"/>
          <p:cNvSpPr/>
          <p:nvPr/>
        </p:nvSpPr>
        <p:spPr>
          <a:xfrm>
            <a:off x="694944" y="2305751"/>
            <a:ext cx="1591056" cy="430133"/>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5" name="Google Shape;635;p29"/>
          <p:cNvSpPr txBox="1"/>
          <p:nvPr/>
        </p:nvSpPr>
        <p:spPr>
          <a:xfrm>
            <a:off x="777240" y="2374879"/>
            <a:ext cx="65836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00" u="none" cap="none" strike="noStrike">
                <a:solidFill>
                  <a:srgbClr val="1F5A91"/>
                </a:solidFill>
                <a:latin typeface="Arial"/>
                <a:ea typeface="Arial"/>
                <a:cs typeface="Arial"/>
                <a:sym typeface="Arial"/>
              </a:rPr>
              <a:t>기본정보</a:t>
            </a:r>
            <a:endParaRPr/>
          </a:p>
        </p:txBody>
      </p:sp>
      <p:sp>
        <p:nvSpPr>
          <p:cNvPr id="636" name="Google Shape;636;p29"/>
          <p:cNvSpPr txBox="1"/>
          <p:nvPr/>
        </p:nvSpPr>
        <p:spPr>
          <a:xfrm>
            <a:off x="1426464" y="2344155"/>
            <a:ext cx="768096"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780" u="none" cap="none" strike="noStrike">
                <a:solidFill>
                  <a:srgbClr val="172331"/>
                </a:solidFill>
                <a:latin typeface="Arial"/>
                <a:ea typeface="Arial"/>
                <a:cs typeface="Arial"/>
                <a:sym typeface="Arial"/>
              </a:rPr>
              <a:t>통계 코드·국/영문 제목·분류</a:t>
            </a:r>
            <a:endParaRPr/>
          </a:p>
        </p:txBody>
      </p:sp>
      <p:sp>
        <p:nvSpPr>
          <p:cNvPr id="637" name="Google Shape;637;p29"/>
          <p:cNvSpPr/>
          <p:nvPr/>
        </p:nvSpPr>
        <p:spPr>
          <a:xfrm>
            <a:off x="2468880" y="2305751"/>
            <a:ext cx="1591056" cy="430133"/>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8" name="Google Shape;638;p29"/>
          <p:cNvSpPr txBox="1"/>
          <p:nvPr/>
        </p:nvSpPr>
        <p:spPr>
          <a:xfrm>
            <a:off x="2551176" y="2374879"/>
            <a:ext cx="65836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00" u="none" cap="none" strike="noStrike">
                <a:solidFill>
                  <a:srgbClr val="1F5A91"/>
                </a:solidFill>
                <a:latin typeface="Arial"/>
                <a:ea typeface="Arial"/>
                <a:cs typeface="Arial"/>
                <a:sym typeface="Arial"/>
              </a:rPr>
              <a:t>표 구조</a:t>
            </a:r>
            <a:endParaRPr/>
          </a:p>
        </p:txBody>
      </p:sp>
      <p:sp>
        <p:nvSpPr>
          <p:cNvPr id="639" name="Google Shape;639;p29"/>
          <p:cNvSpPr txBox="1"/>
          <p:nvPr/>
        </p:nvSpPr>
        <p:spPr>
          <a:xfrm>
            <a:off x="3200400" y="2344155"/>
            <a:ext cx="768096"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780" u="none" cap="none" strike="noStrike">
                <a:solidFill>
                  <a:srgbClr val="172331"/>
                </a:solidFill>
                <a:latin typeface="Arial"/>
                <a:ea typeface="Arial"/>
                <a:cs typeface="Arial"/>
                <a:sym typeface="Arial"/>
              </a:rPr>
              <a:t>헤더·행/열 추가·삭제·순서</a:t>
            </a:r>
            <a:endParaRPr/>
          </a:p>
        </p:txBody>
      </p:sp>
      <p:sp>
        <p:nvSpPr>
          <p:cNvPr id="640" name="Google Shape;640;p29"/>
          <p:cNvSpPr/>
          <p:nvPr/>
        </p:nvSpPr>
        <p:spPr>
          <a:xfrm>
            <a:off x="694944" y="2858780"/>
            <a:ext cx="1591056" cy="430133"/>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1" name="Google Shape;641;p29"/>
          <p:cNvSpPr txBox="1"/>
          <p:nvPr/>
        </p:nvSpPr>
        <p:spPr>
          <a:xfrm>
            <a:off x="777240" y="2927907"/>
            <a:ext cx="65836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00" u="none" cap="none" strike="noStrike">
                <a:solidFill>
                  <a:srgbClr val="1F5A91"/>
                </a:solidFill>
                <a:latin typeface="Arial"/>
                <a:ea typeface="Arial"/>
                <a:cs typeface="Arial"/>
                <a:sym typeface="Arial"/>
              </a:rPr>
              <a:t>내용</a:t>
            </a:r>
            <a:endParaRPr/>
          </a:p>
        </p:txBody>
      </p:sp>
      <p:sp>
        <p:nvSpPr>
          <p:cNvPr id="642" name="Google Shape;642;p29"/>
          <p:cNvSpPr txBox="1"/>
          <p:nvPr/>
        </p:nvSpPr>
        <p:spPr>
          <a:xfrm>
            <a:off x="1426464" y="2897184"/>
            <a:ext cx="768096"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780" u="none" cap="none" strike="noStrike">
                <a:solidFill>
                  <a:srgbClr val="172331"/>
                </a:solidFill>
                <a:latin typeface="Arial"/>
                <a:ea typeface="Arial"/>
                <a:cs typeface="Arial"/>
                <a:sym typeface="Arial"/>
              </a:rPr>
              <a:t>국/영문 셀 값·각주</a:t>
            </a:r>
            <a:endParaRPr/>
          </a:p>
        </p:txBody>
      </p:sp>
      <p:sp>
        <p:nvSpPr>
          <p:cNvPr id="643" name="Google Shape;643;p29"/>
          <p:cNvSpPr/>
          <p:nvPr/>
        </p:nvSpPr>
        <p:spPr>
          <a:xfrm>
            <a:off x="2468880" y="2858780"/>
            <a:ext cx="1591056" cy="430133"/>
          </a:xfrm>
          <a:prstGeom prst="rect">
            <a:avLst/>
          </a:prstGeom>
          <a:solidFill>
            <a:srgbClr val="F7F9FB"/>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4" name="Google Shape;644;p29"/>
          <p:cNvSpPr txBox="1"/>
          <p:nvPr/>
        </p:nvSpPr>
        <p:spPr>
          <a:xfrm>
            <a:off x="2551176" y="2927907"/>
            <a:ext cx="658368"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900" u="none" cap="none" strike="noStrike">
                <a:solidFill>
                  <a:srgbClr val="1F5A91"/>
                </a:solidFill>
                <a:latin typeface="Arial"/>
                <a:ea typeface="Arial"/>
                <a:cs typeface="Arial"/>
                <a:sym typeface="Arial"/>
              </a:rPr>
              <a:t>메타데이터</a:t>
            </a:r>
            <a:endParaRPr/>
          </a:p>
        </p:txBody>
      </p:sp>
      <p:sp>
        <p:nvSpPr>
          <p:cNvPr id="645" name="Google Shape;645;p29"/>
          <p:cNvSpPr txBox="1"/>
          <p:nvPr/>
        </p:nvSpPr>
        <p:spPr>
          <a:xfrm>
            <a:off x="3200400" y="2897184"/>
            <a:ext cx="768096" cy="36576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780" u="none" cap="none" strike="noStrike">
                <a:solidFill>
                  <a:srgbClr val="172331"/>
                </a:solidFill>
                <a:latin typeface="Arial"/>
                <a:ea typeface="Arial"/>
                <a:cs typeface="Arial"/>
                <a:sym typeface="Arial"/>
              </a:rPr>
              <a:t>단위·기준일·출처·담당정보</a:t>
            </a:r>
            <a:endParaRPr/>
          </a:p>
        </p:txBody>
      </p:sp>
      <p:sp>
        <p:nvSpPr>
          <p:cNvPr id="646" name="Google Shape;646;p29"/>
          <p:cNvSpPr/>
          <p:nvPr/>
        </p:nvSpPr>
        <p:spPr>
          <a:xfrm>
            <a:off x="4590288" y="1798807"/>
            <a:ext cx="4078224" cy="1659087"/>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7" name="Google Shape;647;p29"/>
          <p:cNvSpPr/>
          <p:nvPr/>
        </p:nvSpPr>
        <p:spPr>
          <a:xfrm>
            <a:off x="4590288" y="1798807"/>
            <a:ext cx="4078224" cy="330281"/>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8" name="Google Shape;648;p29"/>
          <p:cNvSpPr txBox="1"/>
          <p:nvPr/>
        </p:nvSpPr>
        <p:spPr>
          <a:xfrm>
            <a:off x="4773168" y="1883298"/>
            <a:ext cx="3712463"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통계별 편집 보호</a:t>
            </a:r>
            <a:endParaRPr/>
          </a:p>
        </p:txBody>
      </p:sp>
      <p:sp>
        <p:nvSpPr>
          <p:cNvPr id="649" name="Google Shape;649;p29"/>
          <p:cNvSpPr/>
          <p:nvPr/>
        </p:nvSpPr>
        <p:spPr>
          <a:xfrm>
            <a:off x="4846320" y="2351836"/>
            <a:ext cx="1024128" cy="430133"/>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0" name="Google Shape;650;p29"/>
          <p:cNvSpPr txBox="1"/>
          <p:nvPr/>
        </p:nvSpPr>
        <p:spPr>
          <a:xfrm>
            <a:off x="4901183" y="2474731"/>
            <a:ext cx="91440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00" u="none" cap="none" strike="noStrike">
                <a:solidFill>
                  <a:srgbClr val="1F5A91"/>
                </a:solidFill>
                <a:latin typeface="Arial"/>
                <a:ea typeface="Arial"/>
                <a:cs typeface="Arial"/>
                <a:sym typeface="Arial"/>
              </a:rPr>
              <a:t>비밀번호 인증</a:t>
            </a:r>
            <a:endParaRPr/>
          </a:p>
        </p:txBody>
      </p:sp>
      <p:sp>
        <p:nvSpPr>
          <p:cNvPr id="651" name="Google Shape;651;p29"/>
          <p:cNvSpPr/>
          <p:nvPr/>
        </p:nvSpPr>
        <p:spPr>
          <a:xfrm>
            <a:off x="5934456" y="2459370"/>
            <a:ext cx="182880" cy="199704"/>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2" name="Google Shape;652;p29"/>
          <p:cNvSpPr/>
          <p:nvPr/>
        </p:nvSpPr>
        <p:spPr>
          <a:xfrm>
            <a:off x="6199632" y="2351836"/>
            <a:ext cx="1024128" cy="430133"/>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3" name="Google Shape;653;p29"/>
          <p:cNvSpPr txBox="1"/>
          <p:nvPr/>
        </p:nvSpPr>
        <p:spPr>
          <a:xfrm>
            <a:off x="6254496" y="2474731"/>
            <a:ext cx="91440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00" u="none" cap="none" strike="noStrike">
                <a:solidFill>
                  <a:srgbClr val="1F5A91"/>
                </a:solidFill>
                <a:latin typeface="Arial"/>
                <a:ea typeface="Arial"/>
                <a:cs typeface="Arial"/>
                <a:sym typeface="Arial"/>
              </a:rPr>
              <a:t>편집 토큰</a:t>
            </a:r>
            <a:endParaRPr/>
          </a:p>
        </p:txBody>
      </p:sp>
      <p:sp>
        <p:nvSpPr>
          <p:cNvPr id="654" name="Google Shape;654;p29"/>
          <p:cNvSpPr/>
          <p:nvPr/>
        </p:nvSpPr>
        <p:spPr>
          <a:xfrm>
            <a:off x="7287768" y="2459370"/>
            <a:ext cx="182880" cy="199704"/>
          </a:xfrm>
          <a:prstGeom prst="rightArrow">
            <a:avLst>
              <a:gd fmla="val 50000" name="adj1"/>
              <a:gd fmla="val 50000" name="adj2"/>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5" name="Google Shape;655;p29"/>
          <p:cNvSpPr/>
          <p:nvPr/>
        </p:nvSpPr>
        <p:spPr>
          <a:xfrm>
            <a:off x="7552944" y="2351836"/>
            <a:ext cx="1024128" cy="430133"/>
          </a:xfrm>
          <a:prstGeom prst="rect">
            <a:avLst/>
          </a:prstGeom>
          <a:solidFill>
            <a:srgbClr val="E8F5F1"/>
          </a:solidFill>
          <a:ln cap="flat" cmpd="sng" w="10150">
            <a:solidFill>
              <a:srgbClr val="B8DED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6" name="Google Shape;656;p29"/>
          <p:cNvSpPr txBox="1"/>
          <p:nvPr/>
        </p:nvSpPr>
        <p:spPr>
          <a:xfrm>
            <a:off x="7607808" y="2474731"/>
            <a:ext cx="914400" cy="2011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00" u="none" cap="none" strike="noStrike">
                <a:solidFill>
                  <a:srgbClr val="2F7D68"/>
                </a:solidFill>
                <a:latin typeface="Arial"/>
                <a:ea typeface="Arial"/>
                <a:cs typeface="Arial"/>
                <a:sym typeface="Arial"/>
              </a:rPr>
              <a:t>수정 저장</a:t>
            </a:r>
            <a:endParaRPr/>
          </a:p>
        </p:txBody>
      </p:sp>
      <p:sp>
        <p:nvSpPr>
          <p:cNvPr id="657" name="Google Shape;657;p29"/>
          <p:cNvSpPr txBox="1"/>
          <p:nvPr/>
        </p:nvSpPr>
        <p:spPr>
          <a:xfrm>
            <a:off x="5010912" y="2997037"/>
            <a:ext cx="3236976"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19" u="none" cap="none" strike="noStrike">
                <a:solidFill>
                  <a:srgbClr val="667085"/>
                </a:solidFill>
                <a:latin typeface="Arial"/>
                <a:ea typeface="Arial"/>
                <a:cs typeface="Arial"/>
                <a:sym typeface="Arial"/>
              </a:rPr>
              <a:t>비밀번호는 salt를 적용한 PBKDF2 해시로 저장</a:t>
            </a:r>
            <a:endParaRPr/>
          </a:p>
        </p:txBody>
      </p:sp>
      <p:sp>
        <p:nvSpPr>
          <p:cNvPr id="658" name="Google Shape;658;p29"/>
          <p:cNvSpPr txBox="1"/>
          <p:nvPr/>
        </p:nvSpPr>
        <p:spPr>
          <a:xfrm>
            <a:off x="4956048" y="3204423"/>
            <a:ext cx="334670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790" u="none" cap="none" strike="noStrike">
                <a:solidFill>
                  <a:srgbClr val="B97818"/>
                </a:solidFill>
                <a:latin typeface="Arial"/>
                <a:ea typeface="Arial"/>
                <a:cs typeface="Arial"/>
                <a:sym typeface="Arial"/>
              </a:rPr>
              <a:t>※ 계정·역할 기반 권한관리와 세션 만료는 향후 개선 과제</a:t>
            </a:r>
            <a:endParaRPr/>
          </a:p>
        </p:txBody>
      </p:sp>
      <p:sp>
        <p:nvSpPr>
          <p:cNvPr id="659" name="Google Shape;659;p29"/>
          <p:cNvSpPr txBox="1"/>
          <p:nvPr/>
        </p:nvSpPr>
        <p:spPr>
          <a:xfrm>
            <a:off x="512064" y="3626876"/>
            <a:ext cx="1664208" cy="23774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80" u="none" cap="none" strike="noStrike">
                <a:solidFill>
                  <a:srgbClr val="0C2F61"/>
                </a:solidFill>
                <a:latin typeface="Arial"/>
                <a:ea typeface="Arial"/>
                <a:cs typeface="Arial"/>
                <a:sym typeface="Arial"/>
              </a:rPr>
              <a:t>수정 후 재검수 로직</a:t>
            </a:r>
            <a:endParaRPr/>
          </a:p>
        </p:txBody>
      </p:sp>
      <p:sp>
        <p:nvSpPr>
          <p:cNvPr id="660" name="Google Shape;660;p29"/>
          <p:cNvSpPr/>
          <p:nvPr/>
        </p:nvSpPr>
        <p:spPr>
          <a:xfrm>
            <a:off x="530352" y="3888027"/>
            <a:ext cx="1234440" cy="476219"/>
          </a:xfrm>
          <a:prstGeom prst="rect">
            <a:avLst/>
          </a:prstGeom>
          <a:solidFill>
            <a:srgbClr val="FFFFFF"/>
          </a:solidFill>
          <a:ln cap="flat" cmpd="sng" w="13950">
            <a:solidFill>
              <a:srgbClr val="0C2F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1" name="Google Shape;661;p29"/>
          <p:cNvSpPr txBox="1"/>
          <p:nvPr/>
        </p:nvSpPr>
        <p:spPr>
          <a:xfrm>
            <a:off x="585215" y="3964838"/>
            <a:ext cx="1124712" cy="347472"/>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80" u="none" cap="none" strike="noStrike">
                <a:solidFill>
                  <a:srgbClr val="0C2F61"/>
                </a:solidFill>
                <a:latin typeface="Arial"/>
                <a:ea typeface="Arial"/>
                <a:cs typeface="Arial"/>
                <a:sym typeface="Arial"/>
              </a:rPr>
              <a:t>수정 저장</a:t>
            </a:r>
            <a:endParaRPr/>
          </a:p>
        </p:txBody>
      </p:sp>
      <p:sp>
        <p:nvSpPr>
          <p:cNvPr id="662" name="Google Shape;662;p29"/>
          <p:cNvSpPr/>
          <p:nvPr/>
        </p:nvSpPr>
        <p:spPr>
          <a:xfrm>
            <a:off x="1856232" y="4010924"/>
            <a:ext cx="265175" cy="230428"/>
          </a:xfrm>
          <a:prstGeom prst="right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3" name="Google Shape;663;p29"/>
          <p:cNvSpPr/>
          <p:nvPr/>
        </p:nvSpPr>
        <p:spPr>
          <a:xfrm>
            <a:off x="2212848" y="3888027"/>
            <a:ext cx="1417320" cy="476219"/>
          </a:xfrm>
          <a:prstGeom prst="rect">
            <a:avLst/>
          </a:prstGeom>
          <a:solidFill>
            <a:srgbClr val="FFFFFF"/>
          </a:solidFill>
          <a:ln cap="flat" cmpd="sng" w="13950">
            <a:solidFill>
              <a:srgbClr val="B9781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4" name="Google Shape;664;p29"/>
          <p:cNvSpPr txBox="1"/>
          <p:nvPr/>
        </p:nvSpPr>
        <p:spPr>
          <a:xfrm>
            <a:off x="2267712" y="3964838"/>
            <a:ext cx="1307592" cy="347472"/>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80" u="none" cap="none" strike="noStrike">
                <a:solidFill>
                  <a:srgbClr val="B97818"/>
                </a:solidFill>
                <a:latin typeface="Arial"/>
                <a:ea typeface="Arial"/>
                <a:cs typeface="Arial"/>
                <a:sym typeface="Arial"/>
              </a:rPr>
              <a:t>기존 결과</a:t>
            </a:r>
            <a:br>
              <a:rPr b="1" i="0" lang="en-US" sz="880" u="none" cap="none" strike="noStrike">
                <a:solidFill>
                  <a:srgbClr val="B97818"/>
                </a:solidFill>
                <a:latin typeface="Arial"/>
                <a:ea typeface="Arial"/>
                <a:cs typeface="Arial"/>
                <a:sym typeface="Arial"/>
              </a:rPr>
            </a:br>
            <a:r>
              <a:rPr b="1" i="0" lang="en-US" sz="880" u="none" cap="none" strike="noStrike">
                <a:solidFill>
                  <a:srgbClr val="B97818"/>
                </a:solidFill>
                <a:latin typeface="Arial"/>
                <a:ea typeface="Arial"/>
                <a:cs typeface="Arial"/>
                <a:sym typeface="Arial"/>
              </a:rPr>
              <a:t>‘재검수 필요’</a:t>
            </a:r>
            <a:endParaRPr/>
          </a:p>
        </p:txBody>
      </p:sp>
      <p:sp>
        <p:nvSpPr>
          <p:cNvPr id="665" name="Google Shape;665;p29"/>
          <p:cNvSpPr/>
          <p:nvPr/>
        </p:nvSpPr>
        <p:spPr>
          <a:xfrm>
            <a:off x="3721607" y="4010924"/>
            <a:ext cx="283464" cy="230428"/>
          </a:xfrm>
          <a:prstGeom prst="right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6" name="Google Shape;666;p29"/>
          <p:cNvSpPr/>
          <p:nvPr/>
        </p:nvSpPr>
        <p:spPr>
          <a:xfrm>
            <a:off x="4096512" y="3888027"/>
            <a:ext cx="1417320" cy="476219"/>
          </a:xfrm>
          <a:prstGeom prst="rect">
            <a:avLst/>
          </a:prstGeom>
          <a:solidFill>
            <a:srgbClr val="FFFFFF"/>
          </a:solidFill>
          <a:ln cap="flat" cmpd="sng" w="13950">
            <a:solidFill>
              <a:srgbClr val="1F5A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7" name="Google Shape;667;p29"/>
          <p:cNvSpPr txBox="1"/>
          <p:nvPr/>
        </p:nvSpPr>
        <p:spPr>
          <a:xfrm>
            <a:off x="4151376" y="3964838"/>
            <a:ext cx="1307592" cy="347472"/>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80" u="none" cap="none" strike="noStrike">
                <a:solidFill>
                  <a:srgbClr val="1F5A91"/>
                </a:solidFill>
                <a:latin typeface="Arial"/>
                <a:ea typeface="Arial"/>
                <a:cs typeface="Arial"/>
                <a:sym typeface="Arial"/>
              </a:rPr>
              <a:t>담당자</a:t>
            </a:r>
            <a:br>
              <a:rPr b="1" i="0" lang="en-US" sz="880" u="none" cap="none" strike="noStrike">
                <a:solidFill>
                  <a:srgbClr val="1F5A91"/>
                </a:solidFill>
                <a:latin typeface="Arial"/>
                <a:ea typeface="Arial"/>
                <a:cs typeface="Arial"/>
                <a:sym typeface="Arial"/>
              </a:rPr>
            </a:br>
            <a:r>
              <a:rPr b="1" i="0" lang="en-US" sz="880" u="none" cap="none" strike="noStrike">
                <a:solidFill>
                  <a:srgbClr val="1F5A91"/>
                </a:solidFill>
                <a:latin typeface="Arial"/>
                <a:ea typeface="Arial"/>
                <a:cs typeface="Arial"/>
                <a:sym typeface="Arial"/>
              </a:rPr>
              <a:t>검수 실행</a:t>
            </a:r>
            <a:endParaRPr/>
          </a:p>
        </p:txBody>
      </p:sp>
      <p:sp>
        <p:nvSpPr>
          <p:cNvPr id="668" name="Google Shape;668;p29"/>
          <p:cNvSpPr/>
          <p:nvPr/>
        </p:nvSpPr>
        <p:spPr>
          <a:xfrm>
            <a:off x="5605272" y="4010924"/>
            <a:ext cx="301751" cy="230428"/>
          </a:xfrm>
          <a:prstGeom prst="right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9" name="Google Shape;669;p29"/>
          <p:cNvSpPr/>
          <p:nvPr/>
        </p:nvSpPr>
        <p:spPr>
          <a:xfrm>
            <a:off x="5998464" y="3888027"/>
            <a:ext cx="1261872" cy="476219"/>
          </a:xfrm>
          <a:prstGeom prst="rect">
            <a:avLst/>
          </a:prstGeom>
          <a:solidFill>
            <a:srgbClr val="FFFFFF"/>
          </a:solidFill>
          <a:ln cap="flat" cmpd="sng" w="13950">
            <a:solidFill>
              <a:srgbClr val="1F5A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0" name="Google Shape;670;p29"/>
          <p:cNvSpPr txBox="1"/>
          <p:nvPr/>
        </p:nvSpPr>
        <p:spPr>
          <a:xfrm>
            <a:off x="6053327" y="3964838"/>
            <a:ext cx="1152143" cy="347472"/>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80" u="none" cap="none" strike="noStrike">
                <a:solidFill>
                  <a:srgbClr val="1F5A91"/>
                </a:solidFill>
                <a:latin typeface="Arial"/>
                <a:ea typeface="Arial"/>
                <a:cs typeface="Arial"/>
                <a:sym typeface="Arial"/>
              </a:rPr>
              <a:t>변경 표</a:t>
            </a:r>
            <a:br>
              <a:rPr b="1" i="0" lang="en-US" sz="880" u="none" cap="none" strike="noStrike">
                <a:solidFill>
                  <a:srgbClr val="1F5A91"/>
                </a:solidFill>
                <a:latin typeface="Arial"/>
                <a:ea typeface="Arial"/>
                <a:cs typeface="Arial"/>
                <a:sym typeface="Arial"/>
              </a:rPr>
            </a:br>
            <a:r>
              <a:rPr b="1" i="0" lang="en-US" sz="880" u="none" cap="none" strike="noStrike">
                <a:solidFill>
                  <a:srgbClr val="1F5A91"/>
                </a:solidFill>
                <a:latin typeface="Arial"/>
                <a:ea typeface="Arial"/>
                <a:cs typeface="Arial"/>
                <a:sym typeface="Arial"/>
              </a:rPr>
              <a:t>현재 값 검수</a:t>
            </a:r>
            <a:endParaRPr/>
          </a:p>
        </p:txBody>
      </p:sp>
      <p:sp>
        <p:nvSpPr>
          <p:cNvPr id="671" name="Google Shape;671;p29"/>
          <p:cNvSpPr/>
          <p:nvPr/>
        </p:nvSpPr>
        <p:spPr>
          <a:xfrm>
            <a:off x="7351775" y="4010924"/>
            <a:ext cx="146304" cy="230428"/>
          </a:xfrm>
          <a:prstGeom prst="rightArrow">
            <a:avLst>
              <a:gd fmla="val 50000" name="adj1"/>
              <a:gd fmla="val 50000" name="adj2"/>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2" name="Google Shape;672;p29"/>
          <p:cNvSpPr/>
          <p:nvPr/>
        </p:nvSpPr>
        <p:spPr>
          <a:xfrm>
            <a:off x="7498079" y="3888027"/>
            <a:ext cx="1097280" cy="476219"/>
          </a:xfrm>
          <a:prstGeom prst="rect">
            <a:avLst/>
          </a:prstGeom>
          <a:solidFill>
            <a:srgbClr val="FFFFFF"/>
          </a:solidFill>
          <a:ln cap="flat" cmpd="sng" w="13950">
            <a:solidFill>
              <a:srgbClr val="2F7D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3" name="Google Shape;673;p29"/>
          <p:cNvSpPr txBox="1"/>
          <p:nvPr/>
        </p:nvSpPr>
        <p:spPr>
          <a:xfrm>
            <a:off x="7552944" y="3964838"/>
            <a:ext cx="987552" cy="347472"/>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880" u="none" cap="none" strike="noStrike">
                <a:solidFill>
                  <a:srgbClr val="2F7D68"/>
                </a:solidFill>
                <a:latin typeface="Arial"/>
                <a:ea typeface="Arial"/>
                <a:cs typeface="Arial"/>
                <a:sym typeface="Arial"/>
              </a:rPr>
              <a:t>새 실행 결과</a:t>
            </a:r>
            <a:br>
              <a:rPr b="1" i="0" lang="en-US" sz="880" u="none" cap="none" strike="noStrike">
                <a:solidFill>
                  <a:srgbClr val="2F7D68"/>
                </a:solidFill>
                <a:latin typeface="Arial"/>
                <a:ea typeface="Arial"/>
                <a:cs typeface="Arial"/>
                <a:sym typeface="Arial"/>
              </a:rPr>
            </a:br>
            <a:r>
              <a:rPr b="1" i="0" lang="en-US" sz="880" u="none" cap="none" strike="noStrike">
                <a:solidFill>
                  <a:srgbClr val="2F7D68"/>
                </a:solidFill>
                <a:latin typeface="Arial"/>
                <a:ea typeface="Arial"/>
                <a:cs typeface="Arial"/>
                <a:sym typeface="Arial"/>
              </a:rPr>
              <a:t>갱신</a:t>
            </a:r>
            <a:endParaRPr/>
          </a:p>
        </p:txBody>
      </p:sp>
      <p:sp>
        <p:nvSpPr>
          <p:cNvPr id="674" name="Google Shape;674;p29"/>
          <p:cNvSpPr/>
          <p:nvPr/>
        </p:nvSpPr>
        <p:spPr>
          <a:xfrm>
            <a:off x="1005840" y="4479462"/>
            <a:ext cx="7132320" cy="199704"/>
          </a:xfrm>
          <a:prstGeom prst="rect">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5" name="Google Shape;675;p29"/>
          <p:cNvSpPr txBox="1"/>
          <p:nvPr/>
        </p:nvSpPr>
        <p:spPr>
          <a:xfrm>
            <a:off x="1170432" y="4502505"/>
            <a:ext cx="6803136" cy="16459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10" u="none" cap="none" strike="noStrike">
                <a:solidFill>
                  <a:srgbClr val="1F5A91"/>
                </a:solidFill>
                <a:latin typeface="Arial"/>
                <a:ea typeface="Arial"/>
                <a:cs typeface="Arial"/>
                <a:sym typeface="Arial"/>
              </a:rPr>
              <a:t>값 변경</a:t>
            </a:r>
            <a:r>
              <a:rPr b="0" i="0" lang="en-US" sz="810" u="none" cap="none" strike="noStrike">
                <a:solidFill>
                  <a:srgbClr val="172331"/>
                </a:solidFill>
                <a:latin typeface="Arial"/>
                <a:ea typeface="Arial"/>
                <a:cs typeface="Arial"/>
                <a:sym typeface="Arial"/>
              </a:rPr>
              <a:t> 기존 프로파일로 재계산   |   </a:t>
            </a:r>
            <a:r>
              <a:rPr b="1" i="0" lang="en-US" sz="810" u="none" cap="none" strike="noStrike">
                <a:solidFill>
                  <a:srgbClr val="1F5A91"/>
                </a:solidFill>
                <a:latin typeface="Arial"/>
                <a:ea typeface="Arial"/>
                <a:cs typeface="Arial"/>
                <a:sym typeface="Arial"/>
              </a:rPr>
              <a:t>구조 변경</a:t>
            </a:r>
            <a:r>
              <a:rPr b="0" i="0" lang="en-US" sz="810" u="none" cap="none" strike="noStrike">
                <a:solidFill>
                  <a:srgbClr val="172331"/>
                </a:solidFill>
                <a:latin typeface="Arial"/>
                <a:ea typeface="Arial"/>
                <a:cs typeface="Arial"/>
                <a:sym typeface="Arial"/>
              </a:rPr>
              <a:t> 새 프로파일 생성   |   </a:t>
            </a:r>
            <a:r>
              <a:rPr b="1" i="0" lang="en-US" sz="810" u="none" cap="none" strike="noStrike">
                <a:solidFill>
                  <a:srgbClr val="2F7D68"/>
                </a:solidFill>
                <a:latin typeface="Arial"/>
                <a:ea typeface="Arial"/>
                <a:cs typeface="Arial"/>
                <a:sym typeface="Arial"/>
              </a:rPr>
              <a:t>동일 표</a:t>
            </a:r>
            <a:r>
              <a:rPr b="0" i="0" lang="en-US" sz="810" u="none" cap="none" strike="noStrike">
                <a:solidFill>
                  <a:srgbClr val="172331"/>
                </a:solidFill>
                <a:latin typeface="Arial"/>
                <a:ea typeface="Arial"/>
                <a:cs typeface="Arial"/>
                <a:sym typeface="Arial"/>
              </a:rPr>
              <a:t> 이전 결과 재사용</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9" name="Shape 679"/>
        <p:cNvGrpSpPr/>
        <p:nvPr/>
      </p:nvGrpSpPr>
      <p:grpSpPr>
        <a:xfrm>
          <a:off x="0" y="0"/>
          <a:ext cx="0" cy="0"/>
          <a:chOff x="0" y="0"/>
          <a:chExt cx="0" cy="0"/>
        </a:xfrm>
      </p:grpSpPr>
      <p:sp>
        <p:nvSpPr>
          <p:cNvPr id="680" name="Google Shape;680;p30"/>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다운로드</a:t>
            </a:r>
            <a:endParaRPr/>
          </a:p>
        </p:txBody>
      </p:sp>
      <p:sp>
        <p:nvSpPr>
          <p:cNvPr id="681" name="Google Shape;681;p30"/>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산출물 다운로드</a:t>
            </a:r>
            <a:endParaRPr/>
          </a:p>
        </p:txBody>
      </p:sp>
      <p:pic>
        <p:nvPicPr>
          <p:cNvPr descr="image.png" id="682" name="Google Shape;682;p30"/>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683" name="Google Shape;683;p30"/>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4" name="Google Shape;684;p30"/>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업무 목적에 맞춘 3가지 산출물</a:t>
            </a:r>
            <a:endParaRPr/>
          </a:p>
        </p:txBody>
      </p:sp>
      <p:sp>
        <p:nvSpPr>
          <p:cNvPr id="685" name="Google Shape;685;p30"/>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686" name="Google Shape;686;p30"/>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16</a:t>
            </a:r>
            <a:endParaRPr/>
          </a:p>
        </p:txBody>
      </p:sp>
      <p:sp>
        <p:nvSpPr>
          <p:cNvPr id="687" name="Google Shape;687;p30"/>
          <p:cNvSpPr/>
          <p:nvPr/>
        </p:nvSpPr>
        <p:spPr>
          <a:xfrm>
            <a:off x="502920" y="1875617"/>
            <a:ext cx="2450592" cy="2304288"/>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8" name="Google Shape;688;p30"/>
          <p:cNvSpPr/>
          <p:nvPr/>
        </p:nvSpPr>
        <p:spPr>
          <a:xfrm>
            <a:off x="502920" y="1875617"/>
            <a:ext cx="2450592" cy="399409"/>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89" name="Google Shape;689;p30"/>
          <p:cNvSpPr txBox="1"/>
          <p:nvPr/>
        </p:nvSpPr>
        <p:spPr>
          <a:xfrm>
            <a:off x="667512" y="1975469"/>
            <a:ext cx="365760"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80" u="none" cap="none" strike="noStrike">
                <a:solidFill>
                  <a:srgbClr val="48A9C7"/>
                </a:solidFill>
                <a:latin typeface="Arial"/>
                <a:ea typeface="Arial"/>
                <a:cs typeface="Arial"/>
                <a:sym typeface="Arial"/>
              </a:rPr>
              <a:t>01</a:t>
            </a:r>
            <a:endParaRPr/>
          </a:p>
        </p:txBody>
      </p:sp>
      <p:sp>
        <p:nvSpPr>
          <p:cNvPr id="690" name="Google Shape;690;p30"/>
          <p:cNvSpPr txBox="1"/>
          <p:nvPr/>
        </p:nvSpPr>
        <p:spPr>
          <a:xfrm>
            <a:off x="1051560" y="1967788"/>
            <a:ext cx="1719072" cy="2103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150" u="none" cap="none" strike="noStrike">
                <a:solidFill>
                  <a:srgbClr val="FFFFFF"/>
                </a:solidFill>
                <a:latin typeface="Arial"/>
                <a:ea typeface="Arial"/>
                <a:cs typeface="Arial"/>
                <a:sym typeface="Arial"/>
              </a:rPr>
              <a:t>표 단위</a:t>
            </a:r>
            <a:endParaRPr/>
          </a:p>
        </p:txBody>
      </p:sp>
      <p:sp>
        <p:nvSpPr>
          <p:cNvPr id="691" name="Google Shape;691;p30"/>
          <p:cNvSpPr txBox="1"/>
          <p:nvPr/>
        </p:nvSpPr>
        <p:spPr>
          <a:xfrm>
            <a:off x="740664" y="2459370"/>
            <a:ext cx="1975104"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1F5A91"/>
                </a:solidFill>
                <a:latin typeface="Arial"/>
                <a:ea typeface="Arial"/>
                <a:cs typeface="Arial"/>
                <a:sym typeface="Arial"/>
              </a:rPr>
              <a:t>개별 표 검토·자료 공유</a:t>
            </a:r>
            <a:endParaRPr/>
          </a:p>
        </p:txBody>
      </p:sp>
      <p:sp>
        <p:nvSpPr>
          <p:cNvPr id="692" name="Google Shape;692;p30"/>
          <p:cNvSpPr/>
          <p:nvPr/>
        </p:nvSpPr>
        <p:spPr>
          <a:xfrm>
            <a:off x="758952" y="2835737"/>
            <a:ext cx="1938528"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3" name="Google Shape;693;p30"/>
          <p:cNvSpPr txBox="1"/>
          <p:nvPr/>
        </p:nvSpPr>
        <p:spPr>
          <a:xfrm>
            <a:off x="758952" y="3027761"/>
            <a:ext cx="1938528" cy="1024128"/>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선택한 통계표와 하위 표</a:t>
            </a:r>
            <a:endParaRPr/>
          </a:p>
          <a:p>
            <a:pPr indent="0" lvl="0" marL="0" marR="0" rtl="0" algn="l">
              <a:lnSpc>
                <a:spcPct val="108000"/>
              </a:lnSpc>
              <a:spcBef>
                <a:spcPts val="70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국·영문 헤더 및 셀 내용</a:t>
            </a:r>
            <a:endParaRPr/>
          </a:p>
          <a:p>
            <a:pPr indent="0" lvl="0" marL="0" marR="0" rtl="0" algn="l">
              <a:lnSpc>
                <a:spcPct val="108000"/>
              </a:lnSpc>
              <a:spcBef>
                <a:spcPts val="70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단위·기준일·출처 등 메타정보</a:t>
            </a:r>
            <a:endParaRPr/>
          </a:p>
        </p:txBody>
      </p:sp>
      <p:sp>
        <p:nvSpPr>
          <p:cNvPr id="694" name="Google Shape;694;p30"/>
          <p:cNvSpPr/>
          <p:nvPr/>
        </p:nvSpPr>
        <p:spPr>
          <a:xfrm>
            <a:off x="3346704" y="1875617"/>
            <a:ext cx="2450592" cy="2304288"/>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5" name="Google Shape;695;p30"/>
          <p:cNvSpPr/>
          <p:nvPr/>
        </p:nvSpPr>
        <p:spPr>
          <a:xfrm>
            <a:off x="3346704" y="1875617"/>
            <a:ext cx="2450592" cy="399409"/>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6" name="Google Shape;696;p30"/>
          <p:cNvSpPr txBox="1"/>
          <p:nvPr/>
        </p:nvSpPr>
        <p:spPr>
          <a:xfrm>
            <a:off x="3511296" y="1975469"/>
            <a:ext cx="365760"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80" u="none" cap="none" strike="noStrike">
                <a:solidFill>
                  <a:srgbClr val="48A9C7"/>
                </a:solidFill>
                <a:latin typeface="Arial"/>
                <a:ea typeface="Arial"/>
                <a:cs typeface="Arial"/>
                <a:sym typeface="Arial"/>
              </a:rPr>
              <a:t>02</a:t>
            </a:r>
            <a:endParaRPr/>
          </a:p>
        </p:txBody>
      </p:sp>
      <p:sp>
        <p:nvSpPr>
          <p:cNvPr id="697" name="Google Shape;697;p30"/>
          <p:cNvSpPr txBox="1"/>
          <p:nvPr/>
        </p:nvSpPr>
        <p:spPr>
          <a:xfrm>
            <a:off x="3895344" y="1967788"/>
            <a:ext cx="1719072" cy="2103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150" u="none" cap="none" strike="noStrike">
                <a:solidFill>
                  <a:srgbClr val="FFFFFF"/>
                </a:solidFill>
                <a:latin typeface="Arial"/>
                <a:ea typeface="Arial"/>
                <a:cs typeface="Arial"/>
                <a:sym typeface="Arial"/>
              </a:rPr>
              <a:t>연보 단위</a:t>
            </a:r>
            <a:endParaRPr/>
          </a:p>
        </p:txBody>
      </p:sp>
      <p:sp>
        <p:nvSpPr>
          <p:cNvPr id="698" name="Google Shape;698;p30"/>
          <p:cNvSpPr txBox="1"/>
          <p:nvPr/>
        </p:nvSpPr>
        <p:spPr>
          <a:xfrm>
            <a:off x="3584448" y="2459370"/>
            <a:ext cx="1975104"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1F5A91"/>
                </a:solidFill>
                <a:latin typeface="Arial"/>
                <a:ea typeface="Arial"/>
                <a:cs typeface="Arial"/>
                <a:sym typeface="Arial"/>
              </a:rPr>
              <a:t>연보 취합·후속 분석</a:t>
            </a:r>
            <a:endParaRPr/>
          </a:p>
        </p:txBody>
      </p:sp>
      <p:sp>
        <p:nvSpPr>
          <p:cNvPr id="699" name="Google Shape;699;p30"/>
          <p:cNvSpPr/>
          <p:nvPr/>
        </p:nvSpPr>
        <p:spPr>
          <a:xfrm>
            <a:off x="3602736" y="2835737"/>
            <a:ext cx="1938528"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0" name="Google Shape;700;p30"/>
          <p:cNvSpPr txBox="1"/>
          <p:nvPr/>
        </p:nvSpPr>
        <p:spPr>
          <a:xfrm>
            <a:off x="3602736" y="3027761"/>
            <a:ext cx="1938528" cy="1024128"/>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전체 또는 선택 통계표</a:t>
            </a:r>
            <a:endParaRPr/>
          </a:p>
          <a:p>
            <a:pPr indent="0" lvl="0" marL="0" marR="0" rtl="0" algn="l">
              <a:lnSpc>
                <a:spcPct val="108000"/>
              </a:lnSpc>
              <a:spcBef>
                <a:spcPts val="70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통계표를 찾기 위한 목차</a:t>
            </a:r>
            <a:endParaRPr/>
          </a:p>
          <a:p>
            <a:pPr indent="0" lvl="0" marL="0" marR="0" rtl="0" algn="l">
              <a:lnSpc>
                <a:spcPct val="108000"/>
              </a:lnSpc>
              <a:spcBef>
                <a:spcPts val="70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통계표·하위 표별 개별 시트</a:t>
            </a:r>
            <a:endParaRPr/>
          </a:p>
        </p:txBody>
      </p:sp>
      <p:sp>
        <p:nvSpPr>
          <p:cNvPr id="701" name="Google Shape;701;p30"/>
          <p:cNvSpPr/>
          <p:nvPr/>
        </p:nvSpPr>
        <p:spPr>
          <a:xfrm>
            <a:off x="6190488" y="1875617"/>
            <a:ext cx="2450592" cy="2304288"/>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2" name="Google Shape;702;p30"/>
          <p:cNvSpPr/>
          <p:nvPr/>
        </p:nvSpPr>
        <p:spPr>
          <a:xfrm>
            <a:off x="6190488" y="1875617"/>
            <a:ext cx="2450592" cy="399409"/>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3" name="Google Shape;703;p30"/>
          <p:cNvSpPr txBox="1"/>
          <p:nvPr/>
        </p:nvSpPr>
        <p:spPr>
          <a:xfrm>
            <a:off x="6355079" y="1975469"/>
            <a:ext cx="365760" cy="192024"/>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80" u="none" cap="none" strike="noStrike">
                <a:solidFill>
                  <a:srgbClr val="48A9C7"/>
                </a:solidFill>
                <a:latin typeface="Arial"/>
                <a:ea typeface="Arial"/>
                <a:cs typeface="Arial"/>
                <a:sym typeface="Arial"/>
              </a:rPr>
              <a:t>03</a:t>
            </a:r>
            <a:endParaRPr/>
          </a:p>
        </p:txBody>
      </p:sp>
      <p:sp>
        <p:nvSpPr>
          <p:cNvPr id="704" name="Google Shape;704;p30"/>
          <p:cNvSpPr txBox="1"/>
          <p:nvPr/>
        </p:nvSpPr>
        <p:spPr>
          <a:xfrm>
            <a:off x="6739127" y="1967788"/>
            <a:ext cx="1719072" cy="21031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150" u="none" cap="none" strike="noStrike">
                <a:solidFill>
                  <a:srgbClr val="FFFFFF"/>
                </a:solidFill>
                <a:latin typeface="Arial"/>
                <a:ea typeface="Arial"/>
                <a:cs typeface="Arial"/>
                <a:sym typeface="Arial"/>
              </a:rPr>
              <a:t>검수 리포트</a:t>
            </a:r>
            <a:endParaRPr/>
          </a:p>
        </p:txBody>
      </p:sp>
      <p:sp>
        <p:nvSpPr>
          <p:cNvPr id="705" name="Google Shape;705;p30"/>
          <p:cNvSpPr txBox="1"/>
          <p:nvPr/>
        </p:nvSpPr>
        <p:spPr>
          <a:xfrm>
            <a:off x="6428231" y="2459370"/>
            <a:ext cx="1975104" cy="256032"/>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100" u="none" cap="none" strike="noStrike">
                <a:solidFill>
                  <a:srgbClr val="1F5A91"/>
                </a:solidFill>
                <a:latin typeface="Arial"/>
                <a:ea typeface="Arial"/>
                <a:cs typeface="Arial"/>
                <a:sym typeface="Arial"/>
              </a:rPr>
              <a:t>오류 확인·결과 보고</a:t>
            </a:r>
            <a:endParaRPr/>
          </a:p>
        </p:txBody>
      </p:sp>
      <p:sp>
        <p:nvSpPr>
          <p:cNvPr id="706" name="Google Shape;706;p30"/>
          <p:cNvSpPr/>
          <p:nvPr/>
        </p:nvSpPr>
        <p:spPr>
          <a:xfrm>
            <a:off x="6446520" y="2835737"/>
            <a:ext cx="1938528"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7" name="Google Shape;707;p30"/>
          <p:cNvSpPr txBox="1"/>
          <p:nvPr/>
        </p:nvSpPr>
        <p:spPr>
          <a:xfrm>
            <a:off x="6446520" y="3027761"/>
            <a:ext cx="1938528" cy="1024128"/>
          </a:xfrm>
          <a:prstGeom prst="rect">
            <a:avLst/>
          </a:prstGeom>
          <a:noFill/>
          <a:ln>
            <a:noFill/>
          </a:ln>
        </p:spPr>
        <p:txBody>
          <a:bodyPr anchorCtr="0" anchor="t" bIns="18275" lIns="18275" spcFirstLastPara="1" rIns="18275" wrap="square" tIns="18275">
            <a:spAutoFit/>
          </a:bodyPr>
          <a:lstStyle/>
          <a:p>
            <a:pPr indent="0" lvl="0" marL="0" marR="0" rtl="0" algn="l">
              <a:lnSpc>
                <a:spcPct val="108000"/>
              </a:lnSpc>
              <a:spcBef>
                <a:spcPts val="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검수 내역과 판정 근거</a:t>
            </a:r>
            <a:endParaRPr/>
          </a:p>
          <a:p>
            <a:pPr indent="0" lvl="0" marL="0" marR="0" rtl="0" algn="l">
              <a:lnSpc>
                <a:spcPct val="108000"/>
              </a:lnSpc>
              <a:spcBef>
                <a:spcPts val="70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문제·근거 셀이 강조된 표</a:t>
            </a:r>
            <a:endParaRPr/>
          </a:p>
          <a:p>
            <a:pPr indent="0" lvl="0" marL="0" marR="0" rtl="0" algn="l">
              <a:lnSpc>
                <a:spcPct val="108000"/>
              </a:lnSpc>
              <a:spcBef>
                <a:spcPts val="700"/>
              </a:spcBef>
              <a:spcAft>
                <a:spcPts val="0"/>
              </a:spcAft>
              <a:buNone/>
            </a:pPr>
            <a:r>
              <a:rPr b="1" i="0" lang="en-US" sz="900" u="none" cap="none" strike="noStrike">
                <a:solidFill>
                  <a:srgbClr val="1F5A91"/>
                </a:solidFill>
                <a:latin typeface="Arial"/>
                <a:ea typeface="Arial"/>
                <a:cs typeface="Arial"/>
                <a:sym typeface="Arial"/>
              </a:rPr>
              <a:t>• </a:t>
            </a:r>
            <a:r>
              <a:rPr b="0" i="0" lang="en-US" sz="900" u="none" cap="none" strike="noStrike">
                <a:solidFill>
                  <a:srgbClr val="172331"/>
                </a:solidFill>
                <a:latin typeface="Arial"/>
                <a:ea typeface="Arial"/>
                <a:cs typeface="Arial"/>
                <a:sym typeface="Arial"/>
              </a:rPr>
              <a:t>메타데이터 감사 자료</a:t>
            </a:r>
            <a:endParaRPr/>
          </a:p>
        </p:txBody>
      </p:sp>
      <p:sp>
        <p:nvSpPr>
          <p:cNvPr id="708" name="Google Shape;708;p30"/>
          <p:cNvSpPr/>
          <p:nvPr/>
        </p:nvSpPr>
        <p:spPr>
          <a:xfrm>
            <a:off x="877824" y="4348886"/>
            <a:ext cx="7388352" cy="261152"/>
          </a:xfrm>
          <a:prstGeom prst="rect">
            <a:avLst/>
          </a:prstGeom>
          <a:solidFill>
            <a:srgbClr val="EEF6FB"/>
          </a:solidFill>
          <a:ln cap="flat" cmpd="sng" w="10150">
            <a:solidFill>
              <a:srgbClr val="C5DD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9" name="Google Shape;709;p30"/>
          <p:cNvSpPr txBox="1"/>
          <p:nvPr/>
        </p:nvSpPr>
        <p:spPr>
          <a:xfrm>
            <a:off x="1115568" y="4394972"/>
            <a:ext cx="6912864"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900" u="none" cap="none" strike="noStrike">
                <a:solidFill>
                  <a:srgbClr val="0C2F61"/>
                </a:solidFill>
                <a:latin typeface="Arial"/>
                <a:ea typeface="Arial"/>
                <a:cs typeface="Arial"/>
                <a:sym typeface="Arial"/>
              </a:rPr>
              <a:t>필요한 범위와 검수 상태를 선택하여 업무 목적에 맞는 산출물을 생성</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3" name="Shape 713"/>
        <p:cNvGrpSpPr/>
        <p:nvPr/>
      </p:nvGrpSpPr>
      <p:grpSpPr>
        <a:xfrm>
          <a:off x="0" y="0"/>
          <a:ext cx="0" cy="0"/>
          <a:chOff x="0" y="0"/>
          <a:chExt cx="0" cy="0"/>
        </a:xfrm>
      </p:grpSpPr>
      <p:sp>
        <p:nvSpPr>
          <p:cNvPr id="714" name="Google Shape;714;p31"/>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기대효과</a:t>
            </a:r>
            <a:endParaRPr/>
          </a:p>
        </p:txBody>
      </p:sp>
      <p:sp>
        <p:nvSpPr>
          <p:cNvPr id="715" name="Google Shape;715;p31"/>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기대효과</a:t>
            </a:r>
            <a:endParaRPr/>
          </a:p>
        </p:txBody>
      </p:sp>
      <p:pic>
        <p:nvPicPr>
          <p:cNvPr descr="image.png" id="716" name="Google Shape;716;p31"/>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717" name="Google Shape;717;p31"/>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8" name="Google Shape;718;p31"/>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반복 검수는 시스템이 지원하고, 최종 판단은 담당자가 수행</a:t>
            </a:r>
            <a:endParaRPr/>
          </a:p>
        </p:txBody>
      </p:sp>
      <p:sp>
        <p:nvSpPr>
          <p:cNvPr id="719" name="Google Shape;719;p31"/>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720" name="Google Shape;720;p31"/>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17</a:t>
            </a:r>
            <a:endParaRPr/>
          </a:p>
        </p:txBody>
      </p:sp>
      <p:sp>
        <p:nvSpPr>
          <p:cNvPr id="721" name="Google Shape;721;p31"/>
          <p:cNvSpPr/>
          <p:nvPr/>
        </p:nvSpPr>
        <p:spPr>
          <a:xfrm>
            <a:off x="493776" y="1837212"/>
            <a:ext cx="5084064" cy="52230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2" name="Google Shape;722;p31"/>
          <p:cNvSpPr/>
          <p:nvPr/>
        </p:nvSpPr>
        <p:spPr>
          <a:xfrm>
            <a:off x="493776" y="1837212"/>
            <a:ext cx="50292" cy="522305"/>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3" name="Google Shape;723;p31"/>
          <p:cNvSpPr txBox="1"/>
          <p:nvPr/>
        </p:nvSpPr>
        <p:spPr>
          <a:xfrm>
            <a:off x="694944" y="1967787"/>
            <a:ext cx="347472"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1F5A91"/>
                </a:solidFill>
                <a:latin typeface="Arial"/>
                <a:ea typeface="Arial"/>
                <a:cs typeface="Arial"/>
                <a:sym typeface="Arial"/>
              </a:rPr>
              <a:t>01</a:t>
            </a:r>
            <a:endParaRPr/>
          </a:p>
        </p:txBody>
      </p:sp>
      <p:sp>
        <p:nvSpPr>
          <p:cNvPr id="724" name="Google Shape;724;p31"/>
          <p:cNvSpPr txBox="1"/>
          <p:nvPr/>
        </p:nvSpPr>
        <p:spPr>
          <a:xfrm>
            <a:off x="1097280" y="1914022"/>
            <a:ext cx="192024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30" u="none" cap="none" strike="noStrike">
                <a:solidFill>
                  <a:srgbClr val="172331"/>
                </a:solidFill>
                <a:latin typeface="Arial"/>
                <a:ea typeface="Arial"/>
                <a:cs typeface="Arial"/>
                <a:sym typeface="Arial"/>
              </a:rPr>
              <a:t>반복 대조 업무 축소</a:t>
            </a:r>
            <a:endParaRPr/>
          </a:p>
        </p:txBody>
      </p:sp>
      <p:sp>
        <p:nvSpPr>
          <p:cNvPr id="725" name="Google Shape;725;p31"/>
          <p:cNvSpPr txBox="1"/>
          <p:nvPr/>
        </p:nvSpPr>
        <p:spPr>
          <a:xfrm>
            <a:off x="1097280" y="2121407"/>
            <a:ext cx="4169663"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50" u="none" cap="none" strike="noStrike">
                <a:solidFill>
                  <a:srgbClr val="667085"/>
                </a:solidFill>
                <a:latin typeface="Arial"/>
                <a:ea typeface="Arial"/>
                <a:cs typeface="Arial"/>
                <a:sym typeface="Arial"/>
              </a:rPr>
              <a:t>합계·비율·증감 관계를 같은 기준으로 반복 검수</a:t>
            </a:r>
            <a:endParaRPr/>
          </a:p>
        </p:txBody>
      </p:sp>
      <p:sp>
        <p:nvSpPr>
          <p:cNvPr id="726" name="Google Shape;726;p31"/>
          <p:cNvSpPr/>
          <p:nvPr/>
        </p:nvSpPr>
        <p:spPr>
          <a:xfrm>
            <a:off x="493776" y="2497775"/>
            <a:ext cx="5084064" cy="52230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7" name="Google Shape;727;p31"/>
          <p:cNvSpPr/>
          <p:nvPr/>
        </p:nvSpPr>
        <p:spPr>
          <a:xfrm>
            <a:off x="493776" y="2497775"/>
            <a:ext cx="50292" cy="522305"/>
          </a:xfrm>
          <a:prstGeom prst="rect">
            <a:avLst/>
          </a:prstGeom>
          <a:solidFill>
            <a:srgbClr val="2F7D6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8" name="Google Shape;728;p31"/>
          <p:cNvSpPr txBox="1"/>
          <p:nvPr/>
        </p:nvSpPr>
        <p:spPr>
          <a:xfrm>
            <a:off x="694944" y="2628351"/>
            <a:ext cx="347472"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2F7D68"/>
                </a:solidFill>
                <a:latin typeface="Arial"/>
                <a:ea typeface="Arial"/>
                <a:cs typeface="Arial"/>
                <a:sym typeface="Arial"/>
              </a:rPr>
              <a:t>02</a:t>
            </a:r>
            <a:endParaRPr/>
          </a:p>
        </p:txBody>
      </p:sp>
      <p:sp>
        <p:nvSpPr>
          <p:cNvPr id="729" name="Google Shape;729;p31"/>
          <p:cNvSpPr txBox="1"/>
          <p:nvPr/>
        </p:nvSpPr>
        <p:spPr>
          <a:xfrm>
            <a:off x="1097280" y="2574584"/>
            <a:ext cx="192024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30" u="none" cap="none" strike="noStrike">
                <a:solidFill>
                  <a:srgbClr val="172331"/>
                </a:solidFill>
                <a:latin typeface="Arial"/>
                <a:ea typeface="Arial"/>
                <a:cs typeface="Arial"/>
                <a:sym typeface="Arial"/>
              </a:rPr>
              <a:t>검수 기준의 일관성</a:t>
            </a:r>
            <a:endParaRPr/>
          </a:p>
        </p:txBody>
      </p:sp>
      <p:sp>
        <p:nvSpPr>
          <p:cNvPr id="730" name="Google Shape;730;p31"/>
          <p:cNvSpPr txBox="1"/>
          <p:nvPr/>
        </p:nvSpPr>
        <p:spPr>
          <a:xfrm>
            <a:off x="1097280" y="2781970"/>
            <a:ext cx="4169663"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50" u="none" cap="none" strike="noStrike">
                <a:solidFill>
                  <a:srgbClr val="667085"/>
                </a:solidFill>
                <a:latin typeface="Arial"/>
                <a:ea typeface="Arial"/>
                <a:cs typeface="Arial"/>
                <a:sym typeface="Arial"/>
              </a:rPr>
              <a:t>프로파일·용어 사전·검수 이력을 다음 연도에 재사용</a:t>
            </a:r>
            <a:endParaRPr/>
          </a:p>
        </p:txBody>
      </p:sp>
      <p:sp>
        <p:nvSpPr>
          <p:cNvPr id="731" name="Google Shape;731;p31"/>
          <p:cNvSpPr/>
          <p:nvPr/>
        </p:nvSpPr>
        <p:spPr>
          <a:xfrm>
            <a:off x="493776" y="3158337"/>
            <a:ext cx="5084064" cy="52230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2" name="Google Shape;732;p31"/>
          <p:cNvSpPr/>
          <p:nvPr/>
        </p:nvSpPr>
        <p:spPr>
          <a:xfrm>
            <a:off x="493776" y="3158337"/>
            <a:ext cx="50292" cy="522305"/>
          </a:xfrm>
          <a:prstGeom prst="rect">
            <a:avLst/>
          </a:prstGeom>
          <a:solidFill>
            <a:srgbClr val="1F5A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3" name="Google Shape;733;p31"/>
          <p:cNvSpPr txBox="1"/>
          <p:nvPr/>
        </p:nvSpPr>
        <p:spPr>
          <a:xfrm>
            <a:off x="694944" y="3288913"/>
            <a:ext cx="347472"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1F5A91"/>
                </a:solidFill>
                <a:latin typeface="Arial"/>
                <a:ea typeface="Arial"/>
                <a:cs typeface="Arial"/>
                <a:sym typeface="Arial"/>
              </a:rPr>
              <a:t>03</a:t>
            </a:r>
            <a:endParaRPr/>
          </a:p>
        </p:txBody>
      </p:sp>
      <p:sp>
        <p:nvSpPr>
          <p:cNvPr id="734" name="Google Shape;734;p31"/>
          <p:cNvSpPr txBox="1"/>
          <p:nvPr/>
        </p:nvSpPr>
        <p:spPr>
          <a:xfrm>
            <a:off x="1097280" y="3235147"/>
            <a:ext cx="192024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30" u="none" cap="none" strike="noStrike">
                <a:solidFill>
                  <a:srgbClr val="172331"/>
                </a:solidFill>
                <a:latin typeface="Arial"/>
                <a:ea typeface="Arial"/>
                <a:cs typeface="Arial"/>
                <a:sym typeface="Arial"/>
              </a:rPr>
              <a:t>오류 추적성 강화</a:t>
            </a:r>
            <a:endParaRPr/>
          </a:p>
        </p:txBody>
      </p:sp>
      <p:sp>
        <p:nvSpPr>
          <p:cNvPr id="735" name="Google Shape;735;p31"/>
          <p:cNvSpPr txBox="1"/>
          <p:nvPr/>
        </p:nvSpPr>
        <p:spPr>
          <a:xfrm>
            <a:off x="1097280" y="3442533"/>
            <a:ext cx="4169663"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50" u="none" cap="none" strike="noStrike">
                <a:solidFill>
                  <a:srgbClr val="667085"/>
                </a:solidFill>
                <a:latin typeface="Arial"/>
                <a:ea typeface="Arial"/>
                <a:cs typeface="Arial"/>
                <a:sym typeface="Arial"/>
              </a:rPr>
              <a:t>문제 셀과 근거 셀, 현재값·기대값·산식을 함께 확인</a:t>
            </a:r>
            <a:endParaRPr/>
          </a:p>
        </p:txBody>
      </p:sp>
      <p:sp>
        <p:nvSpPr>
          <p:cNvPr id="736" name="Google Shape;736;p31"/>
          <p:cNvSpPr/>
          <p:nvPr/>
        </p:nvSpPr>
        <p:spPr>
          <a:xfrm>
            <a:off x="493776" y="3818900"/>
            <a:ext cx="5084064" cy="522305"/>
          </a:xfrm>
          <a:prstGeom prst="rect">
            <a:avLst/>
          </a:prstGeom>
          <a:solidFill>
            <a:srgbClr val="FFFFFF"/>
          </a:solidFill>
          <a:ln cap="flat" cmpd="sng" w="10150">
            <a:solidFill>
              <a:srgbClr val="D9E0E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7" name="Google Shape;737;p31"/>
          <p:cNvSpPr/>
          <p:nvPr/>
        </p:nvSpPr>
        <p:spPr>
          <a:xfrm>
            <a:off x="493776" y="3818900"/>
            <a:ext cx="50292" cy="522305"/>
          </a:xfrm>
          <a:prstGeom prst="rect">
            <a:avLst/>
          </a:prstGeom>
          <a:solidFill>
            <a:srgbClr val="B9781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8" name="Google Shape;738;p31"/>
          <p:cNvSpPr txBox="1"/>
          <p:nvPr/>
        </p:nvSpPr>
        <p:spPr>
          <a:xfrm>
            <a:off x="694944" y="3949475"/>
            <a:ext cx="347472" cy="18288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840" u="none" cap="none" strike="noStrike">
                <a:solidFill>
                  <a:srgbClr val="B97818"/>
                </a:solidFill>
                <a:latin typeface="Arial"/>
                <a:ea typeface="Arial"/>
                <a:cs typeface="Arial"/>
                <a:sym typeface="Arial"/>
              </a:rPr>
              <a:t>04</a:t>
            </a:r>
            <a:endParaRPr/>
          </a:p>
        </p:txBody>
      </p:sp>
      <p:sp>
        <p:nvSpPr>
          <p:cNvPr id="739" name="Google Shape;739;p31"/>
          <p:cNvSpPr txBox="1"/>
          <p:nvPr/>
        </p:nvSpPr>
        <p:spPr>
          <a:xfrm>
            <a:off x="1097280" y="3895708"/>
            <a:ext cx="1920240" cy="219456"/>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30" u="none" cap="none" strike="noStrike">
                <a:solidFill>
                  <a:srgbClr val="172331"/>
                </a:solidFill>
                <a:latin typeface="Arial"/>
                <a:ea typeface="Arial"/>
                <a:cs typeface="Arial"/>
                <a:sym typeface="Arial"/>
              </a:rPr>
              <a:t>수정 결과의 최신성</a:t>
            </a:r>
            <a:endParaRPr/>
          </a:p>
        </p:txBody>
      </p:sp>
      <p:sp>
        <p:nvSpPr>
          <p:cNvPr id="740" name="Google Shape;740;p31"/>
          <p:cNvSpPr txBox="1"/>
          <p:nvPr/>
        </p:nvSpPr>
        <p:spPr>
          <a:xfrm>
            <a:off x="1097280" y="4103095"/>
            <a:ext cx="4169663" cy="201168"/>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850" u="none" cap="none" strike="noStrike">
                <a:solidFill>
                  <a:srgbClr val="667085"/>
                </a:solidFill>
                <a:latin typeface="Arial"/>
                <a:ea typeface="Arial"/>
                <a:cs typeface="Arial"/>
                <a:sym typeface="Arial"/>
              </a:rPr>
              <a:t>수정 후 기존 결과를 구분하고 변경 범위 중심으로 재검수</a:t>
            </a:r>
            <a:endParaRPr/>
          </a:p>
        </p:txBody>
      </p:sp>
      <p:sp>
        <p:nvSpPr>
          <p:cNvPr id="741" name="Google Shape;741;p31"/>
          <p:cNvSpPr/>
          <p:nvPr/>
        </p:nvSpPr>
        <p:spPr>
          <a:xfrm>
            <a:off x="5879592" y="1837212"/>
            <a:ext cx="2761488" cy="2642250"/>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2" name="Google Shape;742;p31"/>
          <p:cNvSpPr txBox="1"/>
          <p:nvPr/>
        </p:nvSpPr>
        <p:spPr>
          <a:xfrm>
            <a:off x="6126480" y="2106046"/>
            <a:ext cx="2267712" cy="21945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1000" u="none" cap="none" strike="noStrike">
                <a:solidFill>
                  <a:srgbClr val="B7CCE6"/>
                </a:solidFill>
                <a:latin typeface="Arial"/>
                <a:ea typeface="Arial"/>
                <a:cs typeface="Arial"/>
                <a:sym typeface="Arial"/>
              </a:rPr>
              <a:t>업무 변화</a:t>
            </a:r>
            <a:endParaRPr/>
          </a:p>
        </p:txBody>
      </p:sp>
      <p:sp>
        <p:nvSpPr>
          <p:cNvPr id="743" name="Google Shape;743;p31"/>
          <p:cNvSpPr txBox="1"/>
          <p:nvPr/>
        </p:nvSpPr>
        <p:spPr>
          <a:xfrm>
            <a:off x="6199632" y="2497775"/>
            <a:ext cx="2103120" cy="1188720"/>
          </a:xfrm>
          <a:prstGeom prst="rect">
            <a:avLst/>
          </a:prstGeom>
          <a:noFill/>
          <a:ln>
            <a:noFill/>
          </a:ln>
        </p:spPr>
        <p:txBody>
          <a:bodyPr anchorCtr="0" anchor="ctr" bIns="18275" lIns="18275" spcFirstLastPara="1" rIns="18275" wrap="square" tIns="18275">
            <a:sp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Arial"/>
                <a:ea typeface="Arial"/>
                <a:cs typeface="Arial"/>
                <a:sym typeface="Arial"/>
              </a:rPr>
              <a:t>담당자는</a:t>
            </a:r>
            <a:br>
              <a:rPr b="1" i="0" lang="en-US" sz="1800" u="none" cap="none" strike="noStrike">
                <a:solidFill>
                  <a:srgbClr val="FFFFFF"/>
                </a:solidFill>
                <a:latin typeface="Arial"/>
                <a:ea typeface="Arial"/>
                <a:cs typeface="Arial"/>
                <a:sym typeface="Arial"/>
              </a:rPr>
            </a:br>
            <a:r>
              <a:rPr b="1" i="0" lang="en-US" sz="1800" u="none" cap="none" strike="noStrike">
                <a:solidFill>
                  <a:srgbClr val="FFFFFF"/>
                </a:solidFill>
                <a:latin typeface="Arial"/>
                <a:ea typeface="Arial"/>
                <a:cs typeface="Arial"/>
                <a:sym typeface="Arial"/>
              </a:rPr>
              <a:t>의미 판단과</a:t>
            </a:r>
            <a:br>
              <a:rPr b="1" i="0" lang="en-US" sz="1800" u="none" cap="none" strike="noStrike">
                <a:solidFill>
                  <a:srgbClr val="FFFFFF"/>
                </a:solidFill>
                <a:latin typeface="Arial"/>
                <a:ea typeface="Arial"/>
                <a:cs typeface="Arial"/>
                <a:sym typeface="Arial"/>
              </a:rPr>
            </a:br>
            <a:r>
              <a:rPr b="1" i="0" lang="en-US" sz="1800" u="none" cap="none" strike="noStrike">
                <a:solidFill>
                  <a:srgbClr val="FFFFFF"/>
                </a:solidFill>
                <a:latin typeface="Arial"/>
                <a:ea typeface="Arial"/>
                <a:cs typeface="Arial"/>
                <a:sym typeface="Arial"/>
              </a:rPr>
              <a:t>최종 확인에 집중</a:t>
            </a:r>
            <a:endParaRPr/>
          </a:p>
        </p:txBody>
      </p:sp>
      <p:sp>
        <p:nvSpPr>
          <p:cNvPr id="744" name="Google Shape;744;p31"/>
          <p:cNvSpPr/>
          <p:nvPr/>
        </p:nvSpPr>
        <p:spPr>
          <a:xfrm>
            <a:off x="6720840" y="3703685"/>
            <a:ext cx="1078992" cy="18288"/>
          </a:xfrm>
          <a:prstGeom prst="rect">
            <a:avLst/>
          </a:prstGeom>
          <a:solidFill>
            <a:srgbClr val="48A9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5" name="Google Shape;745;p31"/>
          <p:cNvSpPr txBox="1"/>
          <p:nvPr/>
        </p:nvSpPr>
        <p:spPr>
          <a:xfrm>
            <a:off x="6254496" y="3872666"/>
            <a:ext cx="1993392" cy="429768"/>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19" u="none" cap="none" strike="noStrike">
                <a:solidFill>
                  <a:srgbClr val="DCE8F5"/>
                </a:solidFill>
                <a:latin typeface="Arial"/>
                <a:ea typeface="Arial"/>
                <a:cs typeface="Arial"/>
                <a:sym typeface="Arial"/>
              </a:rPr>
              <a:t>자동화는 반복 검증과</a:t>
            </a:r>
            <a:br>
              <a:rPr b="0" i="0" lang="en-US" sz="819" u="none" cap="none" strike="noStrike">
                <a:solidFill>
                  <a:srgbClr val="DCE8F5"/>
                </a:solidFill>
                <a:latin typeface="Arial"/>
                <a:ea typeface="Arial"/>
                <a:cs typeface="Arial"/>
                <a:sym typeface="Arial"/>
              </a:rPr>
            </a:br>
            <a:r>
              <a:rPr b="0" i="0" lang="en-US" sz="819" u="none" cap="none" strike="noStrike">
                <a:solidFill>
                  <a:srgbClr val="DCE8F5"/>
                </a:solidFill>
                <a:latin typeface="Arial"/>
                <a:ea typeface="Arial"/>
                <a:cs typeface="Arial"/>
                <a:sym typeface="Arial"/>
              </a:rPr>
              <a:t>검토 우선순위 제시를 지원합니다.</a:t>
            </a:r>
            <a:endParaRPr/>
          </a:p>
        </p:txBody>
      </p:sp>
      <p:sp>
        <p:nvSpPr>
          <p:cNvPr id="746" name="Google Shape;746;p31"/>
          <p:cNvSpPr txBox="1"/>
          <p:nvPr/>
        </p:nvSpPr>
        <p:spPr>
          <a:xfrm>
            <a:off x="768096" y="4502505"/>
            <a:ext cx="4608576" cy="182880"/>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0" i="0" lang="en-US" sz="800" u="none" cap="none" strike="noStrike">
                <a:solidFill>
                  <a:srgbClr val="667085"/>
                </a:solidFill>
                <a:latin typeface="Arial"/>
                <a:ea typeface="Arial"/>
                <a:cs typeface="Arial"/>
                <a:sym typeface="Arial"/>
              </a:rPr>
              <a:t>※ 정량 효과는 실제 운영 자료를 축적한 뒤 측정·제시</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0" name="Shape 750"/>
        <p:cNvGrpSpPr/>
        <p:nvPr/>
      </p:nvGrpSpPr>
      <p:grpSpPr>
        <a:xfrm>
          <a:off x="0" y="0"/>
          <a:ext cx="0" cy="0"/>
          <a:chOff x="0" y="0"/>
          <a:chExt cx="0" cy="0"/>
        </a:xfrm>
      </p:grpSpPr>
      <p:sp>
        <p:nvSpPr>
          <p:cNvPr id="751" name="Google Shape;751;p32"/>
          <p:cNvSpPr txBox="1"/>
          <p:nvPr/>
        </p:nvSpPr>
        <p:spPr>
          <a:xfrm>
            <a:off x="457200" y="219456"/>
            <a:ext cx="5486400" cy="274320"/>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1" i="0" lang="en-US" sz="1000" u="none" cap="none" strike="noStrike">
                <a:solidFill>
                  <a:srgbClr val="2F78B7"/>
                </a:solidFill>
                <a:latin typeface="Arial"/>
                <a:ea typeface="Arial"/>
                <a:cs typeface="Arial"/>
                <a:sym typeface="Arial"/>
              </a:rPr>
              <a:t>향후 개선 과제</a:t>
            </a:r>
            <a:endParaRPr/>
          </a:p>
        </p:txBody>
      </p:sp>
      <p:sp>
        <p:nvSpPr>
          <p:cNvPr id="752" name="Google Shape;752;p32"/>
          <p:cNvSpPr txBox="1"/>
          <p:nvPr/>
        </p:nvSpPr>
        <p:spPr>
          <a:xfrm>
            <a:off x="457200" y="493776"/>
            <a:ext cx="7498079" cy="640080"/>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1" i="0" lang="en-US" sz="2800" u="none" cap="none" strike="noStrike">
                <a:solidFill>
                  <a:srgbClr val="172331"/>
                </a:solidFill>
                <a:latin typeface="Arial"/>
                <a:ea typeface="Arial"/>
                <a:cs typeface="Arial"/>
                <a:sym typeface="Arial"/>
              </a:rPr>
              <a:t>향후 개선 과제</a:t>
            </a:r>
            <a:endParaRPr/>
          </a:p>
        </p:txBody>
      </p:sp>
      <p:pic>
        <p:nvPicPr>
          <p:cNvPr descr="image.png" id="753" name="Google Shape;753;p32"/>
          <p:cNvPicPr preferRelativeResize="0"/>
          <p:nvPr/>
        </p:nvPicPr>
        <p:blipFill rotWithShape="1">
          <a:blip r:embed="rId3">
            <a:alphaModFix/>
          </a:blip>
          <a:srcRect b="0" l="0" r="0" t="0"/>
          <a:stretch/>
        </p:blipFill>
        <p:spPr>
          <a:xfrm>
            <a:off x="7699248" y="73152"/>
            <a:ext cx="1371600" cy="390646"/>
          </a:xfrm>
          <a:prstGeom prst="rect">
            <a:avLst/>
          </a:prstGeom>
          <a:noFill/>
          <a:ln>
            <a:noFill/>
          </a:ln>
        </p:spPr>
      </p:pic>
      <p:sp>
        <p:nvSpPr>
          <p:cNvPr id="754" name="Google Shape;754;p32"/>
          <p:cNvSpPr/>
          <p:nvPr/>
        </p:nvSpPr>
        <p:spPr>
          <a:xfrm>
            <a:off x="457200" y="1225296"/>
            <a:ext cx="8229600" cy="13716"/>
          </a:xfrm>
          <a:prstGeom prst="rect">
            <a:avLst/>
          </a:prstGeom>
          <a:solidFill>
            <a:srgbClr val="D9E0E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5" name="Google Shape;755;p32"/>
          <p:cNvSpPr txBox="1"/>
          <p:nvPr/>
        </p:nvSpPr>
        <p:spPr>
          <a:xfrm>
            <a:off x="457200" y="1316736"/>
            <a:ext cx="8138160" cy="292608"/>
          </a:xfrm>
          <a:prstGeom prst="rect">
            <a:avLst/>
          </a:prstGeom>
          <a:noFill/>
          <a:ln>
            <a:noFill/>
          </a:ln>
        </p:spPr>
        <p:txBody>
          <a:bodyPr anchorCtr="0" anchor="ctr" bIns="18275" lIns="18275" spcFirstLastPara="1" rIns="18275" wrap="square" tIns="18275">
            <a:spAutoFit/>
          </a:bodyPr>
          <a:lstStyle/>
          <a:p>
            <a:pPr indent="0" lvl="0" marL="0" marR="0" rtl="0" algn="l">
              <a:lnSpc>
                <a:spcPct val="100000"/>
              </a:lnSpc>
              <a:spcBef>
                <a:spcPts val="0"/>
              </a:spcBef>
              <a:spcAft>
                <a:spcPts val="0"/>
              </a:spcAft>
              <a:buNone/>
            </a:pPr>
            <a:r>
              <a:rPr b="0" i="0" lang="en-US" sz="1200" u="none" cap="none" strike="noStrike">
                <a:solidFill>
                  <a:srgbClr val="667085"/>
                </a:solidFill>
                <a:latin typeface="Arial"/>
                <a:ea typeface="Arial"/>
                <a:cs typeface="Arial"/>
                <a:sym typeface="Arial"/>
              </a:rPr>
              <a:t>공공기관 운영을 위한 우선 보완사항</a:t>
            </a:r>
            <a:endParaRPr/>
          </a:p>
        </p:txBody>
      </p:sp>
      <p:sp>
        <p:nvSpPr>
          <p:cNvPr id="756" name="Google Shape;756;p32"/>
          <p:cNvSpPr txBox="1"/>
          <p:nvPr/>
        </p:nvSpPr>
        <p:spPr>
          <a:xfrm>
            <a:off x="457200" y="4855464"/>
            <a:ext cx="4389120" cy="164592"/>
          </a:xfrm>
          <a:prstGeom prst="rect">
            <a:avLst/>
          </a:prstGeom>
          <a:noFill/>
          <a:ln>
            <a:noFill/>
          </a:ln>
        </p:spPr>
        <p:txBody>
          <a:bodyPr anchorCtr="0" anchor="t" bIns="18275" lIns="18275" spcFirstLastPara="1" rIns="18275" wrap="square" tIns="18275">
            <a:spAutoFit/>
          </a:bodyPr>
          <a:lstStyle/>
          <a:p>
            <a:pPr indent="0" lvl="0" marL="0" marR="0" rtl="0" algn="l">
              <a:lnSpc>
                <a:spcPct val="100000"/>
              </a:lnSpc>
              <a:spcBef>
                <a:spcPts val="0"/>
              </a:spcBef>
              <a:spcAft>
                <a:spcPts val="0"/>
              </a:spcAft>
              <a:buNone/>
            </a:pPr>
            <a:r>
              <a:rPr b="0" i="0" lang="en-US" sz="700" u="none" cap="none" strike="noStrike">
                <a:solidFill>
                  <a:srgbClr val="8A96A3"/>
                </a:solidFill>
                <a:latin typeface="Arial"/>
                <a:ea typeface="Arial"/>
                <a:cs typeface="Arial"/>
                <a:sym typeface="Arial"/>
              </a:rPr>
              <a:t>청년인턴 중간보고  |  행정안전부 데이터정보화담당관</a:t>
            </a:r>
            <a:endParaRPr/>
          </a:p>
        </p:txBody>
      </p:sp>
      <p:sp>
        <p:nvSpPr>
          <p:cNvPr id="757" name="Google Shape;757;p32"/>
          <p:cNvSpPr txBox="1"/>
          <p:nvPr/>
        </p:nvSpPr>
        <p:spPr>
          <a:xfrm>
            <a:off x="8394192" y="4818888"/>
            <a:ext cx="301752" cy="201168"/>
          </a:xfrm>
          <a:prstGeom prst="rect">
            <a:avLst/>
          </a:prstGeom>
          <a:noFill/>
          <a:ln>
            <a:noFill/>
          </a:ln>
        </p:spPr>
        <p:txBody>
          <a:bodyPr anchorCtr="0" anchor="t" bIns="18275" lIns="18275" spcFirstLastPara="1" rIns="18275" wrap="square" tIns="18275">
            <a:spAutoFit/>
          </a:bodyPr>
          <a:lstStyle/>
          <a:p>
            <a:pPr indent="0" lvl="0" marL="0" marR="0" rtl="0" algn="r">
              <a:lnSpc>
                <a:spcPct val="100000"/>
              </a:lnSpc>
              <a:spcBef>
                <a:spcPts val="0"/>
              </a:spcBef>
              <a:spcAft>
                <a:spcPts val="0"/>
              </a:spcAft>
              <a:buNone/>
            </a:pPr>
            <a:r>
              <a:rPr b="1" i="0" lang="en-US" sz="819" u="none" cap="none" strike="noStrike">
                <a:solidFill>
                  <a:srgbClr val="667085"/>
                </a:solidFill>
                <a:latin typeface="Arial"/>
                <a:ea typeface="Arial"/>
                <a:cs typeface="Arial"/>
                <a:sym typeface="Arial"/>
              </a:rPr>
              <a:t>18</a:t>
            </a:r>
            <a:endParaRPr/>
          </a:p>
        </p:txBody>
      </p:sp>
      <p:graphicFrame>
        <p:nvGraphicFramePr>
          <p:cNvPr id="758" name="Google Shape;758;p32"/>
          <p:cNvGraphicFramePr/>
          <p:nvPr/>
        </p:nvGraphicFramePr>
        <p:xfrm>
          <a:off x="457200" y="1768083"/>
          <a:ext cx="3000000" cy="3000000"/>
        </p:xfrm>
        <a:graphic>
          <a:graphicData uri="http://schemas.openxmlformats.org/drawingml/2006/table">
            <a:tbl>
              <a:tblPr bandRow="1" firstRow="1">
                <a:noFill/>
                <a:tableStyleId>{6D466A9C-AF73-4E76-8EC6-081741966E7C}</a:tableStyleId>
              </a:tblPr>
              <a:tblGrid>
                <a:gridCol w="1170425"/>
                <a:gridCol w="1874525"/>
                <a:gridCol w="4416550"/>
                <a:gridCol w="768100"/>
              </a:tblGrid>
              <a:tr h="458725">
                <a:tc>
                  <a:txBody>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Arial"/>
                          <a:ea typeface="Arial"/>
                          <a:cs typeface="Arial"/>
                          <a:sym typeface="Arial"/>
                        </a:rPr>
                        <a:t>개선 영역</a:t>
                      </a:r>
                      <a:endParaRPr/>
                    </a:p>
                  </a:txBody>
                  <a:tcPr marT="22850" marB="22850" marR="54875" marL="54875" anchor="ctr">
                    <a:solidFill>
                      <a:srgbClr val="0C2F61"/>
                    </a:solidFill>
                  </a:tcPr>
                </a:tc>
                <a:tc>
                  <a:txBody>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Arial"/>
                          <a:ea typeface="Arial"/>
                          <a:cs typeface="Arial"/>
                          <a:sym typeface="Arial"/>
                        </a:rPr>
                        <a:t>현행 수준</a:t>
                      </a:r>
                      <a:endParaRPr/>
                    </a:p>
                  </a:txBody>
                  <a:tcPr marT="22850" marB="22850" marR="54875" marL="54875" anchor="ctr">
                    <a:solidFill>
                      <a:srgbClr val="0C2F61"/>
                    </a:solidFill>
                  </a:tcPr>
                </a:tc>
                <a:tc>
                  <a:txBody>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Arial"/>
                          <a:ea typeface="Arial"/>
                          <a:cs typeface="Arial"/>
                          <a:sym typeface="Arial"/>
                        </a:rPr>
                        <a:t>개선 방향</a:t>
                      </a:r>
                      <a:endParaRPr/>
                    </a:p>
                  </a:txBody>
                  <a:tcPr marT="22850" marB="22850" marR="54875" marL="54875" anchor="ctr">
                    <a:solidFill>
                      <a:srgbClr val="0C2F61"/>
                    </a:solidFill>
                  </a:tcPr>
                </a:tc>
                <a:tc>
                  <a:txBody>
                    <a:bodyPr/>
                    <a:lstStyle/>
                    <a:p>
                      <a:pPr indent="0" lvl="0" marL="0" marR="0" rtl="0" algn="ctr">
                        <a:lnSpc>
                          <a:spcPct val="100000"/>
                        </a:lnSpc>
                        <a:spcBef>
                          <a:spcPts val="0"/>
                        </a:spcBef>
                        <a:spcAft>
                          <a:spcPts val="0"/>
                        </a:spcAft>
                        <a:buNone/>
                      </a:pPr>
                      <a:r>
                        <a:rPr b="1" i="0" lang="en-US" sz="930" u="none" cap="none" strike="noStrike">
                          <a:solidFill>
                            <a:srgbClr val="FFFFFF"/>
                          </a:solidFill>
                          <a:latin typeface="Arial"/>
                          <a:ea typeface="Arial"/>
                          <a:cs typeface="Arial"/>
                          <a:sym typeface="Arial"/>
                        </a:rPr>
                        <a:t>우선</a:t>
                      </a:r>
                      <a:endParaRPr/>
                    </a:p>
                  </a:txBody>
                  <a:tcPr marT="22850" marB="22850" marR="54875" marL="54875" anchor="ctr">
                    <a:solidFill>
                      <a:srgbClr val="0C2F61"/>
                    </a:solidFill>
                  </a:tcPr>
                </a:tc>
              </a:tr>
              <a:tr h="458725">
                <a:tc>
                  <a:txBody>
                    <a:bodyPr/>
                    <a:lstStyle/>
                    <a:p>
                      <a:pPr indent="0" lvl="0" marL="0" marR="0" rtl="0" algn="ctr">
                        <a:lnSpc>
                          <a:spcPct val="100000"/>
                        </a:lnSpc>
                        <a:spcBef>
                          <a:spcPts val="0"/>
                        </a:spcBef>
                        <a:spcAft>
                          <a:spcPts val="0"/>
                        </a:spcAft>
                        <a:buNone/>
                      </a:pPr>
                      <a:r>
                        <a:rPr b="1" i="0" lang="en-US" sz="860" u="none" cap="none" strike="noStrike">
                          <a:solidFill>
                            <a:srgbClr val="172331"/>
                          </a:solidFill>
                          <a:latin typeface="Arial"/>
                          <a:ea typeface="Arial"/>
                          <a:cs typeface="Arial"/>
                          <a:sym typeface="Arial"/>
                        </a:rPr>
                        <a:t>권한·보안</a:t>
                      </a:r>
                      <a:endParaRPr/>
                    </a:p>
                  </a:txBody>
                  <a:tcPr marT="22850" marB="22850" marR="54875" marL="54875" anchor="ctr">
                    <a:solidFill>
                      <a:srgbClr val="F7F9FB"/>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통계별 비밀번호·편집 토큰</a:t>
                      </a:r>
                      <a:endParaRPr/>
                    </a:p>
                  </a:txBody>
                  <a:tcPr marT="22850" marB="22850" marR="54875" marL="54875" anchor="ctr">
                    <a:solidFill>
                      <a:srgbClr val="F7F9FB"/>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기관 통합인증·역할 권한, 최초 변경, 세션 만료·실패 잠금</a:t>
                      </a:r>
                      <a:endParaRPr/>
                    </a:p>
                  </a:txBody>
                  <a:tcPr marT="22850" marB="22850" marR="54875" marL="54875" anchor="ctr">
                    <a:solidFill>
                      <a:srgbClr val="F7F9FB"/>
                    </a:solidFill>
                  </a:tcPr>
                </a:tc>
                <a:tc>
                  <a:txBody>
                    <a:bodyPr/>
                    <a:lstStyle/>
                    <a:p>
                      <a:pPr indent="0" lvl="0" marL="0" marR="0" rtl="0" algn="ctr">
                        <a:lnSpc>
                          <a:spcPct val="100000"/>
                        </a:lnSpc>
                        <a:spcBef>
                          <a:spcPts val="0"/>
                        </a:spcBef>
                        <a:spcAft>
                          <a:spcPts val="0"/>
                        </a:spcAft>
                        <a:buNone/>
                      </a:pPr>
                      <a:r>
                        <a:rPr b="1" i="0" lang="en-US" sz="860" u="none" cap="none" strike="noStrike">
                          <a:solidFill>
                            <a:srgbClr val="C94655"/>
                          </a:solidFill>
                          <a:latin typeface="Arial"/>
                          <a:ea typeface="Arial"/>
                          <a:cs typeface="Arial"/>
                          <a:sym typeface="Arial"/>
                        </a:rPr>
                        <a:t>높음</a:t>
                      </a:r>
                      <a:endParaRPr/>
                    </a:p>
                  </a:txBody>
                  <a:tcPr marT="22850" marB="22850" marR="54875" marL="54875" anchor="ctr">
                    <a:solidFill>
                      <a:srgbClr val="F7F9FB"/>
                    </a:solidFill>
                  </a:tcPr>
                </a:tc>
              </a:tr>
              <a:tr h="458725">
                <a:tc>
                  <a:txBody>
                    <a:bodyPr/>
                    <a:lstStyle/>
                    <a:p>
                      <a:pPr indent="0" lvl="0" marL="0" marR="0" rtl="0" algn="ctr">
                        <a:lnSpc>
                          <a:spcPct val="100000"/>
                        </a:lnSpc>
                        <a:spcBef>
                          <a:spcPts val="0"/>
                        </a:spcBef>
                        <a:spcAft>
                          <a:spcPts val="0"/>
                        </a:spcAft>
                        <a:buNone/>
                      </a:pPr>
                      <a:r>
                        <a:rPr b="1" i="0" lang="en-US" sz="860" u="none" cap="none" strike="noStrike">
                          <a:solidFill>
                            <a:srgbClr val="172331"/>
                          </a:solidFill>
                          <a:latin typeface="Arial"/>
                          <a:ea typeface="Arial"/>
                          <a:cs typeface="Arial"/>
                          <a:sym typeface="Arial"/>
                        </a:rPr>
                        <a:t>검수 투명성</a:t>
                      </a:r>
                      <a:endParaRPr/>
                    </a:p>
                  </a:txBody>
                  <a:tcPr marT="22850" marB="22850" marR="54875" marL="54875" anchor="ctr">
                    <a:solidFill>
                      <a:srgbClr val="FFFFFF"/>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결과·근거 중심 표시</a:t>
                      </a:r>
                      <a:endParaRPr/>
                    </a:p>
                  </a:txBody>
                  <a:tcPr marT="22850" marB="22850" marR="54875" marL="54875" anchor="ctr">
                    <a:solidFill>
                      <a:srgbClr val="FFFFFF"/>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프로파일 승인, 적용/미적용 범위, AI 근거·모델·비용 관리</a:t>
                      </a:r>
                      <a:endParaRPr/>
                    </a:p>
                  </a:txBody>
                  <a:tcPr marT="22850" marB="22850" marR="54875" marL="54875" anchor="ctr">
                    <a:solidFill>
                      <a:srgbClr val="FFFFFF"/>
                    </a:solidFill>
                  </a:tcPr>
                </a:tc>
                <a:tc>
                  <a:txBody>
                    <a:bodyPr/>
                    <a:lstStyle/>
                    <a:p>
                      <a:pPr indent="0" lvl="0" marL="0" marR="0" rtl="0" algn="ctr">
                        <a:lnSpc>
                          <a:spcPct val="100000"/>
                        </a:lnSpc>
                        <a:spcBef>
                          <a:spcPts val="0"/>
                        </a:spcBef>
                        <a:spcAft>
                          <a:spcPts val="0"/>
                        </a:spcAft>
                        <a:buNone/>
                      </a:pPr>
                      <a:r>
                        <a:rPr b="1" i="0" lang="en-US" sz="860" u="none" cap="none" strike="noStrike">
                          <a:solidFill>
                            <a:srgbClr val="C94655"/>
                          </a:solidFill>
                          <a:latin typeface="Arial"/>
                          <a:ea typeface="Arial"/>
                          <a:cs typeface="Arial"/>
                          <a:sym typeface="Arial"/>
                        </a:rPr>
                        <a:t>높음</a:t>
                      </a:r>
                      <a:endParaRPr/>
                    </a:p>
                  </a:txBody>
                  <a:tcPr marT="22850" marB="22850" marR="54875" marL="54875" anchor="ctr">
                    <a:solidFill>
                      <a:srgbClr val="FFFFFF"/>
                    </a:solidFill>
                  </a:tcPr>
                </a:tc>
              </a:tr>
              <a:tr h="458725">
                <a:tc>
                  <a:txBody>
                    <a:bodyPr/>
                    <a:lstStyle/>
                    <a:p>
                      <a:pPr indent="0" lvl="0" marL="0" marR="0" rtl="0" algn="ctr">
                        <a:lnSpc>
                          <a:spcPct val="100000"/>
                        </a:lnSpc>
                        <a:spcBef>
                          <a:spcPts val="0"/>
                        </a:spcBef>
                        <a:spcAft>
                          <a:spcPts val="0"/>
                        </a:spcAft>
                        <a:buNone/>
                      </a:pPr>
                      <a:r>
                        <a:rPr b="1" i="0" lang="en-US" sz="860" u="none" cap="none" strike="noStrike">
                          <a:solidFill>
                            <a:srgbClr val="172331"/>
                          </a:solidFill>
                          <a:latin typeface="Arial"/>
                          <a:ea typeface="Arial"/>
                          <a:cs typeface="Arial"/>
                          <a:sym typeface="Arial"/>
                        </a:rPr>
                        <a:t>정확도 확장</a:t>
                      </a:r>
                      <a:endParaRPr/>
                    </a:p>
                  </a:txBody>
                  <a:tcPr marT="22850" marB="22850" marR="54875" marL="54875" anchor="ctr">
                    <a:solidFill>
                      <a:srgbClr val="F7F9FB"/>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메타·이상치 범위 제한</a:t>
                      </a:r>
                      <a:endParaRPr/>
                    </a:p>
                  </a:txBody>
                  <a:tcPr marT="22850" marB="22850" marR="54875" marL="54875" anchor="ctr">
                    <a:solidFill>
                      <a:srgbClr val="F7F9FB"/>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날짜·출처 품질, 분야별·시계열 이상치, 담당자 피드백 반영</a:t>
                      </a:r>
                      <a:endParaRPr/>
                    </a:p>
                  </a:txBody>
                  <a:tcPr marT="22850" marB="22850" marR="54875" marL="54875" anchor="ctr">
                    <a:solidFill>
                      <a:srgbClr val="F7F9FB"/>
                    </a:solidFill>
                  </a:tcPr>
                </a:tc>
                <a:tc>
                  <a:txBody>
                    <a:bodyPr/>
                    <a:lstStyle/>
                    <a:p>
                      <a:pPr indent="0" lvl="0" marL="0" marR="0" rtl="0" algn="ctr">
                        <a:lnSpc>
                          <a:spcPct val="100000"/>
                        </a:lnSpc>
                        <a:spcBef>
                          <a:spcPts val="0"/>
                        </a:spcBef>
                        <a:spcAft>
                          <a:spcPts val="0"/>
                        </a:spcAft>
                        <a:buNone/>
                      </a:pPr>
                      <a:r>
                        <a:rPr b="1" i="0" lang="en-US" sz="860" u="none" cap="none" strike="noStrike">
                          <a:solidFill>
                            <a:srgbClr val="B97818"/>
                          </a:solidFill>
                          <a:latin typeface="Arial"/>
                          <a:ea typeface="Arial"/>
                          <a:cs typeface="Arial"/>
                          <a:sym typeface="Arial"/>
                        </a:rPr>
                        <a:t>중간</a:t>
                      </a:r>
                      <a:endParaRPr/>
                    </a:p>
                  </a:txBody>
                  <a:tcPr marT="22850" marB="22850" marR="54875" marL="54875" anchor="ctr">
                    <a:solidFill>
                      <a:srgbClr val="F7F9FB"/>
                    </a:solidFill>
                  </a:tcPr>
                </a:tc>
              </a:tr>
              <a:tr h="458725">
                <a:tc>
                  <a:txBody>
                    <a:bodyPr/>
                    <a:lstStyle/>
                    <a:p>
                      <a:pPr indent="0" lvl="0" marL="0" marR="0" rtl="0" algn="ctr">
                        <a:lnSpc>
                          <a:spcPct val="100000"/>
                        </a:lnSpc>
                        <a:spcBef>
                          <a:spcPts val="0"/>
                        </a:spcBef>
                        <a:spcAft>
                          <a:spcPts val="0"/>
                        </a:spcAft>
                        <a:buNone/>
                      </a:pPr>
                      <a:r>
                        <a:rPr b="1" i="0" lang="en-US" sz="860" u="none" cap="none" strike="noStrike">
                          <a:solidFill>
                            <a:srgbClr val="172331"/>
                          </a:solidFill>
                          <a:latin typeface="Arial"/>
                          <a:ea typeface="Arial"/>
                          <a:cs typeface="Arial"/>
                          <a:sym typeface="Arial"/>
                        </a:rPr>
                        <a:t>이력·재검수</a:t>
                      </a:r>
                      <a:endParaRPr/>
                    </a:p>
                  </a:txBody>
                  <a:tcPr marT="22850" marB="22850" marR="54875" marL="54875" anchor="ctr">
                    <a:solidFill>
                      <a:srgbClr val="FFFFFF"/>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저장 후 담당자가 재실행</a:t>
                      </a:r>
                      <a:endParaRPr/>
                    </a:p>
                  </a:txBody>
                  <a:tcPr marT="22850" marB="22850" marR="54875" marL="54875" anchor="ctr">
                    <a:solidFill>
                      <a:srgbClr val="FFFFFF"/>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셀 단위 변경 전후 이력·되돌리기, 원클릭 재검수·알림</a:t>
                      </a:r>
                      <a:endParaRPr/>
                    </a:p>
                  </a:txBody>
                  <a:tcPr marT="22850" marB="22850" marR="54875" marL="54875" anchor="ctr">
                    <a:solidFill>
                      <a:srgbClr val="FFFFFF"/>
                    </a:solidFill>
                  </a:tcPr>
                </a:tc>
                <a:tc>
                  <a:txBody>
                    <a:bodyPr/>
                    <a:lstStyle/>
                    <a:p>
                      <a:pPr indent="0" lvl="0" marL="0" marR="0" rtl="0" algn="ctr">
                        <a:lnSpc>
                          <a:spcPct val="100000"/>
                        </a:lnSpc>
                        <a:spcBef>
                          <a:spcPts val="0"/>
                        </a:spcBef>
                        <a:spcAft>
                          <a:spcPts val="0"/>
                        </a:spcAft>
                        <a:buNone/>
                      </a:pPr>
                      <a:r>
                        <a:rPr b="1" i="0" lang="en-US" sz="860" u="none" cap="none" strike="noStrike">
                          <a:solidFill>
                            <a:srgbClr val="B97818"/>
                          </a:solidFill>
                          <a:latin typeface="Arial"/>
                          <a:ea typeface="Arial"/>
                          <a:cs typeface="Arial"/>
                          <a:sym typeface="Arial"/>
                        </a:rPr>
                        <a:t>중간</a:t>
                      </a:r>
                      <a:endParaRPr/>
                    </a:p>
                  </a:txBody>
                  <a:tcPr marT="22850" marB="22850" marR="54875" marL="54875" anchor="ctr">
                    <a:solidFill>
                      <a:srgbClr val="FFFFFF"/>
                    </a:solidFill>
                  </a:tcPr>
                </a:tc>
              </a:tr>
              <a:tr h="458725">
                <a:tc>
                  <a:txBody>
                    <a:bodyPr/>
                    <a:lstStyle/>
                    <a:p>
                      <a:pPr indent="0" lvl="0" marL="0" marR="0" rtl="0" algn="ctr">
                        <a:lnSpc>
                          <a:spcPct val="100000"/>
                        </a:lnSpc>
                        <a:spcBef>
                          <a:spcPts val="0"/>
                        </a:spcBef>
                        <a:spcAft>
                          <a:spcPts val="0"/>
                        </a:spcAft>
                        <a:buNone/>
                      </a:pPr>
                      <a:r>
                        <a:rPr b="1" i="0" lang="en-US" sz="860" u="none" cap="none" strike="noStrike">
                          <a:solidFill>
                            <a:srgbClr val="172331"/>
                          </a:solidFill>
                          <a:latin typeface="Arial"/>
                          <a:ea typeface="Arial"/>
                          <a:cs typeface="Arial"/>
                          <a:sym typeface="Arial"/>
                        </a:rPr>
                        <a:t>운영·출력</a:t>
                      </a:r>
                      <a:endParaRPr/>
                    </a:p>
                  </a:txBody>
                  <a:tcPr marT="22850" marB="22850" marR="54875" marL="54875" anchor="ctr">
                    <a:solidFill>
                      <a:srgbClr val="F7F9FB"/>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대규모 처리·발간 출력 보완</a:t>
                      </a:r>
                      <a:endParaRPr/>
                    </a:p>
                  </a:txBody>
                  <a:tcPr marT="22850" marB="22850" marR="54875" marL="54875" anchor="ctr">
                    <a:solidFill>
                      <a:srgbClr val="F7F9FB"/>
                    </a:solidFill>
                  </a:tcPr>
                </a:tc>
                <a:tc>
                  <a:txBody>
                    <a:bodyPr/>
                    <a:lstStyle/>
                    <a:p>
                      <a:pPr indent="0" lvl="0" marL="0" marR="0" rtl="0" algn="l">
                        <a:lnSpc>
                          <a:spcPct val="100000"/>
                        </a:lnSpc>
                        <a:spcBef>
                          <a:spcPts val="0"/>
                        </a:spcBef>
                        <a:spcAft>
                          <a:spcPts val="0"/>
                        </a:spcAft>
                        <a:buNone/>
                      </a:pPr>
                      <a:r>
                        <a:rPr b="0" i="0" lang="en-US" sz="810" u="none" cap="none" strike="noStrike">
                          <a:solidFill>
                            <a:srgbClr val="172331"/>
                          </a:solidFill>
                          <a:latin typeface="Arial"/>
                          <a:ea typeface="Arial"/>
                          <a:cs typeface="Arial"/>
                          <a:sym typeface="Arial"/>
                        </a:rPr>
                        <a:t>진행률·재시도 사유, 서버 일괄 출력, 공식 발간 형식 지원</a:t>
                      </a:r>
                      <a:endParaRPr/>
                    </a:p>
                  </a:txBody>
                  <a:tcPr marT="22850" marB="22850" marR="54875" marL="54875" anchor="ctr">
                    <a:solidFill>
                      <a:srgbClr val="F7F9FB"/>
                    </a:solidFill>
                  </a:tcPr>
                </a:tc>
                <a:tc>
                  <a:txBody>
                    <a:bodyPr/>
                    <a:lstStyle/>
                    <a:p>
                      <a:pPr indent="0" lvl="0" marL="0" marR="0" rtl="0" algn="ctr">
                        <a:lnSpc>
                          <a:spcPct val="100000"/>
                        </a:lnSpc>
                        <a:spcBef>
                          <a:spcPts val="0"/>
                        </a:spcBef>
                        <a:spcAft>
                          <a:spcPts val="0"/>
                        </a:spcAft>
                        <a:buNone/>
                      </a:pPr>
                      <a:r>
                        <a:rPr b="1" i="0" lang="en-US" sz="860" u="none" cap="none" strike="noStrike">
                          <a:solidFill>
                            <a:srgbClr val="B97818"/>
                          </a:solidFill>
                          <a:latin typeface="Arial"/>
                          <a:ea typeface="Arial"/>
                          <a:cs typeface="Arial"/>
                          <a:sym typeface="Arial"/>
                        </a:rPr>
                        <a:t>중간</a:t>
                      </a:r>
                      <a:endParaRPr/>
                    </a:p>
                  </a:txBody>
                  <a:tcPr marT="22850" marB="22850" marR="54875" marL="54875" anchor="ctr">
                    <a:solidFill>
                      <a:srgbClr val="F7F9FB"/>
                    </a:solidFill>
                  </a:tcPr>
                </a:tc>
              </a:tr>
            </a:tbl>
          </a:graphicData>
        </a:graphic>
      </p:graphicFrame>
      <p:sp>
        <p:nvSpPr>
          <p:cNvPr id="759" name="Google Shape;759;p32"/>
          <p:cNvSpPr/>
          <p:nvPr/>
        </p:nvSpPr>
        <p:spPr>
          <a:xfrm>
            <a:off x="1042415" y="4548591"/>
            <a:ext cx="7059168" cy="168981"/>
          </a:xfrm>
          <a:prstGeom prst="rect">
            <a:avLst/>
          </a:prstGeom>
          <a:solidFill>
            <a:srgbClr val="0C2F6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0" name="Google Shape;760;p32"/>
          <p:cNvSpPr txBox="1"/>
          <p:nvPr/>
        </p:nvSpPr>
        <p:spPr>
          <a:xfrm>
            <a:off x="1261872" y="4556272"/>
            <a:ext cx="6620256" cy="173736"/>
          </a:xfrm>
          <a:prstGeom prst="rect">
            <a:avLst/>
          </a:prstGeom>
          <a:noFill/>
          <a:ln>
            <a:noFill/>
          </a:ln>
        </p:spPr>
        <p:txBody>
          <a:bodyPr anchorCtr="0" anchor="t" bIns="18275" lIns="18275" spcFirstLastPara="1" rIns="18275" wrap="square" tIns="18275">
            <a:spAutoFit/>
          </a:bodyPr>
          <a:lstStyle/>
          <a:p>
            <a:pPr indent="0" lvl="0" marL="0" marR="0" rtl="0" algn="ctr">
              <a:lnSpc>
                <a:spcPct val="100000"/>
              </a:lnSpc>
              <a:spcBef>
                <a:spcPts val="0"/>
              </a:spcBef>
              <a:spcAft>
                <a:spcPts val="0"/>
              </a:spcAft>
              <a:buNone/>
            </a:pPr>
            <a:r>
              <a:rPr b="1" i="0" lang="en-US" sz="830" u="none" cap="none" strike="noStrike">
                <a:solidFill>
                  <a:srgbClr val="FFFFFF"/>
                </a:solidFill>
                <a:latin typeface="Arial"/>
                <a:ea typeface="Arial"/>
                <a:cs typeface="Arial"/>
                <a:sym typeface="Arial"/>
              </a:rPr>
              <a:t>확실한 규칙부터 적용하고 검증 이력을 축적하여, 예외·판단 영역을 단계적으로 확대</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